
<file path=[Content_Types].xml><?xml version="1.0" encoding="utf-8"?>
<Types xmlns="http://schemas.openxmlformats.org/package/2006/content-types">
  <Default Extension="emf" ContentType="image/x-emf"/>
  <Default Extension="jpeg" ContentType="image/jpeg"/>
  <Default Extension="mpg" ContentType="vide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54"/>
  </p:notesMasterIdLst>
  <p:sldIdLst>
    <p:sldId id="256" r:id="rId2"/>
    <p:sldId id="257" r:id="rId3"/>
    <p:sldId id="258" r:id="rId4"/>
    <p:sldId id="259" r:id="rId5"/>
    <p:sldId id="260" r:id="rId6"/>
    <p:sldId id="261" r:id="rId7"/>
    <p:sldId id="582" r:id="rId8"/>
    <p:sldId id="263" r:id="rId9"/>
    <p:sldId id="264" r:id="rId10"/>
    <p:sldId id="563" r:id="rId11"/>
    <p:sldId id="268" r:id="rId12"/>
    <p:sldId id="269" r:id="rId13"/>
    <p:sldId id="270" r:id="rId14"/>
    <p:sldId id="280" r:id="rId15"/>
    <p:sldId id="281" r:id="rId16"/>
    <p:sldId id="282" r:id="rId17"/>
    <p:sldId id="283" r:id="rId18"/>
    <p:sldId id="583" r:id="rId19"/>
    <p:sldId id="285" r:id="rId20"/>
    <p:sldId id="286" r:id="rId21"/>
    <p:sldId id="289" r:id="rId22"/>
    <p:sldId id="290" r:id="rId23"/>
    <p:sldId id="291" r:id="rId24"/>
    <p:sldId id="564" r:id="rId25"/>
    <p:sldId id="292" r:id="rId26"/>
    <p:sldId id="584" r:id="rId27"/>
    <p:sldId id="300" r:id="rId28"/>
    <p:sldId id="301" r:id="rId29"/>
    <p:sldId id="305" r:id="rId30"/>
    <p:sldId id="566" r:id="rId31"/>
    <p:sldId id="572" r:id="rId32"/>
    <p:sldId id="302" r:id="rId33"/>
    <p:sldId id="590" r:id="rId34"/>
    <p:sldId id="591" r:id="rId35"/>
    <p:sldId id="304" r:id="rId36"/>
    <p:sldId id="306" r:id="rId37"/>
    <p:sldId id="303" r:id="rId38"/>
    <p:sldId id="575" r:id="rId39"/>
    <p:sldId id="309" r:id="rId40"/>
    <p:sldId id="585" r:id="rId41"/>
    <p:sldId id="311" r:id="rId42"/>
    <p:sldId id="310" r:id="rId43"/>
    <p:sldId id="586" r:id="rId44"/>
    <p:sldId id="587" r:id="rId45"/>
    <p:sldId id="312" r:id="rId46"/>
    <p:sldId id="589" r:id="rId47"/>
    <p:sldId id="576" r:id="rId48"/>
    <p:sldId id="578" r:id="rId49"/>
    <p:sldId id="579" r:id="rId50"/>
    <p:sldId id="580" r:id="rId51"/>
    <p:sldId id="581" r:id="rId52"/>
    <p:sldId id="557" r:id="rId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F00"/>
    <a:srgbClr val="011893"/>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77524"/>
  </p:normalViewPr>
  <p:slideViewPr>
    <p:cSldViewPr snapToGrid="0" snapToObjects="1">
      <p:cViewPr>
        <p:scale>
          <a:sx n="91" d="100"/>
          <a:sy n="91" d="100"/>
        </p:scale>
        <p:origin x="256" y="2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sz="3600" dirty="0"/>
              <a:t>Python </a:t>
            </a:r>
            <a:r>
              <a:rPr kumimoji="1" lang="ja-JP" altLang="en-US" sz="3600"/>
              <a:t>関数は使わない</a:t>
            </a:r>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1</a:t>
            </a:fld>
            <a:endParaRPr kumimoji="1" lang="ja-JP" altLang="en-US"/>
          </a:p>
        </p:txBody>
      </p:sp>
    </p:spTree>
    <p:extLst>
      <p:ext uri="{BB962C8B-B14F-4D97-AF65-F5344CB8AC3E}">
        <p14:creationId xmlns:p14="http://schemas.microsoft.com/office/powerpoint/2010/main" val="3691004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464849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30</a:t>
            </a:fld>
            <a:endParaRPr kumimoji="1" lang="ja-JP" altLang="en-US"/>
          </a:p>
        </p:txBody>
      </p:sp>
    </p:spTree>
    <p:extLst>
      <p:ext uri="{BB962C8B-B14F-4D97-AF65-F5344CB8AC3E}">
        <p14:creationId xmlns:p14="http://schemas.microsoft.com/office/powerpoint/2010/main" val="4187544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32</a:t>
            </a:fld>
            <a:endParaRPr kumimoji="1" lang="ja-JP" altLang="en-US"/>
          </a:p>
        </p:txBody>
      </p:sp>
    </p:spTree>
    <p:extLst>
      <p:ext uri="{BB962C8B-B14F-4D97-AF65-F5344CB8AC3E}">
        <p14:creationId xmlns:p14="http://schemas.microsoft.com/office/powerpoint/2010/main" val="31001817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47</a:t>
            </a:fld>
            <a:endParaRPr kumimoji="1" lang="ja-JP" altLang="en-US"/>
          </a:p>
        </p:txBody>
      </p:sp>
    </p:spTree>
    <p:extLst>
      <p:ext uri="{BB962C8B-B14F-4D97-AF65-F5344CB8AC3E}">
        <p14:creationId xmlns:p14="http://schemas.microsoft.com/office/powerpoint/2010/main" val="35100577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b="0" i="0">
                <a:solidFill>
                  <a:schemeClr val="tx1">
                    <a:tint val="75000"/>
                  </a:schemeClr>
                </a:solidFill>
                <a:ea typeface="Hiragino Kaku Gothic ProN W3" panose="020B0300000000000000" pitchFamily="34"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lvl1pPr>
              <a:defRPr b="0" i="0">
                <a:ea typeface="Hiragino Kaku Gothic ProN W3" panose="020B0300000000000000" pitchFamily="34" charset="-128"/>
              </a:defRPr>
            </a:lvl1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0" i="0" cap="a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b="0" i="0">
                <a:solidFill>
                  <a:schemeClr val="tx1">
                    <a:tint val="75000"/>
                  </a:schemeClr>
                </a:solidFill>
                <a:ea typeface="Hiragino Kaku Gothic ProN W3" panose="020B0300000000000000" pitchFamily="34" charset="-128"/>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b="0" i="0">
                <a:ea typeface="Hiragino Kaku Gothic ProN W3" panose="020B0300000000000000" pitchFamily="34" charset="-128"/>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b="0" i="0">
                <a:ea typeface="Hiragino Kaku Gothic ProN W3" panose="020B0300000000000000" pitchFamily="34"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2026/10/28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b="0" i="0">
              <a:ea typeface="Hiragino Kaku Gothic ProN W3" panose="020B0300000000000000" pitchFamily="34" charset="-128"/>
            </a:endParaRPr>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lvl1pPr>
              <a:defRPr b="0" i="0">
                <a:ea typeface="Hiragino Kaku Gothic ProN W3" panose="020B0300000000000000" pitchFamily="34" charset="-128"/>
              </a:defRPr>
            </a:lvl1p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lvl1pPr>
              <a:defRPr b="0" i="0">
                <a:ea typeface="Hiragino Kaku Gothic ProN W3" panose="020B0300000000000000" pitchFamily="34" charset="-128"/>
              </a:defRPr>
            </a:lvl1p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タイトル &amp; 箇条書き">
    <p:spTree>
      <p:nvGrpSpPr>
        <p:cNvPr id="1" name=""/>
        <p:cNvGrpSpPr/>
        <p:nvPr/>
      </p:nvGrpSpPr>
      <p:grpSpPr>
        <a:xfrm>
          <a:off x="0" y="0"/>
          <a:ext cx="0" cy="0"/>
          <a:chOff x="0" y="0"/>
          <a:chExt cx="0" cy="0"/>
        </a:xfrm>
      </p:grpSpPr>
      <p:sp>
        <p:nvSpPr>
          <p:cNvPr id="20" name="タイトルテキスト"/>
          <p:cNvSpPr txBox="1">
            <a:spLocks noGrp="1"/>
          </p:cNvSpPr>
          <p:nvPr>
            <p:ph type="title"/>
          </p:nvPr>
        </p:nvSpPr>
        <p:spPr>
          <a:prstGeom prst="rect">
            <a:avLst/>
          </a:prstGeom>
        </p:spPr>
        <p:txBody>
          <a:bodyPr/>
          <a:lstStyle>
            <a:lvl1pPr>
              <a:defRPr sz="3200"/>
            </a:lvl1pPr>
          </a:lstStyle>
          <a:p>
            <a:r>
              <a:t>タイトルテキスト</a:t>
            </a:r>
          </a:p>
        </p:txBody>
      </p:sp>
      <p:sp>
        <p:nvSpPr>
          <p:cNvPr id="21" name="本文レベル1…"/>
          <p:cNvSpPr txBox="1">
            <a:spLocks noGrp="1"/>
          </p:cNvSpPr>
          <p:nvPr>
            <p:ph type="body" idx="1"/>
          </p:nvPr>
        </p:nvSpPr>
        <p:spPr>
          <a:xfrm>
            <a:off x="1185333" y="1943100"/>
            <a:ext cx="9804400" cy="4013200"/>
          </a:xfrm>
          <a:prstGeom prst="rect">
            <a:avLst/>
          </a:prstGeom>
        </p:spPr>
        <p:txBody>
          <a:bodyPr/>
          <a:lstStyle>
            <a:lvl1pPr>
              <a:spcBef>
                <a:spcPts val="1700"/>
              </a:spcBef>
              <a:defRPr sz="1800"/>
            </a:lvl1pPr>
            <a:lvl2pPr>
              <a:spcBef>
                <a:spcPts val="1700"/>
              </a:spcBef>
              <a:defRPr sz="1600"/>
            </a:lvl2pPr>
            <a:lvl3pPr>
              <a:spcBef>
                <a:spcPts val="1700"/>
              </a:spcBef>
              <a:defRPr sz="1400"/>
            </a:lvl3pPr>
            <a:lvl4pPr>
              <a:spcBef>
                <a:spcPts val="1700"/>
              </a:spcBef>
              <a:defRPr sz="1200"/>
            </a:lvl4pPr>
            <a:lvl5pPr>
              <a:spcBef>
                <a:spcPts val="1700"/>
              </a:spcBef>
              <a:defRPr sz="900"/>
            </a:lvl5pPr>
          </a:lstStyle>
          <a:p>
            <a:r>
              <a:t>本文レベル1</a:t>
            </a:r>
          </a:p>
          <a:p>
            <a:pPr lvl="1"/>
            <a:r>
              <a:t>本文レベル2</a:t>
            </a:r>
          </a:p>
          <a:p>
            <a:pPr lvl="2"/>
            <a:r>
              <a:t>本文レベル3</a:t>
            </a:r>
          </a:p>
          <a:p>
            <a:pPr lvl="3"/>
            <a:r>
              <a:t>本文レベル4</a:t>
            </a:r>
          </a:p>
          <a:p>
            <a:pPr lvl="4"/>
            <a:r>
              <a:t>本文レベル5</a:t>
            </a:r>
          </a:p>
        </p:txBody>
      </p:sp>
      <p:sp>
        <p:nvSpPr>
          <p:cNvPr id="22" name="スライド番号"/>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45010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6" r:id="rId11"/>
  </p:sldLayoutIdLst>
  <p:txStyles>
    <p:titleStyle>
      <a:lvl1pPr algn="ctr" defTabSz="914400" rtl="0" eaLnBrk="1" latinLnBrk="0" hangingPunct="1">
        <a:spcBef>
          <a:spcPct val="0"/>
        </a:spcBef>
        <a:buNone/>
        <a:defRPr kumimoji="1" sz="4400" b="0" i="0" kern="1200">
          <a:solidFill>
            <a:schemeClr val="tx1"/>
          </a:solidFill>
          <a:latin typeface="Helvetica Neue Light"/>
          <a:ea typeface="Hiragino Kaku Gothic ProN W3" panose="020B0300000000000000" pitchFamily="34" charset="-128"/>
          <a:cs typeface="+mj-cs"/>
        </a:defRPr>
      </a:lvl1pPr>
    </p:titleStyle>
    <p:body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g"/><Relationship Id="rId1" Type="http://schemas.microsoft.com/office/2007/relationships/media" Target="../media/media1.m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g"/><Relationship Id="rId1" Type="http://schemas.microsoft.com/office/2007/relationships/media" Target="../media/media2.mpg"/><Relationship Id="rId5" Type="http://schemas.openxmlformats.org/officeDocument/2006/relationships/image" Target="../media/image4.pn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jpeg"/><Relationship Id="rId1" Type="http://schemas.openxmlformats.org/officeDocument/2006/relationships/slideLayout" Target="../slideLayouts/slideLayout6.xml"/><Relationship Id="rId5" Type="http://schemas.openxmlformats.org/officeDocument/2006/relationships/image" Target="../media/image19.emf"/><Relationship Id="rId4" Type="http://schemas.openxmlformats.org/officeDocument/2006/relationships/image" Target="../media/image18.emf"/></Relationships>
</file>

<file path=ppt/slides/_rels/slide20.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6.xml"/><Relationship Id="rId4" Type="http://schemas.openxmlformats.org/officeDocument/2006/relationships/image" Target="../media/image14.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a:extLst>
              <a:ext uri="{FF2B5EF4-FFF2-40B4-BE49-F238E27FC236}">
                <a16:creationId xmlns:a16="http://schemas.microsoft.com/office/drawing/2014/main" id="{B141A49D-614B-CA98-ABA5-451E7BC75272}"/>
              </a:ext>
            </a:extLst>
          </p:cNvPr>
          <p:cNvSpPr>
            <a:spLocks noGrp="1" noChangeArrowheads="1"/>
          </p:cNvSpPr>
          <p:nvPr>
            <p:ph type="ctrTitle"/>
          </p:nvPr>
        </p:nvSpPr>
        <p:spPr/>
        <p:txBody>
          <a:bodyPr/>
          <a:lstStyle/>
          <a:p>
            <a:pPr eaLnBrk="1" hangingPunct="1"/>
            <a:r>
              <a:rPr lang="ja-JP" altLang="en-US" sz="4800" b="1">
                <a:latin typeface="Hiragino Kaku Gothic ProN W6" panose="020B0300000000000000" pitchFamily="34" charset="-128"/>
                <a:ea typeface="Hiragino Kaku Gothic ProN W6" panose="020B0300000000000000" pitchFamily="34" charset="-128"/>
              </a:rPr>
              <a:t>力学系</a:t>
            </a:r>
            <a:r>
              <a:rPr lang="en-US" altLang="ja-JP" sz="4800" b="1" dirty="0">
                <a:latin typeface="Hiragino Kaku Gothic ProN W6" panose="020B0300000000000000" pitchFamily="34" charset="-128"/>
                <a:ea typeface="Hiragino Kaku Gothic ProN W6" panose="020B0300000000000000" pitchFamily="34" charset="-128"/>
              </a:rPr>
              <a:t>(2): </a:t>
            </a:r>
            <a:r>
              <a:rPr lang="ja-JP" altLang="en-US" sz="4800" b="1">
                <a:latin typeface="Hiragino Kaku Gothic ProN W6" panose="020B0300000000000000" pitchFamily="34" charset="-128"/>
                <a:ea typeface="Hiragino Kaku Gothic ProN W6" panose="020B0300000000000000" pitchFamily="34" charset="-128"/>
              </a:rPr>
              <a:t>濃度が振動する生化学反応系</a:t>
            </a:r>
            <a:endParaRPr lang="en-US" altLang="ja-JP" sz="4800" b="1" dirty="0">
              <a:latin typeface="Hiragino Kaku Gothic ProN W6" panose="020B0300000000000000" pitchFamily="34" charset="-128"/>
              <a:ea typeface="Hiragino Kaku Gothic ProN W6" panose="020B0300000000000000" pitchFamily="34" charset="-128"/>
            </a:endParaRPr>
          </a:p>
        </p:txBody>
      </p:sp>
      <p:sp>
        <p:nvSpPr>
          <p:cNvPr id="14338" name="Rectangle 1">
            <a:extLst>
              <a:ext uri="{FF2B5EF4-FFF2-40B4-BE49-F238E27FC236}">
                <a16:creationId xmlns:a16="http://schemas.microsoft.com/office/drawing/2014/main" id="{14F3306E-6162-EF24-ADAB-237616D8C9FD}"/>
              </a:ext>
            </a:extLst>
          </p:cNvPr>
          <p:cNvSpPr>
            <a:spLocks noGrp="1" noChangeArrowheads="1"/>
          </p:cNvSpPr>
          <p:nvPr>
            <p:ph type="subTitle" idx="1"/>
          </p:nvPr>
        </p:nvSpPr>
        <p:spPr/>
        <p:txBody>
          <a:bodyPr/>
          <a:lstStyle/>
          <a:p>
            <a:pPr marL="52916"/>
            <a:r>
              <a:rPr lang="ja-JP" altLang="en-US"/>
              <a:t>柚木克之 </a:t>
            </a:r>
            <a:r>
              <a:rPr lang="en-US" altLang="ja-JP" dirty="0"/>
              <a:t>(YUGI, Katsuyuki)</a:t>
            </a:r>
          </a:p>
          <a:p>
            <a:pPr marL="52916"/>
            <a:r>
              <a:rPr lang="ja-JP" altLang="en-US"/>
              <a:t>理化学研究所・生命医科学研究センター</a:t>
            </a:r>
            <a:endParaRPr lang="en-US" altLang="ja-JP"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上から順に、心拍、動脈血酸素飽和度、呼吸"/>
          <p:cNvSpPr/>
          <p:nvPr/>
        </p:nvSpPr>
        <p:spPr>
          <a:xfrm>
            <a:off x="2453977" y="5830224"/>
            <a:ext cx="728404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rPr sz="2800" dirty="0" err="1"/>
              <a:t>上から順に、心拍、動脈血酸素飽和度、呼吸</a:t>
            </a:r>
            <a:endParaRPr sz="2800" dirty="0"/>
          </a:p>
        </p:txBody>
      </p:sp>
      <p:sp>
        <p:nvSpPr>
          <p:cNvPr id="143" name="一番身近な生物振動"/>
          <p:cNvSpPr txBox="1">
            <a:spLocks noGrp="1"/>
          </p:cNvSpPr>
          <p:nvPr>
            <p:ph type="title"/>
          </p:nvPr>
        </p:nvSpPr>
        <p:spPr>
          <a:prstGeom prst="rect">
            <a:avLst/>
          </a:prstGeom>
        </p:spPr>
        <p:txBody>
          <a:bodyPr/>
          <a:lstStyle/>
          <a:p>
            <a:r>
              <a:t>一番身近な生物振動</a:t>
            </a:r>
          </a:p>
        </p:txBody>
      </p:sp>
      <p:pic>
        <p:nvPicPr>
          <p:cNvPr id="2" name="EKG.mpg">
            <a:hlinkClick r:id="" action="ppaction://media"/>
            <a:extLst>
              <a:ext uri="{FF2B5EF4-FFF2-40B4-BE49-F238E27FC236}">
                <a16:creationId xmlns:a16="http://schemas.microsoft.com/office/drawing/2014/main" id="{41E1E184-D279-04E8-819B-FD11F349133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246120" y="1291590"/>
            <a:ext cx="5897880" cy="4423410"/>
          </a:xfrm>
          <a:prstGeom prst="rect">
            <a:avLst/>
          </a:prstGeom>
        </p:spPr>
      </p:pic>
    </p:spTree>
  </p:cSld>
  <p:clrMapOvr>
    <a:masterClrMapping/>
  </p:clrMapOvr>
  <p:timing>
    <p:tnLst>
      <p:par>
        <p:cTn id="1" dur="indefinite" restart="never" fill="hold"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47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with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酵母の細胞分裂   サイクリン濃度の振動が制御"/>
          <p:cNvSpPr/>
          <p:nvPr/>
        </p:nvSpPr>
        <p:spPr>
          <a:xfrm>
            <a:off x="1616571" y="6078928"/>
            <a:ext cx="289546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buClr>
                <a:srgbClr val="000000"/>
              </a:buClr>
              <a:buFont typeface="Arial"/>
            </a:lvl1pPr>
          </a:lstStyle>
          <a:p>
            <a:r>
              <a:rPr sz="2800" dirty="0" err="1"/>
              <a:t>酵母の細胞分裂</a:t>
            </a:r>
            <a:r>
              <a:rPr sz="2800" dirty="0"/>
              <a:t>	　　</a:t>
            </a:r>
          </a:p>
        </p:txBody>
      </p:sp>
      <p:pic>
        <p:nvPicPr>
          <p:cNvPr id="147" name="picrender.jpg" descr="picrender.jpg"/>
          <p:cNvPicPr>
            <a:picLocks/>
          </p:cNvPicPr>
          <p:nvPr/>
        </p:nvPicPr>
        <p:blipFill>
          <a:blip r:embed="rId4"/>
          <a:stretch>
            <a:fillRect/>
          </a:stretch>
        </p:blipFill>
        <p:spPr>
          <a:xfrm>
            <a:off x="5859929" y="1405744"/>
            <a:ext cx="5952319" cy="4410440"/>
          </a:xfrm>
          <a:prstGeom prst="rect">
            <a:avLst/>
          </a:prstGeom>
          <a:ln w="12700">
            <a:miter lim="400000"/>
          </a:ln>
        </p:spPr>
      </p:pic>
      <p:sp>
        <p:nvSpPr>
          <p:cNvPr id="148" name="振動は微生物のレベルにもある"/>
          <p:cNvSpPr txBox="1">
            <a:spLocks noGrp="1"/>
          </p:cNvSpPr>
          <p:nvPr>
            <p:ph type="title"/>
          </p:nvPr>
        </p:nvSpPr>
        <p:spPr>
          <a:prstGeom prst="rect">
            <a:avLst/>
          </a:prstGeom>
        </p:spPr>
        <p:txBody>
          <a:bodyPr/>
          <a:lstStyle/>
          <a:p>
            <a:r>
              <a:t>振動は微生物のレベルにもある</a:t>
            </a:r>
          </a:p>
        </p:txBody>
      </p:sp>
      <p:sp>
        <p:nvSpPr>
          <p:cNvPr id="3" name="テキスト ボックス 2">
            <a:extLst>
              <a:ext uri="{FF2B5EF4-FFF2-40B4-BE49-F238E27FC236}">
                <a16:creationId xmlns:a16="http://schemas.microsoft.com/office/drawing/2014/main" id="{DE013AA5-8895-C381-040C-3307D8E5A8DF}"/>
              </a:ext>
            </a:extLst>
          </p:cNvPr>
          <p:cNvSpPr txBox="1"/>
          <p:nvPr/>
        </p:nvSpPr>
        <p:spPr>
          <a:xfrm>
            <a:off x="5348377" y="6078928"/>
            <a:ext cx="6975422" cy="523220"/>
          </a:xfrm>
          <a:prstGeom prst="rect">
            <a:avLst/>
          </a:prstGeom>
          <a:noFill/>
        </p:spPr>
        <p:txBody>
          <a:bodyPr wrap="square">
            <a:spAutoFit/>
          </a:bodyPr>
          <a:lstStyle/>
          <a:p>
            <a:r>
              <a:rPr lang="ja-JP" altLang="en-US" sz="2800"/>
              <a:t>サイクリン濃度の振動</a:t>
            </a:r>
            <a:r>
              <a:rPr lang="en-US" altLang="ja-JP" sz="2800" dirty="0"/>
              <a:t> </a:t>
            </a:r>
            <a:r>
              <a:rPr lang="en-US" altLang="ja-JP" sz="2800" dirty="0">
                <a:sym typeface="Wingdings" pitchFamily="2" charset="2"/>
              </a:rPr>
              <a:t> </a:t>
            </a:r>
            <a:r>
              <a:rPr lang="ja-JP" altLang="en-US" sz="2800">
                <a:sym typeface="Wingdings" pitchFamily="2" charset="2"/>
              </a:rPr>
              <a:t>細胞分裂を制御</a:t>
            </a:r>
            <a:endParaRPr lang="ja-JP" altLang="en-US" sz="2800"/>
          </a:p>
        </p:txBody>
      </p:sp>
      <p:pic>
        <p:nvPicPr>
          <p:cNvPr id="4" name="yeast_cell_division.mpg">
            <a:hlinkClick r:id="" action="ppaction://media"/>
            <a:extLst>
              <a:ext uri="{FF2B5EF4-FFF2-40B4-BE49-F238E27FC236}">
                <a16:creationId xmlns:a16="http://schemas.microsoft.com/office/drawing/2014/main" id="{157B74E9-866D-6674-1F70-9FEA0D4B3DE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37160" y="1555178"/>
            <a:ext cx="5471160" cy="4103370"/>
          </a:xfrm>
          <a:prstGeom prst="rect">
            <a:avLst/>
          </a:prstGeom>
        </p:spPr>
      </p:pic>
    </p:spTree>
  </p:cSld>
  <p:clrMapOvr>
    <a:masterClrMapping/>
  </p:clrMapOvr>
  <p:timing>
    <p:tnLst>
      <p:par>
        <p:cTn id="1" dur="indefinite" restart="never" fill="hold"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33"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with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連続系の離散的挙動"/>
          <p:cNvSpPr txBox="1">
            <a:spLocks noGrp="1"/>
          </p:cNvSpPr>
          <p:nvPr>
            <p:ph type="title"/>
          </p:nvPr>
        </p:nvSpPr>
        <p:spPr>
          <a:prstGeom prst="rect">
            <a:avLst/>
          </a:prstGeom>
        </p:spPr>
        <p:txBody>
          <a:bodyPr/>
          <a:lstStyle/>
          <a:p>
            <a:r>
              <a:t>連続系の離散的挙動</a:t>
            </a:r>
          </a:p>
        </p:txBody>
      </p:sp>
      <p:sp>
        <p:nvSpPr>
          <p:cNvPr id="150" name="生化学パスウェイのモデル…"/>
          <p:cNvSpPr txBox="1">
            <a:spLocks noGrp="1"/>
          </p:cNvSpPr>
          <p:nvPr>
            <p:ph type="body" sz="half" idx="4294967295"/>
          </p:nvPr>
        </p:nvSpPr>
        <p:spPr>
          <a:xfrm>
            <a:off x="650875" y="1539171"/>
            <a:ext cx="6496685" cy="4965700"/>
          </a:xfrm>
          <a:prstGeom prst="rect">
            <a:avLst/>
          </a:prstGeom>
        </p:spPr>
        <p:txBody>
          <a:bodyPr>
            <a:noAutofit/>
          </a:bodyPr>
          <a:lstStyle/>
          <a:p>
            <a:pPr marL="283819" indent="-253745" defTabSz="300736">
              <a:lnSpc>
                <a:spcPct val="90000"/>
              </a:lnSpc>
              <a:spcBef>
                <a:spcPts val="1200"/>
              </a:spcBef>
              <a:buClr>
                <a:srgbClr val="000000"/>
              </a:buClr>
              <a:buSzPct val="100000"/>
              <a:buFont typeface="Arial"/>
              <a:defRPr sz="1776"/>
            </a:pPr>
            <a:r>
              <a:rPr sz="2800" dirty="0" err="1"/>
              <a:t>生化学パスウェイのモデル</a:t>
            </a:r>
            <a:endParaRPr sz="2800" dirty="0"/>
          </a:p>
          <a:p>
            <a:pPr marL="579856" lvl="1" indent="-211454" defTabSz="300736">
              <a:lnSpc>
                <a:spcPct val="90000"/>
              </a:lnSpc>
              <a:spcBef>
                <a:spcPts val="1200"/>
              </a:spcBef>
              <a:buClr>
                <a:srgbClr val="000000"/>
              </a:buClr>
              <a:buSzPct val="100000"/>
              <a:buFont typeface="Arial"/>
              <a:defRPr sz="1776"/>
            </a:pPr>
            <a:r>
              <a:rPr sz="2400" dirty="0" err="1"/>
              <a:t>連立常微分方程式</a:t>
            </a:r>
            <a:endParaRPr sz="2400" dirty="0"/>
          </a:p>
          <a:p>
            <a:pPr marL="579856" lvl="1" indent="-211454" defTabSz="300736">
              <a:lnSpc>
                <a:spcPct val="90000"/>
              </a:lnSpc>
              <a:spcBef>
                <a:spcPts val="1200"/>
              </a:spcBef>
              <a:buClr>
                <a:srgbClr val="000000"/>
              </a:buClr>
              <a:buSzPct val="100000"/>
              <a:buFont typeface="Arial"/>
              <a:defRPr sz="1776"/>
            </a:pPr>
            <a:r>
              <a:rPr sz="2400" dirty="0" err="1"/>
              <a:t>いわゆる非線形力学系</a:t>
            </a:r>
            <a:endParaRPr sz="2400" dirty="0"/>
          </a:p>
          <a:p>
            <a:pPr marL="875893" lvl="2" indent="-169163" defTabSz="300736">
              <a:lnSpc>
                <a:spcPct val="90000"/>
              </a:lnSpc>
              <a:spcBef>
                <a:spcPts val="1200"/>
              </a:spcBef>
              <a:buClr>
                <a:srgbClr val="000000"/>
              </a:buClr>
              <a:buSzPct val="100000"/>
              <a:buFont typeface="Arial"/>
              <a:buChar char="–"/>
              <a:defRPr sz="1480"/>
            </a:pPr>
            <a:endParaRPr dirty="0"/>
          </a:p>
          <a:p>
            <a:pPr marL="283819" indent="-253745" defTabSz="300736">
              <a:lnSpc>
                <a:spcPct val="90000"/>
              </a:lnSpc>
              <a:spcBef>
                <a:spcPts val="1200"/>
              </a:spcBef>
              <a:buClr>
                <a:srgbClr val="000000"/>
              </a:buClr>
              <a:buSzPct val="100000"/>
              <a:buFont typeface="Arial"/>
              <a:defRPr sz="1776"/>
            </a:pPr>
            <a:r>
              <a:rPr sz="2800" dirty="0" err="1"/>
              <a:t>連立常微分方程式の解</a:t>
            </a:r>
            <a:endParaRPr sz="2800" dirty="0"/>
          </a:p>
          <a:p>
            <a:pPr marL="579856" lvl="1" indent="-211454" defTabSz="300736">
              <a:lnSpc>
                <a:spcPct val="90000"/>
              </a:lnSpc>
              <a:spcBef>
                <a:spcPts val="1200"/>
              </a:spcBef>
              <a:buClr>
                <a:srgbClr val="000000"/>
              </a:buClr>
              <a:buSzPct val="100000"/>
              <a:buFont typeface="Arial"/>
              <a:defRPr sz="1776"/>
            </a:pPr>
            <a:r>
              <a:rPr sz="2400" dirty="0" err="1"/>
              <a:t>速度論定数を変える</a:t>
            </a:r>
            <a:endParaRPr sz="2400" dirty="0"/>
          </a:p>
          <a:p>
            <a:pPr marL="579856" lvl="1" indent="-211454" defTabSz="300736">
              <a:lnSpc>
                <a:spcPct val="90000"/>
              </a:lnSpc>
              <a:spcBef>
                <a:spcPts val="1200"/>
              </a:spcBef>
              <a:buClr>
                <a:srgbClr val="000000"/>
              </a:buClr>
              <a:buSzPct val="100000"/>
              <a:buFont typeface="Arial"/>
              <a:defRPr sz="1776"/>
            </a:pPr>
            <a:r>
              <a:rPr sz="2400" dirty="0" err="1"/>
              <a:t>ある点で振る舞いが変わる</a:t>
            </a:r>
            <a:endParaRPr sz="2400" dirty="0"/>
          </a:p>
          <a:p>
            <a:pPr marL="875893" lvl="2" indent="-169163" defTabSz="300736">
              <a:lnSpc>
                <a:spcPct val="90000"/>
              </a:lnSpc>
              <a:spcBef>
                <a:spcPts val="1200"/>
              </a:spcBef>
              <a:buClr>
                <a:srgbClr val="000000"/>
              </a:buClr>
              <a:buSzPct val="100000"/>
              <a:buFont typeface="Arial"/>
              <a:defRPr sz="1776"/>
            </a:pPr>
            <a:r>
              <a:rPr sz="2000" dirty="0" err="1"/>
              <a:t>定常状態</a:t>
            </a:r>
            <a:endParaRPr sz="2000" dirty="0"/>
          </a:p>
          <a:p>
            <a:pPr marL="875893" lvl="2" indent="-169163" defTabSz="300736">
              <a:lnSpc>
                <a:spcPct val="90000"/>
              </a:lnSpc>
              <a:spcBef>
                <a:spcPts val="1200"/>
              </a:spcBef>
              <a:buClr>
                <a:srgbClr val="000000"/>
              </a:buClr>
              <a:buSzPct val="100000"/>
              <a:buFont typeface="Arial"/>
              <a:defRPr sz="1776"/>
            </a:pPr>
            <a:r>
              <a:rPr sz="2000" dirty="0" err="1"/>
              <a:t>振動</a:t>
            </a:r>
            <a:endParaRPr sz="2000" dirty="0"/>
          </a:p>
          <a:p>
            <a:pPr marL="283819" indent="-253745" defTabSz="300736">
              <a:lnSpc>
                <a:spcPct val="90000"/>
              </a:lnSpc>
              <a:spcBef>
                <a:spcPts val="1200"/>
              </a:spcBef>
              <a:buClr>
                <a:srgbClr val="000000"/>
              </a:buClr>
              <a:buSzPct val="100000"/>
              <a:buFont typeface="Arial"/>
              <a:defRPr sz="1776"/>
            </a:pPr>
            <a:endParaRPr sz="2400" dirty="0"/>
          </a:p>
          <a:p>
            <a:pPr marL="283819" indent="-253745" defTabSz="300736">
              <a:lnSpc>
                <a:spcPct val="90000"/>
              </a:lnSpc>
              <a:spcBef>
                <a:spcPts val="1200"/>
              </a:spcBef>
              <a:buClr>
                <a:srgbClr val="0433FF"/>
              </a:buClr>
              <a:buSzPct val="100000"/>
              <a:buFont typeface="Arial"/>
              <a:defRPr sz="1776">
                <a:solidFill>
                  <a:srgbClr val="0433FF"/>
                </a:solidFill>
                <a:uFill>
                  <a:solidFill>
                    <a:srgbClr val="0433FF"/>
                  </a:solidFill>
                </a:uFill>
              </a:defRPr>
            </a:pPr>
            <a:r>
              <a:rPr sz="2800" dirty="0" err="1"/>
              <a:t>境界となるパラメータ値を見つける</a:t>
            </a:r>
            <a:endParaRPr sz="2800" dirty="0"/>
          </a:p>
        </p:txBody>
      </p:sp>
      <p:sp>
        <p:nvSpPr>
          <p:cNvPr id="151" name="線"/>
          <p:cNvSpPr/>
          <p:nvPr/>
        </p:nvSpPr>
        <p:spPr>
          <a:xfrm>
            <a:off x="7303951" y="4143376"/>
            <a:ext cx="1587" cy="1871663"/>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2" name="線"/>
          <p:cNvSpPr/>
          <p:nvPr/>
        </p:nvSpPr>
        <p:spPr>
          <a:xfrm>
            <a:off x="7303951" y="601503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3" name="線"/>
          <p:cNvSpPr/>
          <p:nvPr/>
        </p:nvSpPr>
        <p:spPr>
          <a:xfrm>
            <a:off x="9751876" y="4143376"/>
            <a:ext cx="1587" cy="1871663"/>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4" name="線"/>
          <p:cNvSpPr/>
          <p:nvPr/>
        </p:nvSpPr>
        <p:spPr>
          <a:xfrm>
            <a:off x="9751876" y="601503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5" name="線"/>
          <p:cNvSpPr/>
          <p:nvPr/>
        </p:nvSpPr>
        <p:spPr>
          <a:xfrm>
            <a:off x="7303951" y="4571159"/>
            <a:ext cx="1584325" cy="1012176"/>
          </a:xfrm>
          <a:custGeom>
            <a:avLst/>
            <a:gdLst/>
            <a:ahLst/>
            <a:cxnLst>
              <a:cxn ang="0">
                <a:pos x="wd2" y="hd2"/>
              </a:cxn>
              <a:cxn ang="5400000">
                <a:pos x="wd2" y="hd2"/>
              </a:cxn>
              <a:cxn ang="10800000">
                <a:pos x="wd2" y="hd2"/>
              </a:cxn>
              <a:cxn ang="16200000">
                <a:pos x="wd2" y="hd2"/>
              </a:cxn>
            </a:cxnLst>
            <a:rect l="0" t="0" r="r" b="b"/>
            <a:pathLst>
              <a:path w="21600" h="20494" extrusionOk="0">
                <a:moveTo>
                  <a:pt x="0" y="14674"/>
                </a:moveTo>
                <a:cubicBezTo>
                  <a:pt x="2034" y="6896"/>
                  <a:pt x="4091" y="-883"/>
                  <a:pt x="5887" y="81"/>
                </a:cubicBezTo>
                <a:cubicBezTo>
                  <a:pt x="7683" y="1046"/>
                  <a:pt x="9004" y="20267"/>
                  <a:pt x="10800" y="20492"/>
                </a:cubicBezTo>
                <a:cubicBezTo>
                  <a:pt x="12596" y="20717"/>
                  <a:pt x="14891" y="1528"/>
                  <a:pt x="16687" y="1528"/>
                </a:cubicBezTo>
                <a:cubicBezTo>
                  <a:pt x="18483" y="1528"/>
                  <a:pt x="20042" y="11010"/>
                  <a:pt x="21600" y="20492"/>
                </a:cubicBezTo>
              </a:path>
            </a:pathLst>
          </a:custGeom>
          <a:ln>
            <a:solidFill>
              <a:srgbClr val="FF4C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156" name="線"/>
          <p:cNvSpPr/>
          <p:nvPr/>
        </p:nvSpPr>
        <p:spPr>
          <a:xfrm>
            <a:off x="9751876" y="5080000"/>
            <a:ext cx="1223963" cy="1588"/>
          </a:xfrm>
          <a:prstGeom prst="line">
            <a:avLst/>
          </a:prstGeom>
          <a:ln>
            <a:solidFill>
              <a:srgbClr val="FF4C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7" name="k&lt;1.2x10-2 sec-1"/>
          <p:cNvSpPr/>
          <p:nvPr/>
        </p:nvSpPr>
        <p:spPr>
          <a:xfrm>
            <a:off x="7069501" y="6125280"/>
            <a:ext cx="1553310"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Calibri"/>
            </a:pPr>
            <a:r>
              <a:rPr>
                <a:latin typeface="Calibri"/>
                <a:ea typeface="Calibri"/>
                <a:cs typeface="Calibri"/>
                <a:sym typeface="Calibri"/>
              </a:rPr>
              <a:t>k&lt;1.2x10</a:t>
            </a:r>
            <a:r>
              <a:rPr baseline="30714">
                <a:latin typeface="Calibri"/>
                <a:ea typeface="Calibri"/>
                <a:cs typeface="Calibri"/>
                <a:sym typeface="Calibri"/>
              </a:rPr>
              <a:t>-2</a:t>
            </a:r>
            <a:r>
              <a:rPr>
                <a:latin typeface="Calibri"/>
                <a:ea typeface="Calibri"/>
                <a:cs typeface="Calibri"/>
                <a:sym typeface="Calibri"/>
              </a:rPr>
              <a:t> sec</a:t>
            </a:r>
            <a:r>
              <a:rPr baseline="30714">
                <a:latin typeface="Calibri"/>
                <a:ea typeface="Calibri"/>
                <a:cs typeface="Calibri"/>
                <a:sym typeface="Calibri"/>
              </a:rPr>
              <a:t>-1</a:t>
            </a:r>
          </a:p>
        </p:txBody>
      </p:sp>
      <p:sp>
        <p:nvSpPr>
          <p:cNvPr id="158" name="k&gt;1.2x10-2 sec-1"/>
          <p:cNvSpPr/>
          <p:nvPr/>
        </p:nvSpPr>
        <p:spPr>
          <a:xfrm>
            <a:off x="9439638" y="6158618"/>
            <a:ext cx="1553310"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Calibri"/>
            </a:pPr>
            <a:r>
              <a:rPr>
                <a:latin typeface="Calibri"/>
                <a:ea typeface="Calibri"/>
                <a:cs typeface="Calibri"/>
                <a:sym typeface="Calibri"/>
              </a:rPr>
              <a:t>k&gt;1.2x10</a:t>
            </a:r>
            <a:r>
              <a:rPr baseline="30714">
                <a:latin typeface="Calibri"/>
                <a:ea typeface="Calibri"/>
                <a:cs typeface="Calibri"/>
                <a:sym typeface="Calibri"/>
              </a:rPr>
              <a:t>-2</a:t>
            </a:r>
            <a:r>
              <a:rPr>
                <a:latin typeface="Calibri"/>
                <a:ea typeface="Calibri"/>
                <a:cs typeface="Calibri"/>
                <a:sym typeface="Calibri"/>
              </a:rPr>
              <a:t> sec</a:t>
            </a:r>
            <a:r>
              <a:rPr baseline="30714">
                <a:latin typeface="Calibri"/>
                <a:ea typeface="Calibri"/>
                <a:cs typeface="Calibri"/>
                <a:sym typeface="Calibri"/>
              </a:rPr>
              <a:t>-1</a:t>
            </a:r>
          </a:p>
        </p:txBody>
      </p:sp>
      <p:pic>
        <p:nvPicPr>
          <p:cNvPr id="159" name="image.png" descr="image.png"/>
          <p:cNvPicPr>
            <a:picLocks noChangeAspect="1"/>
          </p:cNvPicPr>
          <p:nvPr/>
        </p:nvPicPr>
        <p:blipFill>
          <a:blip r:embed="rId2"/>
          <a:stretch>
            <a:fillRect/>
          </a:stretch>
        </p:blipFill>
        <p:spPr>
          <a:xfrm>
            <a:off x="6240462" y="1339850"/>
            <a:ext cx="4896070" cy="1871663"/>
          </a:xfrm>
          <a:prstGeom prst="rect">
            <a:avLst/>
          </a:prstGeom>
          <a:ln w="12700">
            <a:miter lim="400000"/>
          </a:ln>
        </p:spPr>
      </p:pic>
      <p:sp>
        <p:nvSpPr>
          <p:cNvPr id="160" name="Borisuk and Tyson (1998)"/>
          <p:cNvSpPr/>
          <p:nvPr/>
        </p:nvSpPr>
        <p:spPr>
          <a:xfrm>
            <a:off x="7312756" y="3205478"/>
            <a:ext cx="2457660"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Borisuk and Tyson (1998)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最先端で発見されている振動現象"/>
          <p:cNvSpPr txBox="1">
            <a:spLocks noGrp="1"/>
          </p:cNvSpPr>
          <p:nvPr>
            <p:ph type="title"/>
          </p:nvPr>
        </p:nvSpPr>
        <p:spPr>
          <a:prstGeom prst="rect">
            <a:avLst/>
          </a:prstGeom>
        </p:spPr>
        <p:txBody>
          <a:bodyPr/>
          <a:lstStyle/>
          <a:p>
            <a:r>
              <a:t>最先端で発見されている振動現象</a:t>
            </a:r>
          </a:p>
        </p:txBody>
      </p:sp>
      <p:sp>
        <p:nvSpPr>
          <p:cNvPr id="163" name="Hes1 (Notch signalling system)…"/>
          <p:cNvSpPr txBox="1">
            <a:spLocks noGrp="1"/>
          </p:cNvSpPr>
          <p:nvPr>
            <p:ph type="body" idx="4294967295"/>
          </p:nvPr>
        </p:nvSpPr>
        <p:spPr>
          <a:xfrm>
            <a:off x="390967" y="1533602"/>
            <a:ext cx="7269007" cy="5047079"/>
          </a:xfrm>
          <a:prstGeom prst="rect">
            <a:avLst/>
          </a:prstGeom>
        </p:spPr>
        <p:txBody>
          <a:bodyPr>
            <a:noAutofit/>
          </a:bodyPr>
          <a:lstStyle/>
          <a:p>
            <a:pPr marL="241630" indent="-216027" defTabSz="256031">
              <a:lnSpc>
                <a:spcPct val="70000"/>
              </a:lnSpc>
              <a:spcBef>
                <a:spcPts val="1000"/>
              </a:spcBef>
              <a:buClr>
                <a:srgbClr val="000000"/>
              </a:buClr>
              <a:buSzPct val="100000"/>
              <a:buFont typeface="Arial"/>
              <a:defRPr sz="1512"/>
            </a:pPr>
            <a:r>
              <a:rPr sz="2800" dirty="0"/>
              <a:t>Hes1　(Notch </a:t>
            </a:r>
            <a:r>
              <a:rPr sz="2800" dirty="0" err="1"/>
              <a:t>signalling</a:t>
            </a:r>
            <a:r>
              <a:rPr sz="2800" dirty="0"/>
              <a:t> system)</a:t>
            </a:r>
          </a:p>
          <a:p>
            <a:pPr marL="493661" lvl="1" indent="-180022" defTabSz="256031">
              <a:lnSpc>
                <a:spcPct val="70000"/>
              </a:lnSpc>
              <a:spcBef>
                <a:spcPts val="1000"/>
              </a:spcBef>
              <a:buClr>
                <a:srgbClr val="000000"/>
              </a:buClr>
              <a:buSzPct val="100000"/>
              <a:buFont typeface="Arial"/>
              <a:defRPr sz="1008"/>
            </a:pPr>
            <a:r>
              <a:rPr sz="2400" dirty="0"/>
              <a:t>mRNA転写が2時間周期</a:t>
            </a:r>
          </a:p>
          <a:p>
            <a:pPr marL="493661" lvl="1" indent="-180022" defTabSz="256031">
              <a:lnSpc>
                <a:spcPct val="70000"/>
              </a:lnSpc>
              <a:spcBef>
                <a:spcPts val="1000"/>
              </a:spcBef>
              <a:buClr>
                <a:srgbClr val="000000"/>
              </a:buClr>
              <a:buSzPct val="100000"/>
              <a:buFont typeface="Arial"/>
              <a:defRPr sz="1008"/>
            </a:pPr>
            <a:r>
              <a:rPr sz="2400" dirty="0" err="1"/>
              <a:t>体節形成に必要</a:t>
            </a:r>
            <a:endParaRPr sz="2400" dirty="0"/>
          </a:p>
          <a:p>
            <a:pPr marL="493661" lvl="1" indent="-180022" defTabSz="256031">
              <a:lnSpc>
                <a:spcPct val="70000"/>
              </a:lnSpc>
              <a:spcBef>
                <a:spcPts val="1000"/>
              </a:spcBef>
              <a:buClr>
                <a:srgbClr val="000000"/>
              </a:buClr>
              <a:buSzPct val="100000"/>
              <a:buFont typeface="Arial"/>
              <a:defRPr sz="1008"/>
            </a:pPr>
            <a:r>
              <a:rPr sz="2400" dirty="0"/>
              <a:t>Hirata </a:t>
            </a:r>
            <a:r>
              <a:rPr sz="2400" i="1" dirty="0"/>
              <a:t>et al.</a:t>
            </a:r>
            <a:r>
              <a:rPr sz="2400" dirty="0"/>
              <a:t> (2002) </a:t>
            </a:r>
            <a:r>
              <a:rPr sz="2400" i="1" dirty="0"/>
              <a:t>Science</a:t>
            </a:r>
          </a:p>
          <a:p>
            <a:pPr marL="745693" lvl="2" indent="-144018" defTabSz="256031">
              <a:lnSpc>
                <a:spcPct val="70000"/>
              </a:lnSpc>
              <a:spcBef>
                <a:spcPts val="1000"/>
              </a:spcBef>
              <a:buClr>
                <a:srgbClr val="000000"/>
              </a:buClr>
              <a:buSzPct val="100000"/>
              <a:buFont typeface="Arial"/>
              <a:buChar char="–"/>
              <a:defRPr sz="1512" i="1"/>
            </a:pPr>
            <a:endParaRPr sz="2800" i="1" dirty="0"/>
          </a:p>
          <a:p>
            <a:pPr marL="241630" indent="-216027" defTabSz="256031">
              <a:lnSpc>
                <a:spcPct val="70000"/>
              </a:lnSpc>
              <a:spcBef>
                <a:spcPts val="1000"/>
              </a:spcBef>
              <a:buClr>
                <a:srgbClr val="000000"/>
              </a:buClr>
              <a:buSzPct val="100000"/>
              <a:buFont typeface="Arial"/>
              <a:defRPr sz="1512"/>
            </a:pPr>
            <a:r>
              <a:rPr sz="2800" dirty="0"/>
              <a:t>「MAPKカスケードは2時間周期で振動」</a:t>
            </a:r>
          </a:p>
          <a:p>
            <a:pPr marL="493661" lvl="1" indent="-180022" defTabSz="256031">
              <a:lnSpc>
                <a:spcPct val="70000"/>
              </a:lnSpc>
              <a:spcBef>
                <a:spcPts val="1000"/>
              </a:spcBef>
              <a:buClr>
                <a:srgbClr val="000000"/>
              </a:buClr>
              <a:buSzPct val="100000"/>
              <a:buFont typeface="Arial"/>
              <a:defRPr sz="1008"/>
            </a:pPr>
            <a:r>
              <a:rPr sz="2400" dirty="0"/>
              <a:t>Nakayama </a:t>
            </a:r>
            <a:r>
              <a:rPr sz="2400" i="1" dirty="0"/>
              <a:t>et al</a:t>
            </a:r>
            <a:r>
              <a:rPr sz="2400" dirty="0"/>
              <a:t>. (2008) </a:t>
            </a:r>
            <a:r>
              <a:rPr sz="2400" i="1" dirty="0"/>
              <a:t>Curr. Biol.</a:t>
            </a:r>
          </a:p>
          <a:p>
            <a:pPr marL="241630" indent="-216027" defTabSz="256031">
              <a:lnSpc>
                <a:spcPct val="70000"/>
              </a:lnSpc>
              <a:spcBef>
                <a:spcPts val="1000"/>
              </a:spcBef>
              <a:buClr>
                <a:srgbClr val="000000"/>
              </a:buClr>
              <a:buSzPct val="100000"/>
              <a:buFont typeface="Arial"/>
              <a:defRPr sz="1134" i="1"/>
            </a:pPr>
            <a:endParaRPr sz="2800" i="1" dirty="0"/>
          </a:p>
          <a:p>
            <a:pPr marL="241630" indent="-216027" defTabSz="256031">
              <a:lnSpc>
                <a:spcPct val="70000"/>
              </a:lnSpc>
              <a:spcBef>
                <a:spcPts val="1000"/>
              </a:spcBef>
              <a:buClr>
                <a:srgbClr val="000000"/>
              </a:buClr>
              <a:buSzPct val="100000"/>
              <a:buFont typeface="Arial"/>
              <a:defRPr sz="1764"/>
            </a:pPr>
            <a:r>
              <a:rPr sz="2800" dirty="0"/>
              <a:t>In depth</a:t>
            </a:r>
          </a:p>
          <a:p>
            <a:pPr marL="493661" lvl="1" indent="-180022" defTabSz="256031">
              <a:lnSpc>
                <a:spcPct val="70000"/>
              </a:lnSpc>
              <a:spcBef>
                <a:spcPts val="1000"/>
              </a:spcBef>
              <a:buClr>
                <a:srgbClr val="000000"/>
              </a:buClr>
              <a:buSzPct val="100000"/>
              <a:buFont typeface="Arial"/>
              <a:defRPr sz="1764"/>
            </a:pPr>
            <a:r>
              <a:rPr sz="2400" dirty="0"/>
              <a:t>「</a:t>
            </a:r>
            <a:r>
              <a:rPr sz="2400" dirty="0" err="1"/>
              <a:t>フィードバック</a:t>
            </a:r>
            <a:r>
              <a:rPr sz="2400" dirty="0"/>
              <a:t>」</a:t>
            </a:r>
          </a:p>
          <a:p>
            <a:pPr marL="493661" lvl="1" indent="-180022" defTabSz="256031">
              <a:lnSpc>
                <a:spcPct val="70000"/>
              </a:lnSpc>
              <a:spcBef>
                <a:spcPts val="1000"/>
              </a:spcBef>
              <a:buClr>
                <a:srgbClr val="000000"/>
              </a:buClr>
              <a:buSzPct val="100000"/>
              <a:buFont typeface="Arial"/>
              <a:defRPr sz="1764"/>
            </a:pPr>
            <a:r>
              <a:rPr sz="2400" dirty="0" err="1"/>
              <a:t>数理的な解析が威力を発揮する</a:t>
            </a:r>
            <a:endParaRPr sz="2400" dirty="0"/>
          </a:p>
        </p:txBody>
      </p:sp>
      <p:pic>
        <p:nvPicPr>
          <p:cNvPr id="164" name="image.png" descr="image.png"/>
          <p:cNvPicPr>
            <a:picLocks noChangeAspect="1"/>
          </p:cNvPicPr>
          <p:nvPr/>
        </p:nvPicPr>
        <p:blipFill>
          <a:blip r:embed="rId2"/>
          <a:stretch>
            <a:fillRect/>
          </a:stretch>
        </p:blipFill>
        <p:spPr>
          <a:xfrm>
            <a:off x="8177344" y="3944937"/>
            <a:ext cx="2613008" cy="2440968"/>
          </a:xfrm>
          <a:prstGeom prst="rect">
            <a:avLst/>
          </a:prstGeom>
          <a:ln w="12700">
            <a:miter lim="400000"/>
          </a:ln>
        </p:spPr>
      </p:pic>
      <p:pic>
        <p:nvPicPr>
          <p:cNvPr id="165" name="image.png" descr="image.png"/>
          <p:cNvPicPr>
            <a:picLocks noChangeAspect="1"/>
          </p:cNvPicPr>
          <p:nvPr/>
        </p:nvPicPr>
        <p:blipFill>
          <a:blip r:embed="rId3"/>
          <a:stretch>
            <a:fillRect/>
          </a:stretch>
        </p:blipFill>
        <p:spPr>
          <a:xfrm>
            <a:off x="7256462" y="1299797"/>
            <a:ext cx="3834739" cy="2488342"/>
          </a:xfrm>
          <a:prstGeom prst="rect">
            <a:avLst/>
          </a:prstGeom>
          <a:ln w="12700">
            <a:miter lim="400000"/>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本日の内容"/>
          <p:cNvSpPr txBox="1">
            <a:spLocks noGrp="1"/>
          </p:cNvSpPr>
          <p:nvPr>
            <p:ph type="title"/>
          </p:nvPr>
        </p:nvSpPr>
        <p:spPr>
          <a:prstGeom prst="rect">
            <a:avLst/>
          </a:prstGeom>
        </p:spPr>
        <p:txBody>
          <a:bodyPr/>
          <a:lstStyle/>
          <a:p>
            <a:r>
              <a:rPr lang="ja-JP" altLang="en-US"/>
              <a:t>今日と明日</a:t>
            </a:r>
            <a:r>
              <a:rPr dirty="0" err="1"/>
              <a:t>の内容</a:t>
            </a:r>
            <a:endParaRPr dirty="0"/>
          </a:p>
        </p:txBody>
      </p:sp>
      <p:sp>
        <p:nvSpPr>
          <p:cNvPr id="168" name="生物リズムはなぜ起こるか？…"/>
          <p:cNvSpPr txBox="1">
            <a:spLocks noGrp="1"/>
          </p:cNvSpPr>
          <p:nvPr>
            <p:ph type="body" idx="4294967295"/>
          </p:nvPr>
        </p:nvSpPr>
        <p:spPr>
          <a:xfrm>
            <a:off x="689549" y="1678482"/>
            <a:ext cx="10897846" cy="4457700"/>
          </a:xfrm>
          <a:prstGeom prst="rect">
            <a:avLst/>
          </a:prstGeom>
        </p:spPr>
        <p:txBody>
          <a:bodyPr>
            <a:normAutofit/>
          </a:bodyPr>
          <a:lstStyle/>
          <a:p>
            <a:pPr marL="352856" indent="-315468" defTabSz="373888">
              <a:spcBef>
                <a:spcPts val="1500"/>
              </a:spcBef>
              <a:buClr>
                <a:srgbClr val="000000"/>
              </a:buClr>
              <a:buSzPct val="100000"/>
              <a:buFont typeface="Arial"/>
              <a:defRPr sz="2208"/>
            </a:pPr>
            <a:r>
              <a:rPr sz="3600" dirty="0" err="1"/>
              <a:t>生物リズムはなぜ起こるか</a:t>
            </a:r>
            <a:r>
              <a:rPr sz="3600" dirty="0"/>
              <a:t>？</a:t>
            </a:r>
          </a:p>
          <a:p>
            <a:pPr marL="720902" lvl="1" indent="-262890" defTabSz="373888">
              <a:spcBef>
                <a:spcPts val="1500"/>
              </a:spcBef>
              <a:buClr>
                <a:srgbClr val="000000"/>
              </a:buClr>
              <a:buSzPct val="100000"/>
              <a:buFont typeface="Arial"/>
              <a:defRPr sz="2208"/>
            </a:pPr>
            <a:r>
              <a:rPr sz="3600" dirty="0" err="1"/>
              <a:t>Sel’kov</a:t>
            </a:r>
            <a:r>
              <a:rPr sz="3600" dirty="0"/>
              <a:t> </a:t>
            </a:r>
            <a:r>
              <a:rPr lang="ja-JP" altLang="en-US" sz="3600"/>
              <a:t>モデルと</a:t>
            </a:r>
            <a:r>
              <a:rPr lang="en-US" altLang="ja-JP" sz="3600" dirty="0"/>
              <a:t> </a:t>
            </a:r>
            <a:r>
              <a:rPr sz="3600" dirty="0"/>
              <a:t>Hopf </a:t>
            </a:r>
            <a:r>
              <a:rPr sz="3600" dirty="0" err="1"/>
              <a:t>分岐</a:t>
            </a:r>
            <a:endParaRPr sz="3600" dirty="0"/>
          </a:p>
          <a:p>
            <a:pPr marL="352856" indent="-315468" defTabSz="373888">
              <a:spcBef>
                <a:spcPts val="1500"/>
              </a:spcBef>
              <a:buClr>
                <a:srgbClr val="000000"/>
              </a:buClr>
              <a:buSzPct val="100000"/>
              <a:buFont typeface="Arial"/>
              <a:defRPr sz="2208"/>
            </a:pPr>
            <a:endParaRPr sz="3600" dirty="0"/>
          </a:p>
          <a:p>
            <a:pPr marL="352856" indent="-315468" defTabSz="373888">
              <a:spcBef>
                <a:spcPts val="1500"/>
              </a:spcBef>
              <a:buClr>
                <a:srgbClr val="000000"/>
              </a:buClr>
              <a:buSzPct val="100000"/>
              <a:buFont typeface="Arial"/>
              <a:defRPr sz="2208"/>
            </a:pPr>
            <a:r>
              <a:rPr sz="3600" dirty="0" err="1"/>
              <a:t>引き続き「力学系</a:t>
            </a:r>
            <a:r>
              <a:rPr lang="ja-JP" altLang="en-US" sz="3600"/>
              <a:t>の</a:t>
            </a:r>
            <a:r>
              <a:rPr sz="3600" dirty="0" err="1"/>
              <a:t>七つ道具</a:t>
            </a:r>
            <a:r>
              <a:rPr sz="3600" dirty="0"/>
              <a:t>」</a:t>
            </a:r>
            <a:r>
              <a:rPr lang="ja-JP" altLang="en-US" sz="3600"/>
              <a:t>に取り組む</a:t>
            </a:r>
            <a:endParaRPr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82ABE-AB5B-047D-16D7-061E03A31A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36882CF-DEFF-90F2-E7CF-E8B5063E375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981A1AB0-76FD-6B28-BF7F-7391318EAD43}"/>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2492634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el’kovモデル"/>
          <p:cNvSpPr txBox="1">
            <a:spLocks noGrp="1"/>
          </p:cNvSpPr>
          <p:nvPr>
            <p:ph type="title"/>
          </p:nvPr>
        </p:nvSpPr>
        <p:spPr>
          <a:prstGeom prst="rect">
            <a:avLst/>
          </a:prstGeom>
        </p:spPr>
        <p:txBody>
          <a:bodyPr/>
          <a:lstStyle/>
          <a:p>
            <a:r>
              <a:t>Sel’kovモデル</a:t>
            </a:r>
          </a:p>
        </p:txBody>
      </p:sp>
      <p:sp>
        <p:nvSpPr>
          <p:cNvPr id="174" name="解糖系の振動を説明するためのモデル…"/>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t>解糖系の振動を説明するためのモデル</a:t>
            </a:r>
          </a:p>
          <a:p>
            <a:pPr marL="783590" lvl="1">
              <a:lnSpc>
                <a:spcPct val="90000"/>
              </a:lnSpc>
              <a:buClr>
                <a:srgbClr val="000000"/>
              </a:buClr>
              <a:buSzPct val="100000"/>
              <a:buFont typeface="Arial"/>
            </a:pPr>
            <a:r>
              <a:t>振動するのは物質濃度、酵素活性</a:t>
            </a:r>
          </a:p>
          <a:p>
            <a:pPr marL="783590" lvl="1">
              <a:lnSpc>
                <a:spcPct val="90000"/>
              </a:lnSpc>
              <a:buClr>
                <a:srgbClr val="000000"/>
              </a:buClr>
              <a:buSzPct val="100000"/>
              <a:buFont typeface="Arial"/>
            </a:pPr>
            <a:r>
              <a:t>ポジティヴ・フィードバック</a:t>
            </a:r>
          </a:p>
        </p:txBody>
      </p:sp>
      <p:sp>
        <p:nvSpPr>
          <p:cNvPr id="2" name="Strogatz (1994) pp.205">
            <a:extLst>
              <a:ext uri="{FF2B5EF4-FFF2-40B4-BE49-F238E27FC236}">
                <a16:creationId xmlns:a16="http://schemas.microsoft.com/office/drawing/2014/main" id="{F07C885D-3F0E-C634-FA08-BC7CB487D1C6}"/>
              </a:ext>
            </a:extLst>
          </p:cNvPr>
          <p:cNvSpPr/>
          <p:nvPr/>
        </p:nvSpPr>
        <p:spPr>
          <a:xfrm>
            <a:off x="8394700" y="4603749"/>
            <a:ext cx="317163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dirty="0" err="1">
                <a:latin typeface="Helvetica Neue Light" panose="02000403000000020004" pitchFamily="2" charset="0"/>
                <a:ea typeface="Helvetica Neue Light" panose="02000403000000020004" pitchFamily="2" charset="0"/>
              </a:rPr>
              <a:t>Strogatz</a:t>
            </a:r>
            <a:r>
              <a:rPr dirty="0">
                <a:latin typeface="Helvetica Neue Light" panose="02000403000000020004" pitchFamily="2" charset="0"/>
                <a:ea typeface="Helvetica Neue Light" panose="02000403000000020004" pitchFamily="2" charset="0"/>
              </a:rPr>
              <a:t> (1994) pp.205</a:t>
            </a:r>
          </a:p>
        </p:txBody>
      </p:sp>
      <p:sp>
        <p:nvSpPr>
          <p:cNvPr id="3" name="ただし">
            <a:extLst>
              <a:ext uri="{FF2B5EF4-FFF2-40B4-BE49-F238E27FC236}">
                <a16:creationId xmlns:a16="http://schemas.microsoft.com/office/drawing/2014/main" id="{87D2C369-2ED4-2408-CBA5-C8D61B3077A0}"/>
              </a:ext>
            </a:extLst>
          </p:cNvPr>
          <p:cNvSpPr/>
          <p:nvPr/>
        </p:nvSpPr>
        <p:spPr>
          <a:xfrm>
            <a:off x="5500172" y="3666243"/>
            <a:ext cx="79508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4" name="v2 = ay + x2y">
            <a:extLst>
              <a:ext uri="{FF2B5EF4-FFF2-40B4-BE49-F238E27FC236}">
                <a16:creationId xmlns:a16="http://schemas.microsoft.com/office/drawing/2014/main" id="{74865F4A-0CE8-C2E4-6902-16753884206B}"/>
              </a:ext>
            </a:extLst>
          </p:cNvPr>
          <p:cNvSpPr/>
          <p:nvPr/>
        </p:nvSpPr>
        <p:spPr>
          <a:xfrm>
            <a:off x="8538805" y="3352762"/>
            <a:ext cx="1889941"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5" name="v1 = b">
            <a:extLst>
              <a:ext uri="{FF2B5EF4-FFF2-40B4-BE49-F238E27FC236}">
                <a16:creationId xmlns:a16="http://schemas.microsoft.com/office/drawing/2014/main" id="{CFC0FF29-31D3-251C-5C3E-F38C8E09D5BD}"/>
              </a:ext>
            </a:extLst>
          </p:cNvPr>
          <p:cNvSpPr/>
          <p:nvPr/>
        </p:nvSpPr>
        <p:spPr>
          <a:xfrm>
            <a:off x="7089188" y="3346412"/>
            <a:ext cx="91210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6" name="v3 = x">
            <a:extLst>
              <a:ext uri="{FF2B5EF4-FFF2-40B4-BE49-F238E27FC236}">
                <a16:creationId xmlns:a16="http://schemas.microsoft.com/office/drawing/2014/main" id="{20BEBEBC-DDDA-7977-060A-82A160F4AEDC}"/>
              </a:ext>
            </a:extLst>
          </p:cNvPr>
          <p:cNvSpPr/>
          <p:nvPr/>
        </p:nvSpPr>
        <p:spPr>
          <a:xfrm>
            <a:off x="7099301" y="3867112"/>
            <a:ext cx="891270"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7" name="v1">
            <a:extLst>
              <a:ext uri="{FF2B5EF4-FFF2-40B4-BE49-F238E27FC236}">
                <a16:creationId xmlns:a16="http://schemas.microsoft.com/office/drawing/2014/main" id="{264121A0-A3AE-B7EF-C3A4-2437991D0C0C}"/>
              </a:ext>
            </a:extLst>
          </p:cNvPr>
          <p:cNvSpPr/>
          <p:nvPr/>
        </p:nvSpPr>
        <p:spPr>
          <a:xfrm>
            <a:off x="3453673"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8" name="v2">
            <a:extLst>
              <a:ext uri="{FF2B5EF4-FFF2-40B4-BE49-F238E27FC236}">
                <a16:creationId xmlns:a16="http://schemas.microsoft.com/office/drawing/2014/main" id="{1BB68A46-A987-40DA-0C2A-3C34714AC35F}"/>
              </a:ext>
            </a:extLst>
          </p:cNvPr>
          <p:cNvSpPr/>
          <p:nvPr/>
        </p:nvSpPr>
        <p:spPr>
          <a:xfrm>
            <a:off x="5892800"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9" name="v3">
            <a:extLst>
              <a:ext uri="{FF2B5EF4-FFF2-40B4-BE49-F238E27FC236}">
                <a16:creationId xmlns:a16="http://schemas.microsoft.com/office/drawing/2014/main" id="{669B6625-AAAD-62DF-10E3-98AFA9CD901C}"/>
              </a:ext>
            </a:extLst>
          </p:cNvPr>
          <p:cNvSpPr/>
          <p:nvPr/>
        </p:nvSpPr>
        <p:spPr>
          <a:xfrm>
            <a:off x="8394700"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10" name="線">
            <a:extLst>
              <a:ext uri="{FF2B5EF4-FFF2-40B4-BE49-F238E27FC236}">
                <a16:creationId xmlns:a16="http://schemas.microsoft.com/office/drawing/2014/main" id="{4691EE4B-2006-5943-7DC4-2622EBEBC632}"/>
              </a:ext>
            </a:extLst>
          </p:cNvPr>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1" name="線">
            <a:extLst>
              <a:ext uri="{FF2B5EF4-FFF2-40B4-BE49-F238E27FC236}">
                <a16:creationId xmlns:a16="http://schemas.microsoft.com/office/drawing/2014/main" id="{D276DA45-7E59-27F3-89EB-AB1F9AF203C1}"/>
              </a:ext>
            </a:extLst>
          </p:cNvPr>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2" name="線">
            <a:extLst>
              <a:ext uri="{FF2B5EF4-FFF2-40B4-BE49-F238E27FC236}">
                <a16:creationId xmlns:a16="http://schemas.microsoft.com/office/drawing/2014/main" id="{CEB33FF9-82A3-B685-9E32-8B32776BC2B8}"/>
              </a:ext>
            </a:extLst>
          </p:cNvPr>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3" name="ADP(x)">
            <a:extLst>
              <a:ext uri="{FF2B5EF4-FFF2-40B4-BE49-F238E27FC236}">
                <a16:creationId xmlns:a16="http://schemas.microsoft.com/office/drawing/2014/main" id="{E0FE0A1F-B17A-3310-209C-81DC007823E0}"/>
              </a:ext>
            </a:extLst>
          </p:cNvPr>
          <p:cNvSpPr/>
          <p:nvPr/>
        </p:nvSpPr>
        <p:spPr>
          <a:xfrm>
            <a:off x="6735262" y="2254212"/>
            <a:ext cx="1221488"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14" name="F6P(y)">
            <a:extLst>
              <a:ext uri="{FF2B5EF4-FFF2-40B4-BE49-F238E27FC236}">
                <a16:creationId xmlns:a16="http://schemas.microsoft.com/office/drawing/2014/main" id="{468EE475-F9E0-BAD9-D0EF-605D11A441F1}"/>
              </a:ext>
            </a:extLst>
          </p:cNvPr>
          <p:cNvSpPr/>
          <p:nvPr/>
        </p:nvSpPr>
        <p:spPr>
          <a:xfrm>
            <a:off x="4361620" y="2254212"/>
            <a:ext cx="1082027"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15" name="PFK">
            <a:extLst>
              <a:ext uri="{FF2B5EF4-FFF2-40B4-BE49-F238E27FC236}">
                <a16:creationId xmlns:a16="http://schemas.microsoft.com/office/drawing/2014/main" id="{5CB8B007-2164-4082-6277-624204DBBCAA}"/>
              </a:ext>
            </a:extLst>
          </p:cNvPr>
          <p:cNvSpPr/>
          <p:nvPr/>
        </p:nvSpPr>
        <p:spPr>
          <a:xfrm>
            <a:off x="5690915" y="2686012"/>
            <a:ext cx="7630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16" name="線">
            <a:extLst>
              <a:ext uri="{FF2B5EF4-FFF2-40B4-BE49-F238E27FC236}">
                <a16:creationId xmlns:a16="http://schemas.microsoft.com/office/drawing/2014/main" id="{C81721D3-D01B-0912-9F7A-1F9C9B22C444}"/>
              </a:ext>
            </a:extLst>
          </p:cNvPr>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7" name="線">
            <a:extLst>
              <a:ext uri="{FF2B5EF4-FFF2-40B4-BE49-F238E27FC236}">
                <a16:creationId xmlns:a16="http://schemas.microsoft.com/office/drawing/2014/main" id="{500A5510-D244-94DE-CA8B-37331435892A}"/>
              </a:ext>
            </a:extLst>
          </p:cNvPr>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8" name="線">
            <a:extLst>
              <a:ext uri="{FF2B5EF4-FFF2-40B4-BE49-F238E27FC236}">
                <a16:creationId xmlns:a16="http://schemas.microsoft.com/office/drawing/2014/main" id="{9660F665-E00B-C431-6690-0CF145795319}"/>
              </a:ext>
            </a:extLst>
          </p:cNvPr>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19" name="図 18">
            <a:extLst>
              <a:ext uri="{FF2B5EF4-FFF2-40B4-BE49-F238E27FC236}">
                <a16:creationId xmlns:a16="http://schemas.microsoft.com/office/drawing/2014/main" id="{AED86729-4452-A7C5-6B81-0D7A5A2EE7EE}"/>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解糖系の振動とは？"/>
          <p:cNvSpPr txBox="1">
            <a:spLocks noGrp="1"/>
          </p:cNvSpPr>
          <p:nvPr>
            <p:ph type="title"/>
          </p:nvPr>
        </p:nvSpPr>
        <p:spPr>
          <a:prstGeom prst="rect">
            <a:avLst/>
          </a:prstGeom>
        </p:spPr>
        <p:txBody>
          <a:bodyPr/>
          <a:lstStyle/>
          <a:p>
            <a:r>
              <a:t>解糖系の振動とは？</a:t>
            </a:r>
          </a:p>
        </p:txBody>
      </p:sp>
      <p:sp>
        <p:nvSpPr>
          <p:cNvPr id="195" name="代謝物質濃度の時間的振動…"/>
          <p:cNvSpPr txBox="1">
            <a:spLocks noGrp="1"/>
          </p:cNvSpPr>
          <p:nvPr>
            <p:ph type="body" sz="half" idx="4294967295"/>
          </p:nvPr>
        </p:nvSpPr>
        <p:spPr>
          <a:xfrm>
            <a:off x="674556" y="1655763"/>
            <a:ext cx="6280879" cy="4381500"/>
          </a:xfrm>
          <a:prstGeom prst="rect">
            <a:avLst/>
          </a:prstGeom>
        </p:spPr>
        <p:txBody>
          <a:bodyPr>
            <a:normAutofit/>
          </a:bodyPr>
          <a:lstStyle/>
          <a:p>
            <a:pPr marL="383540">
              <a:buClr>
                <a:srgbClr val="000000"/>
              </a:buClr>
              <a:buSzPct val="100000"/>
              <a:buFont typeface="Arial"/>
              <a:defRPr sz="2400"/>
            </a:pPr>
            <a:r>
              <a:rPr sz="3600" dirty="0" err="1"/>
              <a:t>代謝物質濃度の時間的振動</a:t>
            </a:r>
            <a:endParaRPr sz="36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グルコース</a:t>
            </a:r>
            <a:endParaRPr sz="32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酸素</a:t>
            </a:r>
            <a:endParaRPr sz="3200" dirty="0"/>
          </a:p>
        </p:txBody>
      </p:sp>
      <p:pic>
        <p:nvPicPr>
          <p:cNvPr id="196" name="image.png" descr="image.png"/>
          <p:cNvPicPr>
            <a:picLocks/>
          </p:cNvPicPr>
          <p:nvPr/>
        </p:nvPicPr>
        <p:blipFill>
          <a:blip r:embed="rId2"/>
          <a:stretch>
            <a:fillRect/>
          </a:stretch>
        </p:blipFill>
        <p:spPr>
          <a:xfrm>
            <a:off x="7085349" y="1484313"/>
            <a:ext cx="4279900" cy="4724401"/>
          </a:xfrm>
          <a:prstGeom prst="rect">
            <a:avLst/>
          </a:prstGeom>
          <a:ln w="12700">
            <a:miter lim="400000"/>
          </a:ln>
        </p:spPr>
      </p:pic>
      <p:sp>
        <p:nvSpPr>
          <p:cNvPr id="197" name="Kennedy et al. (2007)"/>
          <p:cNvSpPr/>
          <p:nvPr/>
        </p:nvSpPr>
        <p:spPr>
          <a:xfrm>
            <a:off x="8075498" y="6124270"/>
            <a:ext cx="2941511"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rPr sz="2400"/>
              <a:t>Kennedy </a:t>
            </a:r>
            <a:r>
              <a:rPr sz="2400" i="1">
                <a:latin typeface="Arial"/>
                <a:ea typeface="Arial"/>
                <a:cs typeface="Arial"/>
                <a:sym typeface="Arial"/>
              </a:rPr>
              <a:t>et al. </a:t>
            </a:r>
            <a:r>
              <a:rPr sz="2400"/>
              <a:t>(2007)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0" name="image.png" descr="image.png"/>
          <p:cNvPicPr>
            <a:picLocks/>
          </p:cNvPicPr>
          <p:nvPr/>
        </p:nvPicPr>
        <p:blipFill>
          <a:blip r:embed="rId2"/>
          <a:stretch>
            <a:fillRect/>
          </a:stretch>
        </p:blipFill>
        <p:spPr>
          <a:xfrm>
            <a:off x="6816725" y="1628775"/>
            <a:ext cx="3508376" cy="4645026"/>
          </a:xfrm>
          <a:prstGeom prst="rect">
            <a:avLst/>
          </a:prstGeom>
          <a:ln w="12700">
            <a:miter lim="400000"/>
          </a:ln>
        </p:spPr>
      </p:pic>
      <p:pic>
        <p:nvPicPr>
          <p:cNvPr id="201" name="image.png" descr="image.png"/>
          <p:cNvPicPr>
            <a:picLocks/>
          </p:cNvPicPr>
          <p:nvPr/>
        </p:nvPicPr>
        <p:blipFill>
          <a:blip r:embed="rId3"/>
          <a:stretch>
            <a:fillRect/>
          </a:stretch>
        </p:blipFill>
        <p:spPr>
          <a:xfrm>
            <a:off x="2208213" y="1628776"/>
            <a:ext cx="3035301" cy="4525963"/>
          </a:xfrm>
          <a:prstGeom prst="rect">
            <a:avLst/>
          </a:prstGeom>
          <a:ln w="12700">
            <a:miter lim="400000"/>
          </a:ln>
        </p:spPr>
      </p:pic>
      <p:sp>
        <p:nvSpPr>
          <p:cNvPr id="202" name="Bertram et al. (2007)"/>
          <p:cNvSpPr/>
          <p:nvPr/>
        </p:nvSpPr>
        <p:spPr>
          <a:xfrm>
            <a:off x="2078868" y="6296730"/>
            <a:ext cx="215603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t>Bertram </a:t>
            </a:r>
            <a:r>
              <a:rPr i="1">
                <a:latin typeface="Arial"/>
                <a:ea typeface="Arial"/>
                <a:cs typeface="Arial"/>
                <a:sym typeface="Arial"/>
              </a:rPr>
              <a:t>et al. </a:t>
            </a:r>
            <a:r>
              <a:t>(2007)</a:t>
            </a:r>
          </a:p>
        </p:txBody>
      </p:sp>
      <p:sp>
        <p:nvSpPr>
          <p:cNvPr id="203" name="Corkey et al. (1988)"/>
          <p:cNvSpPr/>
          <p:nvPr/>
        </p:nvSpPr>
        <p:spPr>
          <a:xfrm>
            <a:off x="6926049" y="6225293"/>
            <a:ext cx="206146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t>Corkey </a:t>
            </a:r>
            <a:r>
              <a:rPr i="1">
                <a:latin typeface="Arial"/>
                <a:ea typeface="Arial"/>
                <a:cs typeface="Arial"/>
                <a:sym typeface="Arial"/>
              </a:rPr>
              <a:t>et al. </a:t>
            </a:r>
            <a:r>
              <a:t>(1988)</a:t>
            </a:r>
          </a:p>
        </p:txBody>
      </p:sp>
      <p:sp>
        <p:nvSpPr>
          <p:cNvPr id="204" name="解糖系振動 → insulin分泌"/>
          <p:cNvSpPr txBox="1">
            <a:spLocks noGrp="1"/>
          </p:cNvSpPr>
          <p:nvPr>
            <p:ph type="title"/>
          </p:nvPr>
        </p:nvSpPr>
        <p:spPr>
          <a:prstGeom prst="rect">
            <a:avLst/>
          </a:prstGeom>
        </p:spPr>
        <p:txBody>
          <a:bodyPr/>
          <a:lstStyle/>
          <a:p>
            <a:r>
              <a:t>解糖系振動　→　insulin分泌</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演習1(MATLAB): Sel’kov modelを作る"/>
          <p:cNvSpPr txBox="1">
            <a:spLocks noGrp="1"/>
          </p:cNvSpPr>
          <p:nvPr>
            <p:ph type="title"/>
          </p:nvPr>
        </p:nvSpPr>
        <p:spPr>
          <a:prstGeom prst="rect">
            <a:avLst/>
          </a:prstGeom>
        </p:spPr>
        <p:txBody>
          <a:bodyPr/>
          <a:lstStyle/>
          <a:p>
            <a:r>
              <a:rPr sz="4000" dirty="0"/>
              <a:t>演習1: </a:t>
            </a:r>
            <a:r>
              <a:rPr sz="4000" dirty="0" err="1"/>
              <a:t>Sel’kov</a:t>
            </a:r>
            <a:r>
              <a:rPr sz="4000" dirty="0"/>
              <a:t> </a:t>
            </a:r>
            <a:r>
              <a:rPr sz="4000" dirty="0" err="1"/>
              <a:t>modelを作る</a:t>
            </a:r>
            <a:r>
              <a:rPr sz="4000" dirty="0"/>
              <a:t> </a:t>
            </a:r>
          </a:p>
        </p:txBody>
      </p:sp>
      <p:sp>
        <p:nvSpPr>
          <p:cNvPr id="261" name="速度論パラメータ :  a = 0.06, b = 0.6…"/>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rPr dirty="0" err="1"/>
              <a:t>速度論パラメータ</a:t>
            </a:r>
            <a:r>
              <a:rPr dirty="0"/>
              <a:t> :  a = 0.06, b = 0.6</a:t>
            </a:r>
          </a:p>
          <a:p>
            <a:pPr marL="383540">
              <a:lnSpc>
                <a:spcPct val="90000"/>
              </a:lnSpc>
              <a:buClr>
                <a:srgbClr val="000000"/>
              </a:buClr>
              <a:buSzPct val="100000"/>
              <a:buFont typeface="Arial"/>
            </a:pPr>
            <a:r>
              <a:rPr dirty="0" err="1"/>
              <a:t>初期値</a:t>
            </a:r>
            <a:r>
              <a:rPr dirty="0"/>
              <a:t>　　　　    :  ADP = 1.0, F6P = 1.0</a:t>
            </a:r>
          </a:p>
        </p:txBody>
      </p:sp>
      <p:sp>
        <p:nvSpPr>
          <p:cNvPr id="262" name="Strogatz (1994) pp.205"/>
          <p:cNvSpPr/>
          <p:nvPr/>
        </p:nvSpPr>
        <p:spPr>
          <a:xfrm>
            <a:off x="7143147" y="4499552"/>
            <a:ext cx="317163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a:latin typeface="Helvetica Neue Light" panose="02000403000000020004" pitchFamily="2" charset="0"/>
                <a:ea typeface="Helvetica Neue Light" panose="02000403000000020004" pitchFamily="2" charset="0"/>
              </a:rPr>
              <a:t>Strogatz (1994) pp.205</a:t>
            </a:r>
          </a:p>
        </p:txBody>
      </p:sp>
      <p:sp>
        <p:nvSpPr>
          <p:cNvPr id="264" name="ただし"/>
          <p:cNvSpPr/>
          <p:nvPr/>
        </p:nvSpPr>
        <p:spPr>
          <a:xfrm>
            <a:off x="5500172" y="3666243"/>
            <a:ext cx="79508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266" name="v2 = ay + x2y"/>
          <p:cNvSpPr/>
          <p:nvPr/>
        </p:nvSpPr>
        <p:spPr>
          <a:xfrm>
            <a:off x="8538805" y="3352762"/>
            <a:ext cx="1889941"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267" name="v1 = b"/>
          <p:cNvSpPr/>
          <p:nvPr/>
        </p:nvSpPr>
        <p:spPr>
          <a:xfrm>
            <a:off x="7089188" y="3346412"/>
            <a:ext cx="91210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268" name="v3 = x"/>
          <p:cNvSpPr/>
          <p:nvPr/>
        </p:nvSpPr>
        <p:spPr>
          <a:xfrm>
            <a:off x="7099301" y="3867112"/>
            <a:ext cx="891270"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269" name="v1"/>
          <p:cNvSpPr/>
          <p:nvPr/>
        </p:nvSpPr>
        <p:spPr>
          <a:xfrm>
            <a:off x="3453673"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270" name="v2"/>
          <p:cNvSpPr/>
          <p:nvPr/>
        </p:nvSpPr>
        <p:spPr>
          <a:xfrm>
            <a:off x="5892800"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271" name="v3"/>
          <p:cNvSpPr/>
          <p:nvPr/>
        </p:nvSpPr>
        <p:spPr>
          <a:xfrm>
            <a:off x="8394700"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272" name="線"/>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3" name="線"/>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4" name="線"/>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5" name="ADP(x)"/>
          <p:cNvSpPr/>
          <p:nvPr/>
        </p:nvSpPr>
        <p:spPr>
          <a:xfrm>
            <a:off x="6735262" y="2254212"/>
            <a:ext cx="1221488"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276" name="F6P(y)"/>
          <p:cNvSpPr/>
          <p:nvPr/>
        </p:nvSpPr>
        <p:spPr>
          <a:xfrm>
            <a:off x="4361620" y="2254212"/>
            <a:ext cx="1082027"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277" name="PFK"/>
          <p:cNvSpPr/>
          <p:nvPr/>
        </p:nvSpPr>
        <p:spPr>
          <a:xfrm>
            <a:off x="5690915" y="2686012"/>
            <a:ext cx="7630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278" name="線"/>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9" name="線"/>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80" name="線"/>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3" name="図 2">
            <a:extLst>
              <a:ext uri="{FF2B5EF4-FFF2-40B4-BE49-F238E27FC236}">
                <a16:creationId xmlns:a16="http://schemas.microsoft.com/office/drawing/2014/main" id="{5C9493B7-0EB5-6D7A-3D2C-93D58752ABDA}"/>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空欄を埋めなさい"/>
          <p:cNvSpPr txBox="1">
            <a:spLocks noGrp="1"/>
          </p:cNvSpPr>
          <p:nvPr>
            <p:ph type="title"/>
          </p:nvPr>
        </p:nvSpPr>
        <p:spPr>
          <a:prstGeom prst="rect">
            <a:avLst/>
          </a:prstGeom>
        </p:spPr>
        <p:txBody>
          <a:bodyPr/>
          <a:lstStyle/>
          <a:p>
            <a:r>
              <a:t>空欄を埋めなさい</a:t>
            </a:r>
          </a:p>
        </p:txBody>
      </p:sp>
      <p:sp>
        <p:nvSpPr>
          <p:cNvPr id="3" name="テキスト ボックス 2">
            <a:extLst>
              <a:ext uri="{FF2B5EF4-FFF2-40B4-BE49-F238E27FC236}">
                <a16:creationId xmlns:a16="http://schemas.microsoft.com/office/drawing/2014/main" id="{7182D482-23FD-E211-8351-B8110E97A96B}"/>
              </a:ext>
            </a:extLst>
          </p:cNvPr>
          <p:cNvSpPr txBox="1"/>
          <p:nvPr/>
        </p:nvSpPr>
        <p:spPr>
          <a:xfrm>
            <a:off x="419462" y="1259058"/>
            <a:ext cx="4831806" cy="5078313"/>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selkov.py</a:t>
            </a:r>
            <a:r>
              <a:rPr lang="en-GB" altLang="ja-JP" dirty="0">
                <a:latin typeface="Courier New" panose="02070309020205020404" pitchFamily="49" charset="0"/>
                <a:cs typeface="Courier New" panose="02070309020205020404" pitchFamily="49" charset="0"/>
              </a:rPr>
              <a:t>)</a:t>
            </a:r>
            <a:endParaRPr lang="en-US" altLang="ja-JP" dirty="0"/>
          </a:p>
          <a:p>
            <a:endParaRPr lang="en-US" altLang="ja-JP" dirty="0"/>
          </a:p>
          <a:p>
            <a:r>
              <a:rPr lang="en-US" altLang="ja-JP" dirty="0"/>
              <a:t>(</a:t>
            </a:r>
            <a:r>
              <a:rPr lang="ja-JP" altLang="en-US"/>
              <a:t>略</a:t>
            </a:r>
            <a:r>
              <a:rPr lang="en-US" altLang="ja-JP" dirty="0"/>
              <a:t>)</a:t>
            </a:r>
          </a:p>
          <a:p>
            <a:r>
              <a:rPr lang="ja-JP" altLang="en-US"/>
              <a:t>def selkov_model( t , init , *param ):</a:t>
            </a:r>
          </a:p>
          <a:p>
            <a:r>
              <a:rPr lang="ja-JP" altLang="en-US"/>
              <a:t>    x = init[ 0 ]</a:t>
            </a:r>
          </a:p>
          <a:p>
            <a:r>
              <a:rPr lang="ja-JP" altLang="en-US"/>
              <a:t>    y = init[ 1 ]</a:t>
            </a:r>
          </a:p>
          <a:p>
            <a:r>
              <a:rPr lang="ja-JP" altLang="en-US"/>
              <a:t>    </a:t>
            </a:r>
          </a:p>
          <a:p>
            <a:r>
              <a:rPr lang="ja-JP" altLang="en-US"/>
              <a:t>    [ a , b ] = param</a:t>
            </a:r>
          </a:p>
          <a:p>
            <a:endParaRPr lang="ja-JP" altLang="en-US"/>
          </a:p>
          <a:p>
            <a:endParaRPr lang="ja-JP" altLang="en-US"/>
          </a:p>
          <a:p>
            <a:r>
              <a:rPr lang="ja-JP" altLang="en-US"/>
              <a:t>    v1 = </a:t>
            </a:r>
          </a:p>
          <a:p>
            <a:r>
              <a:rPr lang="ja-JP" altLang="en-US"/>
              <a:t>    v2 = </a:t>
            </a:r>
          </a:p>
          <a:p>
            <a:r>
              <a:rPr lang="ja-JP" altLang="en-US"/>
              <a:t>    v3 = </a:t>
            </a:r>
          </a:p>
          <a:p>
            <a:r>
              <a:rPr lang="ja-JP" altLang="en-US"/>
              <a:t>    </a:t>
            </a:r>
          </a:p>
          <a:p>
            <a:r>
              <a:rPr lang="ja-JP" altLang="en-US"/>
              <a:t>    dxdt = v2 - v3</a:t>
            </a:r>
          </a:p>
          <a:p>
            <a:r>
              <a:rPr lang="ja-JP" altLang="en-US"/>
              <a:t>    dydt = v1 - v2</a:t>
            </a:r>
          </a:p>
          <a:p>
            <a:r>
              <a:rPr lang="ja-JP" altLang="en-US"/>
              <a:t>    </a:t>
            </a:r>
          </a:p>
          <a:p>
            <a:r>
              <a:rPr lang="ja-JP" altLang="en-US"/>
              <a:t>    return [ dxdt , dydt ] </a:t>
            </a:r>
          </a:p>
        </p:txBody>
      </p:sp>
      <p:sp>
        <p:nvSpPr>
          <p:cNvPr id="4" name="テキスト ボックス 3">
            <a:extLst>
              <a:ext uri="{FF2B5EF4-FFF2-40B4-BE49-F238E27FC236}">
                <a16:creationId xmlns:a16="http://schemas.microsoft.com/office/drawing/2014/main" id="{E66F2905-B943-4012-F58C-36F01B03507D}"/>
              </a:ext>
            </a:extLst>
          </p:cNvPr>
          <p:cNvSpPr txBox="1"/>
          <p:nvPr/>
        </p:nvSpPr>
        <p:spPr>
          <a:xfrm>
            <a:off x="5859054" y="1259058"/>
            <a:ext cx="6096000" cy="5078313"/>
          </a:xfrm>
          <a:prstGeom prst="rect">
            <a:avLst/>
          </a:prstGeom>
          <a:noFill/>
          <a:ln>
            <a:solidFill>
              <a:schemeClr val="accent1">
                <a:shade val="15000"/>
              </a:schemeClr>
            </a:solidFill>
          </a:ln>
        </p:spPr>
        <p:txBody>
          <a:bodyPr wrap="square">
            <a:spAutoFit/>
          </a:bodyPr>
          <a:lstStyle/>
          <a:p>
            <a:r>
              <a:rPr lang="ja-JP" altLang="en-US"/>
              <a:t>init = [ 1.0 , 1.0 ]</a:t>
            </a:r>
          </a:p>
          <a:p>
            <a:r>
              <a:rPr lang="ja-JP" altLang="en-US"/>
              <a:t>t_span = [ 0 , 100 ]</a:t>
            </a:r>
          </a:p>
          <a:p>
            <a:r>
              <a:rPr lang="ja-JP" altLang="en-US"/>
              <a:t>t_eval = np.linspace( t_span[0] , t_span[1] , 10000 )</a:t>
            </a:r>
          </a:p>
          <a:p>
            <a:endParaRPr lang="ja-JP" altLang="en-US"/>
          </a:p>
          <a:p>
            <a:r>
              <a:rPr lang="ja-JP" altLang="en-US"/>
              <a:t>a = 0.06</a:t>
            </a:r>
          </a:p>
          <a:p>
            <a:r>
              <a:rPr lang="ja-JP" altLang="en-US"/>
              <a:t>b = 0.6</a:t>
            </a:r>
          </a:p>
          <a:p>
            <a:endParaRPr lang="ja-JP" altLang="en-US"/>
          </a:p>
          <a:p>
            <a:r>
              <a:rPr lang="ja-JP" altLang="en-US"/>
              <a:t>param = [ a , b ]</a:t>
            </a:r>
          </a:p>
          <a:p>
            <a:endParaRPr lang="ja-JP" altLang="en-US"/>
          </a:p>
          <a:p>
            <a:r>
              <a:rPr lang="ja-JP" altLang="en-US"/>
              <a:t>solution = solve_ivp( selkov_model, t_span, init, t_eval=t_eval, method='RK45', args=param )</a:t>
            </a:r>
          </a:p>
          <a:p>
            <a:endParaRPr lang="ja-JP" altLang="en-US"/>
          </a:p>
          <a:p>
            <a:r>
              <a:rPr lang="ja-JP" altLang="en-US"/>
              <a:t>ADP = solution.y[0]</a:t>
            </a:r>
          </a:p>
          <a:p>
            <a:r>
              <a:rPr lang="ja-JP" altLang="en-US"/>
              <a:t>F6P = solution.y[1]</a:t>
            </a:r>
          </a:p>
          <a:p>
            <a:endParaRPr lang="ja-JP" altLang="en-US"/>
          </a:p>
          <a:p>
            <a:r>
              <a:rPr lang="ja-JP" altLang="en-US"/>
              <a:t>plt.plot( solution.t , ADP )</a:t>
            </a:r>
          </a:p>
          <a:p>
            <a:r>
              <a:rPr lang="ja-JP" altLang="en-US"/>
              <a:t>plt.plot( solution.t , F6P ) </a:t>
            </a:r>
          </a:p>
          <a:p>
            <a:r>
              <a:rPr lang="ja-JP" altLang="en-US"/>
              <a:t>plt.show()</a:t>
            </a:r>
          </a:p>
        </p:txBody>
      </p:sp>
      <p:sp>
        <p:nvSpPr>
          <p:cNvPr id="5" name="正方形/長方形 4">
            <a:extLst>
              <a:ext uri="{FF2B5EF4-FFF2-40B4-BE49-F238E27FC236}">
                <a16:creationId xmlns:a16="http://schemas.microsoft.com/office/drawing/2014/main" id="{34F66A7C-E93B-4B53-1406-7C47FA9299DF}"/>
              </a:ext>
            </a:extLst>
          </p:cNvPr>
          <p:cNvSpPr/>
          <p:nvPr/>
        </p:nvSpPr>
        <p:spPr>
          <a:xfrm>
            <a:off x="1293593" y="4636806"/>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AB05BC2F-D52E-1885-A288-E84D1DF6D622}"/>
              </a:ext>
            </a:extLst>
          </p:cNvPr>
          <p:cNvSpPr/>
          <p:nvPr/>
        </p:nvSpPr>
        <p:spPr>
          <a:xfrm>
            <a:off x="1293593" y="4332637"/>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7E2E377-8FC1-FEC5-EED4-FC67D0B58688}"/>
              </a:ext>
            </a:extLst>
          </p:cNvPr>
          <p:cNvSpPr/>
          <p:nvPr/>
        </p:nvSpPr>
        <p:spPr>
          <a:xfrm>
            <a:off x="1293593" y="4037433"/>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シミュレーション結果"/>
          <p:cNvSpPr txBox="1">
            <a:spLocks noGrp="1"/>
          </p:cNvSpPr>
          <p:nvPr>
            <p:ph type="title"/>
          </p:nvPr>
        </p:nvSpPr>
        <p:spPr>
          <a:prstGeom prst="rect">
            <a:avLst/>
          </a:prstGeom>
        </p:spPr>
        <p:txBody>
          <a:bodyPr/>
          <a:lstStyle/>
          <a:p>
            <a:r>
              <a:t>シミュレーション結果</a:t>
            </a:r>
          </a:p>
        </p:txBody>
      </p:sp>
      <p:pic>
        <p:nvPicPr>
          <p:cNvPr id="2" name="図 1">
            <a:extLst>
              <a:ext uri="{FF2B5EF4-FFF2-40B4-BE49-F238E27FC236}">
                <a16:creationId xmlns:a16="http://schemas.microsoft.com/office/drawing/2014/main" id="{13372100-45A3-B064-DB46-B2D383E8F135}"/>
              </a:ext>
            </a:extLst>
          </p:cNvPr>
          <p:cNvPicPr>
            <a:picLocks noChangeAspect="1"/>
          </p:cNvPicPr>
          <p:nvPr/>
        </p:nvPicPr>
        <p:blipFill>
          <a:blip r:embed="rId2"/>
          <a:stretch>
            <a:fillRect/>
          </a:stretch>
        </p:blipFill>
        <p:spPr>
          <a:xfrm>
            <a:off x="1742535" y="1362974"/>
            <a:ext cx="7108165" cy="5331124"/>
          </a:xfrm>
          <a:prstGeom prst="rect">
            <a:avLst/>
          </a:prstGeom>
        </p:spPr>
      </p:pic>
      <p:sp>
        <p:nvSpPr>
          <p:cNvPr id="292" name="青: ADP"/>
          <p:cNvSpPr/>
          <p:nvPr/>
        </p:nvSpPr>
        <p:spPr>
          <a:xfrm>
            <a:off x="8522071" y="4628139"/>
            <a:ext cx="117981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sz="2400" dirty="0" err="1"/>
              <a:t>青</a:t>
            </a:r>
            <a:r>
              <a:rPr sz="2400" dirty="0"/>
              <a:t>: ADP</a:t>
            </a:r>
          </a:p>
        </p:txBody>
      </p:sp>
      <p:sp>
        <p:nvSpPr>
          <p:cNvPr id="293" name="緑:F6P"/>
          <p:cNvSpPr/>
          <p:nvPr/>
        </p:nvSpPr>
        <p:spPr>
          <a:xfrm>
            <a:off x="8615115" y="2392939"/>
            <a:ext cx="1110882"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ja-JP" altLang="en-US" sz="2400"/>
              <a:t>橙</a:t>
            </a:r>
            <a:r>
              <a:rPr sz="2400" dirty="0"/>
              <a:t>:</a:t>
            </a:r>
            <a:r>
              <a:rPr lang="en-US" sz="2400" dirty="0"/>
              <a:t> </a:t>
            </a:r>
            <a:r>
              <a:rPr sz="2400" dirty="0"/>
              <a:t>F6P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復習：相平面とヌルクライン"/>
          <p:cNvSpPr txBox="1">
            <a:spLocks noGrp="1"/>
          </p:cNvSpPr>
          <p:nvPr>
            <p:ph type="title"/>
          </p:nvPr>
        </p:nvSpPr>
        <p:spPr>
          <a:prstGeom prst="rect">
            <a:avLst/>
          </a:prstGeom>
        </p:spPr>
        <p:txBody>
          <a:bodyPr/>
          <a:lstStyle/>
          <a:p>
            <a:r>
              <a:t>復習：相平面とヌルクライン</a:t>
            </a:r>
          </a:p>
        </p:txBody>
      </p:sp>
      <p:sp>
        <p:nvSpPr>
          <p:cNvPr id="328" name="Phase plane (相平面)…"/>
          <p:cNvSpPr txBox="1">
            <a:spLocks noGrp="1"/>
          </p:cNvSpPr>
          <p:nvPr>
            <p:ph type="body" sz="half" idx="4294967295"/>
          </p:nvPr>
        </p:nvSpPr>
        <p:spPr>
          <a:xfrm>
            <a:off x="458118" y="1690216"/>
            <a:ext cx="5712418" cy="4699000"/>
          </a:xfrm>
          <a:prstGeom prst="rect">
            <a:avLst/>
          </a:prstGeom>
        </p:spPr>
        <p:txBody>
          <a:bodyPr>
            <a:normAutofit/>
          </a:bodyPr>
          <a:lstStyle/>
          <a:p>
            <a:pPr marL="383540">
              <a:buClr>
                <a:srgbClr val="000000"/>
              </a:buClr>
              <a:buSzPct val="100000"/>
              <a:buFont typeface="Arial"/>
            </a:pPr>
            <a:r>
              <a:rPr dirty="0"/>
              <a:t>Phase plane (</a:t>
            </a:r>
            <a:r>
              <a:rPr dirty="0" err="1"/>
              <a:t>相平面</a:t>
            </a:r>
            <a:r>
              <a:rPr dirty="0"/>
              <a:t>)</a:t>
            </a:r>
          </a:p>
          <a:p>
            <a:pPr marL="783590" lvl="1">
              <a:buClr>
                <a:srgbClr val="000000"/>
              </a:buClr>
              <a:buSzPct val="100000"/>
              <a:buFont typeface="Arial"/>
            </a:pPr>
            <a:r>
              <a:rPr dirty="0"/>
              <a:t>時間発展する2つの変数</a:t>
            </a:r>
          </a:p>
          <a:p>
            <a:pPr marL="783590" lvl="1">
              <a:buClr>
                <a:srgbClr val="000000"/>
              </a:buClr>
              <a:buSzPct val="100000"/>
              <a:buFont typeface="Arial"/>
            </a:pPr>
            <a:r>
              <a:rPr i="1" dirty="0"/>
              <a:t>x-y</a:t>
            </a:r>
            <a:r>
              <a:rPr dirty="0"/>
              <a:t> </a:t>
            </a:r>
            <a:r>
              <a:rPr dirty="0" err="1"/>
              <a:t>平面</a:t>
            </a:r>
            <a:endParaRPr sz="2400" dirty="0"/>
          </a:p>
          <a:p>
            <a:pPr marL="783590" lvl="1">
              <a:buClr>
                <a:srgbClr val="000000"/>
              </a:buClr>
              <a:buSzPct val="100000"/>
              <a:buFont typeface="Arial"/>
              <a:buChar char="–"/>
              <a:defRPr sz="2400"/>
            </a:pPr>
            <a:endParaRPr sz="2400" dirty="0"/>
          </a:p>
          <a:p>
            <a:pPr marL="383540">
              <a:buClr>
                <a:srgbClr val="000000"/>
              </a:buClr>
              <a:buSzPct val="100000"/>
              <a:buFont typeface="Arial"/>
            </a:pPr>
            <a:r>
              <a:rPr dirty="0"/>
              <a:t>Nullcline (</a:t>
            </a:r>
            <a:r>
              <a:rPr dirty="0" err="1"/>
              <a:t>ヌルクライン</a:t>
            </a:r>
            <a:r>
              <a:rPr dirty="0"/>
              <a:t>)</a:t>
            </a:r>
          </a:p>
          <a:p>
            <a:pPr marL="783590" lvl="1">
              <a:buClr>
                <a:srgbClr val="000000"/>
              </a:buClr>
              <a:buSzPct val="100000"/>
              <a:buFont typeface="Arial"/>
            </a:pPr>
            <a:r>
              <a:rPr dirty="0"/>
              <a:t>“</a:t>
            </a:r>
            <a:r>
              <a:rPr dirty="0" err="1"/>
              <a:t>時間変化</a:t>
            </a:r>
            <a:r>
              <a:rPr dirty="0"/>
              <a:t> = 0”の曲線</a:t>
            </a:r>
          </a:p>
          <a:p>
            <a:pPr marL="783590" lvl="1">
              <a:buClr>
                <a:srgbClr val="000000"/>
              </a:buClr>
              <a:buSzPct val="100000"/>
              <a:buFont typeface="Arial"/>
            </a:pPr>
            <a:r>
              <a:rPr dirty="0" err="1"/>
              <a:t>交点は「固定点」と呼ばれる</a:t>
            </a:r>
            <a:endParaRPr dirty="0"/>
          </a:p>
        </p:txBody>
      </p:sp>
      <p:sp>
        <p:nvSpPr>
          <p:cNvPr id="329" name="線"/>
          <p:cNvSpPr/>
          <p:nvPr/>
        </p:nvSpPr>
        <p:spPr>
          <a:xfrm>
            <a:off x="7451194" y="2636837"/>
            <a:ext cx="1590" cy="25923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30" name="線"/>
          <p:cNvSpPr/>
          <p:nvPr/>
        </p:nvSpPr>
        <p:spPr>
          <a:xfrm>
            <a:off x="7451195" y="5229225"/>
            <a:ext cx="31686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31" name="[ADP]"/>
          <p:cNvSpPr/>
          <p:nvPr/>
        </p:nvSpPr>
        <p:spPr>
          <a:xfrm>
            <a:off x="9968733" y="5466468"/>
            <a:ext cx="637995"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332" name="[F6P]"/>
          <p:cNvSpPr/>
          <p:nvPr/>
        </p:nvSpPr>
        <p:spPr>
          <a:xfrm>
            <a:off x="7022494" y="2061280"/>
            <a:ext cx="58509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[F6P]</a:t>
            </a:r>
          </a:p>
        </p:txBody>
      </p:sp>
      <p:sp>
        <p:nvSpPr>
          <p:cNvPr id="333" name="線"/>
          <p:cNvSpPr/>
          <p:nvPr/>
        </p:nvSpPr>
        <p:spPr>
          <a:xfrm>
            <a:off x="7451194" y="2924176"/>
            <a:ext cx="2663826" cy="201771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79" y="0"/>
                  <a:pt x="1171" y="17"/>
                  <a:pt x="1751" y="2328"/>
                </a:cubicBezTo>
                <a:cubicBezTo>
                  <a:pt x="2330" y="4639"/>
                  <a:pt x="2047" y="10927"/>
                  <a:pt x="3501" y="13885"/>
                </a:cubicBezTo>
                <a:cubicBezTo>
                  <a:pt x="4956" y="16842"/>
                  <a:pt x="7492" y="18762"/>
                  <a:pt x="10504" y="20054"/>
                </a:cubicBezTo>
                <a:cubicBezTo>
                  <a:pt x="13516" y="21345"/>
                  <a:pt x="17558" y="21464"/>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34" name="線"/>
          <p:cNvSpPr/>
          <p:nvPr/>
        </p:nvSpPr>
        <p:spPr>
          <a:xfrm>
            <a:off x="7451195" y="4039716"/>
            <a:ext cx="2736851" cy="1189510"/>
          </a:xfrm>
          <a:custGeom>
            <a:avLst/>
            <a:gdLst/>
            <a:ahLst/>
            <a:cxnLst>
              <a:cxn ang="0">
                <a:pos x="wd2" y="hd2"/>
              </a:cxn>
              <a:cxn ang="5400000">
                <a:pos x="wd2" y="hd2"/>
              </a:cxn>
              <a:cxn ang="10800000">
                <a:pos x="wd2" y="hd2"/>
              </a:cxn>
              <a:cxn ang="16200000">
                <a:pos x="wd2" y="hd2"/>
              </a:cxn>
            </a:cxnLst>
            <a:rect l="0" t="0" r="r" b="b"/>
            <a:pathLst>
              <a:path w="21600" h="20992" extrusionOk="0">
                <a:moveTo>
                  <a:pt x="0" y="20992"/>
                </a:moveTo>
                <a:cubicBezTo>
                  <a:pt x="276" y="13792"/>
                  <a:pt x="564" y="6592"/>
                  <a:pt x="1704" y="3202"/>
                </a:cubicBezTo>
                <a:cubicBezTo>
                  <a:pt x="2844" y="-188"/>
                  <a:pt x="4636" y="-608"/>
                  <a:pt x="6816" y="653"/>
                </a:cubicBezTo>
                <a:cubicBezTo>
                  <a:pt x="8996" y="1913"/>
                  <a:pt x="12303" y="8693"/>
                  <a:pt x="14772" y="10822"/>
                </a:cubicBezTo>
                <a:cubicBezTo>
                  <a:pt x="17240" y="12952"/>
                  <a:pt x="19420" y="13148"/>
                  <a:pt x="21600" y="13372"/>
                </a:cubicBezTo>
              </a:path>
            </a:pathLst>
          </a:custGeom>
          <a:ln>
            <a:solidFill>
              <a:srgbClr val="000000"/>
            </a:solidFill>
            <a:prstDash val="dash"/>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2" name="図 1">
            <a:extLst>
              <a:ext uri="{FF2B5EF4-FFF2-40B4-BE49-F238E27FC236}">
                <a16:creationId xmlns:a16="http://schemas.microsoft.com/office/drawing/2014/main" id="{1771E2BC-50C2-C69D-3DE4-774F83E8B479}"/>
              </a:ext>
            </a:extLst>
          </p:cNvPr>
          <p:cNvPicPr>
            <a:picLocks noChangeAspect="1"/>
          </p:cNvPicPr>
          <p:nvPr/>
        </p:nvPicPr>
        <p:blipFill>
          <a:blip r:embed="rId2"/>
          <a:stretch>
            <a:fillRect/>
          </a:stretch>
        </p:blipFill>
        <p:spPr>
          <a:xfrm>
            <a:off x="8819620" y="3561293"/>
            <a:ext cx="1028100" cy="713958"/>
          </a:xfrm>
          <a:prstGeom prst="rect">
            <a:avLst/>
          </a:prstGeom>
        </p:spPr>
      </p:pic>
      <p:pic>
        <p:nvPicPr>
          <p:cNvPr id="3" name="図 2">
            <a:extLst>
              <a:ext uri="{FF2B5EF4-FFF2-40B4-BE49-F238E27FC236}">
                <a16:creationId xmlns:a16="http://schemas.microsoft.com/office/drawing/2014/main" id="{0F799C5B-43E3-1732-95BD-C95A8BA807C1}"/>
              </a:ext>
            </a:extLst>
          </p:cNvPr>
          <p:cNvPicPr>
            <a:picLocks noChangeAspect="1"/>
          </p:cNvPicPr>
          <p:nvPr/>
        </p:nvPicPr>
        <p:blipFill>
          <a:blip r:embed="rId3"/>
          <a:stretch>
            <a:fillRect/>
          </a:stretch>
        </p:blipFill>
        <p:spPr>
          <a:xfrm>
            <a:off x="7792315" y="2636837"/>
            <a:ext cx="1028100" cy="71395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 name="演習2: 相平面とヌルクライン"/>
          <p:cNvSpPr txBox="1">
            <a:spLocks noGrp="1"/>
          </p:cNvSpPr>
          <p:nvPr>
            <p:ph type="title"/>
          </p:nvPr>
        </p:nvSpPr>
        <p:spPr>
          <a:prstGeom prst="rect">
            <a:avLst/>
          </a:prstGeom>
        </p:spPr>
        <p:txBody>
          <a:bodyPr/>
          <a:lstStyle/>
          <a:p>
            <a:r>
              <a:t>演習2: 相平面とヌルクライン</a:t>
            </a:r>
          </a:p>
        </p:txBody>
      </p:sp>
      <p:sp>
        <p:nvSpPr>
          <p:cNvPr id="339" name="Sel’kovモデルの解軌跡を相平面に描きなさい (MATLAB)…"/>
          <p:cNvSpPr txBox="1">
            <a:spLocks noGrp="1"/>
          </p:cNvSpPr>
          <p:nvPr>
            <p:ph type="body" idx="4294967295"/>
          </p:nvPr>
        </p:nvSpPr>
        <p:spPr>
          <a:xfrm>
            <a:off x="290945" y="1943100"/>
            <a:ext cx="11693236" cy="4013200"/>
          </a:xfrm>
          <a:prstGeom prst="rect">
            <a:avLst/>
          </a:prstGeom>
        </p:spPr>
        <p:txBody>
          <a:bodyPr>
            <a:normAutofit/>
          </a:bodyPr>
          <a:lstStyle/>
          <a:p>
            <a:pPr marL="554990" indent="-514350">
              <a:lnSpc>
                <a:spcPct val="80000"/>
              </a:lnSpc>
              <a:buClr>
                <a:srgbClr val="000000"/>
              </a:buClr>
              <a:buSzPct val="100000"/>
              <a:buFont typeface="+mj-lt"/>
              <a:buAutoNum type="arabicPeriod"/>
            </a:pPr>
            <a:r>
              <a:rPr sz="2800" dirty="0" err="1"/>
              <a:t>Sel’kovモデルの解軌跡を相平面に描きなさい</a:t>
            </a:r>
            <a:r>
              <a:rPr sz="2800" dirty="0"/>
              <a:t> (</a:t>
            </a:r>
            <a:r>
              <a:rPr lang="en-US" sz="2800" dirty="0">
                <a:solidFill>
                  <a:srgbClr val="0085CC"/>
                </a:solidFill>
                <a:uFill>
                  <a:solidFill>
                    <a:srgbClr val="0085CC"/>
                  </a:solidFill>
                </a:uFill>
              </a:rPr>
              <a:t>python</a:t>
            </a:r>
            <a:r>
              <a:rPr sz="2800" dirty="0"/>
              <a:t>)</a:t>
            </a:r>
            <a:endParaRPr lang="en-US" sz="2800" dirty="0"/>
          </a:p>
          <a:p>
            <a:pPr marL="955040" lvl="1" indent="-514350">
              <a:lnSpc>
                <a:spcPct val="80000"/>
              </a:lnSpc>
              <a:buClr>
                <a:srgbClr val="000000"/>
              </a:buClr>
              <a:buSzPct val="100000"/>
            </a:pPr>
            <a:endParaRPr lang="en-US" altLang="ja-JP" sz="2400" dirty="0"/>
          </a:p>
          <a:p>
            <a:pPr marL="955040" lvl="1" indent="-514350">
              <a:lnSpc>
                <a:spcPct val="80000"/>
              </a:lnSpc>
              <a:buClr>
                <a:srgbClr val="000000"/>
              </a:buClr>
              <a:buSzPct val="100000"/>
            </a:pPr>
            <a:r>
              <a:rPr lang="ja-JP" altLang="en-US" sz="2400"/>
              <a:t>解軌跡 ＝ 時間とともに点</a:t>
            </a:r>
            <a:r>
              <a:rPr lang="en-US" altLang="ja-JP" sz="2400" dirty="0"/>
              <a:t>([</a:t>
            </a:r>
            <a:r>
              <a:rPr lang="en-GB" altLang="ja-JP" sz="2400" dirty="0"/>
              <a:t>ADP],[F6P])</a:t>
            </a:r>
            <a:r>
              <a:rPr lang="ja-JP" altLang="en-US" sz="2400"/>
              <a:t>が</a:t>
            </a:r>
            <a:r>
              <a:rPr lang="en-US" altLang="ja-JP" sz="2400" dirty="0"/>
              <a:t>2</a:t>
            </a:r>
            <a:r>
              <a:rPr lang="ja-JP" altLang="en-US" sz="2400"/>
              <a:t>次元平面上でどのように動くか</a:t>
            </a:r>
            <a:endParaRPr lang="en-US" sz="2800" dirty="0"/>
          </a:p>
          <a:p>
            <a:pPr marL="554990" indent="-514350">
              <a:lnSpc>
                <a:spcPct val="80000"/>
              </a:lnSpc>
              <a:buClr>
                <a:srgbClr val="000000"/>
              </a:buClr>
              <a:buSzPct val="100000"/>
              <a:buFont typeface="+mj-lt"/>
              <a:buAutoNum type="arabicPeriod"/>
            </a:pPr>
            <a:endParaRPr lang="en-US" sz="2800" dirty="0"/>
          </a:p>
          <a:p>
            <a:pPr marL="554990" indent="-514350">
              <a:lnSpc>
                <a:spcPct val="80000"/>
              </a:lnSpc>
              <a:buClr>
                <a:srgbClr val="000000"/>
              </a:buClr>
              <a:buSzPct val="100000"/>
              <a:buFont typeface="+mj-lt"/>
              <a:buAutoNum type="arabicPeriod"/>
            </a:pPr>
            <a:endParaRPr lang="en-US" sz="2800" dirty="0"/>
          </a:p>
          <a:p>
            <a:pPr marL="554990" indent="-514350">
              <a:lnSpc>
                <a:spcPct val="80000"/>
              </a:lnSpc>
              <a:buClr>
                <a:srgbClr val="000000"/>
              </a:buClr>
              <a:buSzPct val="100000"/>
              <a:buFont typeface="+mj-lt"/>
              <a:buAutoNum type="arabicPeriod"/>
            </a:pPr>
            <a:r>
              <a:rPr lang="ja-JP" altLang="en-US" sz="2800"/>
              <a:t>ヌルクラインの式を</a:t>
            </a:r>
            <a:r>
              <a:rPr lang="ja-JP" altLang="en-US" sz="2800">
                <a:solidFill>
                  <a:srgbClr val="FF6962"/>
                </a:solidFill>
                <a:uFill>
                  <a:solidFill>
                    <a:srgbClr val="FF6962"/>
                  </a:solidFill>
                </a:uFill>
              </a:rPr>
              <a:t>紙と鉛筆</a:t>
            </a:r>
            <a:r>
              <a:rPr lang="ja-JP" altLang="en-US" sz="2800"/>
              <a:t>で求め、</a:t>
            </a:r>
            <a:r>
              <a:rPr lang="en-GB" altLang="ja-JP" sz="2800" dirty="0">
                <a:solidFill>
                  <a:srgbClr val="0085CC"/>
                </a:solidFill>
                <a:uFill>
                  <a:solidFill>
                    <a:srgbClr val="0085CC"/>
                  </a:solidFill>
                </a:uFill>
              </a:rPr>
              <a:t>python</a:t>
            </a:r>
            <a:r>
              <a:rPr lang="ja-JP" altLang="en-US" sz="2800"/>
              <a:t>でグラフ化しなさい。</a:t>
            </a:r>
            <a:endParaRPr sz="2800" dirty="0"/>
          </a:p>
          <a:p>
            <a:pPr marL="383540">
              <a:lnSpc>
                <a:spcPct val="80000"/>
              </a:lnSpc>
              <a:buClr>
                <a:srgbClr val="000000"/>
              </a:buClr>
              <a:buSzPct val="100000"/>
              <a:buFont typeface="Arial"/>
            </a:pPr>
            <a:endParaRPr lang="ja-JP" altLang="en-US"/>
          </a:p>
          <a:p>
            <a:pPr marL="40640" indent="0">
              <a:lnSpc>
                <a:spcPct val="80000"/>
              </a:lnSpc>
              <a:buClr>
                <a:srgbClr val="000000"/>
              </a:buClr>
              <a:buSzPct val="100000"/>
              <a:buNone/>
            </a:pPr>
            <a:endParaRPr lang="ja-JP" alt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空欄を埋めなさい（相平面）"/>
          <p:cNvSpPr txBox="1">
            <a:spLocks noGrp="1"/>
          </p:cNvSpPr>
          <p:nvPr>
            <p:ph type="title"/>
          </p:nvPr>
        </p:nvSpPr>
        <p:spPr>
          <a:prstGeom prst="rect">
            <a:avLst/>
          </a:prstGeom>
        </p:spPr>
        <p:txBody>
          <a:bodyPr/>
          <a:lstStyle/>
          <a:p>
            <a:r>
              <a:rPr dirty="0" err="1"/>
              <a:t>空欄を埋めなさい（相平面</a:t>
            </a:r>
            <a:r>
              <a:rPr lang="ja-JP" altLang="en-US"/>
              <a:t>とヌルクライン</a:t>
            </a:r>
            <a:r>
              <a:rPr dirty="0"/>
              <a:t>）</a:t>
            </a:r>
          </a:p>
        </p:txBody>
      </p:sp>
      <p:sp>
        <p:nvSpPr>
          <p:cNvPr id="3" name="テキスト ボックス 2">
            <a:extLst>
              <a:ext uri="{FF2B5EF4-FFF2-40B4-BE49-F238E27FC236}">
                <a16:creationId xmlns:a16="http://schemas.microsoft.com/office/drawing/2014/main" id="{7CD269E9-3FB3-A36D-A084-866D33036312}"/>
              </a:ext>
            </a:extLst>
          </p:cNvPr>
          <p:cNvSpPr txBox="1"/>
          <p:nvPr/>
        </p:nvSpPr>
        <p:spPr>
          <a:xfrm>
            <a:off x="3210606" y="1339402"/>
            <a:ext cx="6097904" cy="5355312"/>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selkov_phaseplane.py</a:t>
            </a:r>
            <a:r>
              <a:rPr lang="en-GB" altLang="ja-JP" dirty="0">
                <a:latin typeface="Courier New" panose="02070309020205020404" pitchFamily="49" charset="0"/>
                <a:cs typeface="Courier New" panose="02070309020205020404" pitchFamily="49" charset="0"/>
              </a:rPr>
              <a:t>)</a:t>
            </a:r>
            <a:endParaRPr lang="en-US" altLang="ja-JP" dirty="0"/>
          </a:p>
          <a:p>
            <a:endParaRPr lang="en-US" altLang="ja-JP" dirty="0"/>
          </a:p>
          <a:p>
            <a:r>
              <a:rPr lang="en-US" altLang="ja-JP" dirty="0"/>
              <a:t>(</a:t>
            </a:r>
            <a:r>
              <a:rPr lang="ja-JP" altLang="en-US"/>
              <a:t>略</a:t>
            </a:r>
            <a:r>
              <a:rPr lang="en-US" altLang="ja-JP" dirty="0"/>
              <a:t>)</a:t>
            </a:r>
          </a:p>
          <a:p>
            <a:endParaRPr lang="ja-JP" altLang="en-US"/>
          </a:p>
          <a:p>
            <a:r>
              <a:rPr lang="ja-JP" altLang="en-US"/>
              <a:t>solution = solve_ivp( selkov_model, t_span, init, t_eval=t_eval, method='RK45', args=param )</a:t>
            </a:r>
          </a:p>
          <a:p>
            <a:endParaRPr lang="ja-JP" altLang="en-US"/>
          </a:p>
          <a:p>
            <a:r>
              <a:rPr lang="ja-JP" altLang="en-US"/>
              <a:t>ADP = solution.y[0]</a:t>
            </a:r>
          </a:p>
          <a:p>
            <a:r>
              <a:rPr lang="ja-JP" altLang="en-US"/>
              <a:t>F6P = solution.y[1]</a:t>
            </a:r>
          </a:p>
          <a:p>
            <a:endParaRPr lang="ja-JP" altLang="en-US"/>
          </a:p>
          <a:p>
            <a:r>
              <a:rPr lang="ja-JP" altLang="en-US"/>
              <a:t>plt.plot( </a:t>
            </a:r>
            <a:r>
              <a:rPr lang="en-US" altLang="ja-JP" dirty="0"/>
              <a:t>     </a:t>
            </a:r>
            <a:r>
              <a:rPr lang="ja-JP" altLang="en-US"/>
              <a:t>, </a:t>
            </a:r>
            <a:r>
              <a:rPr lang="en-US" altLang="ja-JP" dirty="0"/>
              <a:t>     </a:t>
            </a:r>
            <a:r>
              <a:rPr lang="ja-JP" altLang="en-US"/>
              <a:t>, 'k-')</a:t>
            </a:r>
          </a:p>
          <a:p>
            <a:endParaRPr lang="ja-JP" altLang="en-US"/>
          </a:p>
          <a:p>
            <a:r>
              <a:rPr lang="ja-JP" altLang="en-US"/>
              <a:t>x = np.linspace( 0, 3, 100 )</a:t>
            </a:r>
          </a:p>
          <a:p>
            <a:r>
              <a:rPr lang="ja-JP" altLang="en-US"/>
              <a:t>x_null = x / ( a + x**2 ) </a:t>
            </a:r>
            <a:r>
              <a:rPr lang="ja-JP" altLang="en-US">
                <a:solidFill>
                  <a:srgbClr val="008F00"/>
                </a:solidFill>
              </a:rPr>
              <a:t># The nullcline for dydt </a:t>
            </a:r>
          </a:p>
          <a:p>
            <a:r>
              <a:rPr lang="ja-JP" altLang="en-US"/>
              <a:t>y_null =</a:t>
            </a:r>
            <a:r>
              <a:rPr lang="en-US" altLang="ja-JP" dirty="0"/>
              <a:t>                      </a:t>
            </a:r>
            <a:r>
              <a:rPr lang="ja-JP" altLang="en-US"/>
              <a:t> </a:t>
            </a:r>
            <a:r>
              <a:rPr lang="ja-JP" altLang="en-US">
                <a:solidFill>
                  <a:srgbClr val="008F00"/>
                </a:solidFill>
              </a:rPr>
              <a:t># The nullcline for dydt </a:t>
            </a:r>
          </a:p>
          <a:p>
            <a:endParaRPr lang="ja-JP" altLang="en-US"/>
          </a:p>
          <a:p>
            <a:r>
              <a:rPr lang="ja-JP" altLang="en-US"/>
              <a:t>plt.plot( x , x_null , 'r-')</a:t>
            </a:r>
          </a:p>
          <a:p>
            <a:r>
              <a:rPr lang="ja-JP" altLang="en-US"/>
              <a:t>plt.plot( </a:t>
            </a:r>
            <a:r>
              <a:rPr lang="en-US" altLang="ja-JP" dirty="0"/>
              <a:t>     </a:t>
            </a:r>
            <a:r>
              <a:rPr lang="ja-JP" altLang="en-US"/>
              <a:t>, </a:t>
            </a:r>
            <a:r>
              <a:rPr lang="en-US" altLang="ja-JP" dirty="0"/>
              <a:t>     </a:t>
            </a:r>
            <a:r>
              <a:rPr lang="ja-JP" altLang="en-US"/>
              <a:t>, 'b-')</a:t>
            </a:r>
          </a:p>
          <a:p>
            <a:r>
              <a:rPr lang="ja-JP" altLang="en-US"/>
              <a:t>plt.show()</a:t>
            </a:r>
          </a:p>
        </p:txBody>
      </p:sp>
      <p:sp>
        <p:nvSpPr>
          <p:cNvPr id="4" name="正方形/長方形 3">
            <a:extLst>
              <a:ext uri="{FF2B5EF4-FFF2-40B4-BE49-F238E27FC236}">
                <a16:creationId xmlns:a16="http://schemas.microsoft.com/office/drawing/2014/main" id="{BA49A1E8-4920-9568-850A-0CF6232703EA}"/>
              </a:ext>
            </a:extLst>
          </p:cNvPr>
          <p:cNvSpPr/>
          <p:nvPr/>
        </p:nvSpPr>
        <p:spPr>
          <a:xfrm>
            <a:off x="4093943" y="5281423"/>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B5F5A1ED-6F52-E660-CF02-2CBC98A15454}"/>
              </a:ext>
            </a:extLst>
          </p:cNvPr>
          <p:cNvSpPr/>
          <p:nvPr/>
        </p:nvSpPr>
        <p:spPr>
          <a:xfrm>
            <a:off x="4093942" y="6053099"/>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781062C-2C8F-8865-3FBD-C2C194F9DB98}"/>
              </a:ext>
            </a:extLst>
          </p:cNvPr>
          <p:cNvSpPr/>
          <p:nvPr/>
        </p:nvSpPr>
        <p:spPr>
          <a:xfrm>
            <a:off x="4513042" y="6053099"/>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EB209B25-E6EB-F151-9E88-3806CA4195BB}"/>
              </a:ext>
            </a:extLst>
          </p:cNvPr>
          <p:cNvSpPr/>
          <p:nvPr/>
        </p:nvSpPr>
        <p:spPr>
          <a:xfrm>
            <a:off x="4093942" y="4143407"/>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60FB0CF8-5505-4EAE-14C9-189D254163B2}"/>
              </a:ext>
            </a:extLst>
          </p:cNvPr>
          <p:cNvSpPr/>
          <p:nvPr/>
        </p:nvSpPr>
        <p:spPr>
          <a:xfrm>
            <a:off x="4513042" y="4143407"/>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青：解軌跡、赤：ヌルクライン"/>
          <p:cNvSpPr/>
          <p:nvPr/>
        </p:nvSpPr>
        <p:spPr>
          <a:xfrm>
            <a:off x="3390285" y="6021964"/>
            <a:ext cx="53347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黒</a:t>
            </a:r>
            <a:r>
              <a:rPr sz="2400" dirty="0">
                <a:latin typeface="Hiragino Kaku Gothic ProN W3" panose="020B0300000000000000" pitchFamily="34" charset="-128"/>
                <a:ea typeface="Hiragino Kaku Gothic ProN W3" panose="020B0300000000000000" pitchFamily="34" charset="-128"/>
                <a:cs typeface="Heiti TC Light"/>
                <a:sym typeface="Heiti TC Light"/>
              </a:rPr>
              <a:t>：</a:t>
            </a: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解の軌跡</a:t>
            </a:r>
            <a:r>
              <a:rPr sz="2400" dirty="0">
                <a:latin typeface="Hiragino Kaku Gothic ProN W3" panose="020B0300000000000000" pitchFamily="34" charset="-128"/>
                <a:ea typeface="Hiragino Kaku Gothic ProN W3" panose="020B0300000000000000" pitchFamily="34" charset="-128"/>
                <a:cs typeface="Heiti TC Light"/>
                <a:sym typeface="Heiti TC Light"/>
              </a:rPr>
              <a:t>、</a:t>
            </a: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青・</a:t>
            </a:r>
            <a:r>
              <a:rPr sz="2400" dirty="0" err="1">
                <a:latin typeface="Hiragino Kaku Gothic ProN W3" panose="020B0300000000000000" pitchFamily="34" charset="-128"/>
                <a:ea typeface="Hiragino Kaku Gothic ProN W3" panose="020B0300000000000000" pitchFamily="34" charset="-128"/>
                <a:cs typeface="Heiti TC Light"/>
                <a:sym typeface="Heiti TC Light"/>
              </a:rPr>
              <a:t>赤</a:t>
            </a:r>
            <a:r>
              <a:rPr sz="2400" dirty="0">
                <a:latin typeface="Hiragino Kaku Gothic ProN W3" panose="020B0300000000000000" pitchFamily="34" charset="-128"/>
                <a:ea typeface="Hiragino Kaku Gothic ProN W3" panose="020B0300000000000000" pitchFamily="34" charset="-128"/>
                <a:cs typeface="Heiti TC Light"/>
                <a:sym typeface="Heiti TC Light"/>
              </a:rPr>
              <a:t>：</a:t>
            </a: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ヌルクライン</a:t>
            </a:r>
            <a:endParaRPr sz="2400" dirty="0">
              <a:solidFill>
                <a:srgbClr val="FF9292"/>
              </a:solidFill>
              <a:uFill>
                <a:solidFill>
                  <a:srgbClr val="FF9292"/>
                </a:solidFill>
              </a:uFill>
              <a:latin typeface="Hiragino Kaku Gothic ProN W3" panose="020B0300000000000000" pitchFamily="34" charset="-128"/>
              <a:ea typeface="Hiragino Kaku Gothic ProN W3" panose="020B0300000000000000" pitchFamily="34" charset="-128"/>
              <a:cs typeface="Heiti TC Light"/>
              <a:sym typeface="Heiti TC Light"/>
            </a:endParaRPr>
          </a:p>
        </p:txBody>
      </p:sp>
      <p:sp>
        <p:nvSpPr>
          <p:cNvPr id="355" name="出力例: 解の軌跡とヌルクライン"/>
          <p:cNvSpPr txBox="1">
            <a:spLocks noGrp="1"/>
          </p:cNvSpPr>
          <p:nvPr>
            <p:ph type="title"/>
          </p:nvPr>
        </p:nvSpPr>
        <p:spPr>
          <a:prstGeom prst="rect">
            <a:avLst/>
          </a:prstGeom>
        </p:spPr>
        <p:txBody>
          <a:bodyPr/>
          <a:lstStyle/>
          <a:p>
            <a:r>
              <a:t>出力例: 解の軌跡とヌルクライン</a:t>
            </a:r>
          </a:p>
        </p:txBody>
      </p:sp>
      <p:pic>
        <p:nvPicPr>
          <p:cNvPr id="2" name="図 1">
            <a:extLst>
              <a:ext uri="{FF2B5EF4-FFF2-40B4-BE49-F238E27FC236}">
                <a16:creationId xmlns:a16="http://schemas.microsoft.com/office/drawing/2014/main" id="{13358F84-194E-CD81-8795-CEF61FD88B03}"/>
              </a:ext>
            </a:extLst>
          </p:cNvPr>
          <p:cNvPicPr>
            <a:picLocks noChangeAspect="1"/>
          </p:cNvPicPr>
          <p:nvPr/>
        </p:nvPicPr>
        <p:blipFill>
          <a:blip r:embed="rId2"/>
          <a:stretch>
            <a:fillRect/>
          </a:stretch>
        </p:blipFill>
        <p:spPr>
          <a:xfrm>
            <a:off x="3030747" y="1311215"/>
            <a:ext cx="5888966" cy="441672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88457-1557-34D6-0A2F-6F6473F49AF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721499-C1B2-522F-492D-A4F17BF117D5}"/>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390EB3C7-5DBC-2254-B934-0AE4600EDC06}"/>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C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13165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前回の復習：ベクトル場"/>
          <p:cNvSpPr txBox="1">
            <a:spLocks noGrp="1"/>
          </p:cNvSpPr>
          <p:nvPr>
            <p:ph type="title"/>
          </p:nvPr>
        </p:nvSpPr>
        <p:spPr>
          <a:prstGeom prst="rect">
            <a:avLst/>
          </a:prstGeom>
        </p:spPr>
        <p:txBody>
          <a:bodyPr/>
          <a:lstStyle/>
          <a:p>
            <a:r>
              <a:rPr dirty="0" err="1"/>
              <a:t>ベクトル場</a:t>
            </a:r>
            <a:r>
              <a:rPr lang="ja-JP" altLang="en-US"/>
              <a:t>：相平面上の風向きを可視化</a:t>
            </a:r>
            <a:r>
              <a:rPr dirty="0"/>
              <a:t> </a:t>
            </a:r>
          </a:p>
        </p:txBody>
      </p:sp>
      <p:sp>
        <p:nvSpPr>
          <p:cNvPr id="361" name="描き方"/>
          <p:cNvSpPr txBox="1">
            <a:spLocks noGrp="1"/>
          </p:cNvSpPr>
          <p:nvPr>
            <p:ph type="body" sz="quarter" idx="4294967295"/>
          </p:nvPr>
        </p:nvSpPr>
        <p:spPr>
          <a:xfrm>
            <a:off x="0" y="1255713"/>
            <a:ext cx="8229600" cy="1282700"/>
          </a:xfrm>
          <a:prstGeom prst="rect">
            <a:avLst/>
          </a:prstGeom>
        </p:spPr>
        <p:txBody>
          <a:bodyPr/>
          <a:lstStyle>
            <a:lvl1pPr marL="383540" indent="-342900">
              <a:buClr>
                <a:srgbClr val="000000"/>
              </a:buClr>
              <a:buSzPct val="100000"/>
              <a:buFont typeface="Arial"/>
            </a:lvl1pPr>
          </a:lstStyle>
          <a:p>
            <a:r>
              <a:t>描き方</a:t>
            </a:r>
          </a:p>
        </p:txBody>
      </p:sp>
      <p:sp>
        <p:nvSpPr>
          <p:cNvPr id="362" name="矢印"/>
          <p:cNvSpPr/>
          <p:nvPr/>
        </p:nvSpPr>
        <p:spPr>
          <a:xfrm>
            <a:off x="5459412" y="2133600"/>
            <a:ext cx="720726" cy="863600"/>
          </a:xfrm>
          <a:prstGeom prst="rightArrow">
            <a:avLst>
              <a:gd name="adj1" fmla="val 50000"/>
              <a:gd name="adj2" fmla="val 25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63" name="線"/>
          <p:cNvSpPr/>
          <p:nvPr/>
        </p:nvSpPr>
        <p:spPr>
          <a:xfrm>
            <a:off x="7794625" y="3933826"/>
            <a:ext cx="1588" cy="2016125"/>
          </a:xfrm>
          <a:prstGeom prst="line">
            <a:avLst/>
          </a:prstGeom>
          <a:ln w="3175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64" name="線"/>
          <p:cNvSpPr/>
          <p:nvPr/>
        </p:nvSpPr>
        <p:spPr>
          <a:xfrm>
            <a:off x="7794625" y="5949950"/>
            <a:ext cx="2052638" cy="1588"/>
          </a:xfrm>
          <a:prstGeom prst="line">
            <a:avLst/>
          </a:prstGeom>
          <a:ln w="3175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65" name="[ADP]"/>
          <p:cNvSpPr/>
          <p:nvPr/>
        </p:nvSpPr>
        <p:spPr>
          <a:xfrm>
            <a:off x="9323151" y="6166555"/>
            <a:ext cx="637995"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366" name="[F6P]"/>
          <p:cNvSpPr/>
          <p:nvPr/>
        </p:nvSpPr>
        <p:spPr>
          <a:xfrm>
            <a:off x="7177012" y="3429705"/>
            <a:ext cx="58509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rPr dirty="0"/>
              <a:t>[F6P]</a:t>
            </a:r>
          </a:p>
        </p:txBody>
      </p:sp>
      <p:sp>
        <p:nvSpPr>
          <p:cNvPr id="367" name="円形"/>
          <p:cNvSpPr/>
          <p:nvPr/>
        </p:nvSpPr>
        <p:spPr>
          <a:xfrm>
            <a:off x="8154987" y="5229226"/>
            <a:ext cx="142876"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68" name="(1,2)"/>
          <p:cNvSpPr/>
          <p:nvPr/>
        </p:nvSpPr>
        <p:spPr>
          <a:xfrm>
            <a:off x="8272486" y="5301368"/>
            <a:ext cx="535403"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(1,2)</a:t>
            </a:r>
          </a:p>
        </p:txBody>
      </p:sp>
      <p:sp>
        <p:nvSpPr>
          <p:cNvPr id="369" name="線"/>
          <p:cNvSpPr/>
          <p:nvPr/>
        </p:nvSpPr>
        <p:spPr>
          <a:xfrm flipV="1">
            <a:off x="8297863" y="4619626"/>
            <a:ext cx="1873251" cy="647701"/>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70" name="線"/>
          <p:cNvSpPr/>
          <p:nvPr/>
        </p:nvSpPr>
        <p:spPr>
          <a:xfrm flipV="1">
            <a:off x="8226425" y="4581525"/>
            <a:ext cx="1588" cy="649288"/>
          </a:xfrm>
          <a:prstGeom prst="line">
            <a:avLst/>
          </a:prstGeom>
          <a:ln w="25400">
            <a:solidFill>
              <a:srgbClr val="000000"/>
            </a:solidFill>
            <a:custDash>
              <a:ds d="200000" sp="200000"/>
            </a:custDas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71" name="線"/>
          <p:cNvSpPr/>
          <p:nvPr/>
        </p:nvSpPr>
        <p:spPr>
          <a:xfrm>
            <a:off x="8226426" y="4581526"/>
            <a:ext cx="2016125" cy="1587"/>
          </a:xfrm>
          <a:prstGeom prst="line">
            <a:avLst/>
          </a:prstGeom>
          <a:ln w="25400">
            <a:solidFill>
              <a:srgbClr val="000000"/>
            </a:solidFill>
            <a:custDash>
              <a:ds d="200000" sp="200000"/>
            </a:custDas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72" name="5"/>
          <p:cNvSpPr/>
          <p:nvPr/>
        </p:nvSpPr>
        <p:spPr>
          <a:xfrm>
            <a:off x="8843210" y="3999618"/>
            <a:ext cx="21961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5</a:t>
            </a:r>
          </a:p>
        </p:txBody>
      </p:sp>
      <p:sp>
        <p:nvSpPr>
          <p:cNvPr id="373" name="2"/>
          <p:cNvSpPr/>
          <p:nvPr/>
        </p:nvSpPr>
        <p:spPr>
          <a:xfrm>
            <a:off x="7782760" y="4791780"/>
            <a:ext cx="21961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2</a:t>
            </a:r>
          </a:p>
        </p:txBody>
      </p:sp>
      <p:sp>
        <p:nvSpPr>
          <p:cNvPr id="374" name="線"/>
          <p:cNvSpPr/>
          <p:nvPr/>
        </p:nvSpPr>
        <p:spPr>
          <a:xfrm>
            <a:off x="8080129" y="4581525"/>
            <a:ext cx="146297" cy="719138"/>
          </a:xfrm>
          <a:custGeom>
            <a:avLst/>
            <a:gdLst/>
            <a:ahLst/>
            <a:cxnLst>
              <a:cxn ang="0">
                <a:pos x="wd2" y="hd2"/>
              </a:cxn>
              <a:cxn ang="5400000">
                <a:pos x="wd2" y="hd2"/>
              </a:cxn>
              <a:cxn ang="10800000">
                <a:pos x="wd2" y="hd2"/>
              </a:cxn>
              <a:cxn ang="16200000">
                <a:pos x="wd2" y="hd2"/>
              </a:cxn>
            </a:cxnLst>
            <a:rect l="0" t="0" r="r" b="b"/>
            <a:pathLst>
              <a:path w="20312" h="21600" extrusionOk="0">
                <a:moveTo>
                  <a:pt x="10394" y="21600"/>
                </a:moveTo>
                <a:cubicBezTo>
                  <a:pt x="4443" y="17976"/>
                  <a:pt x="-1288" y="14400"/>
                  <a:pt x="255" y="10824"/>
                </a:cubicBezTo>
                <a:cubicBezTo>
                  <a:pt x="1798" y="7248"/>
                  <a:pt x="11055" y="3624"/>
                  <a:pt x="20312"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75" name="線"/>
          <p:cNvSpPr/>
          <p:nvPr/>
        </p:nvSpPr>
        <p:spPr>
          <a:xfrm>
            <a:off x="8226425" y="4365625"/>
            <a:ext cx="1944688" cy="215900"/>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3791" y="10800"/>
                  <a:pt x="7600" y="0"/>
                  <a:pt x="11197" y="0"/>
                </a:cubicBezTo>
                <a:cubicBezTo>
                  <a:pt x="14794" y="0"/>
                  <a:pt x="18197" y="1080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77" name="点 ( x , y ) に大きさ ( ẋ , ẏ ) のベクトルを描く"/>
          <p:cNvSpPr/>
          <p:nvPr/>
        </p:nvSpPr>
        <p:spPr>
          <a:xfrm>
            <a:off x="6383338" y="2143184"/>
            <a:ext cx="4978337" cy="8412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lgn="l">
              <a:buClr>
                <a:srgbClr val="000000"/>
              </a:buClr>
              <a:buFont typeface="Arial"/>
              <a:defRPr sz="2400"/>
            </a:pPr>
            <a:r>
              <a:rPr sz="2400" dirty="0" err="1"/>
              <a:t>点</a:t>
            </a:r>
            <a:r>
              <a:rPr sz="2400" dirty="0">
                <a:latin typeface="Heiti TC Light"/>
                <a:ea typeface="Heiti TC Light"/>
                <a:cs typeface="Heiti TC Light"/>
                <a:sym typeface="Heiti TC Light"/>
              </a:rPr>
              <a:t> </a:t>
            </a:r>
            <a:r>
              <a:rPr sz="2400" dirty="0">
                <a:latin typeface="Times Roman"/>
                <a:ea typeface="Times Roman"/>
                <a:cs typeface="Times Roman"/>
                <a:sym typeface="Times Roman"/>
              </a:rPr>
              <a:t>(</a:t>
            </a:r>
            <a:r>
              <a:rPr sz="2400" dirty="0">
                <a:latin typeface="Heiti TC Light"/>
                <a:ea typeface="Heiti TC Light"/>
                <a:cs typeface="Heiti TC Light"/>
                <a:sym typeface="Heiti TC Light"/>
              </a:rPr>
              <a:t> </a:t>
            </a:r>
            <a:r>
              <a:rPr sz="2400" i="1" dirty="0">
                <a:latin typeface="Times Roman"/>
                <a:ea typeface="Times Roman"/>
                <a:cs typeface="Times Roman"/>
                <a:sym typeface="Times Roman"/>
              </a:rPr>
              <a:t>x , y </a:t>
            </a:r>
            <a:r>
              <a:rPr sz="2400" dirty="0">
                <a:latin typeface="Times Roman"/>
                <a:ea typeface="Times Roman"/>
                <a:cs typeface="Times Roman"/>
                <a:sym typeface="Times Roman"/>
              </a:rPr>
              <a:t>)</a:t>
            </a:r>
            <a:r>
              <a:rPr sz="2400" dirty="0">
                <a:latin typeface="Heiti TC Light"/>
                <a:ea typeface="Heiti TC Light"/>
                <a:cs typeface="Heiti TC Light"/>
                <a:sym typeface="Heiti TC Light"/>
              </a:rPr>
              <a:t> </a:t>
            </a:r>
            <a:r>
              <a:rPr lang="ja-JP" altLang="en-US" sz="2400">
                <a:latin typeface="Heiti TC Light"/>
                <a:ea typeface="Heiti TC Light"/>
                <a:cs typeface="Heiti TC Light"/>
                <a:sym typeface="Heiti TC Light"/>
              </a:rPr>
              <a:t>を</a:t>
            </a:r>
            <a:r>
              <a:rPr sz="2400" dirty="0" err="1"/>
              <a:t>大きさ</a:t>
            </a:r>
            <a:r>
              <a:rPr sz="2400" dirty="0">
                <a:latin typeface="Heiti TC Light"/>
                <a:ea typeface="Heiti TC Light"/>
                <a:cs typeface="Heiti TC Light"/>
                <a:sym typeface="Heiti TC Light"/>
              </a:rPr>
              <a:t> </a:t>
            </a:r>
            <a:r>
              <a:rPr lang="en-US" sz="2400" dirty="0">
                <a:latin typeface="Times Roman"/>
                <a:ea typeface="Heiti TC Light"/>
                <a:cs typeface="Heiti TC Light"/>
                <a:sym typeface="Times Roman"/>
              </a:rPr>
              <a:t>                    </a:t>
            </a:r>
            <a:r>
              <a:rPr sz="2400" dirty="0" err="1"/>
              <a:t>の</a:t>
            </a:r>
            <a:endParaRPr lang="en-US" sz="2400" dirty="0"/>
          </a:p>
          <a:p>
            <a:pPr algn="l">
              <a:buClr>
                <a:srgbClr val="000000"/>
              </a:buClr>
              <a:buFont typeface="Arial"/>
              <a:defRPr sz="2400"/>
            </a:pPr>
            <a:r>
              <a:rPr sz="2400" dirty="0" err="1"/>
              <a:t>ベクトルを描く</a:t>
            </a:r>
            <a:endParaRPr sz="2400" dirty="0"/>
          </a:p>
        </p:txBody>
      </p:sp>
      <p:pic>
        <p:nvPicPr>
          <p:cNvPr id="2" name="図 1">
            <a:extLst>
              <a:ext uri="{FF2B5EF4-FFF2-40B4-BE49-F238E27FC236}">
                <a16:creationId xmlns:a16="http://schemas.microsoft.com/office/drawing/2014/main" id="{BD8F3EA5-34B6-54B5-4CDF-00ACC1853142}"/>
              </a:ext>
            </a:extLst>
          </p:cNvPr>
          <p:cNvPicPr>
            <a:picLocks noChangeAspect="1"/>
          </p:cNvPicPr>
          <p:nvPr/>
        </p:nvPicPr>
        <p:blipFill>
          <a:blip r:embed="rId3"/>
          <a:stretch>
            <a:fillRect/>
          </a:stretch>
        </p:blipFill>
        <p:spPr>
          <a:xfrm>
            <a:off x="2057401" y="1702909"/>
            <a:ext cx="2910786" cy="1671007"/>
          </a:xfrm>
          <a:prstGeom prst="rect">
            <a:avLst/>
          </a:prstGeom>
        </p:spPr>
      </p:pic>
      <p:pic>
        <p:nvPicPr>
          <p:cNvPr id="3" name="図 2">
            <a:extLst>
              <a:ext uri="{FF2B5EF4-FFF2-40B4-BE49-F238E27FC236}">
                <a16:creationId xmlns:a16="http://schemas.microsoft.com/office/drawing/2014/main" id="{396274FE-DBA3-8832-4685-82E183DC2384}"/>
              </a:ext>
            </a:extLst>
          </p:cNvPr>
          <p:cNvPicPr>
            <a:picLocks noChangeAspect="1"/>
          </p:cNvPicPr>
          <p:nvPr/>
        </p:nvPicPr>
        <p:blipFill>
          <a:blip r:embed="rId4"/>
          <a:stretch>
            <a:fillRect/>
          </a:stretch>
        </p:blipFill>
        <p:spPr>
          <a:xfrm>
            <a:off x="9095299" y="2042228"/>
            <a:ext cx="1288546" cy="658916"/>
          </a:xfrm>
          <a:prstGeom prst="rect">
            <a:avLst/>
          </a:prstGeom>
        </p:spPr>
      </p:pic>
      <p:pic>
        <p:nvPicPr>
          <p:cNvPr id="4" name="図 3">
            <a:extLst>
              <a:ext uri="{FF2B5EF4-FFF2-40B4-BE49-F238E27FC236}">
                <a16:creationId xmlns:a16="http://schemas.microsoft.com/office/drawing/2014/main" id="{1EEF4FE1-33DA-EFB6-0495-DE70035DB584}"/>
              </a:ext>
            </a:extLst>
          </p:cNvPr>
          <p:cNvPicPr>
            <a:picLocks noChangeAspect="1"/>
          </p:cNvPicPr>
          <p:nvPr/>
        </p:nvPicPr>
        <p:blipFill>
          <a:blip r:embed="rId5"/>
          <a:stretch>
            <a:fillRect/>
          </a:stretch>
        </p:blipFill>
        <p:spPr>
          <a:xfrm>
            <a:off x="2177090" y="4100787"/>
            <a:ext cx="3956884" cy="1548780"/>
          </a:xfrm>
          <a:prstGeom prst="rect">
            <a:avLst/>
          </a:prstGeom>
        </p:spPr>
      </p:pic>
    </p:spTree>
    <p:extLst>
      <p:ext uri="{BB962C8B-B14F-4D97-AF65-F5344CB8AC3E}">
        <p14:creationId xmlns:p14="http://schemas.microsoft.com/office/powerpoint/2010/main" val="12178173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矢印の方向"/>
          <p:cNvSpPr txBox="1">
            <a:spLocks noGrp="1"/>
          </p:cNvSpPr>
          <p:nvPr>
            <p:ph type="title"/>
          </p:nvPr>
        </p:nvSpPr>
        <p:spPr>
          <a:prstGeom prst="rect">
            <a:avLst/>
          </a:prstGeom>
        </p:spPr>
        <p:txBody>
          <a:bodyPr/>
          <a:lstStyle/>
          <a:p>
            <a:r>
              <a:rPr lang="ja-JP" altLang="en-US"/>
              <a:t>ヌルクラインとベクトル</a:t>
            </a:r>
            <a:r>
              <a:rPr dirty="0" err="1"/>
              <a:t>の方向</a:t>
            </a:r>
            <a:endParaRPr dirty="0"/>
          </a:p>
        </p:txBody>
      </p:sp>
      <p:sp>
        <p:nvSpPr>
          <p:cNvPr id="381" name="x のヌルクライン上では…"/>
          <p:cNvSpPr txBox="1">
            <a:spLocks noGrp="1"/>
          </p:cNvSpPr>
          <p:nvPr>
            <p:ph type="body" idx="4294967295"/>
          </p:nvPr>
        </p:nvSpPr>
        <p:spPr>
          <a:xfrm>
            <a:off x="477985" y="1600200"/>
            <a:ext cx="7216626" cy="4635500"/>
          </a:xfrm>
          <a:prstGeom prst="rect">
            <a:avLst/>
          </a:prstGeom>
        </p:spPr>
        <p:txBody>
          <a:bodyPr>
            <a:normAutofit/>
          </a:bodyPr>
          <a:lstStyle/>
          <a:p>
            <a:pPr marL="368198" indent="-329184" defTabSz="390143">
              <a:spcBef>
                <a:spcPts val="1600"/>
              </a:spcBef>
              <a:buClr>
                <a:srgbClr val="000000"/>
              </a:buClr>
              <a:buSzPct val="100000"/>
              <a:buFont typeface="Arial"/>
              <a:defRPr sz="2304"/>
            </a:pPr>
            <a:r>
              <a:rPr sz="2800" i="1" dirty="0">
                <a:latin typeface="Times New Roman"/>
                <a:ea typeface="Times New Roman"/>
                <a:cs typeface="Times New Roman"/>
                <a:sym typeface="Times New Roman"/>
              </a:rPr>
              <a:t>x</a:t>
            </a:r>
            <a:r>
              <a:rPr sz="2800" dirty="0"/>
              <a:t> </a:t>
            </a:r>
            <a:r>
              <a:rPr sz="2800" dirty="0" err="1"/>
              <a:t>のヌルクライン上では</a:t>
            </a:r>
            <a:endParaRPr sz="2800" dirty="0"/>
          </a:p>
          <a:p>
            <a:pPr marL="752246" lvl="1" indent="-274320" defTabSz="390143">
              <a:spcBef>
                <a:spcPts val="1600"/>
              </a:spcBef>
              <a:buClr>
                <a:srgbClr val="000000"/>
              </a:buClr>
              <a:buSzPct val="100000"/>
              <a:buFont typeface="Arial"/>
              <a:defRPr sz="1727"/>
            </a:pPr>
            <a:r>
              <a:rPr lang="ja-JP" altLang="en-US" sz="2400"/>
              <a:t>すなわち、</a:t>
            </a:r>
            <a:r>
              <a:rPr sz="2400" dirty="0" err="1"/>
              <a:t>ベクトルは垂直になる</a:t>
            </a:r>
            <a:endParaRPr sz="2400" dirty="0"/>
          </a:p>
          <a:p>
            <a:pPr marL="752246" lvl="1" indent="-274320" defTabSz="390143">
              <a:spcBef>
                <a:spcPts val="1600"/>
              </a:spcBef>
              <a:buClr>
                <a:srgbClr val="000000"/>
              </a:buClr>
              <a:buSzPct val="100000"/>
              <a:buFont typeface="Arial"/>
              <a:defRPr sz="1727"/>
            </a:pPr>
            <a:r>
              <a:rPr lang="ja-JP" altLang="en-US" sz="2400"/>
              <a:t>　　　　　</a:t>
            </a:r>
            <a:r>
              <a:rPr sz="2400" dirty="0"/>
              <a:t> = ( 0 , </a:t>
            </a:r>
            <a:r>
              <a:rPr lang="en-US" sz="2400" dirty="0"/>
              <a:t>c</a:t>
            </a:r>
            <a:r>
              <a:rPr sz="2400" dirty="0"/>
              <a:t> )   </a:t>
            </a:r>
          </a:p>
          <a:p>
            <a:pPr marL="368198" indent="-329184" defTabSz="390143">
              <a:spcBef>
                <a:spcPts val="1600"/>
              </a:spcBef>
              <a:buClr>
                <a:srgbClr val="000000"/>
              </a:buClr>
              <a:buNone/>
              <a:defRPr sz="2688"/>
            </a:pPr>
            <a:endParaRPr sz="2304" dirty="0"/>
          </a:p>
          <a:p>
            <a:pPr marL="368198" indent="-329184" defTabSz="390143">
              <a:spcBef>
                <a:spcPts val="1600"/>
              </a:spcBef>
              <a:buClr>
                <a:srgbClr val="000000"/>
              </a:buClr>
              <a:buSzPct val="100000"/>
              <a:buFont typeface="Arial"/>
              <a:defRPr sz="2304"/>
            </a:pPr>
            <a:r>
              <a:rPr sz="2800" dirty="0" err="1"/>
              <a:t>垂直はわかった。上下どちら向きか</a:t>
            </a:r>
            <a:r>
              <a:rPr sz="2800" dirty="0"/>
              <a:t>？</a:t>
            </a:r>
          </a:p>
          <a:p>
            <a:pPr marL="752246" lvl="1" indent="-274320" defTabSz="390143">
              <a:spcBef>
                <a:spcPts val="1600"/>
              </a:spcBef>
              <a:buClr>
                <a:srgbClr val="000000"/>
              </a:buClr>
              <a:buSzPct val="100000"/>
              <a:buFont typeface="Arial"/>
              <a:defRPr sz="2304"/>
            </a:pPr>
            <a:r>
              <a:rPr sz="2400" dirty="0"/>
              <a:t>↑ :  </a:t>
            </a:r>
            <a:r>
              <a:rPr sz="2400" dirty="0">
                <a:latin typeface="Times New Roman"/>
                <a:ea typeface="Times New Roman"/>
                <a:cs typeface="Times New Roman"/>
                <a:sym typeface="Times New Roman"/>
              </a:rPr>
              <a:t> </a:t>
            </a:r>
            <a:r>
              <a:rPr lang="en-US" sz="2400" dirty="0">
                <a:latin typeface="Times New Roman"/>
                <a:ea typeface="Times New Roman"/>
                <a:cs typeface="Times New Roman"/>
                <a:sym typeface="Times New Roman"/>
              </a:rPr>
              <a:t>             </a:t>
            </a:r>
            <a:r>
              <a:rPr sz="2400" dirty="0" err="1"/>
              <a:t>を境として上側</a:t>
            </a:r>
            <a:r>
              <a:rPr sz="2400" dirty="0"/>
              <a:t> </a:t>
            </a:r>
          </a:p>
          <a:p>
            <a:pPr marL="752246" lvl="1" indent="-274320" defTabSz="390143">
              <a:spcBef>
                <a:spcPts val="1600"/>
              </a:spcBef>
              <a:buClr>
                <a:srgbClr val="000000"/>
              </a:buClr>
              <a:buSzPct val="100000"/>
              <a:buFont typeface="Arial"/>
              <a:defRPr sz="2304"/>
            </a:pPr>
            <a:r>
              <a:rPr sz="2400" dirty="0"/>
              <a:t>↓ :  </a:t>
            </a:r>
            <a:r>
              <a:rPr lang="en-US" sz="2400" i="1" dirty="0">
                <a:latin typeface="Times New Roman"/>
                <a:cs typeface="Times New Roman"/>
                <a:sym typeface="Times New Roman"/>
              </a:rPr>
              <a:t>              </a:t>
            </a:r>
            <a:r>
              <a:rPr sz="2400" dirty="0" err="1"/>
              <a:t>を境として下側</a:t>
            </a:r>
            <a:endParaRPr sz="2400" dirty="0"/>
          </a:p>
          <a:p>
            <a:pPr marL="752246" lvl="2" indent="642518" defTabSz="390143">
              <a:spcBef>
                <a:spcPts val="1600"/>
              </a:spcBef>
              <a:buClr>
                <a:srgbClr val="000000"/>
              </a:buClr>
              <a:buNone/>
              <a:defRPr sz="2304"/>
            </a:pPr>
            <a:r>
              <a:rPr dirty="0"/>
              <a:t>　　　　　</a:t>
            </a:r>
          </a:p>
        </p:txBody>
      </p:sp>
      <p:sp>
        <p:nvSpPr>
          <p:cNvPr id="382" name="線"/>
          <p:cNvSpPr/>
          <p:nvPr/>
        </p:nvSpPr>
        <p:spPr>
          <a:xfrm>
            <a:off x="7838645" y="2754312"/>
            <a:ext cx="1590" cy="25923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83" name="線"/>
          <p:cNvSpPr/>
          <p:nvPr/>
        </p:nvSpPr>
        <p:spPr>
          <a:xfrm>
            <a:off x="7838646" y="5346700"/>
            <a:ext cx="31686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84" name="[ADP]"/>
          <p:cNvSpPr/>
          <p:nvPr/>
        </p:nvSpPr>
        <p:spPr>
          <a:xfrm>
            <a:off x="10229184" y="5583943"/>
            <a:ext cx="637995"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385" name="[F6P]"/>
          <p:cNvSpPr/>
          <p:nvPr/>
        </p:nvSpPr>
        <p:spPr>
          <a:xfrm>
            <a:off x="7409945" y="2178755"/>
            <a:ext cx="58509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[F6P]</a:t>
            </a:r>
          </a:p>
        </p:txBody>
      </p:sp>
      <p:sp>
        <p:nvSpPr>
          <p:cNvPr id="386" name="線"/>
          <p:cNvSpPr/>
          <p:nvPr/>
        </p:nvSpPr>
        <p:spPr>
          <a:xfrm>
            <a:off x="7838645" y="3041651"/>
            <a:ext cx="2663826" cy="201771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79" y="0"/>
                  <a:pt x="1171" y="17"/>
                  <a:pt x="1751" y="2328"/>
                </a:cubicBezTo>
                <a:cubicBezTo>
                  <a:pt x="2330" y="4639"/>
                  <a:pt x="2047" y="10927"/>
                  <a:pt x="3501" y="13885"/>
                </a:cubicBezTo>
                <a:cubicBezTo>
                  <a:pt x="4956" y="16842"/>
                  <a:pt x="7492" y="18762"/>
                  <a:pt x="10504" y="20054"/>
                </a:cubicBezTo>
                <a:cubicBezTo>
                  <a:pt x="13516" y="21345"/>
                  <a:pt x="17558" y="21464"/>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87" name="線"/>
          <p:cNvSpPr/>
          <p:nvPr/>
        </p:nvSpPr>
        <p:spPr>
          <a:xfrm>
            <a:off x="7838646" y="4157191"/>
            <a:ext cx="2736851" cy="1189510"/>
          </a:xfrm>
          <a:custGeom>
            <a:avLst/>
            <a:gdLst/>
            <a:ahLst/>
            <a:cxnLst>
              <a:cxn ang="0">
                <a:pos x="wd2" y="hd2"/>
              </a:cxn>
              <a:cxn ang="5400000">
                <a:pos x="wd2" y="hd2"/>
              </a:cxn>
              <a:cxn ang="10800000">
                <a:pos x="wd2" y="hd2"/>
              </a:cxn>
              <a:cxn ang="16200000">
                <a:pos x="wd2" y="hd2"/>
              </a:cxn>
            </a:cxnLst>
            <a:rect l="0" t="0" r="r" b="b"/>
            <a:pathLst>
              <a:path w="21600" h="20992" extrusionOk="0">
                <a:moveTo>
                  <a:pt x="0" y="20992"/>
                </a:moveTo>
                <a:cubicBezTo>
                  <a:pt x="276" y="13792"/>
                  <a:pt x="564" y="6592"/>
                  <a:pt x="1704" y="3202"/>
                </a:cubicBezTo>
                <a:cubicBezTo>
                  <a:pt x="2844" y="-188"/>
                  <a:pt x="4636" y="-608"/>
                  <a:pt x="6816" y="653"/>
                </a:cubicBezTo>
                <a:cubicBezTo>
                  <a:pt x="8996" y="1913"/>
                  <a:pt x="12303" y="8693"/>
                  <a:pt x="14772" y="10822"/>
                </a:cubicBezTo>
                <a:cubicBezTo>
                  <a:pt x="17240" y="12952"/>
                  <a:pt x="19420" y="13148"/>
                  <a:pt x="21600" y="13372"/>
                </a:cubicBezTo>
              </a:path>
            </a:pathLst>
          </a:custGeom>
          <a:ln>
            <a:solidFill>
              <a:srgbClr val="000000"/>
            </a:solidFill>
            <a:prstDash val="dash"/>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88" name="線"/>
          <p:cNvSpPr/>
          <p:nvPr/>
        </p:nvSpPr>
        <p:spPr>
          <a:xfrm>
            <a:off x="8027622" y="4312797"/>
            <a:ext cx="1588" cy="576263"/>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89" name="線"/>
          <p:cNvSpPr/>
          <p:nvPr/>
        </p:nvSpPr>
        <p:spPr>
          <a:xfrm flipV="1">
            <a:off x="9535683" y="4038600"/>
            <a:ext cx="1588" cy="647700"/>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2" name="図 1">
            <a:extLst>
              <a:ext uri="{FF2B5EF4-FFF2-40B4-BE49-F238E27FC236}">
                <a16:creationId xmlns:a16="http://schemas.microsoft.com/office/drawing/2014/main" id="{8FF8B7C1-E5F5-363A-E053-E20C2068B3A7}"/>
              </a:ext>
            </a:extLst>
          </p:cNvPr>
          <p:cNvPicPr>
            <a:picLocks noChangeAspect="1"/>
          </p:cNvPicPr>
          <p:nvPr/>
        </p:nvPicPr>
        <p:blipFill>
          <a:blip r:embed="rId2"/>
          <a:stretch>
            <a:fillRect/>
          </a:stretch>
        </p:blipFill>
        <p:spPr>
          <a:xfrm>
            <a:off x="1470141" y="2712193"/>
            <a:ext cx="1288546" cy="658916"/>
          </a:xfrm>
          <a:prstGeom prst="rect">
            <a:avLst/>
          </a:prstGeom>
        </p:spPr>
      </p:pic>
      <p:pic>
        <p:nvPicPr>
          <p:cNvPr id="3" name="図 2">
            <a:extLst>
              <a:ext uri="{FF2B5EF4-FFF2-40B4-BE49-F238E27FC236}">
                <a16:creationId xmlns:a16="http://schemas.microsoft.com/office/drawing/2014/main" id="{5CE19785-7477-0B95-FC06-9AA7A7F99759}"/>
              </a:ext>
            </a:extLst>
          </p:cNvPr>
          <p:cNvPicPr>
            <a:picLocks noChangeAspect="1"/>
          </p:cNvPicPr>
          <p:nvPr/>
        </p:nvPicPr>
        <p:blipFill>
          <a:blip r:embed="rId3"/>
          <a:stretch>
            <a:fillRect/>
          </a:stretch>
        </p:blipFill>
        <p:spPr>
          <a:xfrm>
            <a:off x="10061447" y="3939915"/>
            <a:ext cx="1028100" cy="713958"/>
          </a:xfrm>
          <a:prstGeom prst="rect">
            <a:avLst/>
          </a:prstGeom>
        </p:spPr>
      </p:pic>
      <p:pic>
        <p:nvPicPr>
          <p:cNvPr id="4" name="図 3">
            <a:extLst>
              <a:ext uri="{FF2B5EF4-FFF2-40B4-BE49-F238E27FC236}">
                <a16:creationId xmlns:a16="http://schemas.microsoft.com/office/drawing/2014/main" id="{3F16DE59-5175-9F58-6B59-9E39A8D60B28}"/>
              </a:ext>
            </a:extLst>
          </p:cNvPr>
          <p:cNvPicPr>
            <a:picLocks noChangeAspect="1"/>
          </p:cNvPicPr>
          <p:nvPr/>
        </p:nvPicPr>
        <p:blipFill>
          <a:blip r:embed="rId4"/>
          <a:stretch>
            <a:fillRect/>
          </a:stretch>
        </p:blipFill>
        <p:spPr>
          <a:xfrm>
            <a:off x="8173779" y="2563194"/>
            <a:ext cx="1028100" cy="713958"/>
          </a:xfrm>
          <a:prstGeom prst="rect">
            <a:avLst/>
          </a:prstGeom>
        </p:spPr>
      </p:pic>
      <p:pic>
        <p:nvPicPr>
          <p:cNvPr id="6" name="図 5">
            <a:extLst>
              <a:ext uri="{FF2B5EF4-FFF2-40B4-BE49-F238E27FC236}">
                <a16:creationId xmlns:a16="http://schemas.microsoft.com/office/drawing/2014/main" id="{8D373BC9-20EB-CF0D-DC8B-E9CE0B5DB342}"/>
              </a:ext>
            </a:extLst>
          </p:cNvPr>
          <p:cNvPicPr>
            <a:picLocks noChangeAspect="1"/>
          </p:cNvPicPr>
          <p:nvPr/>
        </p:nvPicPr>
        <p:blipFill>
          <a:blip r:embed="rId4"/>
          <a:stretch>
            <a:fillRect/>
          </a:stretch>
        </p:blipFill>
        <p:spPr>
          <a:xfrm>
            <a:off x="1877123" y="5141629"/>
            <a:ext cx="735027" cy="510435"/>
          </a:xfrm>
          <a:prstGeom prst="rect">
            <a:avLst/>
          </a:prstGeom>
        </p:spPr>
      </p:pic>
      <p:pic>
        <p:nvPicPr>
          <p:cNvPr id="7" name="図 6">
            <a:extLst>
              <a:ext uri="{FF2B5EF4-FFF2-40B4-BE49-F238E27FC236}">
                <a16:creationId xmlns:a16="http://schemas.microsoft.com/office/drawing/2014/main" id="{64FA67A6-3B3C-6EF0-BF6B-208C46FE9B44}"/>
              </a:ext>
            </a:extLst>
          </p:cNvPr>
          <p:cNvPicPr>
            <a:picLocks noChangeAspect="1"/>
          </p:cNvPicPr>
          <p:nvPr/>
        </p:nvPicPr>
        <p:blipFill>
          <a:blip r:embed="rId4"/>
          <a:stretch>
            <a:fillRect/>
          </a:stretch>
        </p:blipFill>
        <p:spPr>
          <a:xfrm>
            <a:off x="1887044" y="4496728"/>
            <a:ext cx="735027" cy="510435"/>
          </a:xfrm>
          <a:prstGeom prst="rect">
            <a:avLst/>
          </a:prstGeom>
        </p:spPr>
      </p:pic>
      <p:pic>
        <p:nvPicPr>
          <p:cNvPr id="8" name="図 7">
            <a:extLst>
              <a:ext uri="{FF2B5EF4-FFF2-40B4-BE49-F238E27FC236}">
                <a16:creationId xmlns:a16="http://schemas.microsoft.com/office/drawing/2014/main" id="{352250AE-778E-C8D2-BC74-880DDC05E110}"/>
              </a:ext>
            </a:extLst>
          </p:cNvPr>
          <p:cNvPicPr>
            <a:picLocks noChangeAspect="1"/>
          </p:cNvPicPr>
          <p:nvPr/>
        </p:nvPicPr>
        <p:blipFill>
          <a:blip r:embed="rId3"/>
          <a:stretch>
            <a:fillRect/>
          </a:stretch>
        </p:blipFill>
        <p:spPr>
          <a:xfrm>
            <a:off x="4869955" y="1464797"/>
            <a:ext cx="1028100" cy="713958"/>
          </a:xfrm>
          <a:prstGeom prst="rect">
            <a:avLst/>
          </a:prstGeom>
        </p:spPr>
      </p:pic>
    </p:spTree>
    <p:extLst>
      <p:ext uri="{BB962C8B-B14F-4D97-AF65-F5344CB8AC3E}">
        <p14:creationId xmlns:p14="http://schemas.microsoft.com/office/powerpoint/2010/main" val="4146701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演習3b: Sel’kov モデルのベクトル場"/>
          <p:cNvSpPr txBox="1">
            <a:spLocks noGrp="1"/>
          </p:cNvSpPr>
          <p:nvPr>
            <p:ph type="title"/>
          </p:nvPr>
        </p:nvSpPr>
        <p:spPr>
          <a:prstGeom prst="rect">
            <a:avLst/>
          </a:prstGeom>
        </p:spPr>
        <p:txBody>
          <a:bodyPr/>
          <a:lstStyle/>
          <a:p>
            <a:r>
              <a:rPr dirty="0"/>
              <a:t>演習3: </a:t>
            </a:r>
            <a:r>
              <a:rPr dirty="0" err="1"/>
              <a:t>Sel’kov</a:t>
            </a:r>
            <a:r>
              <a:rPr dirty="0"/>
              <a:t> </a:t>
            </a:r>
            <a:r>
              <a:rPr dirty="0" err="1"/>
              <a:t>モデルのベクトル場</a:t>
            </a:r>
            <a:endParaRPr dirty="0"/>
          </a:p>
        </p:txBody>
      </p:sp>
      <p:sp>
        <p:nvSpPr>
          <p:cNvPr id="414" name="Sel’kovモデルの相平面にベクトル場を描きなさい。ヌルクライン、解軌跡を描いたfigureに重ね描きすること。(MATLAB)…"/>
          <p:cNvSpPr txBox="1">
            <a:spLocks noGrp="1"/>
          </p:cNvSpPr>
          <p:nvPr>
            <p:ph type="body" idx="4294967295"/>
          </p:nvPr>
        </p:nvSpPr>
        <p:spPr>
          <a:xfrm>
            <a:off x="457204" y="1799840"/>
            <a:ext cx="11177746" cy="4013200"/>
          </a:xfrm>
          <a:prstGeom prst="rect">
            <a:avLst/>
          </a:prstGeom>
        </p:spPr>
        <p:txBody>
          <a:bodyPr>
            <a:noAutofit/>
          </a:bodyPr>
          <a:lstStyle/>
          <a:p>
            <a:pPr marL="496620" indent="-457200" defTabSz="394208">
              <a:spcBef>
                <a:spcPts val="1600"/>
              </a:spcBef>
              <a:buClr>
                <a:srgbClr val="000000"/>
              </a:buClr>
              <a:buSzPct val="100000"/>
              <a:buFont typeface="+mj-lt"/>
              <a:buAutoNum type="arabicPeriod"/>
              <a:defRPr sz="2328"/>
            </a:pPr>
            <a:r>
              <a:rPr sz="2400" dirty="0" err="1"/>
              <a:t>Sel’kovモデルの相平面にベクトル場を描きなさい</a:t>
            </a:r>
            <a:r>
              <a:rPr sz="2400" dirty="0"/>
              <a:t>。 (</a:t>
            </a:r>
            <a:r>
              <a:rPr lang="en-US" sz="2400" dirty="0">
                <a:solidFill>
                  <a:srgbClr val="0085CC"/>
                </a:solidFill>
                <a:uFill>
                  <a:solidFill>
                    <a:srgbClr val="0085CC"/>
                  </a:solidFill>
                </a:uFill>
              </a:rPr>
              <a:t>python</a:t>
            </a:r>
            <a:r>
              <a:rPr lang="en-US" altLang="ja-JP" sz="2400" dirty="0"/>
              <a:t>)</a:t>
            </a:r>
            <a:endParaRPr lang="en-US" sz="2400" dirty="0"/>
          </a:p>
          <a:p>
            <a:pPr marL="496620" indent="-457200" defTabSz="394208">
              <a:spcBef>
                <a:spcPts val="1600"/>
              </a:spcBef>
              <a:buClr>
                <a:srgbClr val="000000"/>
              </a:buClr>
              <a:buSzPct val="100000"/>
              <a:buFont typeface="+mj-lt"/>
              <a:buAutoNum type="arabicPeriod"/>
              <a:defRPr sz="2328"/>
            </a:pPr>
            <a:r>
              <a:rPr lang="ja-JP" altLang="en-US" sz="2400"/>
              <a:t>「</a:t>
            </a:r>
            <a:r>
              <a:rPr lang="en-US" altLang="ja-JP" sz="2400" dirty="0"/>
              <a:t>1</a:t>
            </a:r>
            <a:r>
              <a:rPr lang="ja-JP" altLang="en-US" sz="2400"/>
              <a:t>」ができたら、ヌルクライン、解軌跡を描いた</a:t>
            </a:r>
            <a:r>
              <a:rPr lang="en-GB" altLang="ja-JP" sz="2400" dirty="0"/>
              <a:t>figure</a:t>
            </a:r>
            <a:r>
              <a:rPr lang="ja-JP" altLang="en-US" sz="2400"/>
              <a:t>に重ね描きしなさい。</a:t>
            </a:r>
            <a:endParaRPr sz="2400" dirty="0"/>
          </a:p>
          <a:p>
            <a:pPr marL="1148130" lvl="2" indent="-221742" defTabSz="394208">
              <a:spcBef>
                <a:spcPts val="1600"/>
              </a:spcBef>
              <a:buClr>
                <a:srgbClr val="000000"/>
              </a:buClr>
              <a:buSzPct val="100000"/>
              <a:buFont typeface="Arial"/>
              <a:defRPr sz="2328"/>
            </a:pPr>
            <a:endParaRPr dirty="0"/>
          </a:p>
          <a:p>
            <a:pPr marL="372033" indent="-332613" defTabSz="394208">
              <a:spcBef>
                <a:spcPts val="1600"/>
              </a:spcBef>
              <a:buClr>
                <a:srgbClr val="000000"/>
              </a:buClr>
              <a:buSzPct val="100000"/>
              <a:buFont typeface="Arial"/>
              <a:defRPr sz="2328"/>
            </a:pPr>
            <a:r>
              <a:rPr sz="2400" dirty="0" err="1"/>
              <a:t>方針</a:t>
            </a:r>
            <a:endParaRPr sz="2400" dirty="0"/>
          </a:p>
          <a:p>
            <a:pPr marL="760082" lvl="1" indent="-277177" defTabSz="394208">
              <a:spcBef>
                <a:spcPts val="1600"/>
              </a:spcBef>
              <a:buClr>
                <a:srgbClr val="000000"/>
              </a:buClr>
              <a:buSzPct val="100000"/>
              <a:buFont typeface="Arial"/>
              <a:buChar char="–"/>
              <a:defRPr sz="2328"/>
            </a:pPr>
            <a:r>
              <a:rPr lang="en-GB" altLang="ja-JP" sz="2400" dirty="0" err="1"/>
              <a:t>meshgrid</a:t>
            </a:r>
            <a:r>
              <a:rPr lang="ja-JP" altLang="en-US" sz="2400"/>
              <a:t>関数</a:t>
            </a:r>
            <a:endParaRPr lang="en-US" sz="2400" dirty="0"/>
          </a:p>
          <a:p>
            <a:pPr marL="760082" lvl="1" indent="-277177" defTabSz="394208">
              <a:spcBef>
                <a:spcPts val="1600"/>
              </a:spcBef>
              <a:buClr>
                <a:srgbClr val="000000"/>
              </a:buClr>
              <a:buSzPct val="100000"/>
              <a:buFont typeface="Arial"/>
              <a:defRPr sz="2328"/>
            </a:pPr>
            <a:r>
              <a:rPr sz="2400" dirty="0" err="1"/>
              <a:t>quiver関数</a:t>
            </a:r>
            <a:endParaRPr lang="en-US" sz="2400" dirty="0"/>
          </a:p>
          <a:p>
            <a:pPr marL="760082" lvl="1" indent="-277177" defTabSz="394208">
              <a:spcBef>
                <a:spcPts val="1600"/>
              </a:spcBef>
              <a:buClr>
                <a:srgbClr val="000000"/>
              </a:buClr>
              <a:buSzPct val="100000"/>
              <a:buFont typeface="Arial"/>
              <a:defRPr sz="2328"/>
            </a:pPr>
            <a:r>
              <a:rPr lang="en-US" sz="2400" dirty="0" err="1"/>
              <a:t>streamline関数</a:t>
            </a:r>
            <a:endParaRPr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復習: MATLABでベクトル場を描く"/>
          <p:cNvSpPr txBox="1">
            <a:spLocks noGrp="1"/>
          </p:cNvSpPr>
          <p:nvPr>
            <p:ph type="title"/>
          </p:nvPr>
        </p:nvSpPr>
        <p:spPr>
          <a:prstGeom prst="rect">
            <a:avLst/>
          </a:prstGeom>
        </p:spPr>
        <p:txBody>
          <a:bodyPr/>
          <a:lstStyle/>
          <a:p>
            <a:r>
              <a:rPr lang="en-US" dirty="0" err="1"/>
              <a:t>Python</a:t>
            </a:r>
            <a:r>
              <a:rPr dirty="0" err="1"/>
              <a:t>でベクトル場を描く</a:t>
            </a:r>
            <a:endParaRPr dirty="0"/>
          </a:p>
        </p:txBody>
      </p:sp>
      <p:sp>
        <p:nvSpPr>
          <p:cNvPr id="417" name="相平面を基準線でメッシュ状に区切る…"/>
          <p:cNvSpPr txBox="1">
            <a:spLocks noGrp="1"/>
          </p:cNvSpPr>
          <p:nvPr>
            <p:ph type="body" idx="4294967295"/>
          </p:nvPr>
        </p:nvSpPr>
        <p:spPr>
          <a:xfrm>
            <a:off x="2497503" y="1311910"/>
            <a:ext cx="8570547" cy="5283200"/>
          </a:xfrm>
          <a:prstGeom prst="rect">
            <a:avLst/>
          </a:prstGeom>
        </p:spPr>
        <p:txBody>
          <a:bodyPr>
            <a:noAutofit/>
          </a:bodyPr>
          <a:lstStyle/>
          <a:p>
            <a:pPr marL="318338" indent="-284606" defTabSz="337311">
              <a:spcBef>
                <a:spcPts val="1400"/>
              </a:spcBef>
              <a:buClr>
                <a:srgbClr val="000000"/>
              </a:buClr>
              <a:buSzPct val="100000"/>
              <a:buFont typeface="Arial"/>
              <a:defRPr sz="1992"/>
            </a:pPr>
            <a:r>
              <a:rPr sz="2800" dirty="0" err="1"/>
              <a:t>相平面を基準線でメッシュ状に区切る</a:t>
            </a:r>
            <a:endParaRPr sz="2800" dirty="0"/>
          </a:p>
          <a:p>
            <a:pPr marL="650379" lvl="1" indent="-237172" defTabSz="337311">
              <a:lnSpc>
                <a:spcPts val="1800"/>
              </a:lnSpc>
              <a:spcBef>
                <a:spcPts val="1400"/>
              </a:spcBef>
              <a:buClr>
                <a:srgbClr val="000000"/>
              </a:buClr>
              <a:buNone/>
              <a:defRPr sz="1328"/>
            </a:pPr>
            <a:r>
              <a:rPr lang="en-GB" sz="2400" dirty="0"/>
              <a:t>x = </a:t>
            </a:r>
            <a:r>
              <a:rPr lang="en-GB" sz="2400" dirty="0" err="1"/>
              <a:t>np.linspace</a:t>
            </a:r>
            <a:r>
              <a:rPr lang="en-GB" sz="2400" dirty="0"/>
              <a:t>( 0, 3, N )</a:t>
            </a:r>
          </a:p>
          <a:p>
            <a:pPr marL="650379" lvl="1" indent="-237172" defTabSz="337311">
              <a:lnSpc>
                <a:spcPts val="1800"/>
              </a:lnSpc>
              <a:spcBef>
                <a:spcPts val="1400"/>
              </a:spcBef>
              <a:buClr>
                <a:srgbClr val="000000"/>
              </a:buClr>
              <a:buNone/>
              <a:defRPr sz="1328"/>
            </a:pPr>
            <a:r>
              <a:rPr lang="en-GB" sz="2400" dirty="0"/>
              <a:t>y = </a:t>
            </a:r>
            <a:r>
              <a:rPr lang="en-GB" sz="2400" dirty="0" err="1"/>
              <a:t>np.linspace</a:t>
            </a:r>
            <a:r>
              <a:rPr lang="en-GB" sz="2400" dirty="0"/>
              <a:t>( 0, 10, N )</a:t>
            </a:r>
          </a:p>
          <a:p>
            <a:pPr marL="650379" lvl="1" indent="-237172" defTabSz="337311">
              <a:lnSpc>
                <a:spcPts val="1800"/>
              </a:lnSpc>
              <a:spcBef>
                <a:spcPts val="1400"/>
              </a:spcBef>
              <a:buClr>
                <a:srgbClr val="000000"/>
              </a:buClr>
              <a:buNone/>
              <a:defRPr sz="1328"/>
            </a:pPr>
            <a:r>
              <a:rPr lang="en-GB" sz="2400" dirty="0"/>
              <a:t>[X, Y] = </a:t>
            </a:r>
            <a:r>
              <a:rPr lang="en-GB" sz="2400" dirty="0" err="1"/>
              <a:t>np.</a:t>
            </a:r>
            <a:r>
              <a:rPr lang="en-GB" sz="2400" dirty="0" err="1">
                <a:solidFill>
                  <a:srgbClr val="0070C0"/>
                </a:solidFill>
              </a:rPr>
              <a:t>meshgrid</a:t>
            </a:r>
            <a:r>
              <a:rPr lang="en-GB" sz="2400" dirty="0"/>
              <a:t>( x, y )</a:t>
            </a:r>
          </a:p>
          <a:p>
            <a:pPr marL="650379" lvl="1" indent="-237172" defTabSz="337311">
              <a:lnSpc>
                <a:spcPts val="1800"/>
              </a:lnSpc>
              <a:spcBef>
                <a:spcPts val="1400"/>
              </a:spcBef>
              <a:buClr>
                <a:srgbClr val="000000"/>
              </a:buClr>
              <a:buNone/>
              <a:defRPr sz="1328"/>
            </a:pPr>
            <a:endParaRPr sz="2800" dirty="0"/>
          </a:p>
          <a:p>
            <a:pPr marL="318338" indent="-284606" defTabSz="337311">
              <a:spcBef>
                <a:spcPts val="1400"/>
              </a:spcBef>
              <a:buClr>
                <a:srgbClr val="000000"/>
              </a:buClr>
              <a:buSzPct val="100000"/>
              <a:buFont typeface="Arial"/>
              <a:defRPr sz="1992"/>
            </a:pPr>
            <a:r>
              <a:rPr lang="ja-JP" altLang="en-US" sz="2800"/>
              <a:t>メッシュの</a:t>
            </a:r>
            <a:r>
              <a:rPr sz="2800" dirty="0" err="1"/>
              <a:t>各点における時間変化を計算</a:t>
            </a:r>
            <a:endParaRPr sz="2800" dirty="0"/>
          </a:p>
          <a:p>
            <a:pPr marL="650379" lvl="1" indent="-237172" defTabSz="337311">
              <a:lnSpc>
                <a:spcPts val="1800"/>
              </a:lnSpc>
              <a:spcBef>
                <a:spcPts val="1400"/>
              </a:spcBef>
              <a:buClr>
                <a:srgbClr val="000000"/>
              </a:buClr>
              <a:buNone/>
              <a:defRPr sz="1494"/>
            </a:pPr>
            <a:r>
              <a:rPr lang="en-US" sz="2400" dirty="0" err="1"/>
              <a:t>dxdt</a:t>
            </a:r>
            <a:r>
              <a:rPr sz="2400" dirty="0"/>
              <a:t> = -X + a * Y </a:t>
            </a:r>
            <a:r>
              <a:rPr lang="en-US" sz="2400" dirty="0">
                <a:solidFill>
                  <a:srgbClr val="008F00"/>
                </a:solidFill>
              </a:rPr>
              <a:t>#</a:t>
            </a:r>
            <a:r>
              <a:rPr lang="ja-JP" altLang="en-US" sz="2400">
                <a:solidFill>
                  <a:srgbClr val="008F00"/>
                </a:solidFill>
              </a:rPr>
              <a:t>右辺の方程式はあくまでも一例</a:t>
            </a:r>
            <a:endParaRPr sz="2400" dirty="0">
              <a:solidFill>
                <a:srgbClr val="008F00"/>
              </a:solidFill>
            </a:endParaRPr>
          </a:p>
          <a:p>
            <a:pPr marL="650379" lvl="1" indent="-237172" defTabSz="337311">
              <a:lnSpc>
                <a:spcPts val="1800"/>
              </a:lnSpc>
              <a:spcBef>
                <a:spcPts val="1400"/>
              </a:spcBef>
              <a:buClr>
                <a:srgbClr val="000000"/>
              </a:buClr>
              <a:buNone/>
              <a:defRPr sz="1494"/>
            </a:pPr>
            <a:r>
              <a:rPr lang="en-US" sz="2400" dirty="0" err="1"/>
              <a:t>dydt</a:t>
            </a:r>
            <a:r>
              <a:rPr sz="2400" dirty="0"/>
              <a:t> = b - a * Y</a:t>
            </a:r>
            <a:endParaRPr lang="en-US" sz="2400" dirty="0"/>
          </a:p>
          <a:p>
            <a:pPr marL="650379" lvl="1" indent="-237172" defTabSz="337311">
              <a:lnSpc>
                <a:spcPts val="1800"/>
              </a:lnSpc>
              <a:spcBef>
                <a:spcPts val="1400"/>
              </a:spcBef>
              <a:buClr>
                <a:srgbClr val="000000"/>
              </a:buClr>
              <a:buNone/>
              <a:defRPr sz="1494"/>
            </a:pPr>
            <a:endParaRPr dirty="0"/>
          </a:p>
          <a:p>
            <a:pPr marL="318338" indent="-284606" defTabSz="337311">
              <a:spcBef>
                <a:spcPts val="1400"/>
              </a:spcBef>
              <a:buClr>
                <a:srgbClr val="000000"/>
              </a:buClr>
              <a:buSzPct val="100000"/>
              <a:buFont typeface="Arial"/>
              <a:defRPr sz="1992"/>
            </a:pPr>
            <a:r>
              <a:rPr sz="2800" dirty="0" err="1"/>
              <a:t>点</a:t>
            </a:r>
            <a:r>
              <a:rPr sz="2800" dirty="0"/>
              <a:t>(X,Y)</a:t>
            </a:r>
            <a:r>
              <a:rPr sz="2800" dirty="0" err="1"/>
              <a:t>に大きさ</a:t>
            </a:r>
            <a:r>
              <a:rPr sz="2800" dirty="0"/>
              <a:t>(</a:t>
            </a:r>
            <a:r>
              <a:rPr lang="en-US" sz="2800" dirty="0"/>
              <a:t> </a:t>
            </a:r>
            <a:r>
              <a:rPr lang="en-US" sz="2800" dirty="0" err="1"/>
              <a:t>dxdt</a:t>
            </a:r>
            <a:r>
              <a:rPr lang="en-US" sz="2800" dirty="0"/>
              <a:t> </a:t>
            </a:r>
            <a:r>
              <a:rPr sz="2800" dirty="0"/>
              <a:t>,</a:t>
            </a:r>
            <a:r>
              <a:rPr lang="en-US" sz="2800" dirty="0"/>
              <a:t> </a:t>
            </a:r>
            <a:r>
              <a:rPr lang="en-US" sz="2800" dirty="0" err="1"/>
              <a:t>dydt</a:t>
            </a:r>
            <a:r>
              <a:rPr lang="en-US" sz="2800" dirty="0"/>
              <a:t> </a:t>
            </a:r>
            <a:r>
              <a:rPr sz="2800" dirty="0"/>
              <a:t>)</a:t>
            </a:r>
            <a:r>
              <a:rPr sz="2800" dirty="0" err="1"/>
              <a:t>の矢印を描く</a:t>
            </a:r>
            <a:endParaRPr sz="2800" dirty="0"/>
          </a:p>
          <a:p>
            <a:pPr marL="650379" lvl="1" indent="-237172" defTabSz="337311">
              <a:spcBef>
                <a:spcPts val="1400"/>
              </a:spcBef>
              <a:buClr>
                <a:srgbClr val="0085CC"/>
              </a:buClr>
              <a:buNone/>
              <a:defRPr sz="1494"/>
            </a:pPr>
            <a:r>
              <a:rPr lang="en-GB" altLang="ja-JP" sz="2400" dirty="0" err="1"/>
              <a:t>plt</a:t>
            </a:r>
            <a:r>
              <a:rPr lang="en-GB" altLang="ja-JP" sz="2400" dirty="0"/>
              <a:t>.</a:t>
            </a:r>
            <a:r>
              <a:rPr sz="2400" dirty="0">
                <a:solidFill>
                  <a:srgbClr val="0085CC"/>
                </a:solidFill>
                <a:uFill>
                  <a:solidFill>
                    <a:srgbClr val="0085CC"/>
                  </a:solidFill>
                </a:uFill>
              </a:rPr>
              <a:t>quiver</a:t>
            </a:r>
            <a:r>
              <a:rPr sz="2400" dirty="0"/>
              <a:t>(</a:t>
            </a:r>
            <a:r>
              <a:rPr lang="en-US" sz="2400" dirty="0"/>
              <a:t> </a:t>
            </a:r>
            <a:r>
              <a:rPr sz="2400" dirty="0"/>
              <a:t>X</a:t>
            </a:r>
            <a:r>
              <a:rPr lang="en-US" sz="2400" dirty="0"/>
              <a:t> </a:t>
            </a:r>
            <a:r>
              <a:rPr sz="2400" dirty="0"/>
              <a:t>,Y</a:t>
            </a:r>
            <a:r>
              <a:rPr lang="en-US" sz="2400" dirty="0"/>
              <a:t> </a:t>
            </a:r>
            <a:r>
              <a:rPr sz="2400" dirty="0"/>
              <a:t>,</a:t>
            </a:r>
            <a:r>
              <a:rPr lang="en-US" sz="2400" dirty="0"/>
              <a:t> </a:t>
            </a:r>
            <a:r>
              <a:rPr lang="en-US" sz="2400" dirty="0" err="1"/>
              <a:t>dxdt</a:t>
            </a:r>
            <a:r>
              <a:rPr lang="en-US" sz="2400" dirty="0"/>
              <a:t> , </a:t>
            </a:r>
            <a:r>
              <a:rPr lang="en-US" sz="2400" dirty="0" err="1"/>
              <a:t>dydt</a:t>
            </a:r>
            <a:r>
              <a:rPr lang="en-US" sz="2400" dirty="0"/>
              <a:t> </a:t>
            </a:r>
            <a:r>
              <a:rPr sz="2400" dirty="0"/>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空欄を埋めなさい"/>
          <p:cNvSpPr txBox="1">
            <a:spLocks noGrp="1"/>
          </p:cNvSpPr>
          <p:nvPr>
            <p:ph type="title"/>
          </p:nvPr>
        </p:nvSpPr>
        <p:spPr>
          <a:prstGeom prst="rect">
            <a:avLst/>
          </a:prstGeom>
        </p:spPr>
        <p:txBody>
          <a:bodyPr/>
          <a:lstStyle/>
          <a:p>
            <a:r>
              <a:t>空欄を埋めなさい</a:t>
            </a:r>
          </a:p>
        </p:txBody>
      </p:sp>
      <p:sp>
        <p:nvSpPr>
          <p:cNvPr id="3" name="テキスト ボックス 2">
            <a:extLst>
              <a:ext uri="{FF2B5EF4-FFF2-40B4-BE49-F238E27FC236}">
                <a16:creationId xmlns:a16="http://schemas.microsoft.com/office/drawing/2014/main" id="{95E3BB45-6B7C-F733-358E-77E8FEB8635F}"/>
              </a:ext>
            </a:extLst>
          </p:cNvPr>
          <p:cNvSpPr txBox="1"/>
          <p:nvPr/>
        </p:nvSpPr>
        <p:spPr>
          <a:xfrm>
            <a:off x="1318846" y="1272750"/>
            <a:ext cx="9372600" cy="5078313"/>
          </a:xfrm>
          <a:prstGeom prst="rect">
            <a:avLst/>
          </a:prstGeom>
          <a:no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selkov_vector_field.py</a:t>
            </a:r>
            <a:r>
              <a:rPr lang="en-GB" altLang="ja-JP" dirty="0">
                <a:latin typeface="Courier New" panose="02070309020205020404" pitchFamily="49" charset="0"/>
                <a:cs typeface="Courier New" panose="02070309020205020404" pitchFamily="49" charset="0"/>
              </a:rPr>
              <a:t>)</a:t>
            </a:r>
            <a:endParaRPr lang="en-US" altLang="ja-JP" dirty="0"/>
          </a:p>
          <a:p>
            <a:endParaRPr lang="ja-JP" altLang="en-US"/>
          </a:p>
          <a:p>
            <a:r>
              <a:rPr lang="en-US" altLang="ja-JP" dirty="0"/>
              <a:t>(</a:t>
            </a:r>
            <a:r>
              <a:rPr lang="ja-JP" altLang="en-US"/>
              <a:t>一部略</a:t>
            </a:r>
            <a:r>
              <a:rPr lang="en-US" altLang="ja-JP" dirty="0"/>
              <a:t>)</a:t>
            </a:r>
            <a:endParaRPr lang="ja-JP" altLang="en-US"/>
          </a:p>
          <a:p>
            <a:r>
              <a:rPr lang="ja-JP" altLang="en-US"/>
              <a:t>[X, Y] = np.meshgrid( x, y )</a:t>
            </a:r>
          </a:p>
          <a:p>
            <a:endParaRPr lang="ja-JP" altLang="en-US"/>
          </a:p>
          <a:p>
            <a:r>
              <a:rPr lang="ja-JP" altLang="en-US"/>
              <a:t>a = 0.06</a:t>
            </a:r>
          </a:p>
          <a:p>
            <a:r>
              <a:rPr lang="ja-JP" altLang="en-US"/>
              <a:t>b = 0.6</a:t>
            </a:r>
          </a:p>
          <a:p>
            <a:endParaRPr lang="ja-JP" altLang="en-US"/>
          </a:p>
          <a:p>
            <a:r>
              <a:rPr lang="ja-JP" altLang="en-US"/>
              <a:t>v1 = </a:t>
            </a:r>
          </a:p>
          <a:p>
            <a:r>
              <a:rPr lang="ja-JP" altLang="en-US"/>
              <a:t>v2 = </a:t>
            </a:r>
          </a:p>
          <a:p>
            <a:r>
              <a:rPr lang="ja-JP" altLang="en-US"/>
              <a:t>v3 = </a:t>
            </a:r>
          </a:p>
          <a:p>
            <a:endParaRPr lang="ja-JP" altLang="en-US"/>
          </a:p>
          <a:p>
            <a:r>
              <a:rPr lang="ja-JP" altLang="en-US"/>
              <a:t>dxdt = v2 - v3</a:t>
            </a:r>
          </a:p>
          <a:p>
            <a:r>
              <a:rPr lang="ja-JP" altLang="en-US"/>
              <a:t>dydt = v1 - v2</a:t>
            </a:r>
          </a:p>
          <a:p>
            <a:endParaRPr lang="ja-JP" altLang="en-US"/>
          </a:p>
          <a:p>
            <a:r>
              <a:rPr lang="ja-JP" altLang="en-US"/>
              <a:t>plt.quiver( </a:t>
            </a:r>
            <a:r>
              <a:rPr lang="en-US" altLang="ja-JP" dirty="0"/>
              <a:t>   </a:t>
            </a:r>
            <a:r>
              <a:rPr lang="ja-JP" altLang="en-US"/>
              <a:t>, </a:t>
            </a:r>
            <a:r>
              <a:rPr lang="en-US" altLang="ja-JP" dirty="0"/>
              <a:t>   </a:t>
            </a:r>
            <a:r>
              <a:rPr lang="ja-JP" altLang="en-US"/>
              <a:t>, </a:t>
            </a:r>
            <a:r>
              <a:rPr lang="en-US" altLang="ja-JP" dirty="0"/>
              <a:t>   </a:t>
            </a:r>
            <a:r>
              <a:rPr lang="ja-JP" altLang="en-US"/>
              <a:t>, </a:t>
            </a:r>
            <a:r>
              <a:rPr lang="en-US" altLang="ja-JP" dirty="0"/>
              <a:t>   </a:t>
            </a:r>
            <a:r>
              <a:rPr lang="ja-JP" altLang="en-US"/>
              <a:t>)</a:t>
            </a:r>
            <a:r>
              <a:rPr lang="en-US" altLang="ja-JP" dirty="0"/>
              <a:t> 		</a:t>
            </a:r>
            <a:r>
              <a:rPr lang="en-GB" altLang="ja-JP" dirty="0">
                <a:solidFill>
                  <a:srgbClr val="008F00"/>
                </a:solidFill>
                <a:uFill>
                  <a:solidFill>
                    <a:srgbClr val="008F00"/>
                  </a:solidFill>
                </a:uFill>
              </a:rPr>
              <a:t>#</a:t>
            </a:r>
            <a:r>
              <a:rPr lang="ja-JP" altLang="en-US">
                <a:solidFill>
                  <a:srgbClr val="008F00"/>
                </a:solidFill>
                <a:uFill>
                  <a:solidFill>
                    <a:srgbClr val="008F00"/>
                  </a:solidFill>
                </a:uFill>
              </a:rPr>
              <a:t>点</a:t>
            </a:r>
            <a:r>
              <a:rPr lang="en-US" altLang="ja-JP" dirty="0">
                <a:solidFill>
                  <a:srgbClr val="008F00"/>
                </a:solidFill>
                <a:uFill>
                  <a:solidFill>
                    <a:srgbClr val="008F00"/>
                  </a:solidFill>
                </a:uFill>
              </a:rPr>
              <a:t>(</a:t>
            </a:r>
            <a:r>
              <a:rPr lang="en-GB" altLang="ja-JP" dirty="0">
                <a:solidFill>
                  <a:srgbClr val="008F00"/>
                </a:solidFill>
                <a:uFill>
                  <a:solidFill>
                    <a:srgbClr val="008F00"/>
                  </a:solidFill>
                </a:uFill>
              </a:rPr>
              <a:t>X,Y)</a:t>
            </a:r>
            <a:r>
              <a:rPr lang="ja-JP" altLang="en-US">
                <a:solidFill>
                  <a:srgbClr val="008F00"/>
                </a:solidFill>
                <a:uFill>
                  <a:solidFill>
                    <a:srgbClr val="008F00"/>
                  </a:solidFill>
                </a:uFill>
              </a:rPr>
              <a:t>に大きさ</a:t>
            </a:r>
            <a:r>
              <a:rPr lang="en-US" altLang="ja-JP" dirty="0">
                <a:solidFill>
                  <a:srgbClr val="008F00"/>
                </a:solidFill>
                <a:uFill>
                  <a:solidFill>
                    <a:srgbClr val="008F00"/>
                  </a:solidFill>
                </a:uFill>
              </a:rPr>
              <a:t>(</a:t>
            </a:r>
            <a:r>
              <a:rPr lang="en-GB" altLang="ja-JP" dirty="0">
                <a:solidFill>
                  <a:srgbClr val="008F00"/>
                </a:solidFill>
                <a:uFill>
                  <a:solidFill>
                    <a:srgbClr val="008F00"/>
                  </a:solidFill>
                </a:uFill>
              </a:rPr>
              <a:t> </a:t>
            </a:r>
            <a:r>
              <a:rPr lang="en-GB" altLang="ja-JP" dirty="0" err="1">
                <a:solidFill>
                  <a:srgbClr val="008F00"/>
                </a:solidFill>
                <a:uFill>
                  <a:solidFill>
                    <a:srgbClr val="008F00"/>
                  </a:solidFill>
                </a:uFill>
              </a:rPr>
              <a:t>dxdt</a:t>
            </a:r>
            <a:r>
              <a:rPr lang="en-GB" altLang="ja-JP" dirty="0">
                <a:solidFill>
                  <a:srgbClr val="008F00"/>
                </a:solidFill>
                <a:uFill>
                  <a:solidFill>
                    <a:srgbClr val="008F00"/>
                  </a:solidFill>
                </a:uFill>
              </a:rPr>
              <a:t> ,</a:t>
            </a:r>
            <a:r>
              <a:rPr lang="en-GB" altLang="ja-JP" dirty="0" err="1">
                <a:solidFill>
                  <a:srgbClr val="008F00"/>
                </a:solidFill>
                <a:uFill>
                  <a:solidFill>
                    <a:srgbClr val="008F00"/>
                  </a:solidFill>
                </a:uFill>
              </a:rPr>
              <a:t>dydt</a:t>
            </a:r>
            <a:r>
              <a:rPr lang="en-GB" altLang="ja-JP" dirty="0">
                <a:solidFill>
                  <a:srgbClr val="008F00"/>
                </a:solidFill>
                <a:uFill>
                  <a:solidFill>
                    <a:srgbClr val="008F00"/>
                  </a:solidFill>
                </a:uFill>
              </a:rPr>
              <a:t> )</a:t>
            </a:r>
            <a:r>
              <a:rPr lang="ja-JP" altLang="en-US">
                <a:solidFill>
                  <a:srgbClr val="008F00"/>
                </a:solidFill>
                <a:uFill>
                  <a:solidFill>
                    <a:srgbClr val="008F00"/>
                  </a:solidFill>
                </a:uFill>
              </a:rPr>
              <a:t>の矢印を描く</a:t>
            </a:r>
            <a:endParaRPr lang="ja-JP" altLang="en-US"/>
          </a:p>
          <a:p>
            <a:r>
              <a:rPr lang="en-US" altLang="ja-JP" dirty="0"/>
              <a:t>#</a:t>
            </a:r>
            <a:r>
              <a:rPr lang="ja-JP" altLang="en-US"/>
              <a:t>plt.streamplot( </a:t>
            </a:r>
            <a:r>
              <a:rPr lang="en-US" altLang="ja-JP" dirty="0"/>
              <a:t>   </a:t>
            </a:r>
            <a:r>
              <a:rPr lang="ja-JP" altLang="en-US"/>
              <a:t>, </a:t>
            </a:r>
            <a:r>
              <a:rPr lang="en-US" altLang="ja-JP" dirty="0"/>
              <a:t>   </a:t>
            </a:r>
            <a:r>
              <a:rPr lang="ja-JP" altLang="en-US"/>
              <a:t>, </a:t>
            </a:r>
            <a:r>
              <a:rPr lang="en-US" altLang="ja-JP" dirty="0"/>
              <a:t>   </a:t>
            </a:r>
            <a:r>
              <a:rPr lang="ja-JP" altLang="en-US"/>
              <a:t>,</a:t>
            </a:r>
            <a:r>
              <a:rPr lang="en-US" altLang="ja-JP" dirty="0"/>
              <a:t>    </a:t>
            </a:r>
            <a:r>
              <a:rPr lang="ja-JP" altLang="en-US"/>
              <a:t>)</a:t>
            </a:r>
            <a:r>
              <a:rPr lang="en-US" altLang="ja-JP" dirty="0"/>
              <a:t> 	</a:t>
            </a:r>
            <a:r>
              <a:rPr lang="en-GB" altLang="ja-JP" dirty="0">
                <a:solidFill>
                  <a:srgbClr val="008F00"/>
                </a:solidFill>
                <a:uFill>
                  <a:solidFill>
                    <a:srgbClr val="008F00"/>
                  </a:solidFill>
                </a:uFill>
              </a:rPr>
              <a:t>#</a:t>
            </a:r>
            <a:r>
              <a:rPr lang="ja-JP" altLang="en-US">
                <a:solidFill>
                  <a:srgbClr val="008F00"/>
                </a:solidFill>
                <a:uFill>
                  <a:solidFill>
                    <a:srgbClr val="008F00"/>
                  </a:solidFill>
                </a:uFill>
              </a:rPr>
              <a:t>微分方程式が定める「流れ」を可視化する</a:t>
            </a:r>
            <a:endParaRPr lang="ja-JP" altLang="en-US"/>
          </a:p>
          <a:p>
            <a:r>
              <a:rPr lang="ja-JP" altLang="en-US"/>
              <a:t>plt.show()</a:t>
            </a:r>
          </a:p>
        </p:txBody>
      </p:sp>
      <p:sp>
        <p:nvSpPr>
          <p:cNvPr id="4" name="正方形/長方形 3">
            <a:extLst>
              <a:ext uri="{FF2B5EF4-FFF2-40B4-BE49-F238E27FC236}">
                <a16:creationId xmlns:a16="http://schemas.microsoft.com/office/drawing/2014/main" id="{4F23ECEC-2698-AA70-0F53-2E4E2AB1CD37}"/>
              </a:ext>
            </a:extLst>
          </p:cNvPr>
          <p:cNvSpPr/>
          <p:nvPr/>
        </p:nvSpPr>
        <p:spPr>
          <a:xfrm>
            <a:off x="1957752" y="3532911"/>
            <a:ext cx="249766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7BD273C-6FB2-A762-F432-7932EB927324}"/>
              </a:ext>
            </a:extLst>
          </p:cNvPr>
          <p:cNvSpPr/>
          <p:nvPr/>
        </p:nvSpPr>
        <p:spPr>
          <a:xfrm>
            <a:off x="1957752" y="3811906"/>
            <a:ext cx="249766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9A28E01D-2B86-F3CC-1409-8B686B3663B4}"/>
              </a:ext>
            </a:extLst>
          </p:cNvPr>
          <p:cNvSpPr/>
          <p:nvPr/>
        </p:nvSpPr>
        <p:spPr>
          <a:xfrm>
            <a:off x="1957752" y="4090901"/>
            <a:ext cx="249766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703D370-9938-BA35-5A25-64B9267D11D6}"/>
              </a:ext>
            </a:extLst>
          </p:cNvPr>
          <p:cNvSpPr/>
          <p:nvPr/>
        </p:nvSpPr>
        <p:spPr>
          <a:xfrm>
            <a:off x="2408017" y="5472074"/>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D759538-0568-6E29-65C9-0FA5D32CAB44}"/>
              </a:ext>
            </a:extLst>
          </p:cNvPr>
          <p:cNvSpPr/>
          <p:nvPr/>
        </p:nvSpPr>
        <p:spPr>
          <a:xfrm>
            <a:off x="2712817" y="5472074"/>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0591C585-4142-D9FF-2964-9B194754863D}"/>
              </a:ext>
            </a:extLst>
          </p:cNvPr>
          <p:cNvSpPr/>
          <p:nvPr/>
        </p:nvSpPr>
        <p:spPr>
          <a:xfrm>
            <a:off x="3030869" y="547207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7EC31FBE-9C4C-A5F5-BCD6-A2DD9369659D}"/>
              </a:ext>
            </a:extLst>
          </p:cNvPr>
          <p:cNvSpPr/>
          <p:nvPr/>
        </p:nvSpPr>
        <p:spPr>
          <a:xfrm>
            <a:off x="3335669" y="547207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D7F0A71-09D2-74C7-BB2D-B2AAB7813687}"/>
              </a:ext>
            </a:extLst>
          </p:cNvPr>
          <p:cNvSpPr/>
          <p:nvPr/>
        </p:nvSpPr>
        <p:spPr>
          <a:xfrm>
            <a:off x="2991113" y="574894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7770E68-8226-DE7A-26AF-0F75ACCE40AC}"/>
              </a:ext>
            </a:extLst>
          </p:cNvPr>
          <p:cNvSpPr/>
          <p:nvPr/>
        </p:nvSpPr>
        <p:spPr>
          <a:xfrm>
            <a:off x="3295913" y="574894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39CEA80-C667-F986-BBBA-89A6B5243D5E}"/>
              </a:ext>
            </a:extLst>
          </p:cNvPr>
          <p:cNvSpPr/>
          <p:nvPr/>
        </p:nvSpPr>
        <p:spPr>
          <a:xfrm>
            <a:off x="3613965" y="5748942"/>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60924AA-2318-CEDE-E94E-3006BFD3457C}"/>
              </a:ext>
            </a:extLst>
          </p:cNvPr>
          <p:cNvSpPr/>
          <p:nvPr/>
        </p:nvSpPr>
        <p:spPr>
          <a:xfrm>
            <a:off x="3918765" y="5748942"/>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AC8316FA-7D97-D42B-F03B-A97ADBF3CC17}"/>
              </a:ext>
            </a:extLst>
          </p:cNvPr>
          <p:cNvSpPr txBox="1"/>
          <p:nvPr/>
        </p:nvSpPr>
        <p:spPr>
          <a:xfrm>
            <a:off x="3088928" y="6390758"/>
            <a:ext cx="7704994" cy="369332"/>
          </a:xfrm>
          <a:prstGeom prst="rect">
            <a:avLst/>
          </a:prstGeom>
          <a:noFill/>
        </p:spPr>
        <p:txBody>
          <a:bodyPr wrap="none" rtlCol="0">
            <a:spAutoFit/>
          </a:bodyPr>
          <a:lstStyle/>
          <a:p>
            <a:r>
              <a:rPr lang="en-US" altLang="ja-JP" dirty="0"/>
              <a:t>※ q</a:t>
            </a:r>
            <a:r>
              <a:rPr kumimoji="1" lang="en-US" altLang="ja-JP" dirty="0"/>
              <a:t>uiver </a:t>
            </a:r>
            <a:r>
              <a:rPr kumimoji="1" lang="ja-JP" altLang="en-US"/>
              <a:t>と</a:t>
            </a:r>
            <a:r>
              <a:rPr kumimoji="1" lang="en-US" altLang="ja-JP" dirty="0"/>
              <a:t> </a:t>
            </a:r>
            <a:r>
              <a:rPr kumimoji="1" lang="en-US" altLang="ja-JP" dirty="0" err="1"/>
              <a:t>streamplot</a:t>
            </a:r>
            <a:r>
              <a:rPr kumimoji="1" lang="en-US" altLang="ja-JP" dirty="0"/>
              <a:t> </a:t>
            </a:r>
            <a:r>
              <a:rPr kumimoji="1" lang="ja-JP" altLang="en-US"/>
              <a:t>はどちらか一方をコメントアウトして実行すること</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2022D7DE-5879-CF47-B951-8DF036D253BB}"/>
              </a:ext>
            </a:extLst>
          </p:cNvPr>
          <p:cNvPicPr>
            <a:picLocks noChangeAspect="1"/>
          </p:cNvPicPr>
          <p:nvPr/>
        </p:nvPicPr>
        <p:blipFill>
          <a:blip r:embed="rId2"/>
          <a:stretch>
            <a:fillRect/>
          </a:stretch>
        </p:blipFill>
        <p:spPr>
          <a:xfrm>
            <a:off x="0" y="1588167"/>
            <a:ext cx="6278496" cy="4708872"/>
          </a:xfrm>
          <a:prstGeom prst="rect">
            <a:avLst/>
          </a:prstGeom>
        </p:spPr>
      </p:pic>
      <p:pic>
        <p:nvPicPr>
          <p:cNvPr id="7" name="図 6">
            <a:extLst>
              <a:ext uri="{FF2B5EF4-FFF2-40B4-BE49-F238E27FC236}">
                <a16:creationId xmlns:a16="http://schemas.microsoft.com/office/drawing/2014/main" id="{1A32E936-3063-FC9E-6864-50AF56043907}"/>
              </a:ext>
            </a:extLst>
          </p:cNvPr>
          <p:cNvPicPr>
            <a:picLocks noChangeAspect="1"/>
          </p:cNvPicPr>
          <p:nvPr/>
        </p:nvPicPr>
        <p:blipFill>
          <a:blip r:embed="rId3"/>
          <a:stretch>
            <a:fillRect/>
          </a:stretch>
        </p:blipFill>
        <p:spPr>
          <a:xfrm>
            <a:off x="5913504" y="1588167"/>
            <a:ext cx="6278496" cy="4708872"/>
          </a:xfrm>
          <a:prstGeom prst="rect">
            <a:avLst/>
          </a:prstGeom>
        </p:spPr>
      </p:pic>
      <p:sp>
        <p:nvSpPr>
          <p:cNvPr id="2" name="タイトル 1">
            <a:extLst>
              <a:ext uri="{FF2B5EF4-FFF2-40B4-BE49-F238E27FC236}">
                <a16:creationId xmlns:a16="http://schemas.microsoft.com/office/drawing/2014/main" id="{D89DFEC7-7485-8E2A-5DFE-7ADCF5FD068D}"/>
              </a:ext>
            </a:extLst>
          </p:cNvPr>
          <p:cNvSpPr>
            <a:spLocks noGrp="1"/>
          </p:cNvSpPr>
          <p:nvPr>
            <p:ph type="title"/>
          </p:nvPr>
        </p:nvSpPr>
        <p:spPr/>
        <p:txBody>
          <a:bodyPr/>
          <a:lstStyle/>
          <a:p>
            <a:r>
              <a:rPr kumimoji="1" lang="ja-JP" altLang="en-US"/>
              <a:t>ベクトル場の描画例</a:t>
            </a:r>
          </a:p>
        </p:txBody>
      </p:sp>
      <p:sp>
        <p:nvSpPr>
          <p:cNvPr id="5" name="テキスト ボックス 4">
            <a:extLst>
              <a:ext uri="{FF2B5EF4-FFF2-40B4-BE49-F238E27FC236}">
                <a16:creationId xmlns:a16="http://schemas.microsoft.com/office/drawing/2014/main" id="{A7834B2B-D057-76C1-FC2C-04F6F9F260AC}"/>
              </a:ext>
            </a:extLst>
          </p:cNvPr>
          <p:cNvSpPr txBox="1"/>
          <p:nvPr/>
        </p:nvSpPr>
        <p:spPr>
          <a:xfrm>
            <a:off x="1807917" y="1435767"/>
            <a:ext cx="2480166" cy="584775"/>
          </a:xfrm>
          <a:prstGeom prst="rect">
            <a:avLst/>
          </a:prstGeom>
          <a:noFill/>
        </p:spPr>
        <p:txBody>
          <a:bodyPr wrap="none" rtlCol="0">
            <a:spAutoFit/>
          </a:bodyPr>
          <a:lstStyle/>
          <a:p>
            <a:r>
              <a:rPr lang="en-US" altLang="ja-JP" sz="3200" dirty="0"/>
              <a:t>q</a:t>
            </a:r>
            <a:r>
              <a:rPr kumimoji="1" lang="en-US" altLang="ja-JP" sz="3200" dirty="0"/>
              <a:t>uiver</a:t>
            </a:r>
            <a:r>
              <a:rPr kumimoji="1" lang="ja-JP" altLang="en-US" sz="3200"/>
              <a:t>を使用</a:t>
            </a:r>
          </a:p>
        </p:txBody>
      </p:sp>
      <p:sp>
        <p:nvSpPr>
          <p:cNvPr id="6" name="テキスト ボックス 5">
            <a:extLst>
              <a:ext uri="{FF2B5EF4-FFF2-40B4-BE49-F238E27FC236}">
                <a16:creationId xmlns:a16="http://schemas.microsoft.com/office/drawing/2014/main" id="{55F45098-2E8B-E51F-58E2-137C1D7BF3A8}"/>
              </a:ext>
            </a:extLst>
          </p:cNvPr>
          <p:cNvSpPr txBox="1"/>
          <p:nvPr/>
        </p:nvSpPr>
        <p:spPr>
          <a:xfrm>
            <a:off x="7589564" y="1435766"/>
            <a:ext cx="3285515" cy="584775"/>
          </a:xfrm>
          <a:prstGeom prst="rect">
            <a:avLst/>
          </a:prstGeom>
          <a:noFill/>
        </p:spPr>
        <p:txBody>
          <a:bodyPr wrap="none" rtlCol="0">
            <a:spAutoFit/>
          </a:bodyPr>
          <a:lstStyle/>
          <a:p>
            <a:r>
              <a:rPr kumimoji="1" lang="en-US" altLang="ja-JP" sz="3200" dirty="0" err="1"/>
              <a:t>streamplot</a:t>
            </a:r>
            <a:r>
              <a:rPr kumimoji="1" lang="ja-JP" altLang="en-US" sz="3200"/>
              <a:t>を使用</a:t>
            </a:r>
          </a:p>
        </p:txBody>
      </p:sp>
    </p:spTree>
    <p:extLst>
      <p:ext uri="{BB962C8B-B14F-4D97-AF65-F5344CB8AC3E}">
        <p14:creationId xmlns:p14="http://schemas.microsoft.com/office/powerpoint/2010/main" val="3973557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ベクトル場の出力例"/>
          <p:cNvSpPr txBox="1">
            <a:spLocks noGrp="1"/>
          </p:cNvSpPr>
          <p:nvPr>
            <p:ph type="title"/>
          </p:nvPr>
        </p:nvSpPr>
        <p:spPr>
          <a:prstGeom prst="rect">
            <a:avLst/>
          </a:prstGeom>
        </p:spPr>
        <p:txBody>
          <a:bodyPr/>
          <a:lstStyle/>
          <a:p>
            <a:r>
              <a:rPr lang="ja-JP" altLang="en-US"/>
              <a:t>解軌跡、ヌルクライン、ベクトル場</a:t>
            </a:r>
            <a:r>
              <a:rPr dirty="0" err="1"/>
              <a:t>の</a:t>
            </a:r>
            <a:r>
              <a:rPr lang="ja-JP" altLang="en-US"/>
              <a:t>描画</a:t>
            </a:r>
            <a:r>
              <a:rPr dirty="0" err="1"/>
              <a:t>例</a:t>
            </a:r>
            <a:endParaRPr dirty="0"/>
          </a:p>
        </p:txBody>
      </p:sp>
      <p:pic>
        <p:nvPicPr>
          <p:cNvPr id="2" name="図 1">
            <a:extLst>
              <a:ext uri="{FF2B5EF4-FFF2-40B4-BE49-F238E27FC236}">
                <a16:creationId xmlns:a16="http://schemas.microsoft.com/office/drawing/2014/main" id="{A0893B2E-9497-77E5-5C2E-18A487BBCC32}"/>
              </a:ext>
            </a:extLst>
          </p:cNvPr>
          <p:cNvPicPr>
            <a:picLocks noChangeAspect="1"/>
          </p:cNvPicPr>
          <p:nvPr/>
        </p:nvPicPr>
        <p:blipFill>
          <a:blip r:embed="rId2"/>
          <a:stretch>
            <a:fillRect/>
          </a:stretch>
        </p:blipFill>
        <p:spPr>
          <a:xfrm>
            <a:off x="2319337" y="1143000"/>
            <a:ext cx="7553326" cy="566499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ABD78-9B4B-2649-C75C-2C6D49A7BB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B21D9D-A7FE-1BB0-EF91-CD5792D7EE02}"/>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6A7FB406-80A9-5CDD-FC0D-5B34E15B1EE1}"/>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latin typeface="Hiragino Sans" panose="020B0400000000000000" pitchFamily="34" charset="-128"/>
                <a:ea typeface="Hiragino Sans" panose="020B0400000000000000" pitchFamily="34" charset="-128"/>
              </a:rPr>
              <a:t>固定点</a:t>
            </a:r>
            <a:endParaRPr lang="ja-JP" altLang="en-US" sz="2800">
              <a:solidFill>
                <a:srgbClr val="C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14303303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 name="ベクトル場で周期解と言えるか？"/>
          <p:cNvSpPr txBox="1">
            <a:spLocks noGrp="1"/>
          </p:cNvSpPr>
          <p:nvPr>
            <p:ph type="title"/>
          </p:nvPr>
        </p:nvSpPr>
        <p:spPr>
          <a:prstGeom prst="rect">
            <a:avLst/>
          </a:prstGeom>
        </p:spPr>
        <p:txBody>
          <a:bodyPr/>
          <a:lstStyle/>
          <a:p>
            <a:r>
              <a:t>ベクトル場で周期解と言えるか？</a:t>
            </a:r>
          </a:p>
        </p:txBody>
      </p:sp>
      <p:sp>
        <p:nvSpPr>
          <p:cNvPr id="459" name="固定点の周囲を回っているように見える"/>
          <p:cNvSpPr txBox="1">
            <a:spLocks noGrp="1"/>
          </p:cNvSpPr>
          <p:nvPr>
            <p:ph type="body" sz="quarter" idx="4294967295"/>
          </p:nvPr>
        </p:nvSpPr>
        <p:spPr>
          <a:xfrm>
            <a:off x="1543520" y="1488042"/>
            <a:ext cx="9670249" cy="2628900"/>
          </a:xfrm>
          <a:prstGeom prst="rect">
            <a:avLst/>
          </a:prstGeom>
        </p:spPr>
        <p:txBody>
          <a:bodyPr/>
          <a:lstStyle>
            <a:lvl1pPr marL="383540" indent="-342900">
              <a:buClr>
                <a:srgbClr val="000000"/>
              </a:buClr>
              <a:buSzPct val="100000"/>
              <a:buFont typeface="Arial"/>
            </a:lvl1pPr>
          </a:lstStyle>
          <a:p>
            <a:r>
              <a:rPr dirty="0" err="1"/>
              <a:t>固定点の周囲を回っているように見える</a:t>
            </a:r>
            <a:endParaRPr dirty="0"/>
          </a:p>
        </p:txBody>
      </p:sp>
      <p:sp>
        <p:nvSpPr>
          <p:cNvPr id="461" name="線"/>
          <p:cNvSpPr/>
          <p:nvPr/>
        </p:nvSpPr>
        <p:spPr>
          <a:xfrm>
            <a:off x="4764087" y="3060144"/>
            <a:ext cx="1589" cy="25923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62" name="線"/>
          <p:cNvSpPr/>
          <p:nvPr/>
        </p:nvSpPr>
        <p:spPr>
          <a:xfrm>
            <a:off x="4764086" y="5650944"/>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63" name="[ADP]"/>
          <p:cNvSpPr/>
          <p:nvPr/>
        </p:nvSpPr>
        <p:spPr>
          <a:xfrm>
            <a:off x="7151687" y="5886599"/>
            <a:ext cx="637995"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464" name="[F6P]"/>
          <p:cNvSpPr/>
          <p:nvPr/>
        </p:nvSpPr>
        <p:spPr>
          <a:xfrm>
            <a:off x="4332287" y="2482999"/>
            <a:ext cx="58509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[F6P]</a:t>
            </a:r>
          </a:p>
        </p:txBody>
      </p:sp>
      <p:sp>
        <p:nvSpPr>
          <p:cNvPr id="465" name="線"/>
          <p:cNvSpPr/>
          <p:nvPr/>
        </p:nvSpPr>
        <p:spPr>
          <a:xfrm>
            <a:off x="4764087" y="3352245"/>
            <a:ext cx="2663825" cy="201771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79" y="0"/>
                  <a:pt x="1171" y="17"/>
                  <a:pt x="1751" y="2328"/>
                </a:cubicBezTo>
                <a:cubicBezTo>
                  <a:pt x="2330" y="4639"/>
                  <a:pt x="2047" y="10927"/>
                  <a:pt x="3501" y="13885"/>
                </a:cubicBezTo>
                <a:cubicBezTo>
                  <a:pt x="4956" y="16842"/>
                  <a:pt x="7492" y="18762"/>
                  <a:pt x="10504" y="20054"/>
                </a:cubicBezTo>
                <a:cubicBezTo>
                  <a:pt x="13516" y="21345"/>
                  <a:pt x="17558" y="21464"/>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66" name="線"/>
          <p:cNvSpPr/>
          <p:nvPr/>
        </p:nvSpPr>
        <p:spPr>
          <a:xfrm>
            <a:off x="4764086" y="4457143"/>
            <a:ext cx="2736850" cy="1189510"/>
          </a:xfrm>
          <a:custGeom>
            <a:avLst/>
            <a:gdLst/>
            <a:ahLst/>
            <a:cxnLst>
              <a:cxn ang="0">
                <a:pos x="wd2" y="hd2"/>
              </a:cxn>
              <a:cxn ang="5400000">
                <a:pos x="wd2" y="hd2"/>
              </a:cxn>
              <a:cxn ang="10800000">
                <a:pos x="wd2" y="hd2"/>
              </a:cxn>
              <a:cxn ang="16200000">
                <a:pos x="wd2" y="hd2"/>
              </a:cxn>
            </a:cxnLst>
            <a:rect l="0" t="0" r="r" b="b"/>
            <a:pathLst>
              <a:path w="21600" h="20992" extrusionOk="0">
                <a:moveTo>
                  <a:pt x="0" y="20992"/>
                </a:moveTo>
                <a:cubicBezTo>
                  <a:pt x="276" y="13792"/>
                  <a:pt x="564" y="6592"/>
                  <a:pt x="1704" y="3202"/>
                </a:cubicBezTo>
                <a:cubicBezTo>
                  <a:pt x="2844" y="-188"/>
                  <a:pt x="4636" y="-608"/>
                  <a:pt x="6816" y="653"/>
                </a:cubicBezTo>
                <a:cubicBezTo>
                  <a:pt x="8996" y="1913"/>
                  <a:pt x="12303" y="8693"/>
                  <a:pt x="14772" y="10822"/>
                </a:cubicBezTo>
                <a:cubicBezTo>
                  <a:pt x="17240" y="12952"/>
                  <a:pt x="19420" y="13148"/>
                  <a:pt x="21600" y="13372"/>
                </a:cubicBezTo>
              </a:path>
            </a:pathLst>
          </a:custGeom>
          <a:ln>
            <a:solidFill>
              <a:srgbClr val="000000"/>
            </a:solidFill>
            <a:prstDash val="dash"/>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67" name="線"/>
          <p:cNvSpPr/>
          <p:nvPr/>
        </p:nvSpPr>
        <p:spPr>
          <a:xfrm>
            <a:off x="6415086" y="4952445"/>
            <a:ext cx="1588" cy="576263"/>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68" name="線"/>
          <p:cNvSpPr/>
          <p:nvPr/>
        </p:nvSpPr>
        <p:spPr>
          <a:xfrm flipV="1">
            <a:off x="4916486" y="4076144"/>
            <a:ext cx="1588" cy="647700"/>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1" name="線"/>
          <p:cNvSpPr/>
          <p:nvPr/>
        </p:nvSpPr>
        <p:spPr>
          <a:xfrm flipH="1">
            <a:off x="5426074" y="5206445"/>
            <a:ext cx="582613" cy="4765"/>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2" name="線"/>
          <p:cNvSpPr/>
          <p:nvPr/>
        </p:nvSpPr>
        <p:spPr>
          <a:xfrm>
            <a:off x="5016498" y="3695145"/>
            <a:ext cx="573088" cy="12701"/>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3" name="線"/>
          <p:cNvSpPr/>
          <p:nvPr/>
        </p:nvSpPr>
        <p:spPr>
          <a:xfrm flipH="1" flipV="1">
            <a:off x="4954586" y="4927045"/>
            <a:ext cx="304800" cy="266701"/>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4" name="線"/>
          <p:cNvSpPr/>
          <p:nvPr/>
        </p:nvSpPr>
        <p:spPr>
          <a:xfrm>
            <a:off x="5818187" y="3809444"/>
            <a:ext cx="469901" cy="393700"/>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2" name="図 1">
            <a:extLst>
              <a:ext uri="{FF2B5EF4-FFF2-40B4-BE49-F238E27FC236}">
                <a16:creationId xmlns:a16="http://schemas.microsoft.com/office/drawing/2014/main" id="{D85F26F9-2A6E-D4A3-DB37-FB4AF20342A1}"/>
              </a:ext>
            </a:extLst>
          </p:cNvPr>
          <p:cNvPicPr>
            <a:picLocks noChangeAspect="1"/>
          </p:cNvPicPr>
          <p:nvPr/>
        </p:nvPicPr>
        <p:blipFill>
          <a:blip r:embed="rId2"/>
          <a:stretch>
            <a:fillRect/>
          </a:stretch>
        </p:blipFill>
        <p:spPr>
          <a:xfrm>
            <a:off x="6955372" y="4203144"/>
            <a:ext cx="1028100" cy="713958"/>
          </a:xfrm>
          <a:prstGeom prst="rect">
            <a:avLst/>
          </a:prstGeom>
        </p:spPr>
      </p:pic>
      <p:pic>
        <p:nvPicPr>
          <p:cNvPr id="3" name="図 2">
            <a:extLst>
              <a:ext uri="{FF2B5EF4-FFF2-40B4-BE49-F238E27FC236}">
                <a16:creationId xmlns:a16="http://schemas.microsoft.com/office/drawing/2014/main" id="{9B1FF608-6BD0-2FBA-3A9F-8855C5EFF0E3}"/>
              </a:ext>
            </a:extLst>
          </p:cNvPr>
          <p:cNvPicPr>
            <a:picLocks noChangeAspect="1"/>
          </p:cNvPicPr>
          <p:nvPr/>
        </p:nvPicPr>
        <p:blipFill>
          <a:blip r:embed="rId3"/>
          <a:stretch>
            <a:fillRect/>
          </a:stretch>
        </p:blipFill>
        <p:spPr>
          <a:xfrm>
            <a:off x="5099218" y="2707952"/>
            <a:ext cx="1028100" cy="71395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ベクトル場だけで周期解と言えるか？"/>
          <p:cNvSpPr txBox="1">
            <a:spLocks noGrp="1"/>
          </p:cNvSpPr>
          <p:nvPr>
            <p:ph type="title"/>
          </p:nvPr>
        </p:nvSpPr>
        <p:spPr>
          <a:prstGeom prst="rect">
            <a:avLst/>
          </a:prstGeom>
        </p:spPr>
        <p:txBody>
          <a:bodyPr/>
          <a:lstStyle/>
          <a:p>
            <a:r>
              <a:t>ベクトル場だけで周期解と言えるか？</a:t>
            </a:r>
          </a:p>
        </p:txBody>
      </p:sp>
      <p:sp>
        <p:nvSpPr>
          <p:cNvPr id="476" name="ベクトル場だけでは上の2つを区別できない…"/>
          <p:cNvSpPr txBox="1">
            <a:spLocks noGrp="1"/>
          </p:cNvSpPr>
          <p:nvPr>
            <p:ph type="body" sz="half" idx="4294967295"/>
          </p:nvPr>
        </p:nvSpPr>
        <p:spPr>
          <a:xfrm>
            <a:off x="1823125" y="4329053"/>
            <a:ext cx="9965190" cy="2171700"/>
          </a:xfrm>
          <a:prstGeom prst="rect">
            <a:avLst/>
          </a:prstGeom>
        </p:spPr>
        <p:txBody>
          <a:bodyPr>
            <a:normAutofit/>
          </a:bodyPr>
          <a:lstStyle/>
          <a:p>
            <a:pPr marL="383540">
              <a:buClr>
                <a:srgbClr val="000000"/>
              </a:buClr>
              <a:buSzPct val="100000"/>
              <a:buFont typeface="Arial"/>
            </a:pPr>
            <a:r>
              <a:rPr dirty="0"/>
              <a:t>ベクトル場だけでは上の2つを区別できない</a:t>
            </a:r>
          </a:p>
          <a:p>
            <a:pPr marL="383540">
              <a:buClr>
                <a:srgbClr val="000000"/>
              </a:buClr>
              <a:buSzPct val="100000"/>
              <a:buFont typeface="Arial"/>
            </a:pPr>
            <a:endParaRPr dirty="0"/>
          </a:p>
          <a:p>
            <a:pPr marL="383540">
              <a:buClr>
                <a:srgbClr val="000000"/>
              </a:buClr>
              <a:buSzPct val="100000"/>
              <a:buFont typeface="Arial"/>
            </a:pPr>
            <a:r>
              <a:rPr dirty="0" err="1"/>
              <a:t>別の方法がある</a:t>
            </a:r>
            <a:r>
              <a:rPr lang="ja-JP" altLang="en-US"/>
              <a:t>（</a:t>
            </a:r>
            <a:r>
              <a:rPr lang="ja-JP" altLang="en-US">
                <a:solidFill>
                  <a:srgbClr val="C00000"/>
                </a:solidFill>
              </a:rPr>
              <a:t>固定点</a:t>
            </a:r>
            <a:r>
              <a:rPr lang="ja-JP" altLang="en-US"/>
              <a:t>、</a:t>
            </a:r>
            <a:r>
              <a:rPr dirty="0" err="1">
                <a:solidFill>
                  <a:srgbClr val="C00000"/>
                </a:solidFill>
              </a:rPr>
              <a:t>ヤコビ行列の固有値</a:t>
            </a:r>
            <a:r>
              <a:rPr lang="ja-JP" altLang="en-US"/>
              <a:t>）</a:t>
            </a:r>
            <a:endParaRPr dirty="0"/>
          </a:p>
        </p:txBody>
      </p:sp>
      <p:sp>
        <p:nvSpPr>
          <p:cNvPr id="477" name="楕円"/>
          <p:cNvSpPr/>
          <p:nvPr/>
        </p:nvSpPr>
        <p:spPr>
          <a:xfrm>
            <a:off x="2463800" y="2064626"/>
            <a:ext cx="1543050"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78" name="三角形"/>
          <p:cNvSpPr/>
          <p:nvPr/>
        </p:nvSpPr>
        <p:spPr>
          <a:xfrm rot="16200000">
            <a:off x="3142708" y="29002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79" name="円形"/>
          <p:cNvSpPr/>
          <p:nvPr/>
        </p:nvSpPr>
        <p:spPr>
          <a:xfrm>
            <a:off x="3143251" y="247102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0" name="線"/>
          <p:cNvSpPr/>
          <p:nvPr/>
        </p:nvSpPr>
        <p:spPr>
          <a:xfrm flipH="1">
            <a:off x="6545263" y="2037638"/>
            <a:ext cx="107955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1" name="線"/>
          <p:cNvSpPr/>
          <p:nvPr/>
        </p:nvSpPr>
        <p:spPr>
          <a:xfrm>
            <a:off x="7624723" y="2037638"/>
            <a:ext cx="86364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2" name="線"/>
          <p:cNvSpPr/>
          <p:nvPr/>
        </p:nvSpPr>
        <p:spPr>
          <a:xfrm rot="10800000" flipH="1">
            <a:off x="7697751" y="2613900"/>
            <a:ext cx="79061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3" name="線"/>
          <p:cNvSpPr/>
          <p:nvPr/>
        </p:nvSpPr>
        <p:spPr>
          <a:xfrm rot="10800000">
            <a:off x="6977063" y="2613901"/>
            <a:ext cx="720759"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4" name="線"/>
          <p:cNvSpPr/>
          <p:nvPr/>
        </p:nvSpPr>
        <p:spPr>
          <a:xfrm flipH="1">
            <a:off x="6977062" y="2326563"/>
            <a:ext cx="635024"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5" name="線"/>
          <p:cNvSpPr/>
          <p:nvPr/>
        </p:nvSpPr>
        <p:spPr>
          <a:xfrm>
            <a:off x="7551715" y="2326563"/>
            <a:ext cx="504849"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6" name="線"/>
          <p:cNvSpPr/>
          <p:nvPr/>
        </p:nvSpPr>
        <p:spPr>
          <a:xfrm rot="10800000" flipH="1">
            <a:off x="7539017" y="2544051"/>
            <a:ext cx="517546"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7" name="三角形"/>
          <p:cNvSpPr/>
          <p:nvPr/>
        </p:nvSpPr>
        <p:spPr>
          <a:xfrm rot="16200000">
            <a:off x="7622633" y="2612908"/>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8" name="楕円"/>
          <p:cNvSpPr/>
          <p:nvPr/>
        </p:nvSpPr>
        <p:spPr>
          <a:xfrm>
            <a:off x="7408863" y="2686926"/>
            <a:ext cx="146051"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9" name="なら良いが"/>
          <p:cNvSpPr/>
          <p:nvPr/>
        </p:nvSpPr>
        <p:spPr>
          <a:xfrm>
            <a:off x="4296450" y="2527163"/>
            <a:ext cx="1641475"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400"/>
            </a:lvl1pPr>
          </a:lstStyle>
          <a:p>
            <a:r>
              <a:t>なら良いが</a:t>
            </a:r>
          </a:p>
        </p:txBody>
      </p:sp>
      <p:sp>
        <p:nvSpPr>
          <p:cNvPr id="490" name="かもしれない。"/>
          <p:cNvSpPr/>
          <p:nvPr/>
        </p:nvSpPr>
        <p:spPr>
          <a:xfrm>
            <a:off x="8627546" y="2527163"/>
            <a:ext cx="225702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400"/>
            </a:lvl1pPr>
          </a:lstStyle>
          <a:p>
            <a:r>
              <a:t>かもしれない。</a:t>
            </a:r>
          </a:p>
        </p:txBody>
      </p:sp>
      <p:sp>
        <p:nvSpPr>
          <p:cNvPr id="492" name="線"/>
          <p:cNvSpPr/>
          <p:nvPr/>
        </p:nvSpPr>
        <p:spPr>
          <a:xfrm flipH="1">
            <a:off x="2039141" y="1742342"/>
            <a:ext cx="6" cy="1551028"/>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3" name="線"/>
          <p:cNvSpPr/>
          <p:nvPr/>
        </p:nvSpPr>
        <p:spPr>
          <a:xfrm flipV="1">
            <a:off x="2046288" y="3267951"/>
            <a:ext cx="2309813" cy="1"/>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4" name="[ADP]"/>
          <p:cNvSpPr/>
          <p:nvPr/>
        </p:nvSpPr>
        <p:spPr>
          <a:xfrm>
            <a:off x="3715890" y="3365493"/>
            <a:ext cx="66524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lvl1pPr>
          </a:lstStyle>
          <a:p>
            <a:r>
              <a:t>[ADP]</a:t>
            </a:r>
          </a:p>
        </p:txBody>
      </p:sp>
      <p:sp>
        <p:nvSpPr>
          <p:cNvPr id="495" name="[F6P]"/>
          <p:cNvSpPr/>
          <p:nvPr/>
        </p:nvSpPr>
        <p:spPr>
          <a:xfrm>
            <a:off x="1723206" y="1382705"/>
            <a:ext cx="61234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lvl1pPr>
          </a:lstStyle>
          <a:p>
            <a:r>
              <a:t>[F6P]</a:t>
            </a:r>
          </a:p>
        </p:txBody>
      </p:sp>
      <p:sp>
        <p:nvSpPr>
          <p:cNvPr id="496" name="線"/>
          <p:cNvSpPr/>
          <p:nvPr/>
        </p:nvSpPr>
        <p:spPr>
          <a:xfrm flipH="1">
            <a:off x="6234112" y="1756650"/>
            <a:ext cx="6" cy="1551028"/>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7" name="線"/>
          <p:cNvSpPr/>
          <p:nvPr/>
        </p:nvSpPr>
        <p:spPr>
          <a:xfrm flipV="1">
            <a:off x="6210301" y="3280651"/>
            <a:ext cx="2309813" cy="1"/>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8" name="[ADP]"/>
          <p:cNvSpPr/>
          <p:nvPr/>
        </p:nvSpPr>
        <p:spPr>
          <a:xfrm>
            <a:off x="7823201" y="3382955"/>
            <a:ext cx="66524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lvl1pPr>
          </a:lstStyle>
          <a:p>
            <a:r>
              <a:t>[ADP]</a:t>
            </a:r>
          </a:p>
        </p:txBody>
      </p:sp>
      <p:sp>
        <p:nvSpPr>
          <p:cNvPr id="499" name="[F6P]"/>
          <p:cNvSpPr/>
          <p:nvPr/>
        </p:nvSpPr>
        <p:spPr>
          <a:xfrm>
            <a:off x="5829301" y="1401755"/>
            <a:ext cx="61234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lvl1pPr>
          </a:lstStyle>
          <a:p>
            <a:r>
              <a:t>[F6P]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 name="前回の復習：固定点の求め方"/>
          <p:cNvSpPr txBox="1">
            <a:spLocks noGrp="1"/>
          </p:cNvSpPr>
          <p:nvPr>
            <p:ph type="title"/>
          </p:nvPr>
        </p:nvSpPr>
        <p:spPr>
          <a:prstGeom prst="rect">
            <a:avLst/>
          </a:prstGeom>
        </p:spPr>
        <p:txBody>
          <a:bodyPr/>
          <a:lstStyle/>
          <a:p>
            <a:r>
              <a:rPr lang="ja-JP" altLang="en-US"/>
              <a:t>固定点の座標を求める準備</a:t>
            </a:r>
            <a:endParaRPr dirty="0"/>
          </a:p>
        </p:txBody>
      </p:sp>
      <p:sp>
        <p:nvSpPr>
          <p:cNvPr id="2" name="テキスト ボックス 1">
            <a:extLst>
              <a:ext uri="{FF2B5EF4-FFF2-40B4-BE49-F238E27FC236}">
                <a16:creationId xmlns:a16="http://schemas.microsoft.com/office/drawing/2014/main" id="{82AB7E5A-C429-69F6-A78F-5A65D56B8599}"/>
              </a:ext>
            </a:extLst>
          </p:cNvPr>
          <p:cNvSpPr txBox="1"/>
          <p:nvPr/>
        </p:nvSpPr>
        <p:spPr>
          <a:xfrm>
            <a:off x="718781" y="1498147"/>
            <a:ext cx="10754437" cy="5047536"/>
          </a:xfrm>
          <a:prstGeom prst="rect">
            <a:avLst/>
          </a:prstGeom>
          <a:noFill/>
        </p:spPr>
        <p:txBody>
          <a:bodyPr wrap="square" rtlCol="0">
            <a:spAutoFit/>
          </a:bodyPr>
          <a:lstStyle/>
          <a:p>
            <a:pPr marL="285750" indent="-285750">
              <a:buFont typeface="Arial" panose="020B0604020202020204" pitchFamily="34" charset="0"/>
              <a:buChar char="•"/>
            </a:pPr>
            <a:r>
              <a:rPr kumimoji="1" lang="en-US" altLang="ja-JP" sz="2400" dirty="0" err="1">
                <a:solidFill>
                  <a:srgbClr val="0070C0"/>
                </a:solidFill>
              </a:rPr>
              <a:t>SymPy</a:t>
            </a:r>
            <a:r>
              <a:rPr kumimoji="1" lang="en-US" altLang="ja-JP" sz="2400" dirty="0"/>
              <a:t> </a:t>
            </a:r>
            <a:r>
              <a:rPr kumimoji="1" lang="ja-JP" altLang="en-US" sz="2400"/>
              <a:t>の機能を使う</a:t>
            </a:r>
            <a:endParaRPr kumimoji="1" lang="en-US" altLang="ja-JP" sz="2400" dirty="0"/>
          </a:p>
          <a:p>
            <a:pPr marL="742950" lvl="1" indent="-285750">
              <a:buFont typeface="Arial" panose="020B0604020202020204" pitchFamily="34" charset="0"/>
              <a:buChar char="•"/>
            </a:pPr>
            <a:r>
              <a:rPr lang="ja-JP" altLang="en-US" sz="2000"/>
              <a:t>文字式を数値ではなく記号として処理するための</a:t>
            </a:r>
            <a:r>
              <a:rPr lang="en-US" altLang="ja-JP" sz="2000" dirty="0"/>
              <a:t> python </a:t>
            </a:r>
            <a:r>
              <a:rPr lang="ja-JP" altLang="en-US" sz="2000"/>
              <a:t>ライブラリ</a:t>
            </a:r>
            <a:endParaRPr lang="en-US" altLang="ja-JP" sz="2000" dirty="0"/>
          </a:p>
          <a:p>
            <a:pPr lvl="1"/>
            <a:r>
              <a:rPr lang="en-GB" altLang="ja-JP" sz="2000" dirty="0">
                <a:latin typeface="Courier New" panose="02070309020205020404" pitchFamily="49" charset="0"/>
                <a:cs typeface="Courier New" panose="02070309020205020404" pitchFamily="49" charset="0"/>
              </a:rPr>
              <a:t>import </a:t>
            </a:r>
            <a:r>
              <a:rPr lang="en-GB" altLang="ja-JP" sz="2000" dirty="0" err="1">
                <a:solidFill>
                  <a:srgbClr val="0070C0"/>
                </a:solidFill>
                <a:latin typeface="Courier New" panose="02070309020205020404" pitchFamily="49" charset="0"/>
                <a:cs typeface="Courier New" panose="02070309020205020404" pitchFamily="49" charset="0"/>
              </a:rPr>
              <a:t>sympy</a:t>
            </a:r>
            <a:r>
              <a:rPr lang="en-GB" altLang="ja-JP" sz="2000" dirty="0">
                <a:latin typeface="Courier New" panose="02070309020205020404" pitchFamily="49" charset="0"/>
                <a:cs typeface="Courier New" panose="02070309020205020404" pitchFamily="49" charset="0"/>
              </a:rPr>
              <a:t> as </a:t>
            </a:r>
            <a:r>
              <a:rPr lang="en-GB" altLang="ja-JP" sz="2000" dirty="0" err="1">
                <a:latin typeface="Courier New" panose="02070309020205020404" pitchFamily="49" charset="0"/>
                <a:cs typeface="Courier New" panose="02070309020205020404" pitchFamily="49" charset="0"/>
              </a:rPr>
              <a:t>sp</a:t>
            </a:r>
            <a:endParaRPr lang="en-US" altLang="ja-JP" sz="2000" dirty="0"/>
          </a:p>
          <a:p>
            <a:pPr marL="285750" indent="-285750">
              <a:buFont typeface="Arial" panose="020B0604020202020204" pitchFamily="34" charset="0"/>
              <a:buChar char="•"/>
            </a:pPr>
            <a:endParaRPr lang="en-US" altLang="ja-JP" sz="2000" dirty="0"/>
          </a:p>
          <a:p>
            <a:pPr marL="285750" indent="-285750">
              <a:buFont typeface="Arial" panose="020B0604020202020204" pitchFamily="34" charset="0"/>
              <a:buChar char="•"/>
            </a:pPr>
            <a:r>
              <a:rPr lang="ja-JP" altLang="en-US" sz="2400"/>
              <a:t>変数の宣言</a:t>
            </a:r>
            <a:r>
              <a:rPr lang="en-US" altLang="ja-JP" sz="2400" dirty="0"/>
              <a:t>: </a:t>
            </a:r>
            <a:r>
              <a:rPr lang="en-US" altLang="ja-JP" sz="2400" dirty="0">
                <a:solidFill>
                  <a:srgbClr val="0070C0"/>
                </a:solidFill>
              </a:rPr>
              <a:t>Symbol</a:t>
            </a:r>
            <a:r>
              <a:rPr lang="en-US" altLang="ja-JP" sz="2400" dirty="0"/>
              <a:t> </a:t>
            </a:r>
            <a:r>
              <a:rPr lang="ja-JP" altLang="en-US" sz="2400"/>
              <a:t>関数または</a:t>
            </a:r>
            <a:r>
              <a:rPr lang="en-US" altLang="ja-JP" sz="2400" dirty="0"/>
              <a:t> </a:t>
            </a:r>
            <a:r>
              <a:rPr lang="en-US" altLang="ja-JP" sz="2400" dirty="0">
                <a:solidFill>
                  <a:srgbClr val="0070C0"/>
                </a:solidFill>
              </a:rPr>
              <a:t>symbols</a:t>
            </a:r>
            <a:r>
              <a:rPr lang="en-US" altLang="ja-JP" sz="2400" dirty="0"/>
              <a:t> </a:t>
            </a:r>
            <a:r>
              <a:rPr lang="ja-JP" altLang="en-US" sz="2400"/>
              <a:t>関数</a:t>
            </a:r>
          </a:p>
          <a:p>
            <a:pPr lvl="1"/>
            <a:r>
              <a:rPr lang="en-GB" altLang="ja-JP" sz="2000" dirty="0">
                <a:latin typeface="Courier New" panose="02070309020205020404" pitchFamily="49" charset="0"/>
                <a:cs typeface="Courier New" panose="02070309020205020404" pitchFamily="49" charset="0"/>
              </a:rPr>
              <a:t>x = </a:t>
            </a:r>
            <a:r>
              <a:rPr lang="en-GB" altLang="ja-JP" sz="2000" dirty="0" err="1">
                <a:latin typeface="Courier New" panose="02070309020205020404" pitchFamily="49" charset="0"/>
                <a:cs typeface="Courier New" panose="02070309020205020404" pitchFamily="49" charset="0"/>
              </a:rPr>
              <a:t>sp.</a:t>
            </a:r>
            <a:r>
              <a:rPr lang="en-GB" altLang="ja-JP" sz="2000" dirty="0" err="1">
                <a:solidFill>
                  <a:srgbClr val="0070C0"/>
                </a:solidFill>
                <a:latin typeface="Courier New" panose="02070309020205020404" pitchFamily="49" charset="0"/>
                <a:cs typeface="Courier New" panose="02070309020205020404" pitchFamily="49" charset="0"/>
              </a:rPr>
              <a:t>Symbol</a:t>
            </a:r>
            <a:r>
              <a:rPr lang="en-GB" altLang="ja-JP" sz="2000" dirty="0">
                <a:latin typeface="Courier New" panose="02070309020205020404" pitchFamily="49" charset="0"/>
                <a:cs typeface="Courier New" panose="02070309020205020404" pitchFamily="49" charset="0"/>
              </a:rPr>
              <a:t>(‘x’) </a:t>
            </a:r>
            <a:r>
              <a:rPr lang="en-GB" altLang="ja-JP" sz="2000" dirty="0"/>
              <a:t># </a:t>
            </a:r>
            <a:r>
              <a:rPr lang="ja-JP" altLang="en-US" sz="2000"/>
              <a:t>式中の</a:t>
            </a:r>
            <a:r>
              <a:rPr lang="en-US" altLang="ja-JP" sz="2000" dirty="0"/>
              <a:t> </a:t>
            </a:r>
            <a:r>
              <a:rPr lang="en-GB" altLang="ja-JP" sz="2000" dirty="0"/>
              <a:t>x </a:t>
            </a:r>
            <a:r>
              <a:rPr lang="ja-JP" altLang="en-US" sz="2000"/>
              <a:t>は数値ではなく記号として扱われる</a:t>
            </a:r>
            <a:endParaRPr lang="en-GB" altLang="ja-JP" sz="2000" dirty="0"/>
          </a:p>
          <a:p>
            <a:pPr lvl="1"/>
            <a:r>
              <a:rPr lang="en-GB" altLang="ja-JP" sz="2000" dirty="0">
                <a:latin typeface="Courier New" panose="02070309020205020404" pitchFamily="49" charset="0"/>
                <a:cs typeface="Courier New" panose="02070309020205020404" pitchFamily="49" charset="0"/>
              </a:rPr>
              <a:t>x, y, a, b = </a:t>
            </a:r>
            <a:r>
              <a:rPr lang="en-GB" altLang="ja-JP" sz="2000" dirty="0" err="1">
                <a:latin typeface="Courier New" panose="02070309020205020404" pitchFamily="49" charset="0"/>
                <a:cs typeface="Courier New" panose="02070309020205020404" pitchFamily="49" charset="0"/>
              </a:rPr>
              <a:t>sp.</a:t>
            </a:r>
            <a:r>
              <a:rPr lang="en-GB" altLang="ja-JP" sz="2000" dirty="0" err="1">
                <a:solidFill>
                  <a:srgbClr val="0070C0"/>
                </a:solidFill>
                <a:latin typeface="Courier New" panose="02070309020205020404" pitchFamily="49" charset="0"/>
                <a:cs typeface="Courier New" panose="02070309020205020404" pitchFamily="49" charset="0"/>
              </a:rPr>
              <a:t>symbols</a:t>
            </a:r>
            <a:r>
              <a:rPr lang="en-GB" altLang="ja-JP" sz="2000" dirty="0">
                <a:latin typeface="Courier New" panose="02070309020205020404" pitchFamily="49" charset="0"/>
                <a:cs typeface="Courier New" panose="02070309020205020404" pitchFamily="49" charset="0"/>
              </a:rPr>
              <a:t>("x y a b") </a:t>
            </a:r>
            <a:r>
              <a:rPr lang="en-GB" altLang="ja-JP" sz="2000" dirty="0"/>
              <a:t># x, y, a, b </a:t>
            </a:r>
            <a:r>
              <a:rPr lang="ja-JP" altLang="en-US" sz="2000"/>
              <a:t>は記号として扱われる</a:t>
            </a:r>
            <a:endParaRPr lang="en-US" altLang="ja-JP" sz="2000" dirty="0"/>
          </a:p>
          <a:p>
            <a:pPr marL="285750" indent="-285750">
              <a:buFont typeface="Arial" panose="020B0604020202020204" pitchFamily="34" charset="0"/>
              <a:buChar char="•"/>
            </a:pPr>
            <a:endParaRPr lang="en-US" altLang="ja-JP" sz="2400" dirty="0"/>
          </a:p>
          <a:p>
            <a:pPr marL="285750" indent="-285750">
              <a:buFont typeface="Arial" panose="020B0604020202020204" pitchFamily="34" charset="0"/>
              <a:buChar char="•"/>
            </a:pPr>
            <a:r>
              <a:rPr lang="ja-JP" altLang="en-US" sz="2400"/>
              <a:t>代数方程式を解く</a:t>
            </a:r>
            <a:r>
              <a:rPr lang="en-US" altLang="ja-JP" sz="2400" dirty="0"/>
              <a:t>: </a:t>
            </a:r>
            <a:r>
              <a:rPr lang="en-US" altLang="ja-JP" sz="2400" dirty="0">
                <a:solidFill>
                  <a:srgbClr val="0070C0"/>
                </a:solidFill>
              </a:rPr>
              <a:t>solve </a:t>
            </a:r>
            <a:r>
              <a:rPr lang="ja-JP" altLang="en-US" sz="2400"/>
              <a:t>関数</a:t>
            </a:r>
            <a:endParaRPr lang="en-US" altLang="ja-JP" sz="2000" dirty="0"/>
          </a:p>
          <a:p>
            <a:pPr lvl="1"/>
            <a:r>
              <a:rPr lang="en-GB" altLang="ja-JP" sz="2000" dirty="0" err="1">
                <a:latin typeface="Courier New" panose="02070309020205020404" pitchFamily="49" charset="0"/>
                <a:cs typeface="Courier New" panose="02070309020205020404" pitchFamily="49" charset="0"/>
              </a:rPr>
              <a:t>sp.</a:t>
            </a:r>
            <a:r>
              <a:rPr lang="en-GB" altLang="ja-JP" sz="2000" dirty="0" err="1">
                <a:solidFill>
                  <a:srgbClr val="0070C0"/>
                </a:solidFill>
                <a:latin typeface="Courier New" panose="02070309020205020404" pitchFamily="49" charset="0"/>
                <a:cs typeface="Courier New" panose="02070309020205020404" pitchFamily="49" charset="0"/>
              </a:rPr>
              <a:t>solve</a:t>
            </a:r>
            <a:r>
              <a:rPr lang="en-GB" altLang="ja-JP" sz="2000" dirty="0">
                <a:latin typeface="Courier New" panose="02070309020205020404" pitchFamily="49" charset="0"/>
                <a:cs typeface="Courier New" panose="02070309020205020404" pitchFamily="49" charset="0"/>
              </a:rPr>
              <a:t>( [ - y + x / ( a + x ) , - y + b * x / a ] , ( x , y ) )</a:t>
            </a:r>
          </a:p>
          <a:p>
            <a:pPr lvl="1"/>
            <a:r>
              <a:rPr lang="en-US" altLang="ja-JP" sz="2000" dirty="0"/>
              <a:t># </a:t>
            </a:r>
            <a:r>
              <a:rPr lang="ja-JP" altLang="en-US" sz="2000"/>
              <a:t>方程式は</a:t>
            </a:r>
            <a:r>
              <a:rPr lang="en-US" altLang="ja-JP" sz="2000" dirty="0"/>
              <a:t> </a:t>
            </a:r>
            <a:r>
              <a:rPr lang="en-US" altLang="ja-JP" sz="2000" dirty="0" err="1"/>
              <a:t>eqn</a:t>
            </a:r>
            <a:r>
              <a:rPr lang="en-US" altLang="ja-JP" sz="2000" dirty="0"/>
              <a:t> = 0 </a:t>
            </a:r>
            <a:r>
              <a:rPr lang="ja-JP" altLang="en-US" sz="2000"/>
              <a:t>の形で与える。</a:t>
            </a:r>
            <a:endParaRPr lang="en-US" altLang="ja-JP" sz="2000" dirty="0"/>
          </a:p>
          <a:p>
            <a:pPr lvl="1"/>
            <a:r>
              <a:rPr lang="en-US" altLang="ja-JP" sz="2000" dirty="0"/>
              <a:t># </a:t>
            </a:r>
            <a:r>
              <a:rPr lang="ja-JP" altLang="en-US" sz="2000"/>
              <a:t>上式は</a:t>
            </a:r>
            <a:r>
              <a:rPr lang="en-US" altLang="ja-JP" sz="2000" dirty="0"/>
              <a:t> – y + x / ( a + x ) = 0 </a:t>
            </a:r>
            <a:r>
              <a:rPr lang="ja-JP" altLang="en-US" sz="2000"/>
              <a:t>と</a:t>
            </a:r>
            <a:r>
              <a:rPr lang="en-US" altLang="ja-JP" sz="2000" dirty="0"/>
              <a:t> – y + b x /a = 0 </a:t>
            </a:r>
            <a:r>
              <a:rPr lang="ja-JP" altLang="en-US" sz="2000"/>
              <a:t>の連立方程式。</a:t>
            </a:r>
            <a:r>
              <a:rPr lang="en-US" altLang="ja-JP" sz="2000" dirty="0"/>
              <a:t> </a:t>
            </a:r>
            <a:endParaRPr lang="en-GB" altLang="ja-JP" sz="2000" dirty="0">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endParaRPr lang="en-GB" altLang="ja-JP" sz="2400" dirty="0"/>
          </a:p>
          <a:p>
            <a:pPr marL="285750" indent="-285750">
              <a:buFont typeface="Arial" panose="020B0604020202020204" pitchFamily="34" charset="0"/>
              <a:buChar char="•"/>
            </a:pPr>
            <a:endParaRPr lang="ja-JP" altLang="en-US" sz="2400"/>
          </a:p>
          <a:p>
            <a:pPr marL="742950" lvl="1" indent="-285750">
              <a:buFont typeface="Arial" panose="020B0604020202020204" pitchFamily="34" charset="0"/>
              <a:buChar char="•"/>
            </a:pPr>
            <a:endParaRPr kumimoji="1" lang="ja-JP" altLang="en-US"/>
          </a:p>
        </p:txBody>
      </p:sp>
    </p:spTree>
    <p:extLst>
      <p:ext uri="{BB962C8B-B14F-4D97-AF65-F5344CB8AC3E}">
        <p14:creationId xmlns:p14="http://schemas.microsoft.com/office/powerpoint/2010/main" val="5427160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A2D924-F14F-BECD-442A-24F04CABD20F}"/>
              </a:ext>
            </a:extLst>
          </p:cNvPr>
          <p:cNvSpPr>
            <a:spLocks noGrp="1"/>
          </p:cNvSpPr>
          <p:nvPr>
            <p:ph type="title"/>
          </p:nvPr>
        </p:nvSpPr>
        <p:spPr/>
        <p:txBody>
          <a:bodyPr/>
          <a:lstStyle/>
          <a:p>
            <a:r>
              <a:rPr kumimoji="1" lang="ja-JP" altLang="en-US"/>
              <a:t>演習</a:t>
            </a:r>
            <a:r>
              <a:rPr kumimoji="1" lang="en-US" altLang="ja-JP" dirty="0"/>
              <a:t>4: </a:t>
            </a:r>
            <a:r>
              <a:rPr kumimoji="1" lang="ja-JP" altLang="en-US"/>
              <a:t>空欄を埋めて固定点の座標を求めなさい</a:t>
            </a:r>
          </a:p>
        </p:txBody>
      </p:sp>
      <p:sp>
        <p:nvSpPr>
          <p:cNvPr id="4" name="テキスト ボックス 3">
            <a:extLst>
              <a:ext uri="{FF2B5EF4-FFF2-40B4-BE49-F238E27FC236}">
                <a16:creationId xmlns:a16="http://schemas.microsoft.com/office/drawing/2014/main" id="{0C220E6A-FB0F-FA58-1CD4-8D56C9E0B687}"/>
              </a:ext>
            </a:extLst>
          </p:cNvPr>
          <p:cNvSpPr txBox="1"/>
          <p:nvPr/>
        </p:nvSpPr>
        <p:spPr>
          <a:xfrm>
            <a:off x="1616852" y="1271592"/>
            <a:ext cx="9213050" cy="4801314"/>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selkov_fixed_point.py</a:t>
            </a:r>
            <a:r>
              <a:rPr lang="en-GB" altLang="ja-JP" dirty="0">
                <a:latin typeface="Courier New" panose="02070309020205020404" pitchFamily="49" charset="0"/>
                <a:cs typeface="Courier New" panose="02070309020205020404" pitchFamily="49" charset="0"/>
              </a:rPr>
              <a:t>)</a:t>
            </a:r>
            <a:endParaRPr lang="en-US" altLang="ja-JP" dirty="0"/>
          </a:p>
          <a:p>
            <a:endParaRPr lang="en-US" altLang="ja-JP" dirty="0"/>
          </a:p>
          <a:p>
            <a:r>
              <a:rPr lang="ja-JP" altLang="en-US"/>
              <a:t>import sympy as sp</a:t>
            </a:r>
            <a:r>
              <a:rPr lang="en-US" altLang="ja-JP" dirty="0"/>
              <a:t> </a:t>
            </a:r>
            <a:r>
              <a:rPr lang="en-US" altLang="ja-JP" dirty="0">
                <a:solidFill>
                  <a:srgbClr val="008F00"/>
                </a:solidFill>
              </a:rPr>
              <a:t># </a:t>
            </a:r>
            <a:r>
              <a:rPr lang="en-US" altLang="ja-JP" dirty="0" err="1">
                <a:solidFill>
                  <a:srgbClr val="008F00"/>
                </a:solidFill>
              </a:rPr>
              <a:t>SymPy</a:t>
            </a:r>
            <a:r>
              <a:rPr lang="en-US" altLang="ja-JP" dirty="0">
                <a:solidFill>
                  <a:srgbClr val="008F00"/>
                </a:solidFill>
              </a:rPr>
              <a:t> </a:t>
            </a:r>
            <a:r>
              <a:rPr lang="ja-JP" altLang="en-US">
                <a:solidFill>
                  <a:srgbClr val="008F00"/>
                </a:solidFill>
              </a:rPr>
              <a:t>は文字式を数値ではなく記号として解くためのライブラリ</a:t>
            </a:r>
          </a:p>
          <a:p>
            <a:endParaRPr lang="en-GB" altLang="ja-JP" dirty="0"/>
          </a:p>
          <a:p>
            <a:r>
              <a:rPr lang="en-GB" altLang="ja-JP" dirty="0"/>
              <a:t># </a:t>
            </a:r>
            <a:r>
              <a:rPr lang="ja-JP" altLang="en-US"/>
              <a:t>変数と定数</a:t>
            </a:r>
          </a:p>
          <a:p>
            <a:r>
              <a:rPr lang="en-GB" altLang="ja-JP" dirty="0"/>
              <a:t>x = </a:t>
            </a:r>
            <a:r>
              <a:rPr lang="en-GB" altLang="ja-JP" dirty="0" err="1"/>
              <a:t>sp.Symbol</a:t>
            </a:r>
            <a:r>
              <a:rPr lang="en-GB" altLang="ja-JP" dirty="0"/>
              <a:t>('x')</a:t>
            </a:r>
          </a:p>
          <a:p>
            <a:r>
              <a:rPr lang="en-GB" altLang="ja-JP" dirty="0"/>
              <a:t>y = </a:t>
            </a:r>
            <a:r>
              <a:rPr lang="en-GB" altLang="ja-JP" dirty="0" err="1"/>
              <a:t>sp.Symbol</a:t>
            </a:r>
            <a:r>
              <a:rPr lang="en-GB" altLang="ja-JP" dirty="0"/>
              <a:t>('y')</a:t>
            </a:r>
          </a:p>
          <a:p>
            <a:endParaRPr lang="en-GB" altLang="ja-JP" dirty="0"/>
          </a:p>
          <a:p>
            <a:r>
              <a:rPr lang="en-GB" altLang="ja-JP" dirty="0"/>
              <a:t>a = 0.06</a:t>
            </a:r>
          </a:p>
          <a:p>
            <a:r>
              <a:rPr lang="en-GB" altLang="ja-JP" dirty="0"/>
              <a:t>b = 0.6</a:t>
            </a:r>
          </a:p>
          <a:p>
            <a:endParaRPr lang="en-GB" altLang="ja-JP" dirty="0"/>
          </a:p>
          <a:p>
            <a:r>
              <a:rPr lang="en-GB" altLang="ja-JP" dirty="0"/>
              <a:t># </a:t>
            </a:r>
            <a:r>
              <a:rPr lang="ja-JP" altLang="en-US"/>
              <a:t>交点の座標を求める</a:t>
            </a:r>
          </a:p>
          <a:p>
            <a:r>
              <a:rPr lang="en-GB" altLang="ja-JP" dirty="0"/>
              <a:t>solutions = </a:t>
            </a:r>
            <a:r>
              <a:rPr lang="en-GB" altLang="ja-JP" dirty="0" err="1"/>
              <a:t>sp.solve</a:t>
            </a:r>
            <a:r>
              <a:rPr lang="en-GB" altLang="ja-JP" dirty="0"/>
              <a:t>( [         ,         ]  , ( x , y ) )</a:t>
            </a:r>
          </a:p>
          <a:p>
            <a:endParaRPr lang="en-GB" altLang="ja-JP" dirty="0"/>
          </a:p>
          <a:p>
            <a:r>
              <a:rPr lang="en-GB" altLang="ja-JP" dirty="0"/>
              <a:t>print(solutions)</a:t>
            </a:r>
          </a:p>
          <a:p>
            <a:endParaRPr lang="en-GB" altLang="ja-JP" dirty="0"/>
          </a:p>
          <a:p>
            <a:endParaRPr lang="ja-JP" altLang="en-US"/>
          </a:p>
        </p:txBody>
      </p:sp>
      <p:sp>
        <p:nvSpPr>
          <p:cNvPr id="3" name="正方形/長方形 2">
            <a:extLst>
              <a:ext uri="{FF2B5EF4-FFF2-40B4-BE49-F238E27FC236}">
                <a16:creationId xmlns:a16="http://schemas.microsoft.com/office/drawing/2014/main" id="{34CD6A49-F050-B218-4F71-7E715DE085A4}"/>
              </a:ext>
            </a:extLst>
          </p:cNvPr>
          <p:cNvSpPr/>
          <p:nvPr/>
        </p:nvSpPr>
        <p:spPr>
          <a:xfrm>
            <a:off x="3882086" y="4644420"/>
            <a:ext cx="46585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86DDD929-5C88-7A4E-6DFF-217596E2BDA6}"/>
              </a:ext>
            </a:extLst>
          </p:cNvPr>
          <p:cNvSpPr/>
          <p:nvPr/>
        </p:nvSpPr>
        <p:spPr>
          <a:xfrm>
            <a:off x="4518936" y="4644420"/>
            <a:ext cx="46585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734114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043BB-D713-A28C-CFEF-1FEDAC52C5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FA82C3-1324-14E6-E8CC-F6C6E0528DE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7C729D1D-2370-F4B4-4AEE-AADEDCBEBCFA}"/>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9289753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微分方程式の線形化"/>
          <p:cNvSpPr txBox="1">
            <a:spLocks noGrp="1"/>
          </p:cNvSpPr>
          <p:nvPr>
            <p:ph type="title"/>
          </p:nvPr>
        </p:nvSpPr>
        <p:spPr>
          <a:prstGeom prst="rect">
            <a:avLst/>
          </a:prstGeom>
        </p:spPr>
        <p:txBody>
          <a:bodyPr/>
          <a:lstStyle/>
          <a:p>
            <a:r>
              <a:rPr dirty="0" err="1"/>
              <a:t>微分方程式の線形化</a:t>
            </a:r>
            <a:endParaRPr dirty="0"/>
          </a:p>
        </p:txBody>
      </p:sp>
      <p:sp>
        <p:nvSpPr>
          <p:cNvPr id="501" name="線形化とは…"/>
          <p:cNvSpPr txBox="1">
            <a:spLocks noGrp="1"/>
          </p:cNvSpPr>
          <p:nvPr>
            <p:ph type="body" sz="half" idx="4294967295"/>
          </p:nvPr>
        </p:nvSpPr>
        <p:spPr>
          <a:xfrm>
            <a:off x="152492" y="1521497"/>
            <a:ext cx="6860537" cy="4940300"/>
          </a:xfrm>
          <a:prstGeom prst="rect">
            <a:avLst/>
          </a:prstGeom>
        </p:spPr>
        <p:txBody>
          <a:bodyPr>
            <a:normAutofit/>
          </a:bodyPr>
          <a:lstStyle/>
          <a:p>
            <a:pPr marL="383540">
              <a:buClr>
                <a:srgbClr val="000000"/>
              </a:buClr>
              <a:buSzPct val="100000"/>
              <a:buFont typeface="Arial"/>
            </a:pPr>
            <a:r>
              <a:rPr dirty="0" err="1"/>
              <a:t>線形化とは</a:t>
            </a:r>
            <a:endParaRPr dirty="0"/>
          </a:p>
          <a:p>
            <a:pPr marL="783590" lvl="1">
              <a:buClr>
                <a:srgbClr val="000000"/>
              </a:buClr>
              <a:buSzPct val="100000"/>
              <a:buFont typeface="Arial"/>
            </a:pPr>
            <a:r>
              <a:rPr dirty="0" err="1"/>
              <a:t>偏微分すること</a:t>
            </a:r>
            <a:endParaRPr dirty="0"/>
          </a:p>
          <a:p>
            <a:pPr marL="783590" lvl="1">
              <a:buClr>
                <a:srgbClr val="000000"/>
              </a:buClr>
              <a:buSzPct val="100000"/>
              <a:buFont typeface="Arial"/>
            </a:pPr>
            <a:r>
              <a:rPr dirty="0" err="1"/>
              <a:t>すべての変数で偏微分</a:t>
            </a:r>
            <a:endParaRPr dirty="0"/>
          </a:p>
          <a:p>
            <a:pPr marL="783590" lvl="1">
              <a:buClr>
                <a:srgbClr val="000000"/>
              </a:buClr>
              <a:buSzPct val="100000"/>
              <a:buFont typeface="Arial"/>
            </a:pPr>
            <a:r>
              <a:rPr dirty="0" err="1"/>
              <a:t>すべての微分方程式について行う</a:t>
            </a:r>
            <a:endParaRPr dirty="0"/>
          </a:p>
          <a:p>
            <a:pPr marL="383540">
              <a:buClr>
                <a:srgbClr val="000000"/>
              </a:buClr>
              <a:buSzPct val="100000"/>
              <a:buFont typeface="Arial"/>
            </a:pPr>
            <a:endParaRPr dirty="0"/>
          </a:p>
          <a:p>
            <a:pPr marL="383540">
              <a:buClr>
                <a:srgbClr val="000000"/>
              </a:buClr>
              <a:buSzPct val="100000"/>
              <a:buFont typeface="Arial"/>
            </a:pPr>
            <a:r>
              <a:rPr dirty="0" err="1"/>
              <a:t>ヤコビ行列</a:t>
            </a:r>
            <a:endParaRPr dirty="0"/>
          </a:p>
          <a:p>
            <a:pPr marL="783590" lvl="1">
              <a:buClr>
                <a:srgbClr val="000000"/>
              </a:buClr>
              <a:buSzPct val="100000"/>
              <a:buFont typeface="Arial"/>
            </a:pPr>
            <a:r>
              <a:rPr dirty="0"/>
              <a:t>微分方程式の１次近似</a:t>
            </a:r>
          </a:p>
          <a:p>
            <a:pPr marL="783590" lvl="1">
              <a:buClr>
                <a:srgbClr val="000000"/>
              </a:buClr>
              <a:buSzPct val="100000"/>
              <a:buFont typeface="Arial"/>
              <a:defRPr b="1" u="sng"/>
            </a:pPr>
            <a:r>
              <a:rPr dirty="0" err="1"/>
              <a:t>固定点近傍のダイナミクスに関する情報を含む</a:t>
            </a:r>
            <a:endParaRPr dirty="0"/>
          </a:p>
        </p:txBody>
      </p:sp>
      <p:sp>
        <p:nvSpPr>
          <p:cNvPr id="506" name="矢印"/>
          <p:cNvSpPr/>
          <p:nvPr/>
        </p:nvSpPr>
        <p:spPr>
          <a:xfrm>
            <a:off x="9187855" y="1546492"/>
            <a:ext cx="936626" cy="360363"/>
          </a:xfrm>
          <a:prstGeom prst="rightArrow">
            <a:avLst>
              <a:gd name="adj1" fmla="val 50000"/>
              <a:gd name="adj2" fmla="val 49997"/>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07" name="矢印"/>
          <p:cNvSpPr/>
          <p:nvPr/>
        </p:nvSpPr>
        <p:spPr>
          <a:xfrm>
            <a:off x="9203730" y="2297380"/>
            <a:ext cx="935038" cy="358775"/>
          </a:xfrm>
          <a:prstGeom prst="rightArrow">
            <a:avLst>
              <a:gd name="adj1" fmla="val 50000"/>
              <a:gd name="adj2" fmla="val 50000"/>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0" name="droppedImage.pdf" descr="droppedImage.pdf"/>
          <p:cNvPicPr>
            <a:picLocks noChangeAspect="1"/>
          </p:cNvPicPr>
          <p:nvPr/>
        </p:nvPicPr>
        <p:blipFill>
          <a:blip r:embed="rId3"/>
          <a:stretch>
            <a:fillRect/>
          </a:stretch>
        </p:blipFill>
        <p:spPr>
          <a:xfrm>
            <a:off x="7993117" y="3127702"/>
            <a:ext cx="3468821" cy="1658006"/>
          </a:xfrm>
          <a:prstGeom prst="rect">
            <a:avLst/>
          </a:prstGeom>
          <a:ln w="12700">
            <a:miter lim="400000"/>
          </a:ln>
        </p:spPr>
      </p:pic>
      <p:grpSp>
        <p:nvGrpSpPr>
          <p:cNvPr id="2" name="グループ化 1">
            <a:extLst>
              <a:ext uri="{FF2B5EF4-FFF2-40B4-BE49-F238E27FC236}">
                <a16:creationId xmlns:a16="http://schemas.microsoft.com/office/drawing/2014/main" id="{B68CBD5D-989F-DDED-98DA-35469273F05E}"/>
              </a:ext>
            </a:extLst>
          </p:cNvPr>
          <p:cNvGrpSpPr>
            <a:grpSpLocks noChangeAspect="1"/>
          </p:cNvGrpSpPr>
          <p:nvPr/>
        </p:nvGrpSpPr>
        <p:grpSpPr>
          <a:xfrm>
            <a:off x="7114786" y="5073433"/>
            <a:ext cx="4853960" cy="1546678"/>
            <a:chOff x="7668618" y="5016827"/>
            <a:chExt cx="3985658" cy="1270000"/>
          </a:xfrm>
        </p:grpSpPr>
        <p:sp>
          <p:nvSpPr>
            <p:cNvPr id="508" name="四角形"/>
            <p:cNvSpPr/>
            <p:nvPr/>
          </p:nvSpPr>
          <p:spPr>
            <a:xfrm>
              <a:off x="8978306" y="5016827"/>
              <a:ext cx="1879601" cy="1270000"/>
            </a:xfrm>
            <a:prstGeom prst="rect">
              <a:avLst/>
            </a:prstGeom>
            <a:ln w="76200">
              <a:solidFill>
                <a:srgbClr val="FF9292"/>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1" name="droppedImage.pdf" descr="droppedImage.pdf"/>
            <p:cNvPicPr>
              <a:picLocks noChangeAspect="1"/>
            </p:cNvPicPr>
            <p:nvPr/>
          </p:nvPicPr>
          <p:blipFill>
            <a:blip r:embed="rId4"/>
            <a:stretch>
              <a:fillRect/>
            </a:stretch>
          </p:blipFill>
          <p:spPr>
            <a:xfrm>
              <a:off x="7668618" y="5210503"/>
              <a:ext cx="3985658" cy="939801"/>
            </a:xfrm>
            <a:prstGeom prst="rect">
              <a:avLst/>
            </a:prstGeom>
            <a:ln w="12700">
              <a:miter lim="400000"/>
            </a:ln>
          </p:spPr>
        </p:pic>
      </p:grpSp>
      <p:pic>
        <p:nvPicPr>
          <p:cNvPr id="512" name="droppedImage.pdf" descr="droppedImage.pdf"/>
          <p:cNvPicPr>
            <a:picLocks noChangeAspect="1"/>
          </p:cNvPicPr>
          <p:nvPr/>
        </p:nvPicPr>
        <p:blipFill>
          <a:blip r:embed="rId5"/>
          <a:stretch>
            <a:fillRect/>
          </a:stretch>
        </p:blipFill>
        <p:spPr>
          <a:xfrm>
            <a:off x="10297519" y="1427950"/>
            <a:ext cx="425141" cy="571501"/>
          </a:xfrm>
          <a:prstGeom prst="rect">
            <a:avLst/>
          </a:prstGeom>
          <a:ln w="12700">
            <a:miter lim="400000"/>
          </a:ln>
        </p:spPr>
      </p:pic>
      <p:pic>
        <p:nvPicPr>
          <p:cNvPr id="513" name="droppedImage.pdf" descr="droppedImage.pdf"/>
          <p:cNvPicPr>
            <a:picLocks noChangeAspect="1"/>
          </p:cNvPicPr>
          <p:nvPr/>
        </p:nvPicPr>
        <p:blipFill>
          <a:blip r:embed="rId6"/>
          <a:stretch>
            <a:fillRect/>
          </a:stretch>
        </p:blipFill>
        <p:spPr>
          <a:xfrm>
            <a:off x="10310218" y="2195779"/>
            <a:ext cx="1339386" cy="596900"/>
          </a:xfrm>
          <a:prstGeom prst="rect">
            <a:avLst/>
          </a:prstGeom>
          <a:ln w="12700">
            <a:miter lim="400000"/>
          </a:ln>
        </p:spPr>
      </p:pic>
      <p:pic>
        <p:nvPicPr>
          <p:cNvPr id="514" name="droppedImage.pdf" descr="droppedImage.pdf"/>
          <p:cNvPicPr>
            <a:picLocks noChangeAspect="1"/>
          </p:cNvPicPr>
          <p:nvPr/>
        </p:nvPicPr>
        <p:blipFill>
          <a:blip r:embed="rId7"/>
          <a:stretch>
            <a:fillRect/>
          </a:stretch>
        </p:blipFill>
        <p:spPr>
          <a:xfrm>
            <a:off x="6843119" y="1496138"/>
            <a:ext cx="2070101" cy="471042"/>
          </a:xfrm>
          <a:prstGeom prst="rect">
            <a:avLst/>
          </a:prstGeom>
          <a:ln w="12700">
            <a:miter lim="400000"/>
          </a:ln>
        </p:spPr>
      </p:pic>
      <p:pic>
        <p:nvPicPr>
          <p:cNvPr id="515" name="droppedImage.pdf" descr="droppedImage.pdf"/>
          <p:cNvPicPr>
            <a:picLocks noChangeAspect="1"/>
          </p:cNvPicPr>
          <p:nvPr/>
        </p:nvPicPr>
        <p:blipFill>
          <a:blip r:embed="rId7"/>
          <a:stretch>
            <a:fillRect/>
          </a:stretch>
        </p:blipFill>
        <p:spPr>
          <a:xfrm>
            <a:off x="6855819" y="2246579"/>
            <a:ext cx="2065087" cy="469900"/>
          </a:xfrm>
          <a:prstGeom prst="rect">
            <a:avLst/>
          </a:prstGeom>
          <a:ln w="12700">
            <a:miter lim="400000"/>
          </a:ln>
        </p:spPr>
      </p:pic>
      <p:sp>
        <p:nvSpPr>
          <p:cNvPr id="5" name="屈折矢印 4">
            <a:extLst>
              <a:ext uri="{FF2B5EF4-FFF2-40B4-BE49-F238E27FC236}">
                <a16:creationId xmlns:a16="http://schemas.microsoft.com/office/drawing/2014/main" id="{A0B6F538-541A-193F-B6A7-829959C3B622}"/>
              </a:ext>
            </a:extLst>
          </p:cNvPr>
          <p:cNvSpPr/>
          <p:nvPr/>
        </p:nvSpPr>
        <p:spPr>
          <a:xfrm rot="10800000">
            <a:off x="7492752" y="3855383"/>
            <a:ext cx="434678" cy="1287654"/>
          </a:xfrm>
          <a:prstGeom prst="bentUpArrow">
            <a:avLst>
              <a:gd name="adj1" fmla="val 25000"/>
              <a:gd name="adj2" fmla="val 30941"/>
              <a:gd name="adj3" fmla="val 50000"/>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4068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animEffect transition="in" filter="dissolve">
                                      <p:cBhvr>
                                        <p:cTn id="7" dur="500"/>
                                        <p:tgtEl>
                                          <p:spTgt spid="51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06"/>
                                        </p:tgtEl>
                                        <p:attrNameLst>
                                          <p:attrName>style.visibility</p:attrName>
                                        </p:attrNameLst>
                                      </p:cBhvr>
                                      <p:to>
                                        <p:strVal val="visible"/>
                                      </p:to>
                                    </p:set>
                                    <p:animEffect transition="in" filter="dissolve">
                                      <p:cBhvr>
                                        <p:cTn id="10" dur="500"/>
                                        <p:tgtEl>
                                          <p:spTgt spid="506"/>
                                        </p:tgtEl>
                                      </p:cBhvr>
                                    </p:animEffect>
                                  </p:childTnLst>
                                </p:cTn>
                              </p:par>
                              <p:par>
                                <p:cTn id="11" presetID="9" presetClass="entr" presetSubtype="0" fill="hold" nodeType="withEffect">
                                  <p:stCondLst>
                                    <p:cond delay="0"/>
                                  </p:stCondLst>
                                  <p:childTnLst>
                                    <p:set>
                                      <p:cBhvr>
                                        <p:cTn id="12" dur="1" fill="hold">
                                          <p:stCondLst>
                                            <p:cond delay="0"/>
                                          </p:stCondLst>
                                        </p:cTn>
                                        <p:tgtEl>
                                          <p:spTgt spid="512"/>
                                        </p:tgtEl>
                                        <p:attrNameLst>
                                          <p:attrName>style.visibility</p:attrName>
                                        </p:attrNameLst>
                                      </p:cBhvr>
                                      <p:to>
                                        <p:strVal val="visible"/>
                                      </p:to>
                                    </p:set>
                                    <p:animEffect transition="in" filter="dissolve">
                                      <p:cBhvr>
                                        <p:cTn id="13" dur="500"/>
                                        <p:tgtEl>
                                          <p:spTgt spid="512"/>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515"/>
                                        </p:tgtEl>
                                        <p:attrNameLst>
                                          <p:attrName>style.visibility</p:attrName>
                                        </p:attrNameLst>
                                      </p:cBhvr>
                                      <p:to>
                                        <p:strVal val="visible"/>
                                      </p:to>
                                    </p:set>
                                    <p:animEffect transition="in" filter="dissolve">
                                      <p:cBhvr>
                                        <p:cTn id="18" dur="500"/>
                                        <p:tgtEl>
                                          <p:spTgt spid="51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507"/>
                                        </p:tgtEl>
                                        <p:attrNameLst>
                                          <p:attrName>style.visibility</p:attrName>
                                        </p:attrNameLst>
                                      </p:cBhvr>
                                      <p:to>
                                        <p:strVal val="visible"/>
                                      </p:to>
                                    </p:set>
                                    <p:animEffect transition="in" filter="dissolve">
                                      <p:cBhvr>
                                        <p:cTn id="21" dur="500"/>
                                        <p:tgtEl>
                                          <p:spTgt spid="507"/>
                                        </p:tgtEl>
                                      </p:cBhvr>
                                    </p:animEffect>
                                  </p:childTnLst>
                                </p:cTn>
                              </p:par>
                              <p:par>
                                <p:cTn id="22" presetID="9" presetClass="entr" presetSubtype="0" fill="hold" nodeType="withEffect">
                                  <p:stCondLst>
                                    <p:cond delay="0"/>
                                  </p:stCondLst>
                                  <p:childTnLst>
                                    <p:set>
                                      <p:cBhvr>
                                        <p:cTn id="23" dur="1" fill="hold">
                                          <p:stCondLst>
                                            <p:cond delay="0"/>
                                          </p:stCondLst>
                                        </p:cTn>
                                        <p:tgtEl>
                                          <p:spTgt spid="513"/>
                                        </p:tgtEl>
                                        <p:attrNameLst>
                                          <p:attrName>style.visibility</p:attrName>
                                        </p:attrNameLst>
                                      </p:cBhvr>
                                      <p:to>
                                        <p:strVal val="visible"/>
                                      </p:to>
                                    </p:set>
                                    <p:animEffect transition="in" filter="dissolve">
                                      <p:cBhvr>
                                        <p:cTn id="24" dur="500"/>
                                        <p:tgtEl>
                                          <p:spTgt spid="513"/>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10"/>
                                        </p:tgtEl>
                                        <p:attrNameLst>
                                          <p:attrName>style.visibility</p:attrName>
                                        </p:attrNameLst>
                                      </p:cBhvr>
                                      <p:to>
                                        <p:strVal val="visible"/>
                                      </p:to>
                                    </p:set>
                                    <p:animEffect transition="in" filter="dissolve">
                                      <p:cBhvr>
                                        <p:cTn id="29" dur="500"/>
                                        <p:tgtEl>
                                          <p:spTgt spid="510"/>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dissolve">
                                      <p:cBhvr>
                                        <p:cTn id="34" dur="500"/>
                                        <p:tgtEl>
                                          <p:spTgt spid="5"/>
                                        </p:tgtEl>
                                      </p:cBhvr>
                                    </p:animEffect>
                                  </p:childTnLst>
                                </p:cTn>
                              </p:par>
                              <p:par>
                                <p:cTn id="35" presetID="9" presetClass="entr" presetSubtype="0" fill="hold" nodeType="with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dissolv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 grpId="0" animBg="1"/>
      <p:bldP spid="507" grpId="0" animBg="1"/>
      <p:bldP spid="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道具その５：ODEsの線形化とヤコビ行列"/>
          <p:cNvSpPr txBox="1">
            <a:spLocks noGrp="1"/>
          </p:cNvSpPr>
          <p:nvPr>
            <p:ph type="title"/>
          </p:nvPr>
        </p:nvSpPr>
        <p:spPr>
          <a:prstGeom prst="rect">
            <a:avLst/>
          </a:prstGeom>
        </p:spPr>
        <p:txBody>
          <a:bodyPr/>
          <a:lstStyle>
            <a:lvl1pPr>
              <a:defRPr sz="3000"/>
            </a:lvl1pPr>
          </a:lstStyle>
          <a:p>
            <a:r>
              <a:rPr lang="ja-JP" altLang="en-US"/>
              <a:t>もう少し詳しく</a:t>
            </a:r>
            <a:r>
              <a:rPr dirty="0"/>
              <a:t>：</a:t>
            </a:r>
            <a:r>
              <a:rPr dirty="0" err="1"/>
              <a:t>ODEの線形化とヤコビ行列</a:t>
            </a:r>
            <a:endParaRPr dirty="0"/>
          </a:p>
        </p:txBody>
      </p:sp>
      <p:sp>
        <p:nvSpPr>
          <p:cNvPr id="605" name="ヤコビ行列…"/>
          <p:cNvSpPr txBox="1">
            <a:spLocks noGrp="1"/>
          </p:cNvSpPr>
          <p:nvPr>
            <p:ph type="body" sz="quarter" idx="4294967295"/>
          </p:nvPr>
        </p:nvSpPr>
        <p:spPr>
          <a:xfrm>
            <a:off x="0" y="1600200"/>
            <a:ext cx="6829407" cy="1511300"/>
          </a:xfrm>
          <a:prstGeom prst="rect">
            <a:avLst/>
          </a:prstGeom>
        </p:spPr>
        <p:txBody>
          <a:bodyPr>
            <a:normAutofit/>
          </a:bodyPr>
          <a:lstStyle>
            <a:lvl1pPr marL="989330" indent="-728979" defTabSz="333247">
              <a:spcBef>
                <a:spcPts val="1300"/>
              </a:spcBef>
              <a:defRPr sz="2296"/>
            </a:lvl1pPr>
            <a:lvl2pPr marL="1327784" indent="-702944" defTabSz="333247">
              <a:spcBef>
                <a:spcPts val="1300"/>
              </a:spcBef>
              <a:defRPr sz="1968"/>
            </a:lvl2pPr>
          </a:lstStyle>
          <a:p>
            <a:r>
              <a:rPr dirty="0" err="1"/>
              <a:t>ヤコビ行列</a:t>
            </a:r>
            <a:endParaRPr dirty="0"/>
          </a:p>
          <a:p>
            <a:pPr lvl="1"/>
            <a:r>
              <a:rPr dirty="0"/>
              <a:t>固定点近傍で展開したテイラー級数の1次の項</a:t>
            </a:r>
            <a:r>
              <a:rPr lang="ja-JP" altLang="en-US"/>
              <a:t>とも言える</a:t>
            </a:r>
            <a:endParaRPr dirty="0"/>
          </a:p>
        </p:txBody>
      </p:sp>
      <p:pic>
        <p:nvPicPr>
          <p:cNvPr id="606" name="droppedImage.pdf" descr="droppedImage.pdf"/>
          <p:cNvPicPr>
            <a:picLocks noChangeAspect="1"/>
          </p:cNvPicPr>
          <p:nvPr/>
        </p:nvPicPr>
        <p:blipFill>
          <a:blip r:embed="rId2"/>
          <a:stretch>
            <a:fillRect/>
          </a:stretch>
        </p:blipFill>
        <p:spPr>
          <a:xfrm>
            <a:off x="7886602" y="1433074"/>
            <a:ext cx="3100822" cy="1482112"/>
          </a:xfrm>
          <a:prstGeom prst="rect">
            <a:avLst/>
          </a:prstGeom>
          <a:ln w="12700">
            <a:miter lim="400000"/>
          </a:ln>
        </p:spPr>
      </p:pic>
      <p:pic>
        <p:nvPicPr>
          <p:cNvPr id="607" name="droppedImage.pdf" descr="droppedImage.pdf"/>
          <p:cNvPicPr>
            <a:picLocks noChangeAspect="1"/>
          </p:cNvPicPr>
          <p:nvPr/>
        </p:nvPicPr>
        <p:blipFill>
          <a:blip r:embed="rId3"/>
          <a:stretch>
            <a:fillRect/>
          </a:stretch>
        </p:blipFill>
        <p:spPr>
          <a:xfrm>
            <a:off x="7124700" y="3314700"/>
            <a:ext cx="3395456" cy="685800"/>
          </a:xfrm>
          <a:prstGeom prst="rect">
            <a:avLst/>
          </a:prstGeom>
          <a:ln w="12700">
            <a:miter lim="400000"/>
          </a:ln>
        </p:spPr>
      </p:pic>
      <p:pic>
        <p:nvPicPr>
          <p:cNvPr id="608" name="droppedImage.pdf" descr="droppedImage.pdf"/>
          <p:cNvPicPr>
            <a:picLocks noChangeAspect="1"/>
          </p:cNvPicPr>
          <p:nvPr/>
        </p:nvPicPr>
        <p:blipFill>
          <a:blip r:embed="rId4"/>
          <a:stretch>
            <a:fillRect/>
          </a:stretch>
        </p:blipFill>
        <p:spPr>
          <a:xfrm>
            <a:off x="1727201" y="3327401"/>
            <a:ext cx="5283201" cy="660401"/>
          </a:xfrm>
          <a:prstGeom prst="rect">
            <a:avLst/>
          </a:prstGeom>
          <a:ln w="12700">
            <a:miter lim="400000"/>
          </a:ln>
        </p:spPr>
      </p:pic>
      <p:pic>
        <p:nvPicPr>
          <p:cNvPr id="610" name="droppedImage.pdf" descr="droppedImage.pdf"/>
          <p:cNvPicPr>
            <a:picLocks noChangeAspect="1"/>
          </p:cNvPicPr>
          <p:nvPr/>
        </p:nvPicPr>
        <p:blipFill>
          <a:blip r:embed="rId5"/>
          <a:stretch>
            <a:fillRect/>
          </a:stretch>
        </p:blipFill>
        <p:spPr>
          <a:xfrm>
            <a:off x="1739900" y="5422900"/>
            <a:ext cx="2646948" cy="558800"/>
          </a:xfrm>
          <a:prstGeom prst="rect">
            <a:avLst/>
          </a:prstGeom>
          <a:ln w="12700">
            <a:miter lim="400000"/>
          </a:ln>
        </p:spPr>
      </p:pic>
      <p:sp>
        <p:nvSpPr>
          <p:cNvPr id="611" name="線"/>
          <p:cNvSpPr/>
          <p:nvPr/>
        </p:nvSpPr>
        <p:spPr>
          <a:xfrm flipV="1">
            <a:off x="1752600" y="4102098"/>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2" name="線"/>
          <p:cNvSpPr/>
          <p:nvPr/>
        </p:nvSpPr>
        <p:spPr>
          <a:xfrm flipV="1">
            <a:off x="2400300" y="4102100"/>
            <a:ext cx="0" cy="1244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3" name="線"/>
          <p:cNvSpPr/>
          <p:nvPr/>
        </p:nvSpPr>
        <p:spPr>
          <a:xfrm flipV="1">
            <a:off x="3416300" y="4102100"/>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4" name="線"/>
          <p:cNvSpPr/>
          <p:nvPr/>
        </p:nvSpPr>
        <p:spPr>
          <a:xfrm flipV="1">
            <a:off x="4610100" y="40894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5" name="線"/>
          <p:cNvSpPr/>
          <p:nvPr/>
        </p:nvSpPr>
        <p:spPr>
          <a:xfrm>
            <a:off x="5067300" y="4102101"/>
            <a:ext cx="1219200" cy="8"/>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6" name="線"/>
          <p:cNvSpPr/>
          <p:nvPr/>
        </p:nvSpPr>
        <p:spPr>
          <a:xfrm flipV="1">
            <a:off x="57150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7" name="線"/>
          <p:cNvSpPr/>
          <p:nvPr/>
        </p:nvSpPr>
        <p:spPr>
          <a:xfrm flipV="1">
            <a:off x="6426200" y="4102098"/>
            <a:ext cx="5588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8" name="線"/>
          <p:cNvSpPr/>
          <p:nvPr/>
        </p:nvSpPr>
        <p:spPr>
          <a:xfrm flipV="1">
            <a:off x="67183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9" name="線"/>
          <p:cNvSpPr/>
          <p:nvPr/>
        </p:nvSpPr>
        <p:spPr>
          <a:xfrm flipV="1">
            <a:off x="7315200" y="4114785"/>
            <a:ext cx="3263900" cy="17"/>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0" name="線"/>
          <p:cNvSpPr/>
          <p:nvPr/>
        </p:nvSpPr>
        <p:spPr>
          <a:xfrm flipV="1">
            <a:off x="8991600" y="41148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1" name="= 0"/>
          <p:cNvSpPr/>
          <p:nvPr/>
        </p:nvSpPr>
        <p:spPr>
          <a:xfrm>
            <a:off x="4442009" y="4902905"/>
            <a:ext cx="405560"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latin typeface="Times New Roman"/>
                <a:ea typeface="Times New Roman"/>
                <a:cs typeface="Times New Roman"/>
                <a:sym typeface="Times New Roman"/>
              </a:defRPr>
            </a:lvl1pPr>
          </a:lstStyle>
          <a:p>
            <a:r>
              <a:t>= 0</a:t>
            </a:r>
          </a:p>
        </p:txBody>
      </p:sp>
      <p:sp>
        <p:nvSpPr>
          <p:cNvPr id="622" name="J"/>
          <p:cNvSpPr/>
          <p:nvPr/>
        </p:nvSpPr>
        <p:spPr>
          <a:xfrm>
            <a:off x="5567622" y="4921955"/>
            <a:ext cx="21800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J</a:t>
            </a:r>
          </a:p>
        </p:txBody>
      </p:sp>
      <p:sp>
        <p:nvSpPr>
          <p:cNvPr id="623" name="Δx"/>
          <p:cNvSpPr/>
          <p:nvPr/>
        </p:nvSpPr>
        <p:spPr>
          <a:xfrm>
            <a:off x="6467128" y="4921955"/>
            <a:ext cx="36227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Δx</a:t>
            </a:r>
          </a:p>
        </p:txBody>
      </p:sp>
      <p:sp>
        <p:nvSpPr>
          <p:cNvPr id="624" name="(very small qty)2 = 0"/>
          <p:cNvSpPr/>
          <p:nvPr/>
        </p:nvSpPr>
        <p:spPr>
          <a:xfrm>
            <a:off x="7422038" y="4909255"/>
            <a:ext cx="2014975"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t>(very small qty)</a:t>
            </a:r>
            <a:r>
              <a:rPr baseline="31999"/>
              <a:t>2</a:t>
            </a:r>
            <a:r>
              <a:t> = 0</a:t>
            </a:r>
          </a:p>
        </p:txBody>
      </p:sp>
      <p:pic>
        <p:nvPicPr>
          <p:cNvPr id="625" name="droppedImage.pdf" descr="droppedImage.pdf"/>
          <p:cNvPicPr>
            <a:picLocks noChangeAspect="1"/>
          </p:cNvPicPr>
          <p:nvPr/>
        </p:nvPicPr>
        <p:blipFill>
          <a:blip r:embed="rId6"/>
          <a:stretch>
            <a:fillRect/>
          </a:stretch>
        </p:blipFill>
        <p:spPr>
          <a:xfrm>
            <a:off x="4991100" y="5688360"/>
            <a:ext cx="2552700" cy="788640"/>
          </a:xfrm>
          <a:prstGeom prst="rect">
            <a:avLst/>
          </a:prstGeom>
          <a:ln w="12700">
            <a:miter lim="400000"/>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7" name="droppedImage.pdf" descr="droppedImage.pdf"/>
          <p:cNvPicPr>
            <a:picLocks noChangeAspect="1"/>
          </p:cNvPicPr>
          <p:nvPr/>
        </p:nvPicPr>
        <p:blipFill>
          <a:blip r:embed="rId2"/>
          <a:stretch>
            <a:fillRect/>
          </a:stretch>
        </p:blipFill>
        <p:spPr>
          <a:xfrm>
            <a:off x="7102824" y="5023672"/>
            <a:ext cx="4891953" cy="1003301"/>
          </a:xfrm>
          <a:prstGeom prst="rect">
            <a:avLst/>
          </a:prstGeom>
          <a:ln w="12700">
            <a:miter lim="400000"/>
          </a:ln>
        </p:spPr>
      </p:pic>
      <p:pic>
        <p:nvPicPr>
          <p:cNvPr id="628" name="droppedImage.pdf" descr="droppedImage.pdf"/>
          <p:cNvPicPr>
            <a:picLocks noChangeAspect="1"/>
          </p:cNvPicPr>
          <p:nvPr/>
        </p:nvPicPr>
        <p:blipFill>
          <a:blip r:embed="rId3"/>
          <a:stretch>
            <a:fillRect/>
          </a:stretch>
        </p:blipFill>
        <p:spPr>
          <a:xfrm>
            <a:off x="1528022" y="5116010"/>
            <a:ext cx="4333363" cy="1275142"/>
          </a:xfrm>
          <a:prstGeom prst="rect">
            <a:avLst/>
          </a:prstGeom>
          <a:ln w="12700">
            <a:miter lim="400000"/>
          </a:ln>
        </p:spPr>
      </p:pic>
      <p:sp>
        <p:nvSpPr>
          <p:cNvPr id="632" name="ODEsの線形化"/>
          <p:cNvSpPr txBox="1">
            <a:spLocks noGrp="1"/>
          </p:cNvSpPr>
          <p:nvPr>
            <p:ph type="title"/>
          </p:nvPr>
        </p:nvSpPr>
        <p:spPr>
          <a:prstGeom prst="rect">
            <a:avLst/>
          </a:prstGeom>
        </p:spPr>
        <p:txBody>
          <a:bodyPr/>
          <a:lstStyle/>
          <a:p>
            <a:r>
              <a:rPr lang="ja-JP" altLang="en-US"/>
              <a:t>線形化した</a:t>
            </a:r>
            <a:r>
              <a:rPr lang="en-US" altLang="ja-JP" dirty="0"/>
              <a:t>ODE</a:t>
            </a:r>
            <a:r>
              <a:rPr lang="ja-JP" altLang="en-US"/>
              <a:t>の解は行列指数関数になる</a:t>
            </a:r>
            <a:endParaRPr dirty="0"/>
          </a:p>
        </p:txBody>
      </p:sp>
      <p:sp>
        <p:nvSpPr>
          <p:cNvPr id="629" name="ヤコビ行列…"/>
          <p:cNvSpPr txBox="1">
            <a:spLocks noGrp="1"/>
          </p:cNvSpPr>
          <p:nvPr>
            <p:ph type="body" sz="half" idx="4294967295"/>
          </p:nvPr>
        </p:nvSpPr>
        <p:spPr>
          <a:xfrm>
            <a:off x="1143001" y="1435406"/>
            <a:ext cx="5359400" cy="3505200"/>
          </a:xfrm>
          <a:prstGeom prst="rect">
            <a:avLst/>
          </a:prstGeom>
        </p:spPr>
        <p:txBody>
          <a:bodyPr>
            <a:noAutofit/>
          </a:bodyPr>
          <a:lstStyle/>
          <a:p>
            <a:pPr marL="820419" indent="-604520" defTabSz="276352">
              <a:spcBef>
                <a:spcPts val="1100"/>
              </a:spcBef>
              <a:defRPr sz="1904"/>
            </a:pPr>
            <a:r>
              <a:rPr sz="2400" dirty="0" err="1"/>
              <a:t>ヤコビ行列</a:t>
            </a:r>
            <a:endParaRPr sz="2400" dirty="0"/>
          </a:p>
          <a:p>
            <a:pPr marL="1101090" lvl="1" indent="-582930" defTabSz="276352">
              <a:spcBef>
                <a:spcPts val="1100"/>
              </a:spcBef>
              <a:defRPr sz="1632"/>
            </a:pPr>
            <a:r>
              <a:rPr sz="2400" dirty="0" err="1"/>
              <a:t>テイラー展開</a:t>
            </a:r>
            <a:endParaRPr sz="2400" dirty="0"/>
          </a:p>
          <a:p>
            <a:pPr marL="1101090" lvl="1" indent="-582930" defTabSz="276352">
              <a:spcBef>
                <a:spcPts val="1100"/>
              </a:spcBef>
              <a:defRPr sz="1632"/>
            </a:pPr>
            <a:r>
              <a:rPr sz="2400" dirty="0"/>
              <a:t>ODEの１次近似</a:t>
            </a:r>
          </a:p>
          <a:p>
            <a:pPr marL="1101090" lvl="1" indent="-582930" defTabSz="276352">
              <a:spcBef>
                <a:spcPts val="1100"/>
              </a:spcBef>
              <a:defRPr sz="1632"/>
            </a:pPr>
            <a:endParaRPr sz="2400" dirty="0"/>
          </a:p>
          <a:p>
            <a:pPr marL="820419" indent="-604520" defTabSz="276352">
              <a:spcBef>
                <a:spcPts val="1100"/>
              </a:spcBef>
              <a:defRPr sz="1904"/>
            </a:pPr>
            <a:r>
              <a:rPr sz="2400" dirty="0" err="1"/>
              <a:t>行列指数関数</a:t>
            </a:r>
            <a:endParaRPr sz="2400" dirty="0"/>
          </a:p>
          <a:p>
            <a:pPr marL="1101090" lvl="1" indent="-582930" defTabSz="276352">
              <a:spcBef>
                <a:spcPts val="1100"/>
              </a:spcBef>
              <a:defRPr sz="1632"/>
            </a:pPr>
            <a:r>
              <a:rPr sz="2400" dirty="0"/>
              <a:t>１次近似したODEの解</a:t>
            </a:r>
            <a:endParaRPr lang="en-US" sz="2400" dirty="0"/>
          </a:p>
          <a:p>
            <a:pPr marL="1101090" lvl="1" indent="-582930" defTabSz="276352">
              <a:spcBef>
                <a:spcPts val="1100"/>
              </a:spcBef>
              <a:defRPr sz="1632"/>
            </a:pPr>
            <a:r>
              <a:rPr lang="ja-JP" altLang="en-US" sz="2400"/>
              <a:t>固定点の近くならよい近似</a:t>
            </a:r>
            <a:endParaRPr sz="2400" dirty="0"/>
          </a:p>
        </p:txBody>
      </p:sp>
      <p:pic>
        <p:nvPicPr>
          <p:cNvPr id="630" name="droppedImage.pdf" descr="droppedImage.pdf"/>
          <p:cNvPicPr>
            <a:picLocks noChangeAspect="1"/>
          </p:cNvPicPr>
          <p:nvPr/>
        </p:nvPicPr>
        <p:blipFill>
          <a:blip r:embed="rId4"/>
          <a:stretch>
            <a:fillRect/>
          </a:stretch>
        </p:blipFill>
        <p:spPr>
          <a:xfrm>
            <a:off x="7367029" y="1476109"/>
            <a:ext cx="3214833" cy="1536606"/>
          </a:xfrm>
          <a:prstGeom prst="rect">
            <a:avLst/>
          </a:prstGeom>
          <a:ln w="12700">
            <a:miter lim="400000"/>
          </a:ln>
        </p:spPr>
      </p:pic>
      <p:pic>
        <p:nvPicPr>
          <p:cNvPr id="631" name="droppedImage.pdf" descr="droppedImage.pdf"/>
          <p:cNvPicPr>
            <a:picLocks noChangeAspect="1"/>
          </p:cNvPicPr>
          <p:nvPr/>
        </p:nvPicPr>
        <p:blipFill>
          <a:blip r:embed="rId5"/>
          <a:stretch>
            <a:fillRect/>
          </a:stretch>
        </p:blipFill>
        <p:spPr>
          <a:xfrm>
            <a:off x="8179595" y="3621172"/>
            <a:ext cx="1460501" cy="533646"/>
          </a:xfrm>
          <a:prstGeom prst="rect">
            <a:avLst/>
          </a:prstGeom>
          <a:ln w="12700">
            <a:miter lim="400000"/>
          </a:ln>
        </p:spPr>
      </p:pic>
      <p:sp>
        <p:nvSpPr>
          <p:cNvPr id="2" name="三角形 1">
            <a:extLst>
              <a:ext uri="{FF2B5EF4-FFF2-40B4-BE49-F238E27FC236}">
                <a16:creationId xmlns:a16="http://schemas.microsoft.com/office/drawing/2014/main" id="{C28F5851-F92C-FCDB-AAAD-EDDF7FB9DDF7}"/>
              </a:ext>
            </a:extLst>
          </p:cNvPr>
          <p:cNvSpPr/>
          <p:nvPr/>
        </p:nvSpPr>
        <p:spPr>
          <a:xfrm rot="10800000">
            <a:off x="8664167" y="323195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三角形 2">
            <a:extLst>
              <a:ext uri="{FF2B5EF4-FFF2-40B4-BE49-F238E27FC236}">
                <a16:creationId xmlns:a16="http://schemas.microsoft.com/office/drawing/2014/main" id="{F3F5F9B5-53A5-09BD-C8AC-658DE3A38D13}"/>
              </a:ext>
            </a:extLst>
          </p:cNvPr>
          <p:cNvSpPr/>
          <p:nvPr/>
        </p:nvSpPr>
        <p:spPr>
          <a:xfrm rot="10800000">
            <a:off x="8664166" y="4394008"/>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4" name="x(TMG)">
            <a:extLst>
              <a:ext uri="{FF2B5EF4-FFF2-40B4-BE49-F238E27FC236}">
                <a16:creationId xmlns:a16="http://schemas.microsoft.com/office/drawing/2014/main" id="{2ECA5663-732E-C30B-B708-76E8F5938646}"/>
              </a:ext>
            </a:extLst>
          </p:cNvPr>
          <p:cNvSpPr/>
          <p:nvPr/>
        </p:nvSpPr>
        <p:spPr>
          <a:xfrm>
            <a:off x="6237779" y="6188588"/>
            <a:ext cx="615260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前回の復習：MATLABで線形化"/>
          <p:cNvSpPr txBox="1">
            <a:spLocks noGrp="1"/>
          </p:cNvSpPr>
          <p:nvPr>
            <p:ph type="title"/>
          </p:nvPr>
        </p:nvSpPr>
        <p:spPr>
          <a:prstGeom prst="rect">
            <a:avLst/>
          </a:prstGeom>
        </p:spPr>
        <p:txBody>
          <a:bodyPr/>
          <a:lstStyle/>
          <a:p>
            <a:r>
              <a:rPr lang="en-US" dirty="0" err="1"/>
              <a:t>SymPyを用いて線</a:t>
            </a:r>
            <a:r>
              <a:rPr dirty="0" err="1"/>
              <a:t>形化</a:t>
            </a:r>
            <a:endParaRPr dirty="0"/>
          </a:p>
        </p:txBody>
      </p:sp>
      <p:sp>
        <p:nvSpPr>
          <p:cNvPr id="523" name="関数fをｘで偏微分…"/>
          <p:cNvSpPr txBox="1">
            <a:spLocks noGrp="1"/>
          </p:cNvSpPr>
          <p:nvPr>
            <p:ph type="body" idx="4294967295"/>
          </p:nvPr>
        </p:nvSpPr>
        <p:spPr>
          <a:xfrm>
            <a:off x="700088" y="1585913"/>
            <a:ext cx="11122944" cy="4013200"/>
          </a:xfrm>
          <a:prstGeom prst="rect">
            <a:avLst/>
          </a:prstGeom>
        </p:spPr>
        <p:txBody>
          <a:bodyPr>
            <a:normAutofit/>
          </a:bodyPr>
          <a:lstStyle/>
          <a:p>
            <a:pPr marL="383540">
              <a:buClr>
                <a:srgbClr val="000000"/>
              </a:buClr>
              <a:buSzPct val="100000"/>
              <a:buFont typeface="Arial"/>
            </a:pPr>
            <a:r>
              <a:rPr dirty="0" err="1"/>
              <a:t>関数fをｘで偏微分</a:t>
            </a:r>
            <a:r>
              <a:rPr lang="en-US" dirty="0"/>
              <a:t> (</a:t>
            </a:r>
            <a:r>
              <a:rPr lang="en-US" dirty="0" err="1">
                <a:solidFill>
                  <a:srgbClr val="0070C0"/>
                </a:solidFill>
              </a:rPr>
              <a:t>diff</a:t>
            </a:r>
            <a:r>
              <a:rPr lang="en-US" dirty="0" err="1"/>
              <a:t>関数</a:t>
            </a:r>
            <a:r>
              <a:rPr lang="en-US" dirty="0"/>
              <a:t>)</a:t>
            </a:r>
            <a:endParaRPr dirty="0"/>
          </a:p>
          <a:p>
            <a:pPr marL="783590" lvl="1">
              <a:buClr>
                <a:srgbClr val="0085CC"/>
              </a:buClr>
              <a:buNone/>
            </a:pPr>
            <a:r>
              <a:rPr lang="en-US" dirty="0">
                <a:uFill>
                  <a:solidFill>
                    <a:srgbClr val="0085CC"/>
                  </a:solidFill>
                </a:uFill>
                <a:latin typeface="Courier New" panose="02070309020205020404" pitchFamily="49" charset="0"/>
                <a:cs typeface="Courier New" panose="02070309020205020404" pitchFamily="49" charset="0"/>
              </a:rPr>
              <a:t>f = </a:t>
            </a:r>
            <a:r>
              <a:rPr lang="en-GB" altLang="ja-JP" dirty="0">
                <a:latin typeface="Courier New" panose="02070309020205020404" pitchFamily="49" charset="0"/>
                <a:cs typeface="Courier New" panose="02070309020205020404" pitchFamily="49" charset="0"/>
              </a:rPr>
              <a:t>x + a * y + x ** 2 * y</a:t>
            </a:r>
            <a:endParaRPr lang="en-US" dirty="0">
              <a:uFill>
                <a:solidFill>
                  <a:srgbClr val="0085CC"/>
                </a:solidFill>
              </a:uFill>
              <a:latin typeface="Courier New" panose="02070309020205020404" pitchFamily="49" charset="0"/>
              <a:cs typeface="Courier New" panose="02070309020205020404" pitchFamily="49" charset="0"/>
            </a:endParaRPr>
          </a:p>
          <a:p>
            <a:pPr marL="783590" lvl="1">
              <a:buClr>
                <a:srgbClr val="0085CC"/>
              </a:buClr>
              <a:buNone/>
            </a:pPr>
            <a:r>
              <a:rPr lang="en-US" dirty="0" err="1">
                <a:uFill>
                  <a:solidFill>
                    <a:srgbClr val="0085CC"/>
                  </a:solidFill>
                </a:uFill>
                <a:latin typeface="Courier New" panose="02070309020205020404" pitchFamily="49" charset="0"/>
                <a:cs typeface="Courier New" panose="02070309020205020404" pitchFamily="49" charset="0"/>
              </a:rPr>
              <a:t>f.</a:t>
            </a:r>
            <a:r>
              <a:rPr dirty="0" err="1">
                <a:solidFill>
                  <a:srgbClr val="0085CC"/>
                </a:solidFill>
                <a:uFill>
                  <a:solidFill>
                    <a:srgbClr val="0085CC"/>
                  </a:solidFill>
                </a:uFill>
                <a:latin typeface="Courier New" panose="02070309020205020404" pitchFamily="49" charset="0"/>
                <a:cs typeface="Courier New" panose="02070309020205020404" pitchFamily="49" charset="0"/>
              </a:rPr>
              <a:t>diff</a:t>
            </a:r>
            <a:r>
              <a:rPr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x</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a:t>
            </a:r>
          </a:p>
          <a:p>
            <a:pPr marL="783590" lvl="1">
              <a:buClr>
                <a:srgbClr val="000000"/>
              </a:buClr>
              <a:buNone/>
            </a:pPr>
            <a:endParaRPr dirty="0"/>
          </a:p>
          <a:p>
            <a:pPr marL="383540">
              <a:buClr>
                <a:srgbClr val="000000"/>
              </a:buClr>
              <a:buSzPct val="100000"/>
              <a:buFont typeface="Arial"/>
            </a:pPr>
            <a:r>
              <a:rPr dirty="0" err="1"/>
              <a:t>計算結果を行列に格納</a:t>
            </a:r>
            <a:r>
              <a:rPr lang="en-US" dirty="0"/>
              <a:t> → </a:t>
            </a:r>
            <a:r>
              <a:rPr lang="en-US" dirty="0" err="1"/>
              <a:t>これが</a:t>
            </a:r>
            <a:r>
              <a:rPr lang="en-US" dirty="0" err="1">
                <a:solidFill>
                  <a:srgbClr val="C00000"/>
                </a:solidFill>
              </a:rPr>
              <a:t>ヤコビ行列</a:t>
            </a:r>
            <a:endParaRPr lang="en-GB" dirty="0">
              <a:solidFill>
                <a:srgbClr val="C00000"/>
              </a:solidFill>
            </a:endParaRPr>
          </a:p>
          <a:p>
            <a:pPr marL="783590" lvl="1">
              <a:buClr>
                <a:srgbClr val="000000"/>
              </a:buClr>
              <a:buNone/>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783590" lvl="1">
              <a:buClr>
                <a:srgbClr val="000000"/>
              </a:buClr>
              <a:buNone/>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endParaRPr sz="2400" dirty="0">
              <a:latin typeface="Courier New" panose="02070309020205020404" pitchFamily="49" charset="0"/>
              <a:cs typeface="Courier New" panose="02070309020205020404" pitchFamily="49"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1" name="前回の復習：ヤコビ行列の求め方"/>
          <p:cNvSpPr txBox="1">
            <a:spLocks noGrp="1"/>
          </p:cNvSpPr>
          <p:nvPr>
            <p:ph type="title"/>
          </p:nvPr>
        </p:nvSpPr>
        <p:spPr>
          <a:prstGeom prst="rect">
            <a:avLst/>
          </a:prstGeom>
        </p:spPr>
        <p:txBody>
          <a:bodyPr/>
          <a:lstStyle/>
          <a:p>
            <a:r>
              <a:rPr lang="ja-JP" altLang="en-US"/>
              <a:t>文字式に数値を代入する</a:t>
            </a:r>
            <a:endParaRPr dirty="0"/>
          </a:p>
        </p:txBody>
      </p:sp>
      <p:sp>
        <p:nvSpPr>
          <p:cNvPr id="530" name="線形化のコードに付け足す…"/>
          <p:cNvSpPr txBox="1">
            <a:spLocks noGrp="1"/>
          </p:cNvSpPr>
          <p:nvPr>
            <p:ph type="body" idx="4294967295"/>
          </p:nvPr>
        </p:nvSpPr>
        <p:spPr>
          <a:xfrm>
            <a:off x="1085849" y="1657350"/>
            <a:ext cx="10592803" cy="4013200"/>
          </a:xfrm>
          <a:prstGeom prst="rect">
            <a:avLst/>
          </a:prstGeom>
        </p:spPr>
        <p:txBody>
          <a:bodyPr>
            <a:noAutofit/>
          </a:bodyPr>
          <a:lstStyle/>
          <a:p>
            <a:pPr marL="264642" indent="-236600" defTabSz="280415">
              <a:spcBef>
                <a:spcPts val="1100"/>
              </a:spcBef>
              <a:buClr>
                <a:srgbClr val="000000"/>
              </a:buClr>
              <a:buSzPct val="100000"/>
              <a:buFont typeface="Arial"/>
              <a:defRPr sz="1656"/>
            </a:pPr>
            <a:r>
              <a:rPr sz="2400" dirty="0" err="1"/>
              <a:t>式中の記号に数値を代入</a:t>
            </a:r>
            <a:endParaRPr lang="en-US" sz="2400" dirty="0"/>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J_num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J_sym.</a:t>
            </a:r>
            <a:r>
              <a:rPr lang="en-GB" sz="2400" dirty="0" err="1">
                <a:solidFill>
                  <a:srgbClr val="0070C0"/>
                </a:solidFill>
                <a:latin typeface="Courier New" panose="02070309020205020404" pitchFamily="49" charset="0"/>
                <a:cs typeface="Courier New" panose="02070309020205020404" pitchFamily="49" charset="0"/>
              </a:rPr>
              <a:t>subs</a:t>
            </a:r>
            <a:r>
              <a:rPr lang="en-GB" sz="2400" dirty="0">
                <a:latin typeface="Courier New" panose="02070309020205020404" pitchFamily="49" charset="0"/>
                <a:cs typeface="Courier New" panose="02070309020205020404" pitchFamily="49" charset="0"/>
              </a:rPr>
              <a:t>( [ ( a , 0.06 ), ( b , 0.6 ) ] ) </a:t>
            </a:r>
            <a:endParaRPr sz="2400" dirty="0">
              <a:latin typeface="Courier New" panose="02070309020205020404" pitchFamily="49" charset="0"/>
              <a:cs typeface="Courier New" panose="02070309020205020404" pitchFamily="49" charset="0"/>
            </a:endParaRPr>
          </a:p>
          <a:p>
            <a:pPr marL="264642" indent="-236600" defTabSz="280415">
              <a:spcBef>
                <a:spcPts val="1100"/>
              </a:spcBef>
              <a:buClr>
                <a:srgbClr val="000000"/>
              </a:buClr>
              <a:buNone/>
              <a:defRPr sz="1656"/>
            </a:pPr>
            <a:r>
              <a:rPr sz="2400" dirty="0"/>
              <a:t>　</a:t>
            </a:r>
            <a:r>
              <a:rPr lang="en-US" sz="2400" dirty="0"/>
              <a:t> </a:t>
            </a:r>
            <a:r>
              <a:rPr lang="en-US" sz="2400" dirty="0">
                <a:uFill>
                  <a:solidFill>
                    <a:srgbClr val="0085CC"/>
                  </a:solidFill>
                </a:uFill>
              </a:rPr>
              <a:t>#</a:t>
            </a:r>
            <a:r>
              <a:rPr sz="2400" dirty="0">
                <a:uFill>
                  <a:solidFill>
                    <a:srgbClr val="0085CC"/>
                  </a:solidFill>
                </a:uFill>
              </a:rPr>
              <a:t> </a:t>
            </a:r>
            <a:r>
              <a:rPr lang="ja-JP" altLang="en-US" sz="2400">
                <a:uFill>
                  <a:solidFill>
                    <a:srgbClr val="0085CC"/>
                  </a:solidFill>
                </a:uFill>
              </a:rPr>
              <a:t>行列</a:t>
            </a:r>
            <a:r>
              <a:rPr lang="en-US" altLang="ja-JP" sz="2400" dirty="0">
                <a:uFill>
                  <a:solidFill>
                    <a:srgbClr val="0085CC"/>
                  </a:solidFill>
                </a:uFill>
              </a:rPr>
              <a:t> </a:t>
            </a:r>
            <a:r>
              <a:rPr sz="2400" dirty="0" err="1">
                <a:uFill>
                  <a:solidFill>
                    <a:srgbClr val="0085CC"/>
                  </a:solidFill>
                </a:uFill>
              </a:rPr>
              <a:t>J</a:t>
            </a:r>
            <a:r>
              <a:rPr lang="en-US" sz="2400" dirty="0" err="1">
                <a:uFill>
                  <a:solidFill>
                    <a:srgbClr val="0085CC"/>
                  </a:solidFill>
                </a:uFill>
              </a:rPr>
              <a:t>_sym</a:t>
            </a:r>
            <a:r>
              <a:rPr lang="en-US" sz="2400" dirty="0">
                <a:uFill>
                  <a:solidFill>
                    <a:srgbClr val="0085CC"/>
                  </a:solidFill>
                </a:uFill>
              </a:rPr>
              <a:t> </a:t>
            </a:r>
            <a:r>
              <a:rPr sz="2400" dirty="0" err="1">
                <a:uFill>
                  <a:solidFill>
                    <a:srgbClr val="0085CC"/>
                  </a:solidFill>
                </a:uFill>
              </a:rPr>
              <a:t>の中の</a:t>
            </a:r>
            <a:r>
              <a:rPr lang="en-US" sz="2400" dirty="0">
                <a:uFill>
                  <a:solidFill>
                    <a:srgbClr val="0085CC"/>
                  </a:solidFill>
                </a:uFill>
              </a:rPr>
              <a:t> </a:t>
            </a:r>
            <a:r>
              <a:rPr sz="2400" dirty="0">
                <a:uFill>
                  <a:solidFill>
                    <a:srgbClr val="0085CC"/>
                  </a:solidFill>
                </a:uFill>
              </a:rPr>
              <a:t>a</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b</a:t>
            </a:r>
            <a:r>
              <a:rPr lang="en-US" sz="2400" dirty="0">
                <a:uFill>
                  <a:solidFill>
                    <a:srgbClr val="0085CC"/>
                  </a:solidFill>
                </a:uFill>
              </a:rPr>
              <a:t> </a:t>
            </a:r>
            <a:r>
              <a:rPr sz="2400" dirty="0" err="1">
                <a:uFill>
                  <a:solidFill>
                    <a:srgbClr val="0085CC"/>
                  </a:solidFill>
                </a:uFill>
              </a:rPr>
              <a:t>に</a:t>
            </a:r>
            <a:r>
              <a:rPr lang="en-US" sz="2400" dirty="0">
                <a:uFill>
                  <a:solidFill>
                    <a:srgbClr val="0085CC"/>
                  </a:solidFill>
                </a:uFill>
              </a:rPr>
              <a:t> </a:t>
            </a:r>
            <a:r>
              <a:rPr sz="2400" dirty="0">
                <a:uFill>
                  <a:solidFill>
                    <a:srgbClr val="0085CC"/>
                  </a:solidFill>
                </a:uFill>
              </a:rPr>
              <a:t>0.06</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0.6</a:t>
            </a:r>
            <a:r>
              <a:rPr lang="en-US" sz="2400" dirty="0">
                <a:uFill>
                  <a:solidFill>
                    <a:srgbClr val="0085CC"/>
                  </a:solidFill>
                </a:uFill>
              </a:rPr>
              <a:t> </a:t>
            </a:r>
            <a:r>
              <a:rPr lang="en-US" sz="2400" dirty="0" err="1">
                <a:uFill>
                  <a:solidFill>
                    <a:srgbClr val="0085CC"/>
                  </a:solidFill>
                </a:uFill>
              </a:rPr>
              <a:t>を</a:t>
            </a:r>
            <a:r>
              <a:rPr sz="2400" dirty="0" err="1">
                <a:solidFill>
                  <a:srgbClr val="0070C0"/>
                </a:solidFill>
                <a:uFill>
                  <a:solidFill>
                    <a:srgbClr val="0085CC"/>
                  </a:solidFill>
                </a:uFill>
              </a:rPr>
              <a:t>それぞれ代入</a:t>
            </a:r>
            <a:endParaRPr sz="2400" dirty="0">
              <a:solidFill>
                <a:srgbClr val="0070C0"/>
              </a:solidFill>
              <a:uFill>
                <a:solidFill>
                  <a:srgbClr val="0085CC"/>
                </a:solidFill>
              </a:uFill>
            </a:endParaRPr>
          </a:p>
          <a:p>
            <a:pPr marL="264642" indent="-236600" defTabSz="280415">
              <a:spcBef>
                <a:spcPts val="1100"/>
              </a:spcBef>
              <a:buSzPct val="100000"/>
              <a:buFont typeface="Arial"/>
              <a:defRPr sz="1656"/>
            </a:pPr>
            <a:endParaRPr lang="en-US" sz="2400" dirty="0"/>
          </a:p>
          <a:p>
            <a:pPr marL="264642" indent="-236600" defTabSz="280415">
              <a:spcBef>
                <a:spcPts val="1100"/>
              </a:spcBef>
              <a:buSzPct val="100000"/>
              <a:buFont typeface="Arial"/>
              <a:defRPr sz="1656"/>
            </a:pPr>
            <a:r>
              <a:rPr sz="2400" dirty="0" err="1"/>
              <a:t>行列</a:t>
            </a:r>
            <a:r>
              <a:rPr lang="en-US" sz="2400" dirty="0"/>
              <a:t> </a:t>
            </a:r>
            <a:r>
              <a:rPr lang="en-US" sz="2400" dirty="0" err="1"/>
              <a:t>J_num</a:t>
            </a:r>
            <a:r>
              <a:rPr lang="en-US" sz="2400" dirty="0"/>
              <a:t> </a:t>
            </a:r>
            <a:r>
              <a:rPr sz="2400" dirty="0" err="1"/>
              <a:t>の固有値を求める関数</a:t>
            </a:r>
            <a:endParaRPr sz="2400" dirty="0"/>
          </a:p>
          <a:p>
            <a:pPr marL="540677" lvl="1" indent="-197167" defTabSz="280415">
              <a:spcBef>
                <a:spcPts val="1100"/>
              </a:spcBef>
              <a:buNone/>
              <a:defRPr sz="1656"/>
            </a:pPr>
            <a:r>
              <a:rPr lang="en-US" sz="2400" dirty="0" err="1">
                <a:latin typeface="Courier New" panose="02070309020205020404" pitchFamily="49" charset="0"/>
                <a:cs typeface="Courier New" panose="02070309020205020404" pitchFamily="49" charset="0"/>
              </a:rPr>
              <a:t>J_num.</a:t>
            </a:r>
            <a:r>
              <a:rPr sz="2400" dirty="0" err="1">
                <a:solidFill>
                  <a:srgbClr val="0085CC"/>
                </a:solidFill>
                <a:uFill>
                  <a:solidFill>
                    <a:srgbClr val="0085CC"/>
                  </a:solidFill>
                </a:uFill>
                <a:latin typeface="Courier New" panose="02070309020205020404" pitchFamily="49" charset="0"/>
                <a:cs typeface="Courier New" panose="02070309020205020404" pitchFamily="49" charset="0"/>
              </a:rPr>
              <a:t>eig</a:t>
            </a:r>
            <a:r>
              <a:rPr lang="en-US" sz="2400" dirty="0" err="1">
                <a:solidFill>
                  <a:srgbClr val="0085CC"/>
                </a:solidFill>
                <a:uFill>
                  <a:solidFill>
                    <a:srgbClr val="0085CC"/>
                  </a:solidFill>
                </a:uFill>
                <a:latin typeface="Courier New" panose="02070309020205020404" pitchFamily="49" charset="0"/>
                <a:cs typeface="Courier New" panose="02070309020205020404" pitchFamily="49" charset="0"/>
              </a:rPr>
              <a:t>envals</a:t>
            </a:r>
            <a:r>
              <a:rPr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864345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演習4: Sel’kovモデルの線形化"/>
          <p:cNvSpPr txBox="1">
            <a:spLocks noGrp="1"/>
          </p:cNvSpPr>
          <p:nvPr>
            <p:ph type="title"/>
          </p:nvPr>
        </p:nvSpPr>
        <p:spPr>
          <a:prstGeom prst="rect">
            <a:avLst/>
          </a:prstGeom>
        </p:spPr>
        <p:txBody>
          <a:bodyPr/>
          <a:lstStyle/>
          <a:p>
            <a:r>
              <a:t>演習4: Sel’kovモデルの線形化</a:t>
            </a:r>
          </a:p>
        </p:txBody>
      </p:sp>
      <p:sp>
        <p:nvSpPr>
          <p:cNvPr id="517" name="Sel’kov モデルを線形化しなさい(紙と鉛筆、MATLAB)…"/>
          <p:cNvSpPr txBox="1">
            <a:spLocks noGrp="1"/>
          </p:cNvSpPr>
          <p:nvPr>
            <p:ph type="body" idx="4294967295"/>
          </p:nvPr>
        </p:nvSpPr>
        <p:spPr>
          <a:xfrm>
            <a:off x="436245" y="1754002"/>
            <a:ext cx="11101388" cy="3517900"/>
          </a:xfrm>
          <a:prstGeom prst="rect">
            <a:avLst/>
          </a:prstGeom>
        </p:spPr>
        <p:txBody>
          <a:bodyPr>
            <a:noAutofit/>
          </a:bodyPr>
          <a:lstStyle/>
          <a:p>
            <a:pPr marL="554990" indent="-514350">
              <a:lnSpc>
                <a:spcPct val="80000"/>
              </a:lnSpc>
              <a:buClr>
                <a:srgbClr val="000000"/>
              </a:buClr>
              <a:buSzPct val="100000"/>
              <a:buFont typeface="+mj-lt"/>
              <a:buAutoNum type="arabicPeriod"/>
            </a:pPr>
            <a:r>
              <a:rPr dirty="0" err="1"/>
              <a:t>Sel’kov</a:t>
            </a:r>
            <a:r>
              <a:rPr dirty="0"/>
              <a:t> </a:t>
            </a:r>
            <a:r>
              <a:rPr dirty="0" err="1"/>
              <a:t>モデルを線形化しなさい</a:t>
            </a:r>
            <a:endParaRPr lang="en-US" dirty="0"/>
          </a:p>
          <a:p>
            <a:pPr marL="955040" lvl="1" indent="-514350">
              <a:lnSpc>
                <a:spcPct val="80000"/>
              </a:lnSpc>
              <a:buClr>
                <a:srgbClr val="000000"/>
              </a:buClr>
              <a:buSzPct val="100000"/>
            </a:pPr>
            <a:r>
              <a:rPr lang="en-US" dirty="0" err="1"/>
              <a:t>ヒント</a:t>
            </a:r>
            <a:r>
              <a:rPr lang="en-US" dirty="0"/>
              <a:t>:       </a:t>
            </a:r>
            <a:r>
              <a:rPr lang="en-US" dirty="0" err="1"/>
              <a:t>を</a:t>
            </a:r>
            <a:r>
              <a:rPr lang="en-US" dirty="0"/>
              <a:t> x </a:t>
            </a:r>
            <a:r>
              <a:rPr lang="en-US" dirty="0" err="1"/>
              <a:t>について偏微分するときは</a:t>
            </a:r>
            <a:r>
              <a:rPr lang="ja-JP" altLang="en-US"/>
              <a:t>　　　　　　　　　　　　　　　　　　　　　　　　　　　　　</a:t>
            </a:r>
            <a:r>
              <a:rPr lang="en-US" altLang="ja-JP" dirty="0"/>
              <a:t>         </a:t>
            </a:r>
          </a:p>
          <a:p>
            <a:pPr marL="440690" lvl="1" indent="0">
              <a:lnSpc>
                <a:spcPct val="80000"/>
              </a:lnSpc>
              <a:buClr>
                <a:srgbClr val="000000"/>
              </a:buClr>
              <a:buSzPct val="100000"/>
              <a:buNone/>
            </a:pPr>
            <a:r>
              <a:rPr lang="en-US" altLang="ja-JP" dirty="0"/>
              <a:t>                                               </a:t>
            </a:r>
          </a:p>
          <a:p>
            <a:pPr marL="440690" lvl="1" indent="0">
              <a:lnSpc>
                <a:spcPct val="80000"/>
              </a:lnSpc>
              <a:buClr>
                <a:srgbClr val="000000"/>
              </a:buClr>
              <a:buSzPct val="100000"/>
              <a:buNone/>
            </a:pPr>
            <a:r>
              <a:rPr lang="en-US" altLang="ja-JP" dirty="0"/>
              <a:t>                                               </a:t>
            </a:r>
            <a:r>
              <a:rPr lang="ja-JP" altLang="en-US"/>
              <a:t>のように</a:t>
            </a:r>
            <a:r>
              <a:rPr lang="en-US" dirty="0" err="1"/>
              <a:t>計算する</a:t>
            </a:r>
            <a:r>
              <a:rPr lang="en-US" dirty="0"/>
              <a:t>。</a:t>
            </a:r>
          </a:p>
          <a:p>
            <a:pPr marL="955040" lvl="1" indent="-514350">
              <a:lnSpc>
                <a:spcPct val="80000"/>
              </a:lnSpc>
              <a:buClr>
                <a:srgbClr val="000000"/>
              </a:buClr>
              <a:buSzPct val="100000"/>
            </a:pPr>
            <a:endParaRPr lang="en-US" dirty="0"/>
          </a:p>
          <a:p>
            <a:pPr marL="554990" indent="-514350">
              <a:lnSpc>
                <a:spcPct val="120000"/>
              </a:lnSpc>
              <a:buClr>
                <a:srgbClr val="000000"/>
              </a:buClr>
              <a:buSzPct val="100000"/>
              <a:buFont typeface="+mj-lt"/>
              <a:buAutoNum type="arabicPeriod"/>
            </a:pPr>
            <a:r>
              <a:rPr lang="ja-JP" altLang="en-US"/>
              <a:t>線形化したモデルに固定点の座標を代入しヤコビ行列を求めなさい</a:t>
            </a:r>
            <a:endParaRPr lang="en-US" dirty="0"/>
          </a:p>
          <a:p>
            <a:pPr marL="554990" indent="-514350">
              <a:lnSpc>
                <a:spcPct val="120000"/>
              </a:lnSpc>
              <a:buClr>
                <a:srgbClr val="000000"/>
              </a:buClr>
              <a:buSzPct val="100000"/>
              <a:buFont typeface="+mj-lt"/>
              <a:buAutoNum type="arabicPeriod"/>
            </a:pPr>
            <a:endParaRPr lang="en-US" dirty="0"/>
          </a:p>
          <a:p>
            <a:pPr marL="554990" indent="-514350">
              <a:lnSpc>
                <a:spcPct val="80000"/>
              </a:lnSpc>
              <a:buClr>
                <a:srgbClr val="000000"/>
              </a:buClr>
              <a:buSzPct val="100000"/>
              <a:buFont typeface="+mj-lt"/>
              <a:buAutoNum type="arabicPeriod"/>
            </a:pPr>
            <a:r>
              <a:rPr dirty="0" err="1"/>
              <a:t>ヤコビ行列の固有値を求めなさい</a:t>
            </a:r>
            <a:endParaRPr dirty="0"/>
          </a:p>
        </p:txBody>
      </p:sp>
      <p:pic>
        <p:nvPicPr>
          <p:cNvPr id="2" name="図 1">
            <a:extLst>
              <a:ext uri="{FF2B5EF4-FFF2-40B4-BE49-F238E27FC236}">
                <a16:creationId xmlns:a16="http://schemas.microsoft.com/office/drawing/2014/main" id="{174360B3-8500-2B4C-D789-81F30D803A5E}"/>
              </a:ext>
            </a:extLst>
          </p:cNvPr>
          <p:cNvPicPr>
            <a:picLocks noChangeAspect="1"/>
          </p:cNvPicPr>
          <p:nvPr/>
        </p:nvPicPr>
        <p:blipFill>
          <a:blip r:embed="rId2"/>
          <a:stretch>
            <a:fillRect/>
          </a:stretch>
        </p:blipFill>
        <p:spPr>
          <a:xfrm>
            <a:off x="1578730" y="2949108"/>
            <a:ext cx="3908425" cy="729789"/>
          </a:xfrm>
          <a:prstGeom prst="rect">
            <a:avLst/>
          </a:prstGeom>
        </p:spPr>
      </p:pic>
      <p:pic>
        <p:nvPicPr>
          <p:cNvPr id="3" name="図 2">
            <a:extLst>
              <a:ext uri="{FF2B5EF4-FFF2-40B4-BE49-F238E27FC236}">
                <a16:creationId xmlns:a16="http://schemas.microsoft.com/office/drawing/2014/main" id="{F3D51AAF-A904-1D1D-5B0D-C2F12FC6BA19}"/>
              </a:ext>
            </a:extLst>
          </p:cNvPr>
          <p:cNvPicPr>
            <a:picLocks noChangeAspect="1"/>
          </p:cNvPicPr>
          <p:nvPr/>
        </p:nvPicPr>
        <p:blipFill>
          <a:blip r:embed="rId3"/>
          <a:stretch>
            <a:fillRect/>
          </a:stretch>
        </p:blipFill>
        <p:spPr>
          <a:xfrm>
            <a:off x="2813972" y="2175093"/>
            <a:ext cx="397227" cy="729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06C3D-365A-1C9D-1877-15953317AADD}"/>
              </a:ext>
            </a:extLst>
          </p:cNvPr>
          <p:cNvSpPr>
            <a:spLocks noGrp="1"/>
          </p:cNvSpPr>
          <p:nvPr>
            <p:ph type="title"/>
          </p:nvPr>
        </p:nvSpPr>
        <p:spPr/>
        <p:txBody>
          <a:bodyPr/>
          <a:lstStyle/>
          <a:p>
            <a:r>
              <a:rPr kumimoji="1" lang="ja-JP" altLang="en-US"/>
              <a:t>空欄を埋めなさい</a:t>
            </a:r>
          </a:p>
        </p:txBody>
      </p:sp>
      <p:sp>
        <p:nvSpPr>
          <p:cNvPr id="6" name="テキスト ボックス 5">
            <a:extLst>
              <a:ext uri="{FF2B5EF4-FFF2-40B4-BE49-F238E27FC236}">
                <a16:creationId xmlns:a16="http://schemas.microsoft.com/office/drawing/2014/main" id="{2C81950C-BCE5-65C0-DA66-BCF25CE03202}"/>
              </a:ext>
            </a:extLst>
          </p:cNvPr>
          <p:cNvSpPr txBox="1"/>
          <p:nvPr/>
        </p:nvSpPr>
        <p:spPr>
          <a:xfrm>
            <a:off x="1089205" y="1185840"/>
            <a:ext cx="10079751" cy="5632311"/>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selkov_jacobian.py</a:t>
            </a:r>
            <a:r>
              <a:rPr lang="en-GB" altLang="ja-JP" dirty="0">
                <a:latin typeface="Courier New" panose="02070309020205020404" pitchFamily="49" charset="0"/>
                <a:cs typeface="Courier New" panose="02070309020205020404" pitchFamily="49" charset="0"/>
              </a:rPr>
              <a:t>)</a:t>
            </a:r>
            <a:endParaRPr lang="en-US" altLang="ja-JP" dirty="0"/>
          </a:p>
          <a:p>
            <a:r>
              <a:rPr lang="en-US" altLang="ja-JP" dirty="0"/>
              <a:t>(</a:t>
            </a:r>
            <a:r>
              <a:rPr lang="ja-JP" altLang="en-US"/>
              <a:t>略</a:t>
            </a:r>
            <a:r>
              <a:rPr lang="en-US" altLang="ja-JP" dirty="0"/>
              <a:t>)</a:t>
            </a:r>
          </a:p>
          <a:p>
            <a:r>
              <a:rPr lang="en-GB" altLang="ja-JP" dirty="0"/>
              <a:t>x, y, a, b = </a:t>
            </a:r>
            <a:r>
              <a:rPr lang="en-GB" altLang="ja-JP" dirty="0" err="1"/>
              <a:t>sp.symbols</a:t>
            </a:r>
            <a:r>
              <a:rPr lang="en-GB" altLang="ja-JP" dirty="0"/>
              <a:t>("x y a b", real=True, positive=True)</a:t>
            </a:r>
            <a:endParaRPr lang="ja-JP" altLang="en-US"/>
          </a:p>
          <a:p>
            <a:r>
              <a:rPr lang="ja-JP" altLang="en-US"/>
              <a:t>a_val = 0.06</a:t>
            </a:r>
          </a:p>
          <a:p>
            <a:r>
              <a:rPr lang="ja-JP" altLang="en-US"/>
              <a:t>b_val = 0.6</a:t>
            </a:r>
          </a:p>
          <a:p>
            <a:endParaRPr lang="ja-JP" altLang="en-US"/>
          </a:p>
          <a:p>
            <a:r>
              <a:rPr lang="ja-JP" altLang="en-US"/>
              <a:t>f = -x + a * y + x**2 * y</a:t>
            </a:r>
            <a:r>
              <a:rPr lang="en-US" altLang="ja-JP" dirty="0"/>
              <a:t>  # </a:t>
            </a:r>
            <a:r>
              <a:rPr lang="en-US" altLang="ja-JP" dirty="0" err="1"/>
              <a:t>dxdt</a:t>
            </a:r>
            <a:endParaRPr lang="ja-JP" altLang="en-US"/>
          </a:p>
          <a:p>
            <a:r>
              <a:rPr lang="ja-JP" altLang="en-US"/>
              <a:t>g =  　　　　　　　　</a:t>
            </a:r>
            <a:r>
              <a:rPr lang="en-US" altLang="ja-JP" dirty="0"/>
              <a:t> </a:t>
            </a:r>
            <a:r>
              <a:rPr lang="en-US" altLang="ja-JP" dirty="0">
                <a:solidFill>
                  <a:srgbClr val="008F00"/>
                </a:solidFill>
              </a:rPr>
              <a:t># </a:t>
            </a:r>
            <a:r>
              <a:rPr lang="en-US" altLang="ja-JP" dirty="0" err="1">
                <a:solidFill>
                  <a:srgbClr val="008F00"/>
                </a:solidFill>
              </a:rPr>
              <a:t>dydt</a:t>
            </a:r>
            <a:r>
              <a:rPr lang="en-US" altLang="ja-JP" dirty="0">
                <a:solidFill>
                  <a:srgbClr val="008F00"/>
                </a:solidFill>
              </a:rPr>
              <a:t> </a:t>
            </a:r>
            <a:r>
              <a:rPr lang="ja-JP" altLang="en-US">
                <a:solidFill>
                  <a:srgbClr val="008F00"/>
                </a:solidFill>
              </a:rPr>
              <a:t>を</a:t>
            </a:r>
            <a:r>
              <a:rPr lang="en-US" altLang="ja-JP" dirty="0">
                <a:solidFill>
                  <a:srgbClr val="008F00"/>
                </a:solidFill>
              </a:rPr>
              <a:t> x, y, a, b </a:t>
            </a:r>
            <a:r>
              <a:rPr lang="ja-JP" altLang="en-US">
                <a:solidFill>
                  <a:srgbClr val="008F00"/>
                </a:solidFill>
              </a:rPr>
              <a:t>で書く</a:t>
            </a:r>
          </a:p>
          <a:p>
            <a:endParaRPr lang="ja-JP" altLang="en-US"/>
          </a:p>
          <a:p>
            <a:r>
              <a:rPr lang="ja-JP" altLang="en-US"/>
              <a:t># ヌルクラインと固定点</a:t>
            </a:r>
          </a:p>
          <a:p>
            <a:r>
              <a:rPr lang="ja-JP" altLang="en-US"/>
              <a:t>solutions = sp.solve( [       ,       ]  , ( x , y ) )</a:t>
            </a:r>
            <a:r>
              <a:rPr lang="en-US" altLang="ja-JP" dirty="0"/>
              <a:t>  </a:t>
            </a:r>
            <a:r>
              <a:rPr lang="en-US" altLang="ja-JP" dirty="0">
                <a:solidFill>
                  <a:srgbClr val="008F00"/>
                </a:solidFill>
              </a:rPr>
              <a:t># </a:t>
            </a:r>
            <a:r>
              <a:rPr lang="ja-JP" altLang="en-US">
                <a:solidFill>
                  <a:srgbClr val="008F00"/>
                </a:solidFill>
              </a:rPr>
              <a:t>演習</a:t>
            </a:r>
            <a:r>
              <a:rPr lang="en-US" altLang="ja-JP" dirty="0">
                <a:solidFill>
                  <a:srgbClr val="008F00"/>
                </a:solidFill>
              </a:rPr>
              <a:t>4</a:t>
            </a:r>
            <a:r>
              <a:rPr lang="ja-JP" altLang="en-US">
                <a:solidFill>
                  <a:srgbClr val="008F00"/>
                </a:solidFill>
              </a:rPr>
              <a:t>を参考に固定点の座標を計算</a:t>
            </a:r>
          </a:p>
          <a:p>
            <a:r>
              <a:rPr lang="ja-JP" altLang="en-US"/>
              <a:t>fix_x , fix_y = solutions[0]</a:t>
            </a:r>
          </a:p>
          <a:p>
            <a:endParaRPr lang="ja-JP" altLang="en-US"/>
          </a:p>
          <a:p>
            <a:r>
              <a:rPr lang="ja-JP" altLang="en-US"/>
              <a:t># ヤコビ行列</a:t>
            </a:r>
          </a:p>
          <a:p>
            <a:r>
              <a:rPr lang="ja-JP" altLang="en-US"/>
              <a:t>J_sym = sp.Matrix( [ [ f.diff( x ) ,         ] , [         , g.diff( y ) ] ] )</a:t>
            </a:r>
            <a:r>
              <a:rPr lang="en-US" altLang="ja-JP" dirty="0"/>
              <a:t> </a:t>
            </a:r>
            <a:r>
              <a:rPr lang="en-US" altLang="ja-JP" dirty="0">
                <a:solidFill>
                  <a:srgbClr val="008F00"/>
                </a:solidFill>
              </a:rPr>
              <a:t># </a:t>
            </a:r>
            <a:r>
              <a:rPr lang="ja-JP" altLang="en-US">
                <a:solidFill>
                  <a:srgbClr val="008F00"/>
                </a:solidFill>
              </a:rPr>
              <a:t>線形化</a:t>
            </a:r>
            <a:endParaRPr lang="ja-JP" altLang="en-US"/>
          </a:p>
          <a:p>
            <a:r>
              <a:rPr lang="ja-JP" altLang="en-US"/>
              <a:t>J_num = J_sym.subs( [ ( x ,     ) , ( y ,     ) , ( a , a_val ), ( b , b_val ) ] ) </a:t>
            </a:r>
            <a:r>
              <a:rPr lang="en-US" altLang="ja-JP" dirty="0">
                <a:solidFill>
                  <a:srgbClr val="008F00"/>
                </a:solidFill>
              </a:rPr>
              <a:t># </a:t>
            </a:r>
            <a:r>
              <a:rPr lang="ja-JP" altLang="en-US">
                <a:solidFill>
                  <a:srgbClr val="008F00"/>
                </a:solidFill>
              </a:rPr>
              <a:t>固定点の座標を</a:t>
            </a:r>
            <a:r>
              <a:rPr lang="en-US" altLang="ja-JP" dirty="0">
                <a:solidFill>
                  <a:srgbClr val="008F00"/>
                </a:solidFill>
              </a:rPr>
              <a:t> x, y </a:t>
            </a:r>
            <a:r>
              <a:rPr lang="ja-JP" altLang="en-US">
                <a:solidFill>
                  <a:srgbClr val="008F00"/>
                </a:solidFill>
              </a:rPr>
              <a:t>に代入</a:t>
            </a:r>
            <a:endParaRPr lang="ja-JP" altLang="en-US"/>
          </a:p>
          <a:p>
            <a:endParaRPr lang="ja-JP" altLang="en-US"/>
          </a:p>
          <a:p>
            <a:r>
              <a:rPr lang="ja-JP" altLang="en-US"/>
              <a:t>print( J_sym )</a:t>
            </a:r>
          </a:p>
          <a:p>
            <a:r>
              <a:rPr lang="ja-JP" altLang="en-US"/>
              <a:t>print( J_num )</a:t>
            </a:r>
          </a:p>
          <a:p>
            <a:r>
              <a:rPr lang="ja-JP" altLang="en-US"/>
              <a:t>print( J_num.       )</a:t>
            </a:r>
            <a:r>
              <a:rPr lang="en-US" altLang="ja-JP" dirty="0"/>
              <a:t> </a:t>
            </a:r>
            <a:r>
              <a:rPr lang="en-US" altLang="ja-JP" dirty="0">
                <a:solidFill>
                  <a:srgbClr val="008F00"/>
                </a:solidFill>
              </a:rPr>
              <a:t># </a:t>
            </a:r>
            <a:r>
              <a:rPr lang="ja-JP" altLang="en-US">
                <a:solidFill>
                  <a:srgbClr val="008F00"/>
                </a:solidFill>
              </a:rPr>
              <a:t>ヤコビ行列の固有値を求める</a:t>
            </a:r>
            <a:endParaRPr lang="ja-JP" altLang="en-US"/>
          </a:p>
        </p:txBody>
      </p:sp>
      <p:sp>
        <p:nvSpPr>
          <p:cNvPr id="7" name="正方形/長方形 6">
            <a:extLst>
              <a:ext uri="{FF2B5EF4-FFF2-40B4-BE49-F238E27FC236}">
                <a16:creationId xmlns:a16="http://schemas.microsoft.com/office/drawing/2014/main" id="{1BBEDA7E-B88F-2F2F-BA98-5CF3537BA6DC}"/>
              </a:ext>
            </a:extLst>
          </p:cNvPr>
          <p:cNvSpPr/>
          <p:nvPr/>
        </p:nvSpPr>
        <p:spPr>
          <a:xfrm>
            <a:off x="3332796"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280E4C6B-0F2A-F583-2C7C-C9F035586034}"/>
              </a:ext>
            </a:extLst>
          </p:cNvPr>
          <p:cNvSpPr/>
          <p:nvPr/>
        </p:nvSpPr>
        <p:spPr>
          <a:xfrm>
            <a:off x="3835534"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96814ACD-673D-1E0A-0DC7-FA097A4D870B}"/>
              </a:ext>
            </a:extLst>
          </p:cNvPr>
          <p:cNvSpPr/>
          <p:nvPr/>
        </p:nvSpPr>
        <p:spPr>
          <a:xfrm>
            <a:off x="4283772"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409D2CCC-5A92-A9AD-79BE-17FCCE8FB3AA}"/>
              </a:ext>
            </a:extLst>
          </p:cNvPr>
          <p:cNvSpPr/>
          <p:nvPr/>
        </p:nvSpPr>
        <p:spPr>
          <a:xfrm>
            <a:off x="5158366"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FBAE76D-501D-E5BC-6503-E269CB90B40E}"/>
              </a:ext>
            </a:extLst>
          </p:cNvPr>
          <p:cNvSpPr/>
          <p:nvPr/>
        </p:nvSpPr>
        <p:spPr>
          <a:xfrm>
            <a:off x="3910290"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155971E-AF8E-6C1A-0CF8-39D318DADF28}"/>
              </a:ext>
            </a:extLst>
          </p:cNvPr>
          <p:cNvSpPr/>
          <p:nvPr/>
        </p:nvSpPr>
        <p:spPr>
          <a:xfrm>
            <a:off x="4831378"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CA64A973-27A4-F290-D5AC-786972F74097}"/>
              </a:ext>
            </a:extLst>
          </p:cNvPr>
          <p:cNvSpPr/>
          <p:nvPr/>
        </p:nvSpPr>
        <p:spPr>
          <a:xfrm>
            <a:off x="2498884" y="6474865"/>
            <a:ext cx="36090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8A2831E-7606-8A52-F36C-7BCCBD47D0AE}"/>
              </a:ext>
            </a:extLst>
          </p:cNvPr>
          <p:cNvSpPr/>
          <p:nvPr/>
        </p:nvSpPr>
        <p:spPr>
          <a:xfrm>
            <a:off x="1564616" y="3196290"/>
            <a:ext cx="186981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667805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解答"/>
          <p:cNvSpPr txBox="1">
            <a:spLocks noGrp="1"/>
          </p:cNvSpPr>
          <p:nvPr>
            <p:ph type="title"/>
          </p:nvPr>
        </p:nvSpPr>
        <p:spPr>
          <a:prstGeom prst="rect">
            <a:avLst/>
          </a:prstGeom>
        </p:spPr>
        <p:txBody>
          <a:bodyPr/>
          <a:lstStyle/>
          <a:p>
            <a:r>
              <a:t>解答</a:t>
            </a:r>
          </a:p>
        </p:txBody>
      </p:sp>
      <p:sp>
        <p:nvSpPr>
          <p:cNvPr id="558" name="線形化…"/>
          <p:cNvSpPr txBox="1">
            <a:spLocks noGrp="1"/>
          </p:cNvSpPr>
          <p:nvPr>
            <p:ph type="body" idx="4294967295"/>
          </p:nvPr>
        </p:nvSpPr>
        <p:spPr>
          <a:xfrm>
            <a:off x="187522" y="1339851"/>
            <a:ext cx="7353300" cy="4483100"/>
          </a:xfrm>
          <a:prstGeom prst="rect">
            <a:avLst/>
          </a:prstGeom>
        </p:spPr>
        <p:txBody>
          <a:bodyPr>
            <a:normAutofit/>
          </a:bodyPr>
          <a:lstStyle/>
          <a:p>
            <a:pPr marL="383540">
              <a:buClr>
                <a:srgbClr val="000000"/>
              </a:buClr>
              <a:buSzPct val="100000"/>
              <a:buFont typeface="Arial"/>
            </a:pPr>
            <a:r>
              <a:rPr dirty="0" err="1"/>
              <a:t>線形化</a:t>
            </a:r>
            <a:endParaRPr dirty="0"/>
          </a:p>
          <a:p>
            <a:pPr marL="383540">
              <a:buClr>
                <a:srgbClr val="000000"/>
              </a:buClr>
              <a:buSzPct val="100000"/>
              <a:buFont typeface="Arial"/>
            </a:pPr>
            <a:endParaRPr dirty="0"/>
          </a:p>
          <a:p>
            <a:pPr marL="40640" indent="0">
              <a:buClr>
                <a:srgbClr val="000000"/>
              </a:buClr>
              <a:buSzPct val="100000"/>
              <a:buNone/>
            </a:pPr>
            <a:endParaRPr dirty="0"/>
          </a:p>
          <a:p>
            <a:pPr marL="383540">
              <a:buClr>
                <a:srgbClr val="000000"/>
              </a:buClr>
              <a:buSzPct val="100000"/>
              <a:buFont typeface="Arial"/>
            </a:pPr>
            <a:r>
              <a:rPr dirty="0" err="1"/>
              <a:t>固定点</a:t>
            </a:r>
            <a:endParaRPr dirty="0"/>
          </a:p>
          <a:p>
            <a:pPr marL="40640" indent="0">
              <a:buClr>
                <a:srgbClr val="000000"/>
              </a:buClr>
              <a:buSzPct val="100000"/>
              <a:buNone/>
            </a:pPr>
            <a:endParaRPr lang="en-US" dirty="0"/>
          </a:p>
          <a:p>
            <a:pPr marL="40640" indent="0">
              <a:buClr>
                <a:srgbClr val="000000"/>
              </a:buClr>
              <a:buSzPct val="100000"/>
              <a:buNone/>
            </a:pPr>
            <a:endParaRPr dirty="0"/>
          </a:p>
          <a:p>
            <a:pPr marL="383540">
              <a:buClr>
                <a:srgbClr val="000000"/>
              </a:buClr>
              <a:buSzPct val="100000"/>
              <a:buFont typeface="Arial"/>
            </a:pPr>
            <a:r>
              <a:rPr dirty="0" err="1"/>
              <a:t>ヤコビ行列</a:t>
            </a:r>
            <a:endParaRPr dirty="0"/>
          </a:p>
        </p:txBody>
      </p:sp>
      <p:pic>
        <p:nvPicPr>
          <p:cNvPr id="560" name="droppedImage.pdf" descr="droppedImage.pdf"/>
          <p:cNvPicPr>
            <a:picLocks noChangeAspect="1"/>
          </p:cNvPicPr>
          <p:nvPr/>
        </p:nvPicPr>
        <p:blipFill>
          <a:blip r:embed="rId2"/>
          <a:stretch>
            <a:fillRect/>
          </a:stretch>
        </p:blipFill>
        <p:spPr>
          <a:xfrm>
            <a:off x="6859211" y="1659324"/>
            <a:ext cx="3263901" cy="486977"/>
          </a:xfrm>
          <a:prstGeom prst="rect">
            <a:avLst/>
          </a:prstGeom>
          <a:ln w="12700">
            <a:miter lim="400000"/>
          </a:ln>
        </p:spPr>
      </p:pic>
      <p:pic>
        <p:nvPicPr>
          <p:cNvPr id="561" name="droppedImage.pdf" descr="droppedImage.pdf"/>
          <p:cNvPicPr>
            <a:picLocks noChangeAspect="1"/>
          </p:cNvPicPr>
          <p:nvPr/>
        </p:nvPicPr>
        <p:blipFill>
          <a:blip r:embed="rId3"/>
          <a:stretch>
            <a:fillRect/>
          </a:stretch>
        </p:blipFill>
        <p:spPr>
          <a:xfrm>
            <a:off x="2032000" y="1701800"/>
            <a:ext cx="3911600" cy="495300"/>
          </a:xfrm>
          <a:prstGeom prst="rect">
            <a:avLst/>
          </a:prstGeom>
          <a:ln w="12700">
            <a:miter lim="400000"/>
          </a:ln>
        </p:spPr>
      </p:pic>
      <p:pic>
        <p:nvPicPr>
          <p:cNvPr id="562" name="droppedImage.pdf" descr="droppedImage.pdf"/>
          <p:cNvPicPr>
            <a:picLocks noChangeAspect="1"/>
          </p:cNvPicPr>
          <p:nvPr/>
        </p:nvPicPr>
        <p:blipFill>
          <a:blip r:embed="rId4"/>
          <a:stretch>
            <a:fillRect/>
          </a:stretch>
        </p:blipFill>
        <p:spPr>
          <a:xfrm>
            <a:off x="2070100" y="2527300"/>
            <a:ext cx="3295650" cy="495300"/>
          </a:xfrm>
          <a:prstGeom prst="rect">
            <a:avLst/>
          </a:prstGeom>
          <a:ln w="12700">
            <a:miter lim="400000"/>
          </a:ln>
        </p:spPr>
      </p:pic>
      <p:pic>
        <p:nvPicPr>
          <p:cNvPr id="563" name="droppedImage.pdf" descr="droppedImage.pdf"/>
          <p:cNvPicPr>
            <a:picLocks noChangeAspect="1"/>
          </p:cNvPicPr>
          <p:nvPr/>
        </p:nvPicPr>
        <p:blipFill>
          <a:blip r:embed="rId5"/>
          <a:stretch>
            <a:fillRect/>
          </a:stretch>
        </p:blipFill>
        <p:spPr>
          <a:xfrm>
            <a:off x="6883400" y="2523737"/>
            <a:ext cx="3302000" cy="498865"/>
          </a:xfrm>
          <a:prstGeom prst="rect">
            <a:avLst/>
          </a:prstGeom>
          <a:ln w="12700">
            <a:miter lim="400000"/>
          </a:ln>
        </p:spPr>
      </p:pic>
      <p:pic>
        <p:nvPicPr>
          <p:cNvPr id="564" name="droppedImage.pdf" descr="droppedImage.pdf"/>
          <p:cNvPicPr>
            <a:picLocks noChangeAspect="1"/>
          </p:cNvPicPr>
          <p:nvPr/>
        </p:nvPicPr>
        <p:blipFill>
          <a:blip r:embed="rId6"/>
          <a:stretch>
            <a:fillRect/>
          </a:stretch>
        </p:blipFill>
        <p:spPr>
          <a:xfrm>
            <a:off x="2019301" y="5485217"/>
            <a:ext cx="3797301" cy="1042585"/>
          </a:xfrm>
          <a:prstGeom prst="rect">
            <a:avLst/>
          </a:prstGeom>
          <a:ln w="12700">
            <a:miter lim="400000"/>
          </a:ln>
        </p:spPr>
      </p:pic>
      <p:pic>
        <p:nvPicPr>
          <p:cNvPr id="565" name="droppedImage.pdf" descr="droppedImage.pdf"/>
          <p:cNvPicPr>
            <a:picLocks noChangeAspect="1"/>
          </p:cNvPicPr>
          <p:nvPr/>
        </p:nvPicPr>
        <p:blipFill>
          <a:blip r:embed="rId7"/>
          <a:stretch>
            <a:fillRect/>
          </a:stretch>
        </p:blipFill>
        <p:spPr>
          <a:xfrm>
            <a:off x="7740650" y="3403600"/>
            <a:ext cx="2444750" cy="558800"/>
          </a:xfrm>
          <a:prstGeom prst="rect">
            <a:avLst/>
          </a:prstGeom>
          <a:ln w="12700">
            <a:miter lim="400000"/>
          </a:ln>
        </p:spPr>
      </p:pic>
      <p:pic>
        <p:nvPicPr>
          <p:cNvPr id="566" name="droppedImage.pdf" descr="droppedImage.pdf"/>
          <p:cNvPicPr>
            <a:picLocks noChangeAspect="1"/>
          </p:cNvPicPr>
          <p:nvPr/>
        </p:nvPicPr>
        <p:blipFill>
          <a:blip r:embed="rId8"/>
          <a:stretch>
            <a:fillRect/>
          </a:stretch>
        </p:blipFill>
        <p:spPr>
          <a:xfrm>
            <a:off x="2057400" y="3758170"/>
            <a:ext cx="1524000" cy="724930"/>
          </a:xfrm>
          <a:prstGeom prst="rect">
            <a:avLst/>
          </a:prstGeom>
          <a:ln w="12700">
            <a:miter lim="400000"/>
          </a:ln>
        </p:spPr>
      </p:pic>
      <p:sp>
        <p:nvSpPr>
          <p:cNvPr id="567" name="または"/>
          <p:cNvSpPr/>
          <p:nvPr/>
        </p:nvSpPr>
        <p:spPr>
          <a:xfrm>
            <a:off x="6745733" y="3391606"/>
            <a:ext cx="79508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1800"/>
            </a:lvl1pPr>
          </a:lstStyle>
          <a:p>
            <a:r>
              <a:t>または</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51FB-49C9-53B6-F20A-C74106620F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F49E60-4CE5-33C5-C3EC-A63F6C7B95E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1A18ACDA-E0C1-2AF4-AB98-5D38E429CFFF}"/>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199002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すべての固有値が実数である固定点"/>
          <p:cNvSpPr txBox="1">
            <a:spLocks noGrp="1"/>
          </p:cNvSpPr>
          <p:nvPr>
            <p:ph type="title"/>
          </p:nvPr>
        </p:nvSpPr>
        <p:spPr>
          <a:prstGeom prst="rect">
            <a:avLst/>
          </a:prstGeom>
        </p:spPr>
        <p:txBody>
          <a:bodyPr/>
          <a:lstStyle/>
          <a:p>
            <a:r>
              <a:t>すべての固有値が実数である固定点</a:t>
            </a:r>
          </a:p>
        </p:txBody>
      </p:sp>
      <p:sp>
        <p:nvSpPr>
          <p:cNvPr id="572" name="ノード (Node)…"/>
          <p:cNvSpPr txBox="1">
            <a:spLocks noGrp="1"/>
          </p:cNvSpPr>
          <p:nvPr>
            <p:ph type="body" idx="4294967295"/>
          </p:nvPr>
        </p:nvSpPr>
        <p:spPr>
          <a:xfrm>
            <a:off x="287384" y="1600200"/>
            <a:ext cx="6032501" cy="5257800"/>
          </a:xfrm>
          <a:prstGeom prst="rect">
            <a:avLst/>
          </a:prstGeom>
        </p:spPr>
        <p:txBody>
          <a:bodyPr/>
          <a:lstStyle/>
          <a:p>
            <a:pPr marL="383540">
              <a:buClr>
                <a:srgbClr val="000000"/>
              </a:buClr>
              <a:buSzPct val="100000"/>
              <a:buFont typeface="Arial"/>
            </a:pPr>
            <a:r>
              <a:rPr dirty="0" err="1"/>
              <a:t>ノード</a:t>
            </a:r>
            <a:r>
              <a:rPr dirty="0"/>
              <a:t> (Node)</a:t>
            </a:r>
          </a:p>
          <a:p>
            <a:pPr marL="783590" lvl="1">
              <a:buClr>
                <a:srgbClr val="000000"/>
              </a:buClr>
              <a:buSzPct val="100000"/>
              <a:buFont typeface="Arial"/>
            </a:pPr>
            <a:r>
              <a:rPr dirty="0" err="1"/>
              <a:t>すべての固有値の符号が同じ</a:t>
            </a:r>
            <a:endParaRPr dirty="0"/>
          </a:p>
          <a:p>
            <a:pPr marL="1183639" lvl="2">
              <a:buClr>
                <a:srgbClr val="000000"/>
              </a:buClr>
              <a:buSzPct val="100000"/>
              <a:buFont typeface="Arial"/>
            </a:pPr>
            <a:r>
              <a:rPr dirty="0" err="1"/>
              <a:t>負</a:t>
            </a:r>
            <a:r>
              <a:rPr dirty="0"/>
              <a:t>: </a:t>
            </a:r>
            <a:r>
              <a:rPr dirty="0" err="1"/>
              <a:t>安定ノード</a:t>
            </a:r>
            <a:r>
              <a:rPr dirty="0"/>
              <a:t>     (attractor)</a:t>
            </a:r>
          </a:p>
          <a:p>
            <a:pPr marL="1183639" lvl="2">
              <a:buClr>
                <a:srgbClr val="000000"/>
              </a:buClr>
              <a:buSzPct val="100000"/>
              <a:buFont typeface="Arial"/>
            </a:pPr>
            <a:r>
              <a:rPr dirty="0" err="1"/>
              <a:t>正</a:t>
            </a:r>
            <a:r>
              <a:rPr dirty="0"/>
              <a:t>: </a:t>
            </a:r>
            <a:r>
              <a:rPr dirty="0" err="1"/>
              <a:t>不安定ノード</a:t>
            </a:r>
            <a:r>
              <a:rPr dirty="0"/>
              <a:t> (</a:t>
            </a:r>
            <a:r>
              <a:rPr dirty="0" err="1"/>
              <a:t>repellor</a:t>
            </a:r>
            <a:r>
              <a:rPr dirty="0"/>
              <a:t>)</a:t>
            </a:r>
          </a:p>
          <a:p>
            <a:pPr marL="1183639" lvl="2">
              <a:buClr>
                <a:srgbClr val="000000"/>
              </a:buClr>
              <a:buSzPct val="100000"/>
              <a:buFont typeface="Arial"/>
            </a:pPr>
            <a:endParaRPr dirty="0"/>
          </a:p>
          <a:p>
            <a:pPr marL="383540">
              <a:buClr>
                <a:srgbClr val="000000"/>
              </a:buClr>
              <a:buSzPct val="100000"/>
              <a:buFont typeface="Arial"/>
            </a:pPr>
            <a:r>
              <a:rPr dirty="0" err="1"/>
              <a:t>サドル</a:t>
            </a:r>
            <a:r>
              <a:rPr dirty="0"/>
              <a:t> (Saddle)</a:t>
            </a:r>
          </a:p>
          <a:p>
            <a:pPr marL="783590" lvl="1">
              <a:buClr>
                <a:srgbClr val="000000"/>
              </a:buClr>
              <a:buSzPct val="100000"/>
              <a:buFont typeface="Arial"/>
            </a:pPr>
            <a:r>
              <a:rPr dirty="0" err="1"/>
              <a:t>固有値の符号がまちまち</a:t>
            </a:r>
            <a:endParaRPr dirty="0"/>
          </a:p>
          <a:p>
            <a:pPr marL="783590" lvl="1">
              <a:buClr>
                <a:srgbClr val="000000"/>
              </a:buClr>
              <a:buSzPct val="100000"/>
              <a:buFont typeface="Arial"/>
            </a:pPr>
            <a:r>
              <a:rPr dirty="0" err="1"/>
              <a:t>収束方向</a:t>
            </a:r>
            <a:r>
              <a:rPr dirty="0"/>
              <a:t>: </a:t>
            </a:r>
            <a:r>
              <a:rPr dirty="0" err="1"/>
              <a:t>安定多様体</a:t>
            </a:r>
            <a:endParaRPr dirty="0"/>
          </a:p>
          <a:p>
            <a:pPr marL="783590" lvl="1">
              <a:buClr>
                <a:srgbClr val="000000"/>
              </a:buClr>
              <a:buSzPct val="100000"/>
              <a:buFont typeface="Arial"/>
            </a:pPr>
            <a:r>
              <a:rPr dirty="0" err="1"/>
              <a:t>発散方向</a:t>
            </a:r>
            <a:r>
              <a:rPr dirty="0"/>
              <a:t>: </a:t>
            </a:r>
            <a:r>
              <a:rPr dirty="0" err="1"/>
              <a:t>不安定多様体</a:t>
            </a:r>
            <a:endParaRPr dirty="0"/>
          </a:p>
        </p:txBody>
      </p:sp>
      <p:sp>
        <p:nvSpPr>
          <p:cNvPr id="573" name="線"/>
          <p:cNvSpPr/>
          <p:nvPr/>
        </p:nvSpPr>
        <p:spPr>
          <a:xfrm>
            <a:off x="7158037" y="46529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4" name="線"/>
          <p:cNvSpPr/>
          <p:nvPr/>
        </p:nvSpPr>
        <p:spPr>
          <a:xfrm flipV="1">
            <a:off x="7158037" y="53721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5" name="線"/>
          <p:cNvSpPr/>
          <p:nvPr/>
        </p:nvSpPr>
        <p:spPr>
          <a:xfrm>
            <a:off x="6510338"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6" name="線"/>
          <p:cNvSpPr/>
          <p:nvPr/>
        </p:nvSpPr>
        <p:spPr>
          <a:xfrm flipH="1">
            <a:off x="7231063"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7" name="円形"/>
          <p:cNvSpPr/>
          <p:nvPr/>
        </p:nvSpPr>
        <p:spPr>
          <a:xfrm>
            <a:off x="7086601" y="522922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78" name="線"/>
          <p:cNvSpPr/>
          <p:nvPr/>
        </p:nvSpPr>
        <p:spPr>
          <a:xfrm>
            <a:off x="9390062" y="46529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9" name="線"/>
          <p:cNvSpPr/>
          <p:nvPr/>
        </p:nvSpPr>
        <p:spPr>
          <a:xfrm flipV="1">
            <a:off x="9390062" y="53721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0" name="線"/>
          <p:cNvSpPr/>
          <p:nvPr/>
        </p:nvSpPr>
        <p:spPr>
          <a:xfrm>
            <a:off x="9463088"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1" name="線"/>
          <p:cNvSpPr/>
          <p:nvPr/>
        </p:nvSpPr>
        <p:spPr>
          <a:xfrm flipH="1">
            <a:off x="8742363"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2" name="円形"/>
          <p:cNvSpPr/>
          <p:nvPr/>
        </p:nvSpPr>
        <p:spPr>
          <a:xfrm>
            <a:off x="9318626" y="522922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83" name="Stable Node"/>
          <p:cNvSpPr/>
          <p:nvPr/>
        </p:nvSpPr>
        <p:spPr>
          <a:xfrm>
            <a:off x="6438582" y="6105525"/>
            <a:ext cx="1367930" cy="40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Node</a:t>
            </a:r>
          </a:p>
        </p:txBody>
      </p:sp>
      <p:sp>
        <p:nvSpPr>
          <p:cNvPr id="584" name="Saddle"/>
          <p:cNvSpPr/>
          <p:nvPr/>
        </p:nvSpPr>
        <p:spPr>
          <a:xfrm>
            <a:off x="8907144" y="6118225"/>
            <a:ext cx="804244" cy="40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Saddle</a:t>
            </a:r>
          </a:p>
        </p:txBody>
      </p:sp>
      <p:pic>
        <p:nvPicPr>
          <p:cNvPr id="586" name="droppedImage.pdf" descr="droppedImage.pdf"/>
          <p:cNvPicPr>
            <a:picLocks noChangeAspect="1"/>
          </p:cNvPicPr>
          <p:nvPr/>
        </p:nvPicPr>
        <p:blipFill>
          <a:blip r:embed="rId2"/>
          <a:stretch>
            <a:fillRect/>
          </a:stretch>
        </p:blipFill>
        <p:spPr>
          <a:xfrm>
            <a:off x="6282130" y="2034669"/>
            <a:ext cx="1514518" cy="546100"/>
          </a:xfrm>
          <a:prstGeom prst="rect">
            <a:avLst/>
          </a:prstGeom>
          <a:ln w="12700">
            <a:miter lim="400000"/>
          </a:ln>
        </p:spPr>
      </p:pic>
      <p:pic>
        <p:nvPicPr>
          <p:cNvPr id="587" name="droppedImage.pdf" descr="droppedImage.pdf"/>
          <p:cNvPicPr>
            <a:picLocks noChangeAspect="1"/>
          </p:cNvPicPr>
          <p:nvPr/>
        </p:nvPicPr>
        <p:blipFill>
          <a:blip r:embed="rId3"/>
          <a:stretch>
            <a:fillRect/>
          </a:stretch>
        </p:blipFill>
        <p:spPr>
          <a:xfrm>
            <a:off x="6285517" y="3187701"/>
            <a:ext cx="4242785" cy="546102"/>
          </a:xfrm>
          <a:prstGeom prst="rect">
            <a:avLst/>
          </a:prstGeom>
          <a:ln w="12700">
            <a:miter lim="400000"/>
          </a:ln>
        </p:spPr>
      </p:pic>
      <p:sp>
        <p:nvSpPr>
          <p:cNvPr id="588" name="線"/>
          <p:cNvSpPr/>
          <p:nvPr/>
        </p:nvSpPr>
        <p:spPr>
          <a:xfrm>
            <a:off x="6292850" y="4625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9" name="線"/>
          <p:cNvSpPr/>
          <p:nvPr/>
        </p:nvSpPr>
        <p:spPr>
          <a:xfrm>
            <a:off x="6292846" y="6136477"/>
            <a:ext cx="1606558"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0" name="x"/>
          <p:cNvSpPr/>
          <p:nvPr/>
        </p:nvSpPr>
        <p:spPr>
          <a:xfrm>
            <a:off x="7965107" y="59108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1" name="y"/>
          <p:cNvSpPr/>
          <p:nvPr/>
        </p:nvSpPr>
        <p:spPr>
          <a:xfrm>
            <a:off x="6159500" y="41074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592" name="線"/>
          <p:cNvSpPr/>
          <p:nvPr/>
        </p:nvSpPr>
        <p:spPr>
          <a:xfrm>
            <a:off x="8521700" y="46228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3" name="線"/>
          <p:cNvSpPr/>
          <p:nvPr/>
        </p:nvSpPr>
        <p:spPr>
          <a:xfrm>
            <a:off x="8509000" y="6138870"/>
            <a:ext cx="1606559" cy="1"/>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4" name="x"/>
          <p:cNvSpPr/>
          <p:nvPr/>
        </p:nvSpPr>
        <p:spPr>
          <a:xfrm>
            <a:off x="10185400" y="59108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5" name="y"/>
          <p:cNvSpPr/>
          <p:nvPr/>
        </p:nvSpPr>
        <p:spPr>
          <a:xfrm>
            <a:off x="8382000" y="41074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 name="線"/>
          <p:cNvSpPr/>
          <p:nvPr/>
        </p:nvSpPr>
        <p:spPr>
          <a:xfrm flipV="1">
            <a:off x="2406650" y="38655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7" name="線"/>
          <p:cNvSpPr/>
          <p:nvPr/>
        </p:nvSpPr>
        <p:spPr>
          <a:xfrm>
            <a:off x="2406651" y="60991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8" name="線"/>
          <p:cNvSpPr/>
          <p:nvPr/>
        </p:nvSpPr>
        <p:spPr>
          <a:xfrm flipV="1">
            <a:off x="7496175" y="38528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9" name="線"/>
          <p:cNvSpPr/>
          <p:nvPr/>
        </p:nvSpPr>
        <p:spPr>
          <a:xfrm>
            <a:off x="7496176" y="60864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0" name="v1"/>
          <p:cNvSpPr/>
          <p:nvPr/>
        </p:nvSpPr>
        <p:spPr>
          <a:xfrm>
            <a:off x="2734468" y="3602613"/>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681" name="円形"/>
          <p:cNvSpPr/>
          <p:nvPr/>
        </p:nvSpPr>
        <p:spPr>
          <a:xfrm>
            <a:off x="3317875" y="5359401"/>
            <a:ext cx="142876" cy="144463"/>
          </a:xfrm>
          <a:prstGeom prst="ellipse">
            <a:avLst/>
          </a:prstGeom>
          <a:solidFill>
            <a:srgbClr val="000000"/>
          </a:solidFill>
          <a:ln w="127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2" name="線"/>
          <p:cNvSpPr/>
          <p:nvPr/>
        </p:nvSpPr>
        <p:spPr>
          <a:xfrm>
            <a:off x="3459162" y="5451476"/>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3" name="線"/>
          <p:cNvSpPr/>
          <p:nvPr/>
        </p:nvSpPr>
        <p:spPr>
          <a:xfrm flipV="1">
            <a:off x="3459163" y="4948238"/>
            <a:ext cx="576263" cy="431801"/>
          </a:xfrm>
          <a:prstGeom prst="line">
            <a:avLst/>
          </a:prstGeom>
          <a:ln w="25400">
            <a:solidFill>
              <a:srgbClr val="0433FF"/>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4" name="xss+Δx0"/>
          <p:cNvSpPr/>
          <p:nvPr/>
        </p:nvSpPr>
        <p:spPr>
          <a:xfrm>
            <a:off x="4105738" y="4136371"/>
            <a:ext cx="1298432"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685" name="線"/>
          <p:cNvSpPr/>
          <p:nvPr/>
        </p:nvSpPr>
        <p:spPr>
          <a:xfrm flipH="1" flipV="1">
            <a:off x="2982912" y="4083050"/>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6" name="円形"/>
          <p:cNvSpPr/>
          <p:nvPr/>
        </p:nvSpPr>
        <p:spPr>
          <a:xfrm>
            <a:off x="8331200" y="5348287"/>
            <a:ext cx="142876"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7" name="線"/>
          <p:cNvSpPr/>
          <p:nvPr/>
        </p:nvSpPr>
        <p:spPr>
          <a:xfrm>
            <a:off x="8472487" y="5440363"/>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8" name="線"/>
          <p:cNvSpPr/>
          <p:nvPr/>
        </p:nvSpPr>
        <p:spPr>
          <a:xfrm flipH="1" flipV="1">
            <a:off x="8040687" y="4071937"/>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9" name="円形"/>
          <p:cNvSpPr/>
          <p:nvPr/>
        </p:nvSpPr>
        <p:spPr>
          <a:xfrm>
            <a:off x="4035426" y="4875212"/>
            <a:ext cx="144463"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円形"/>
          <p:cNvSpPr/>
          <p:nvPr/>
        </p:nvSpPr>
        <p:spPr>
          <a:xfrm>
            <a:off x="9009062" y="4862512"/>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線"/>
          <p:cNvSpPr/>
          <p:nvPr/>
        </p:nvSpPr>
        <p:spPr>
          <a:xfrm>
            <a:off x="8577263" y="4935537"/>
            <a:ext cx="431801" cy="28733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cubicBezTo>
                  <a:pt x="14374" y="835"/>
                  <a:pt x="7147" y="1790"/>
                  <a:pt x="3574" y="5370"/>
                </a:cubicBezTo>
                <a:cubicBezTo>
                  <a:pt x="0" y="8950"/>
                  <a:pt x="0" y="15275"/>
                  <a:pt x="0" y="2160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λ1&lt;0, λ2&lt;0"/>
          <p:cNvSpPr/>
          <p:nvPr/>
        </p:nvSpPr>
        <p:spPr>
          <a:xfrm>
            <a:off x="8527091" y="3944055"/>
            <a:ext cx="1086836"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&lt;0, λ</a:t>
            </a:r>
            <a:r>
              <a:rPr baseline="-25000"/>
              <a:t>2</a:t>
            </a:r>
            <a:r>
              <a:t>&lt;0</a:t>
            </a:r>
          </a:p>
        </p:txBody>
      </p:sp>
      <p:sp>
        <p:nvSpPr>
          <p:cNvPr id="693" name="固定点に収束する"/>
          <p:cNvSpPr/>
          <p:nvPr/>
        </p:nvSpPr>
        <p:spPr>
          <a:xfrm>
            <a:off x="7781925" y="3124776"/>
            <a:ext cx="2564805"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400"/>
            </a:lvl1pPr>
          </a:lstStyle>
          <a:p>
            <a:r>
              <a:t>固定点に収束する</a:t>
            </a:r>
          </a:p>
        </p:txBody>
      </p:sp>
      <p:sp>
        <p:nvSpPr>
          <p:cNvPr id="694" name="xss"/>
          <p:cNvSpPr/>
          <p:nvPr/>
        </p:nvSpPr>
        <p:spPr>
          <a:xfrm>
            <a:off x="2811099" y="5361921"/>
            <a:ext cx="496931"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695" name="固有値と解軌道の収束・発散"/>
          <p:cNvSpPr txBox="1">
            <a:spLocks noGrp="1"/>
          </p:cNvSpPr>
          <p:nvPr>
            <p:ph type="title"/>
          </p:nvPr>
        </p:nvSpPr>
        <p:spPr>
          <a:prstGeom prst="rect">
            <a:avLst/>
          </a:prstGeom>
        </p:spPr>
        <p:txBody>
          <a:bodyPr/>
          <a:lstStyle/>
          <a:p>
            <a:r>
              <a:t>固有値と解軌道の収束・発散</a:t>
            </a:r>
          </a:p>
        </p:txBody>
      </p:sp>
      <p:pic>
        <p:nvPicPr>
          <p:cNvPr id="696" name="droppedImage.pdf" descr="droppedImage.pdf"/>
          <p:cNvPicPr>
            <a:picLocks noChangeAspect="1"/>
          </p:cNvPicPr>
          <p:nvPr/>
        </p:nvPicPr>
        <p:blipFill>
          <a:blip r:embed="rId2"/>
          <a:stretch>
            <a:fillRect/>
          </a:stretch>
        </p:blipFill>
        <p:spPr>
          <a:xfrm>
            <a:off x="2476501" y="1727201"/>
            <a:ext cx="6709509" cy="863601"/>
          </a:xfrm>
          <a:prstGeom prst="rect">
            <a:avLst/>
          </a:prstGeom>
          <a:ln w="12700">
            <a:miter lim="400000"/>
          </a:ln>
        </p:spPr>
      </p:pic>
      <p:sp>
        <p:nvSpPr>
          <p:cNvPr id="697" name="x(TMG)"/>
          <p:cNvSpPr/>
          <p:nvPr/>
        </p:nvSpPr>
        <p:spPr>
          <a:xfrm>
            <a:off x="4038600" y="6075938"/>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698" name="y(LacY-GFP)"/>
          <p:cNvSpPr/>
          <p:nvPr/>
        </p:nvSpPr>
        <p:spPr>
          <a:xfrm rot="16200000">
            <a:off x="1217197" y="4374138"/>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699" name="v2"/>
          <p:cNvSpPr/>
          <p:nvPr/>
        </p:nvSpPr>
        <p:spPr>
          <a:xfrm>
            <a:off x="4915525" y="5529838"/>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00" name="摂動Δx0 により、固定点から離れた"/>
          <p:cNvSpPr/>
          <p:nvPr/>
        </p:nvSpPr>
        <p:spPr>
          <a:xfrm>
            <a:off x="1604992" y="3105150"/>
            <a:ext cx="4996756"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a:t>摂動Δ</a:t>
            </a:r>
            <a:r>
              <a:rPr sz="2400" b="1">
                <a:latin typeface="Times New Roman"/>
                <a:ea typeface="Times New Roman"/>
                <a:cs typeface="Times New Roman"/>
                <a:sym typeface="Times New Roman"/>
              </a:rPr>
              <a:t>x</a:t>
            </a:r>
            <a:r>
              <a:rPr sz="2400" baseline="-5999"/>
              <a:t>0 </a:t>
            </a:r>
            <a:r>
              <a:rPr sz="2400"/>
              <a:t>により、固定点から離れた</a:t>
            </a:r>
          </a:p>
        </p:txBody>
      </p:sp>
      <p:sp>
        <p:nvSpPr>
          <p:cNvPr id="701" name="x(TMG)"/>
          <p:cNvSpPr/>
          <p:nvPr/>
        </p:nvSpPr>
        <p:spPr>
          <a:xfrm>
            <a:off x="9105900" y="6025138"/>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02" name="y(LacY-GFP)"/>
          <p:cNvSpPr/>
          <p:nvPr/>
        </p:nvSpPr>
        <p:spPr>
          <a:xfrm rot="16200000">
            <a:off x="6282760" y="4325075"/>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03" name="矢印"/>
          <p:cNvSpPr/>
          <p:nvPr/>
        </p:nvSpPr>
        <p:spPr>
          <a:xfrm>
            <a:off x="5867400" y="4711700"/>
            <a:ext cx="596900" cy="723900"/>
          </a:xfrm>
          <a:prstGeom prst="rightArrow">
            <a:avLst>
              <a:gd name="adj1" fmla="val 40351"/>
              <a:gd name="adj2" fmla="val 57447"/>
            </a:avLst>
          </a:prstGeom>
          <a:blipFill>
            <a:blip r:embed="rId3"/>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線"/>
          <p:cNvSpPr/>
          <p:nvPr/>
        </p:nvSpPr>
        <p:spPr>
          <a:xfrm>
            <a:off x="6273800" y="2552700"/>
            <a:ext cx="2209800" cy="1447800"/>
          </a:xfrm>
          <a:custGeom>
            <a:avLst/>
            <a:gdLst/>
            <a:ahLst/>
            <a:cxnLst>
              <a:cxn ang="0">
                <a:pos x="wd2" y="hd2"/>
              </a:cxn>
              <a:cxn ang="5400000">
                <a:pos x="wd2" y="hd2"/>
              </a:cxn>
              <a:cxn ang="10800000">
                <a:pos x="wd2" y="hd2"/>
              </a:cxn>
              <a:cxn ang="16200000">
                <a:pos x="wd2" y="hd2"/>
              </a:cxn>
            </a:cxnLst>
            <a:rect l="0" t="0" r="r" b="b"/>
            <a:pathLst>
              <a:path w="21600" h="21600" extrusionOk="0">
                <a:moveTo>
                  <a:pt x="21600" y="21600"/>
                </a:moveTo>
                <a:cubicBezTo>
                  <a:pt x="21600" y="21600"/>
                  <a:pt x="11621" y="8780"/>
                  <a:pt x="0" y="0"/>
                </a:cubicBezTo>
              </a:path>
            </a:pathLst>
          </a:custGeom>
          <a:ln w="38100">
            <a:solidFill>
              <a:srgbClr val="FF7E79"/>
            </a:solidFill>
            <a:miter lim="400000"/>
            <a:headEnd type="triangle"/>
            <a:tailEnd type="triangle"/>
          </a:ln>
        </p:spPr>
        <p:txBody>
          <a:bodyPr lIns="50800" tIns="50800" rIns="50800" bIns="50800" anchor="ctr"/>
          <a:lstStyle/>
          <a:p>
            <a:endParaRPr/>
          </a:p>
        </p:txBody>
      </p:sp>
      <p:sp>
        <p:nvSpPr>
          <p:cNvPr id="705" name="楕円"/>
          <p:cNvSpPr/>
          <p:nvPr/>
        </p:nvSpPr>
        <p:spPr>
          <a:xfrm>
            <a:off x="8445500" y="3848100"/>
            <a:ext cx="889000" cy="533400"/>
          </a:xfrm>
          <a:prstGeom prst="ellipse">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角丸四角形"/>
          <p:cNvSpPr/>
          <p:nvPr/>
        </p:nvSpPr>
        <p:spPr>
          <a:xfrm>
            <a:off x="4127500" y="2146300"/>
            <a:ext cx="2171700" cy="533400"/>
          </a:xfrm>
          <a:prstGeom prst="roundRect">
            <a:avLst>
              <a:gd name="adj" fmla="val 35714"/>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2" name="角丸四角形吹き出し 1">
            <a:extLst>
              <a:ext uri="{FF2B5EF4-FFF2-40B4-BE49-F238E27FC236}">
                <a16:creationId xmlns:a16="http://schemas.microsoft.com/office/drawing/2014/main" id="{4B37D46B-B7A8-7799-6AF5-AD42FD6D743D}"/>
              </a:ext>
            </a:extLst>
          </p:cNvPr>
          <p:cNvSpPr/>
          <p:nvPr/>
        </p:nvSpPr>
        <p:spPr>
          <a:xfrm>
            <a:off x="6464300" y="1271588"/>
            <a:ext cx="3408363" cy="657225"/>
          </a:xfrm>
          <a:prstGeom prst="wedgeRoundRectCallout">
            <a:avLst>
              <a:gd name="adj1" fmla="val -58560"/>
              <a:gd name="adj2" fmla="val 97283"/>
              <a:gd name="adj3" fmla="val 1666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l-GR" altLang="ja-JP" sz="2400" dirty="0">
                <a:solidFill>
                  <a:srgbClr val="C00000"/>
                </a:solidFill>
                <a:latin typeface="Times New Roman"/>
                <a:ea typeface="Times New Roman"/>
                <a:cs typeface="Times New Roman"/>
                <a:sym typeface="Times New Roman"/>
              </a:rPr>
              <a:t>λ</a:t>
            </a:r>
            <a:r>
              <a:rPr lang="el-GR" altLang="ja-JP" sz="2400" baseline="-25000" dirty="0">
                <a:solidFill>
                  <a:srgbClr val="C00000"/>
                </a:solidFill>
                <a:latin typeface="Times New Roman"/>
                <a:ea typeface="Times New Roman"/>
                <a:cs typeface="Times New Roman"/>
                <a:sym typeface="Times New Roman"/>
              </a:rPr>
              <a:t>1</a:t>
            </a:r>
            <a:r>
              <a:rPr lang="el-GR" altLang="ja-JP" sz="2400" dirty="0">
                <a:solidFill>
                  <a:srgbClr val="C00000"/>
                </a:solidFill>
                <a:latin typeface="Times New Roman"/>
                <a:ea typeface="Times New Roman"/>
                <a:cs typeface="Times New Roman"/>
                <a:sym typeface="Times New Roman"/>
              </a:rPr>
              <a:t>&lt;0 </a:t>
            </a:r>
            <a:r>
              <a:rPr lang="ja-JP" altLang="en-US" sz="2400">
                <a:solidFill>
                  <a:srgbClr val="C00000"/>
                </a:solidFill>
              </a:rPr>
              <a:t>ならこの項は減衰</a:t>
            </a:r>
            <a:endParaRPr lang="ja-JP" altLang="en-US" sz="2400" dirty="0">
              <a:solidFill>
                <a:srgbClr val="C00000"/>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線"/>
          <p:cNvSpPr/>
          <p:nvPr/>
        </p:nvSpPr>
        <p:spPr>
          <a:xfrm flipV="1">
            <a:off x="7356475" y="3510977"/>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0" name="線"/>
          <p:cNvSpPr/>
          <p:nvPr/>
        </p:nvSpPr>
        <p:spPr>
          <a:xfrm>
            <a:off x="7356476" y="5744589"/>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1" name="円形"/>
          <p:cNvSpPr/>
          <p:nvPr/>
        </p:nvSpPr>
        <p:spPr>
          <a:xfrm>
            <a:off x="8191500" y="5006401"/>
            <a:ext cx="142876" cy="144464"/>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2" name="線"/>
          <p:cNvSpPr/>
          <p:nvPr/>
        </p:nvSpPr>
        <p:spPr>
          <a:xfrm>
            <a:off x="8332787" y="5098477"/>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p:cNvSpPr/>
          <p:nvPr/>
        </p:nvSpPr>
        <p:spPr>
          <a:xfrm flipH="1" flipV="1">
            <a:off x="7900987" y="3730051"/>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円形"/>
          <p:cNvSpPr/>
          <p:nvPr/>
        </p:nvSpPr>
        <p:spPr>
          <a:xfrm>
            <a:off x="8869362" y="4520626"/>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5" name="λ1&gt;0, λ2&gt;0"/>
          <p:cNvSpPr/>
          <p:nvPr/>
        </p:nvSpPr>
        <p:spPr>
          <a:xfrm>
            <a:off x="8765216" y="2957644"/>
            <a:ext cx="1086836" cy="379591"/>
          </a:xfrm>
          <a:prstGeom prst="rect">
            <a:avLst/>
          </a:prstGeom>
          <a:ln w="25400">
            <a:solidFill>
              <a:srgbClr val="7A81FF"/>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&gt;0</a:t>
            </a:r>
          </a:p>
        </p:txBody>
      </p:sp>
      <p:sp>
        <p:nvSpPr>
          <p:cNvPr id="716" name="線"/>
          <p:cNvSpPr/>
          <p:nvPr/>
        </p:nvSpPr>
        <p:spPr>
          <a:xfrm flipV="1">
            <a:off x="2381250" y="3518915"/>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7" name="線"/>
          <p:cNvSpPr/>
          <p:nvPr/>
        </p:nvSpPr>
        <p:spPr>
          <a:xfrm>
            <a:off x="2381251" y="5752526"/>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8" name="円形"/>
          <p:cNvSpPr/>
          <p:nvPr/>
        </p:nvSpPr>
        <p:spPr>
          <a:xfrm>
            <a:off x="3216275" y="5014340"/>
            <a:ext cx="142876" cy="144463"/>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9" name="線"/>
          <p:cNvSpPr/>
          <p:nvPr/>
        </p:nvSpPr>
        <p:spPr>
          <a:xfrm>
            <a:off x="3357562" y="5106415"/>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0" name="線"/>
          <p:cNvSpPr/>
          <p:nvPr/>
        </p:nvSpPr>
        <p:spPr>
          <a:xfrm flipH="1" flipV="1">
            <a:off x="2925762" y="3737989"/>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1" name="円形"/>
          <p:cNvSpPr/>
          <p:nvPr/>
        </p:nvSpPr>
        <p:spPr>
          <a:xfrm>
            <a:off x="3894137" y="4528565"/>
            <a:ext cx="144464" cy="144463"/>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2" name="λ1&gt;0, λ2&lt;0"/>
          <p:cNvSpPr/>
          <p:nvPr/>
        </p:nvSpPr>
        <p:spPr>
          <a:xfrm>
            <a:off x="3902703" y="3049719"/>
            <a:ext cx="1086836" cy="379591"/>
          </a:xfrm>
          <a:prstGeom prst="rect">
            <a:avLst/>
          </a:prstGeom>
          <a:ln w="25400">
            <a:solidFill>
              <a:srgbClr val="7A81FF"/>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&lt;0</a:t>
            </a:r>
          </a:p>
        </p:txBody>
      </p:sp>
      <p:sp>
        <p:nvSpPr>
          <p:cNvPr id="723" name="線"/>
          <p:cNvSpPr/>
          <p:nvPr/>
        </p:nvSpPr>
        <p:spPr>
          <a:xfrm>
            <a:off x="3119437" y="3922140"/>
            <a:ext cx="790576" cy="911123"/>
          </a:xfrm>
          <a:custGeom>
            <a:avLst/>
            <a:gdLst/>
            <a:ahLst/>
            <a:cxnLst>
              <a:cxn ang="0">
                <a:pos x="wd2" y="hd2"/>
              </a:cxn>
              <a:cxn ang="5400000">
                <a:pos x="wd2" y="hd2"/>
              </a:cxn>
              <a:cxn ang="10800000">
                <a:pos x="wd2" y="hd2"/>
              </a:cxn>
              <a:cxn ang="16200000">
                <a:pos x="wd2" y="hd2"/>
              </a:cxn>
            </a:cxnLst>
            <a:rect l="0" t="0" r="r" b="b"/>
            <a:pathLst>
              <a:path w="21600" h="19995" extrusionOk="0">
                <a:moveTo>
                  <a:pt x="21600" y="15817"/>
                </a:moveTo>
                <a:cubicBezTo>
                  <a:pt x="17480" y="18708"/>
                  <a:pt x="13402" y="21600"/>
                  <a:pt x="9802" y="18952"/>
                </a:cubicBezTo>
                <a:cubicBezTo>
                  <a:pt x="6202" y="16305"/>
                  <a:pt x="3080" y="8152"/>
                  <a:pt x="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4" name="線"/>
          <p:cNvSpPr/>
          <p:nvPr/>
        </p:nvSpPr>
        <p:spPr>
          <a:xfrm>
            <a:off x="8929688" y="3650676"/>
            <a:ext cx="576263" cy="86518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2261" y="16210"/>
                  <a:pt x="4522" y="10820"/>
                  <a:pt x="8093" y="7213"/>
                </a:cubicBezTo>
                <a:cubicBezTo>
                  <a:pt x="11663" y="3607"/>
                  <a:pt x="16602" y="1783"/>
                  <a:pt x="2160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5" name="xss+Δx0"/>
          <p:cNvSpPr/>
          <p:nvPr/>
        </p:nvSpPr>
        <p:spPr>
          <a:xfrm>
            <a:off x="3877138" y="3911960"/>
            <a:ext cx="1298432"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726" name="xss"/>
          <p:cNvSpPr/>
          <p:nvPr/>
        </p:nvSpPr>
        <p:spPr>
          <a:xfrm>
            <a:off x="2704737" y="5007335"/>
            <a:ext cx="496931"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727" name="正の固有値を一つでも含むと発散"/>
          <p:cNvSpPr txBox="1">
            <a:spLocks noGrp="1"/>
          </p:cNvSpPr>
          <p:nvPr>
            <p:ph type="title"/>
          </p:nvPr>
        </p:nvSpPr>
        <p:spPr>
          <a:prstGeom prst="rect">
            <a:avLst/>
          </a:prstGeom>
        </p:spPr>
        <p:txBody>
          <a:bodyPr>
            <a:normAutofit/>
          </a:bodyPr>
          <a:lstStyle/>
          <a:p>
            <a:r>
              <a:t>正の固有値を一つでも含むと発散</a:t>
            </a:r>
          </a:p>
        </p:txBody>
      </p:sp>
      <p:sp>
        <p:nvSpPr>
          <p:cNvPr id="728" name="v1"/>
          <p:cNvSpPr/>
          <p:nvPr/>
        </p:nvSpPr>
        <p:spPr>
          <a:xfrm>
            <a:off x="2658268" y="3257552"/>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729" name="x(TMG)"/>
          <p:cNvSpPr/>
          <p:nvPr/>
        </p:nvSpPr>
        <p:spPr>
          <a:xfrm>
            <a:off x="4038600" y="5794377"/>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0" name="y(LacY-GFP)"/>
          <p:cNvSpPr/>
          <p:nvPr/>
        </p:nvSpPr>
        <p:spPr>
          <a:xfrm rot="16200000">
            <a:off x="1217197" y="4092577"/>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1" name="v2"/>
          <p:cNvSpPr/>
          <p:nvPr/>
        </p:nvSpPr>
        <p:spPr>
          <a:xfrm>
            <a:off x="4610725" y="5235577"/>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32" name="λ1&gt;0 の場合はλ1に対応する固有ベクトルv1 の方向に発散"/>
          <p:cNvSpPr/>
          <p:nvPr/>
        </p:nvSpPr>
        <p:spPr>
          <a:xfrm>
            <a:off x="1690371" y="1768934"/>
            <a:ext cx="4146865" cy="9028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a:t>
            </a:r>
            <a:r>
              <a:rPr sz="2400" dirty="0"/>
              <a:t>の場合は</a:t>
            </a: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400" dirty="0"/>
              <a:t>に対応する固有ベクトル</a:t>
            </a:r>
            <a:r>
              <a:rPr sz="2400" b="1" dirty="0">
                <a:latin typeface="Times New Roman"/>
                <a:ea typeface="Times New Roman"/>
                <a:cs typeface="Times New Roman"/>
                <a:sym typeface="Times New Roman"/>
              </a:rPr>
              <a:t>v</a:t>
            </a:r>
            <a:r>
              <a:rPr sz="2400" baseline="-5999" dirty="0"/>
              <a:t>1 </a:t>
            </a:r>
            <a:r>
              <a:rPr sz="2400" dirty="0" err="1"/>
              <a:t>の方向に発散</a:t>
            </a:r>
            <a:endParaRPr sz="2400" dirty="0"/>
          </a:p>
        </p:txBody>
      </p:sp>
      <p:sp>
        <p:nvSpPr>
          <p:cNvPr id="733" name="x(TMG)"/>
          <p:cNvSpPr/>
          <p:nvPr/>
        </p:nvSpPr>
        <p:spPr>
          <a:xfrm>
            <a:off x="9029700" y="5718177"/>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4" name="y(LacY-GFP)"/>
          <p:cNvSpPr/>
          <p:nvPr/>
        </p:nvSpPr>
        <p:spPr>
          <a:xfrm rot="16200000">
            <a:off x="6206560" y="4018114"/>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5" name="λ1&gt;0, λ2&gt;0 の場合は…"/>
          <p:cNvSpPr/>
          <p:nvPr/>
        </p:nvSpPr>
        <p:spPr>
          <a:xfrm>
            <a:off x="6718300" y="1768934"/>
            <a:ext cx="3797300" cy="9028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λ</a:t>
            </a:r>
            <a:r>
              <a:rPr sz="2800" baseline="-25000" dirty="0">
                <a:latin typeface="Times New Roman"/>
                <a:ea typeface="Times New Roman"/>
                <a:cs typeface="Times New Roman"/>
                <a:sym typeface="Times New Roman"/>
              </a:rPr>
              <a:t>2</a:t>
            </a:r>
            <a:r>
              <a:rPr sz="2800" dirty="0">
                <a:latin typeface="Times New Roman"/>
                <a:ea typeface="Times New Roman"/>
                <a:cs typeface="Times New Roman"/>
                <a:sym typeface="Times New Roman"/>
              </a:rPr>
              <a:t>&gt;0 </a:t>
            </a:r>
            <a:r>
              <a:rPr sz="2400" dirty="0" err="1"/>
              <a:t>の場合は</a:t>
            </a:r>
            <a:endParaRPr sz="2400" dirty="0"/>
          </a:p>
          <a:p>
            <a:pPr>
              <a:buClr>
                <a:srgbClr val="000000"/>
              </a:buClr>
              <a:buFont typeface="Arial"/>
              <a:defRPr sz="2400"/>
            </a:pPr>
            <a:r>
              <a:rPr sz="2400" b="1" dirty="0">
                <a:latin typeface="Times New Roman"/>
                <a:ea typeface="Times New Roman"/>
                <a:cs typeface="Times New Roman"/>
                <a:sym typeface="Times New Roman"/>
              </a:rPr>
              <a:t>v</a:t>
            </a:r>
            <a:r>
              <a:rPr sz="2400" baseline="-5999" dirty="0"/>
              <a:t>1 </a:t>
            </a:r>
            <a:r>
              <a:rPr sz="2400" dirty="0"/>
              <a:t>, </a:t>
            </a:r>
            <a:r>
              <a:rPr sz="2400" b="1" dirty="0">
                <a:latin typeface="Times New Roman"/>
                <a:ea typeface="Times New Roman"/>
                <a:cs typeface="Times New Roman"/>
                <a:sym typeface="Times New Roman"/>
              </a:rPr>
              <a:t>v</a:t>
            </a:r>
            <a:r>
              <a:rPr sz="2400" baseline="-5999" dirty="0"/>
              <a:t>2</a:t>
            </a:r>
            <a:r>
              <a:rPr sz="2400" dirty="0"/>
              <a:t>両方向について発散</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相平面と時系列の対応"/>
          <p:cNvSpPr txBox="1">
            <a:spLocks noGrp="1"/>
          </p:cNvSpPr>
          <p:nvPr>
            <p:ph type="title"/>
          </p:nvPr>
        </p:nvSpPr>
        <p:spPr>
          <a:prstGeom prst="rect">
            <a:avLst/>
          </a:prstGeom>
        </p:spPr>
        <p:txBody>
          <a:bodyPr/>
          <a:lstStyle/>
          <a:p>
            <a:r>
              <a:t>相平面と時系列の対応</a:t>
            </a:r>
          </a:p>
        </p:txBody>
      </p:sp>
      <p:sp>
        <p:nvSpPr>
          <p:cNvPr id="738" name="線"/>
          <p:cNvSpPr/>
          <p:nvPr/>
        </p:nvSpPr>
        <p:spPr>
          <a:xfrm>
            <a:off x="3434068" y="162877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39" name="線"/>
          <p:cNvSpPr/>
          <p:nvPr/>
        </p:nvSpPr>
        <p:spPr>
          <a:xfrm flipV="1">
            <a:off x="3434068" y="234791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0" name="線"/>
          <p:cNvSpPr/>
          <p:nvPr/>
        </p:nvSpPr>
        <p:spPr>
          <a:xfrm>
            <a:off x="2786369"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1" name="線"/>
          <p:cNvSpPr/>
          <p:nvPr/>
        </p:nvSpPr>
        <p:spPr>
          <a:xfrm flipH="1">
            <a:off x="3507094"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2" name="円形"/>
          <p:cNvSpPr/>
          <p:nvPr/>
        </p:nvSpPr>
        <p:spPr>
          <a:xfrm>
            <a:off x="3362630" y="2205037"/>
            <a:ext cx="144464"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3" name="Stable Node"/>
          <p:cNvSpPr/>
          <p:nvPr/>
        </p:nvSpPr>
        <p:spPr>
          <a:xfrm>
            <a:off x="2808280" y="3093642"/>
            <a:ext cx="1476366"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Stable Node</a:t>
            </a:r>
          </a:p>
        </p:txBody>
      </p:sp>
      <p:sp>
        <p:nvSpPr>
          <p:cNvPr id="744" name="線"/>
          <p:cNvSpPr/>
          <p:nvPr/>
        </p:nvSpPr>
        <p:spPr>
          <a:xfrm>
            <a:off x="2495855" y="48688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5" name="線"/>
          <p:cNvSpPr/>
          <p:nvPr/>
        </p:nvSpPr>
        <p:spPr>
          <a:xfrm flipV="1">
            <a:off x="2491093" y="40767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6" name="線"/>
          <p:cNvSpPr/>
          <p:nvPr/>
        </p:nvSpPr>
        <p:spPr>
          <a:xfrm>
            <a:off x="25625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7" name="線"/>
          <p:cNvSpPr/>
          <p:nvPr/>
        </p:nvSpPr>
        <p:spPr>
          <a:xfrm flipH="1">
            <a:off x="18418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8" name="円形"/>
          <p:cNvSpPr/>
          <p:nvPr/>
        </p:nvSpPr>
        <p:spPr>
          <a:xfrm>
            <a:off x="2424419" y="47148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9" name="Unstable Node"/>
          <p:cNvSpPr/>
          <p:nvPr/>
        </p:nvSpPr>
        <p:spPr>
          <a:xfrm>
            <a:off x="1792678" y="5603479"/>
            <a:ext cx="1752083"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Unstable Node</a:t>
            </a:r>
          </a:p>
        </p:txBody>
      </p:sp>
      <p:sp>
        <p:nvSpPr>
          <p:cNvPr id="750" name="線"/>
          <p:cNvSpPr/>
          <p:nvPr/>
        </p:nvSpPr>
        <p:spPr>
          <a:xfrm>
            <a:off x="7288448" y="15573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1" name="線"/>
          <p:cNvSpPr/>
          <p:nvPr/>
        </p:nvSpPr>
        <p:spPr>
          <a:xfrm>
            <a:off x="7288448" y="35734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2" name="線"/>
          <p:cNvSpPr/>
          <p:nvPr/>
        </p:nvSpPr>
        <p:spPr>
          <a:xfrm>
            <a:off x="7288449" y="1698416"/>
            <a:ext cx="3025775" cy="1082885"/>
          </a:xfrm>
          <a:custGeom>
            <a:avLst/>
            <a:gdLst/>
            <a:ahLst/>
            <a:cxnLst>
              <a:cxn ang="0">
                <a:pos x="wd2" y="hd2"/>
              </a:cxn>
              <a:cxn ang="5400000">
                <a:pos x="wd2" y="hd2"/>
              </a:cxn>
              <a:cxn ang="10800000">
                <a:pos x="wd2" y="hd2"/>
              </a:cxn>
              <a:cxn ang="16200000">
                <a:pos x="wd2" y="hd2"/>
              </a:cxn>
            </a:cxnLst>
            <a:rect l="0" t="0" r="r" b="b"/>
            <a:pathLst>
              <a:path w="21600" h="20929" extrusionOk="0">
                <a:moveTo>
                  <a:pt x="0" y="20929"/>
                </a:moveTo>
                <a:cubicBezTo>
                  <a:pt x="1417" y="20591"/>
                  <a:pt x="2833" y="20254"/>
                  <a:pt x="3604" y="16756"/>
                </a:cubicBezTo>
                <a:cubicBezTo>
                  <a:pt x="4374" y="13259"/>
                  <a:pt x="3694" y="740"/>
                  <a:pt x="4635" y="35"/>
                </a:cubicBezTo>
                <a:cubicBezTo>
                  <a:pt x="5576" y="-671"/>
                  <a:pt x="7888" y="9577"/>
                  <a:pt x="9259" y="12584"/>
                </a:cubicBezTo>
                <a:cubicBezTo>
                  <a:pt x="10630" y="15590"/>
                  <a:pt x="10800" y="16756"/>
                  <a:pt x="12851" y="18137"/>
                </a:cubicBezTo>
                <a:cubicBezTo>
                  <a:pt x="14902" y="19518"/>
                  <a:pt x="18246" y="20223"/>
                  <a:pt x="21600" y="2092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3" name="線"/>
          <p:cNvSpPr/>
          <p:nvPr/>
        </p:nvSpPr>
        <p:spPr>
          <a:xfrm>
            <a:off x="7288448" y="40052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4" name="線"/>
          <p:cNvSpPr/>
          <p:nvPr/>
        </p:nvSpPr>
        <p:spPr>
          <a:xfrm>
            <a:off x="7288448" y="60213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5" name="双方向矢印"/>
          <p:cNvSpPr/>
          <p:nvPr/>
        </p:nvSpPr>
        <p:spPr>
          <a:xfrm>
            <a:off x="5980283" y="21336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6" name="双方向矢印"/>
          <p:cNvSpPr/>
          <p:nvPr/>
        </p:nvSpPr>
        <p:spPr>
          <a:xfrm>
            <a:off x="5980283" y="43656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7" name="time"/>
          <p:cNvSpPr/>
          <p:nvPr/>
        </p:nvSpPr>
        <p:spPr>
          <a:xfrm>
            <a:off x="10125208" y="3577343"/>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758" name="time"/>
          <p:cNvSpPr/>
          <p:nvPr/>
        </p:nvSpPr>
        <p:spPr>
          <a:xfrm>
            <a:off x="10072820" y="6069718"/>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759" name="安定な定常状態"/>
          <p:cNvSpPr/>
          <p:nvPr/>
        </p:nvSpPr>
        <p:spPr>
          <a:xfrm>
            <a:off x="7568528" y="2928055"/>
            <a:ext cx="171841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安定な定常状態</a:t>
            </a:r>
          </a:p>
        </p:txBody>
      </p:sp>
      <p:sp>
        <p:nvSpPr>
          <p:cNvPr id="760" name="不安定な定常状態"/>
          <p:cNvSpPr/>
          <p:nvPr/>
        </p:nvSpPr>
        <p:spPr>
          <a:xfrm>
            <a:off x="7556848" y="5383918"/>
            <a:ext cx="4394201"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buClr>
                <a:srgbClr val="000000"/>
              </a:buClr>
              <a:buFont typeface="Arial"/>
            </a:lvl1pPr>
          </a:lstStyle>
          <a:p>
            <a:r>
              <a:t>不安定な定常状態</a:t>
            </a:r>
          </a:p>
        </p:txBody>
      </p:sp>
      <p:sp>
        <p:nvSpPr>
          <p:cNvPr id="761" name="線"/>
          <p:cNvSpPr/>
          <p:nvPr/>
        </p:nvSpPr>
        <p:spPr>
          <a:xfrm>
            <a:off x="7288448" y="4365626"/>
            <a:ext cx="3022602" cy="864249"/>
          </a:xfrm>
          <a:custGeom>
            <a:avLst/>
            <a:gdLst/>
            <a:ahLst/>
            <a:cxnLst>
              <a:cxn ang="0">
                <a:pos x="wd2" y="hd2"/>
              </a:cxn>
              <a:cxn ang="5400000">
                <a:pos x="wd2" y="hd2"/>
              </a:cxn>
              <a:cxn ang="10800000">
                <a:pos x="wd2" y="hd2"/>
              </a:cxn>
              <a:cxn ang="16200000">
                <a:pos x="wd2" y="hd2"/>
              </a:cxn>
            </a:cxnLst>
            <a:rect l="0" t="0" r="r" b="b"/>
            <a:pathLst>
              <a:path w="21589" h="20999" extrusionOk="0">
                <a:moveTo>
                  <a:pt x="0" y="20688"/>
                </a:moveTo>
                <a:cubicBezTo>
                  <a:pt x="7196" y="21144"/>
                  <a:pt x="14392" y="21600"/>
                  <a:pt x="17996" y="18123"/>
                </a:cubicBezTo>
                <a:cubicBezTo>
                  <a:pt x="21600" y="14647"/>
                  <a:pt x="21589" y="7295"/>
                  <a:pt x="21589"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2" name="線"/>
          <p:cNvSpPr/>
          <p:nvPr/>
        </p:nvSpPr>
        <p:spPr>
          <a:xfrm>
            <a:off x="4585005" y="414972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3" name="線"/>
          <p:cNvSpPr/>
          <p:nvPr/>
        </p:nvSpPr>
        <p:spPr>
          <a:xfrm flipV="1">
            <a:off x="4585005" y="486886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4" name="線"/>
          <p:cNvSpPr/>
          <p:nvPr/>
        </p:nvSpPr>
        <p:spPr>
          <a:xfrm>
            <a:off x="46580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5" name="線"/>
          <p:cNvSpPr/>
          <p:nvPr/>
        </p:nvSpPr>
        <p:spPr>
          <a:xfrm flipH="1">
            <a:off x="39373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6" name="円形"/>
          <p:cNvSpPr/>
          <p:nvPr/>
        </p:nvSpPr>
        <p:spPr>
          <a:xfrm>
            <a:off x="4513569" y="4725987"/>
            <a:ext cx="144463"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7" name="Saddle"/>
          <p:cNvSpPr/>
          <p:nvPr/>
        </p:nvSpPr>
        <p:spPr>
          <a:xfrm>
            <a:off x="4215054" y="5639992"/>
            <a:ext cx="873637"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Saddle</a:t>
            </a:r>
          </a:p>
        </p:txBody>
      </p:sp>
      <p:sp>
        <p:nvSpPr>
          <p:cNvPr id="768" name="線"/>
          <p:cNvSpPr/>
          <p:nvPr/>
        </p:nvSpPr>
        <p:spPr>
          <a:xfrm>
            <a:off x="2497443" y="16287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9" name="線"/>
          <p:cNvSpPr/>
          <p:nvPr/>
        </p:nvSpPr>
        <p:spPr>
          <a:xfrm>
            <a:off x="2497444" y="31416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0" name="線"/>
          <p:cNvSpPr/>
          <p:nvPr/>
        </p:nvSpPr>
        <p:spPr>
          <a:xfrm>
            <a:off x="1560818"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1" name="線"/>
          <p:cNvSpPr/>
          <p:nvPr/>
        </p:nvSpPr>
        <p:spPr>
          <a:xfrm>
            <a:off x="1560819"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2" name="線"/>
          <p:cNvSpPr/>
          <p:nvPr/>
        </p:nvSpPr>
        <p:spPr>
          <a:xfrm>
            <a:off x="3721405"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3" name="線"/>
          <p:cNvSpPr/>
          <p:nvPr/>
        </p:nvSpPr>
        <p:spPr>
          <a:xfrm>
            <a:off x="3721406"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4" name="線"/>
          <p:cNvSpPr/>
          <p:nvPr/>
        </p:nvSpPr>
        <p:spPr>
          <a:xfrm>
            <a:off x="7720248" y="1555751"/>
            <a:ext cx="1588" cy="720725"/>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5" name="摂動"/>
          <p:cNvSpPr/>
          <p:nvPr/>
        </p:nvSpPr>
        <p:spPr>
          <a:xfrm>
            <a:off x="7368137" y="1113413"/>
            <a:ext cx="718145"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400"/>
            </a:lvl1pPr>
          </a:lstStyle>
          <a:p>
            <a:r>
              <a:t>摂動</a:t>
            </a:r>
          </a:p>
        </p:txBody>
      </p:sp>
      <p:sp>
        <p:nvSpPr>
          <p:cNvPr id="776" name="摂動"/>
          <p:cNvSpPr/>
          <p:nvPr/>
        </p:nvSpPr>
        <p:spPr>
          <a:xfrm>
            <a:off x="8397215" y="3837693"/>
            <a:ext cx="56425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摂動</a:t>
            </a:r>
          </a:p>
        </p:txBody>
      </p:sp>
      <p:sp>
        <p:nvSpPr>
          <p:cNvPr id="777" name="線"/>
          <p:cNvSpPr/>
          <p:nvPr/>
        </p:nvSpPr>
        <p:spPr>
          <a:xfrm>
            <a:off x="9017235" y="4364037"/>
            <a:ext cx="1588" cy="720726"/>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複素数の固有値を含む固定点"/>
          <p:cNvSpPr txBox="1">
            <a:spLocks noGrp="1"/>
          </p:cNvSpPr>
          <p:nvPr>
            <p:ph type="title"/>
          </p:nvPr>
        </p:nvSpPr>
        <p:spPr>
          <a:prstGeom prst="rect">
            <a:avLst/>
          </a:prstGeom>
        </p:spPr>
        <p:txBody>
          <a:bodyPr/>
          <a:lstStyle/>
          <a:p>
            <a:r>
              <a:t>複素数の固有値を含む固定点</a:t>
            </a:r>
          </a:p>
        </p:txBody>
      </p:sp>
      <p:sp>
        <p:nvSpPr>
          <p:cNvPr id="597" name="スパイラル (Spiral) または  フォーカス  (Focus)…"/>
          <p:cNvSpPr txBox="1">
            <a:spLocks noGrp="1"/>
          </p:cNvSpPr>
          <p:nvPr>
            <p:ph type="body" sz="half" idx="4294967295"/>
          </p:nvPr>
        </p:nvSpPr>
        <p:spPr>
          <a:xfrm>
            <a:off x="330738" y="1600200"/>
            <a:ext cx="7566028" cy="4978400"/>
          </a:xfrm>
          <a:prstGeom prst="rect">
            <a:avLst/>
          </a:prstGeom>
        </p:spPr>
        <p:txBody>
          <a:bodyPr>
            <a:normAutofit/>
          </a:bodyPr>
          <a:lstStyle/>
          <a:p>
            <a:pPr marL="383540">
              <a:buClr>
                <a:srgbClr val="000000"/>
              </a:buClr>
              <a:buSzPct val="100000"/>
              <a:buFont typeface="Arial"/>
            </a:pPr>
            <a:r>
              <a:rPr dirty="0" err="1"/>
              <a:t>スパイラル</a:t>
            </a:r>
            <a:r>
              <a:rPr dirty="0"/>
              <a:t> (Spiral) </a:t>
            </a:r>
            <a:r>
              <a:rPr dirty="0" err="1"/>
              <a:t>または</a:t>
            </a:r>
            <a:r>
              <a:rPr lang="ja-JP" altLang="en-US"/>
              <a:t>　　　　　　</a:t>
            </a:r>
            <a:r>
              <a:rPr dirty="0" err="1"/>
              <a:t>フォーカス</a:t>
            </a:r>
            <a:r>
              <a:rPr dirty="0"/>
              <a:t>  (Focus) </a:t>
            </a:r>
          </a:p>
          <a:p>
            <a:pPr marL="783590" lvl="1">
              <a:buClr>
                <a:srgbClr val="000000"/>
              </a:buClr>
              <a:buSzPct val="100000"/>
              <a:buFont typeface="Arial"/>
            </a:pPr>
            <a:r>
              <a:rPr dirty="0" err="1"/>
              <a:t>すべての固有値の実部が負</a:t>
            </a:r>
            <a:endParaRPr dirty="0"/>
          </a:p>
          <a:p>
            <a:pPr marL="1183639" lvl="2">
              <a:buClr>
                <a:srgbClr val="000000"/>
              </a:buClr>
              <a:buSzPct val="100000"/>
              <a:buFont typeface="Arial"/>
            </a:pPr>
            <a:r>
              <a:rPr dirty="0" err="1"/>
              <a:t>安定</a:t>
            </a:r>
            <a:endParaRPr dirty="0"/>
          </a:p>
          <a:p>
            <a:pPr marL="783590" lvl="1">
              <a:buClr>
                <a:srgbClr val="000000"/>
              </a:buClr>
              <a:buSzPct val="100000"/>
              <a:buFont typeface="Arial"/>
            </a:pPr>
            <a:r>
              <a:rPr dirty="0" err="1"/>
              <a:t>すべての固有値の実部が正</a:t>
            </a:r>
            <a:endParaRPr dirty="0"/>
          </a:p>
          <a:p>
            <a:pPr marL="1183639" lvl="2">
              <a:buClr>
                <a:srgbClr val="000000"/>
              </a:buClr>
              <a:buSzPct val="100000"/>
              <a:buFont typeface="Arial"/>
            </a:pPr>
            <a:r>
              <a:rPr dirty="0" err="1"/>
              <a:t>不安定</a:t>
            </a:r>
            <a:endParaRPr dirty="0"/>
          </a:p>
          <a:p>
            <a:pPr marL="383540">
              <a:buClr>
                <a:srgbClr val="000000"/>
              </a:buClr>
              <a:buSzPct val="100000"/>
              <a:buFont typeface="Arial"/>
            </a:pPr>
            <a:r>
              <a:rPr dirty="0" err="1"/>
              <a:t>センタ</a:t>
            </a:r>
            <a:r>
              <a:rPr dirty="0"/>
              <a:t>ー (Center)</a:t>
            </a:r>
          </a:p>
          <a:p>
            <a:pPr marL="783590" lvl="1">
              <a:buClr>
                <a:srgbClr val="000000"/>
              </a:buClr>
              <a:buSzPct val="100000"/>
              <a:buFont typeface="Arial"/>
            </a:pPr>
            <a:r>
              <a:rPr dirty="0" err="1"/>
              <a:t>すべての固有値が純虚数</a:t>
            </a:r>
            <a:endParaRPr dirty="0"/>
          </a:p>
          <a:p>
            <a:pPr marL="783590" lvl="1">
              <a:buClr>
                <a:srgbClr val="000000"/>
              </a:buClr>
              <a:buSzPct val="100000"/>
              <a:buFont typeface="Arial"/>
            </a:pPr>
            <a:r>
              <a:rPr dirty="0" err="1"/>
              <a:t>解が三角関数で書ける</a:t>
            </a:r>
            <a:r>
              <a:rPr lang="en-US" dirty="0"/>
              <a:t> (</a:t>
            </a:r>
            <a:r>
              <a:rPr lang="en-US" dirty="0" err="1"/>
              <a:t>Eulerの公式より</a:t>
            </a:r>
            <a:r>
              <a:rPr lang="en-US" dirty="0"/>
              <a:t>)</a:t>
            </a:r>
            <a:endParaRPr dirty="0"/>
          </a:p>
        </p:txBody>
      </p:sp>
      <p:sp>
        <p:nvSpPr>
          <p:cNvPr id="598" name="楕円"/>
          <p:cNvSpPr/>
          <p:nvPr/>
        </p:nvSpPr>
        <p:spPr>
          <a:xfrm>
            <a:off x="8534547" y="4140201"/>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99" name="楕円"/>
          <p:cNvSpPr/>
          <p:nvPr/>
        </p:nvSpPr>
        <p:spPr>
          <a:xfrm>
            <a:off x="8750446" y="4378325"/>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0" name="楕円"/>
          <p:cNvSpPr/>
          <p:nvPr/>
        </p:nvSpPr>
        <p:spPr>
          <a:xfrm>
            <a:off x="9007622" y="4621213"/>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1" name="三角形"/>
          <p:cNvSpPr/>
          <p:nvPr/>
        </p:nvSpPr>
        <p:spPr>
          <a:xfrm rot="16200000">
            <a:off x="9686530" y="56727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2" name="三角形"/>
          <p:cNvSpPr/>
          <p:nvPr/>
        </p:nvSpPr>
        <p:spPr>
          <a:xfrm rot="16200000">
            <a:off x="9686530" y="58886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3" name="三角形"/>
          <p:cNvSpPr/>
          <p:nvPr/>
        </p:nvSpPr>
        <p:spPr>
          <a:xfrm rot="16200000">
            <a:off x="9686530" y="54568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4" name="円形"/>
          <p:cNvSpPr/>
          <p:nvPr/>
        </p:nvSpPr>
        <p:spPr>
          <a:xfrm>
            <a:off x="9687071" y="5027612"/>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613" name="グループ"/>
          <p:cNvGrpSpPr/>
          <p:nvPr/>
        </p:nvGrpSpPr>
        <p:grpSpPr>
          <a:xfrm>
            <a:off x="7556647" y="2071688"/>
            <a:ext cx="1655763" cy="1081089"/>
            <a:chOff x="0" y="0"/>
            <a:chExt cx="1655762" cy="1081087"/>
          </a:xfrm>
        </p:grpSpPr>
        <p:grpSp>
          <p:nvGrpSpPr>
            <p:cNvPr id="611" name="グループ"/>
            <p:cNvGrpSpPr/>
            <p:nvPr/>
          </p:nvGrpSpPr>
          <p:grpSpPr>
            <a:xfrm>
              <a:off x="0" y="0"/>
              <a:ext cx="1655763" cy="1081088"/>
              <a:chOff x="0" y="0"/>
              <a:chExt cx="1655762" cy="1081087"/>
            </a:xfrm>
          </p:grpSpPr>
          <p:sp>
            <p:nvSpPr>
              <p:cNvPr id="605" name="線"/>
              <p:cNvSpPr/>
              <p:nvPr/>
            </p:nvSpPr>
            <p:spPr>
              <a:xfrm flipH="1">
                <a:off x="0" y="0"/>
                <a:ext cx="91916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6" name="線"/>
              <p:cNvSpPr/>
              <p:nvPr/>
            </p:nvSpPr>
            <p:spPr>
              <a:xfrm>
                <a:off x="919083" y="0"/>
                <a:ext cx="73668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7" name="線"/>
              <p:cNvSpPr/>
              <p:nvPr/>
            </p:nvSpPr>
            <p:spPr>
              <a:xfrm rot="10800000" flipH="1">
                <a:off x="981261" y="576262"/>
                <a:ext cx="67450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8" name="線"/>
              <p:cNvSpPr/>
              <p:nvPr/>
            </p:nvSpPr>
            <p:spPr>
              <a:xfrm rot="10800000">
                <a:off x="367647" y="576262"/>
                <a:ext cx="613675" cy="50482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9" name="線"/>
              <p:cNvSpPr/>
              <p:nvPr/>
            </p:nvSpPr>
            <p:spPr>
              <a:xfrm flipH="1">
                <a:off x="367646" y="288924"/>
                <a:ext cx="540679"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0" name="線"/>
              <p:cNvSpPr/>
              <p:nvPr/>
            </p:nvSpPr>
            <p:spPr>
              <a:xfrm>
                <a:off x="858273" y="288925"/>
                <a:ext cx="429843" cy="21590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2" name="線"/>
            <p:cNvSpPr/>
            <p:nvPr/>
          </p:nvSpPr>
          <p:spPr>
            <a:xfrm rot="10800000" flipH="1">
              <a:off x="847463" y="506412"/>
              <a:ext cx="440653"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4" name="三角形"/>
          <p:cNvSpPr/>
          <p:nvPr/>
        </p:nvSpPr>
        <p:spPr>
          <a:xfrm rot="16200000">
            <a:off x="8419705" y="2646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5" name="円形"/>
          <p:cNvSpPr/>
          <p:nvPr/>
        </p:nvSpPr>
        <p:spPr>
          <a:xfrm>
            <a:off x="8275785" y="27209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6" name="Stable Spiral"/>
          <p:cNvSpPr/>
          <p:nvPr/>
        </p:nvSpPr>
        <p:spPr>
          <a:xfrm>
            <a:off x="7648404" y="3297238"/>
            <a:ext cx="1381944"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Spiral</a:t>
            </a:r>
          </a:p>
        </p:txBody>
      </p:sp>
      <p:sp>
        <p:nvSpPr>
          <p:cNvPr id="617" name="Center"/>
          <p:cNvSpPr/>
          <p:nvPr/>
        </p:nvSpPr>
        <p:spPr>
          <a:xfrm>
            <a:off x="9337503" y="6323013"/>
            <a:ext cx="804492"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grpSp>
        <p:nvGrpSpPr>
          <p:cNvPr id="621" name="グループ"/>
          <p:cNvGrpSpPr/>
          <p:nvPr/>
        </p:nvGrpSpPr>
        <p:grpSpPr>
          <a:xfrm>
            <a:off x="9852166" y="1844671"/>
            <a:ext cx="1439874" cy="1295179"/>
            <a:chOff x="0" y="0"/>
            <a:chExt cx="1439872" cy="1295177"/>
          </a:xfrm>
        </p:grpSpPr>
        <p:sp>
          <p:nvSpPr>
            <p:cNvPr id="618" name="線"/>
            <p:cNvSpPr/>
            <p:nvPr/>
          </p:nvSpPr>
          <p:spPr>
            <a:xfrm>
              <a:off x="-1" y="-1"/>
              <a:ext cx="1439874"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9" name="線"/>
            <p:cNvSpPr/>
            <p:nvPr/>
          </p:nvSpPr>
          <p:spPr>
            <a:xfrm>
              <a:off x="781747" y="360361"/>
              <a:ext cx="381907" cy="358783"/>
            </a:xfrm>
            <a:custGeom>
              <a:avLst/>
              <a:gdLst/>
              <a:ahLst/>
              <a:cxnLst>
                <a:cxn ang="0">
                  <a:pos x="wd2" y="hd2"/>
                </a:cxn>
                <a:cxn ang="5400000">
                  <a:pos x="wd2" y="hd2"/>
                </a:cxn>
                <a:cxn ang="10800000">
                  <a:pos x="wd2" y="hd2"/>
                </a:cxn>
                <a:cxn ang="16200000">
                  <a:pos x="wd2" y="hd2"/>
                </a:cxn>
              </a:cxnLst>
              <a:rect l="0" t="0" r="r" b="b"/>
              <a:pathLst>
                <a:path w="20983" h="21263" extrusionOk="0">
                  <a:moveTo>
                    <a:pt x="0" y="20"/>
                  </a:moveTo>
                  <a:lnTo>
                    <a:pt x="0" y="20"/>
                  </a:lnTo>
                  <a:cubicBezTo>
                    <a:pt x="10915" y="-331"/>
                    <a:pt x="20293" y="4136"/>
                    <a:pt x="20947" y="9997"/>
                  </a:cubicBezTo>
                  <a:cubicBezTo>
                    <a:pt x="21600" y="15858"/>
                    <a:pt x="13281" y="20894"/>
                    <a:pt x="2366" y="21245"/>
                  </a:cubicBezTo>
                  <a:cubicBezTo>
                    <a:pt x="1732" y="21265"/>
                    <a:pt x="1096" y="21269"/>
                    <a:pt x="461" y="21257"/>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20" name="線"/>
            <p:cNvSpPr/>
            <p:nvPr/>
          </p:nvSpPr>
          <p:spPr>
            <a:xfrm>
              <a:off x="276139" y="362128"/>
              <a:ext cx="1156020" cy="645990"/>
            </a:xfrm>
            <a:custGeom>
              <a:avLst/>
              <a:gdLst/>
              <a:ahLst/>
              <a:cxnLst>
                <a:cxn ang="0">
                  <a:pos x="wd2" y="hd2"/>
                </a:cxn>
                <a:cxn ang="5400000">
                  <a:pos x="wd2" y="hd2"/>
                </a:cxn>
                <a:cxn ang="10800000">
                  <a:pos x="wd2" y="hd2"/>
                </a:cxn>
                <a:cxn ang="16200000">
                  <a:pos x="wd2" y="hd2"/>
                </a:cxn>
              </a:cxnLst>
              <a:rect l="0" t="0" r="r" b="b"/>
              <a:pathLst>
                <a:path w="20802" h="20805" extrusionOk="0">
                  <a:moveTo>
                    <a:pt x="20802" y="12066"/>
                  </a:moveTo>
                  <a:lnTo>
                    <a:pt x="20802" y="12066"/>
                  </a:lnTo>
                  <a:cubicBezTo>
                    <a:pt x="19864" y="17750"/>
                    <a:pt x="14478" y="21600"/>
                    <a:pt x="8772" y="20665"/>
                  </a:cubicBezTo>
                  <a:cubicBezTo>
                    <a:pt x="3067" y="19731"/>
                    <a:pt x="-798" y="14365"/>
                    <a:pt x="140" y="8681"/>
                  </a:cubicBezTo>
                  <a:cubicBezTo>
                    <a:pt x="905" y="4044"/>
                    <a:pt x="4689" y="489"/>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22" name="円形"/>
          <p:cNvSpPr/>
          <p:nvPr/>
        </p:nvSpPr>
        <p:spPr>
          <a:xfrm>
            <a:off x="10501460" y="2492376"/>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3" name="三角形"/>
          <p:cNvSpPr/>
          <p:nvPr/>
        </p:nvSpPr>
        <p:spPr>
          <a:xfrm rot="5400000">
            <a:off x="10427495" y="2994621"/>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4" name="Unstable Spiral"/>
          <p:cNvSpPr/>
          <p:nvPr/>
        </p:nvSpPr>
        <p:spPr>
          <a:xfrm>
            <a:off x="9728029" y="3357563"/>
            <a:ext cx="1658145"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Unstable Spiral</a:t>
            </a:r>
          </a:p>
        </p:txBody>
      </p:sp>
      <p:sp>
        <p:nvSpPr>
          <p:cNvPr id="627" name="線"/>
          <p:cNvSpPr/>
          <p:nvPr/>
        </p:nvSpPr>
        <p:spPr>
          <a:xfrm>
            <a:off x="7367734" y="1831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8" name="線"/>
          <p:cNvSpPr/>
          <p:nvPr/>
        </p:nvSpPr>
        <p:spPr>
          <a:xfrm>
            <a:off x="7367735" y="33448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9" name="x"/>
          <p:cNvSpPr/>
          <p:nvPr/>
        </p:nvSpPr>
        <p:spPr>
          <a:xfrm>
            <a:off x="9281291" y="30914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0" name="y"/>
          <p:cNvSpPr/>
          <p:nvPr/>
        </p:nvSpPr>
        <p:spPr>
          <a:xfrm>
            <a:off x="7234384" y="13134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1" name="線"/>
          <p:cNvSpPr/>
          <p:nvPr/>
        </p:nvSpPr>
        <p:spPr>
          <a:xfrm>
            <a:off x="9685484" y="18415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2" name="線"/>
          <p:cNvSpPr/>
          <p:nvPr/>
        </p:nvSpPr>
        <p:spPr>
          <a:xfrm>
            <a:off x="9662625" y="3352801"/>
            <a:ext cx="1627823" cy="1595"/>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3" name="x"/>
          <p:cNvSpPr/>
          <p:nvPr/>
        </p:nvSpPr>
        <p:spPr>
          <a:xfrm>
            <a:off x="11323784" y="31041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4" name="y"/>
          <p:cNvSpPr/>
          <p:nvPr/>
        </p:nvSpPr>
        <p:spPr>
          <a:xfrm>
            <a:off x="9545784" y="13261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5" name="線"/>
          <p:cNvSpPr/>
          <p:nvPr/>
        </p:nvSpPr>
        <p:spPr>
          <a:xfrm>
            <a:off x="8275784" y="4185920"/>
            <a:ext cx="1588" cy="207676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6" name="線"/>
          <p:cNvSpPr/>
          <p:nvPr/>
        </p:nvSpPr>
        <p:spPr>
          <a:xfrm flipV="1">
            <a:off x="8275784" y="6258535"/>
            <a:ext cx="2814320" cy="2567"/>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7" name="x"/>
          <p:cNvSpPr/>
          <p:nvPr/>
        </p:nvSpPr>
        <p:spPr>
          <a:xfrm>
            <a:off x="11171384" y="60378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8" name="y"/>
          <p:cNvSpPr/>
          <p:nvPr/>
        </p:nvSpPr>
        <p:spPr>
          <a:xfrm>
            <a:off x="7843984" y="40058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extLst>
      <p:ext uri="{BB962C8B-B14F-4D97-AF65-F5344CB8AC3E}">
        <p14:creationId xmlns:p14="http://schemas.microsoft.com/office/powerpoint/2010/main" val="187737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相平面と時系列の対応"/>
          <p:cNvSpPr txBox="1">
            <a:spLocks noGrp="1"/>
          </p:cNvSpPr>
          <p:nvPr>
            <p:ph type="title"/>
          </p:nvPr>
        </p:nvSpPr>
        <p:spPr>
          <a:prstGeom prst="rect">
            <a:avLst/>
          </a:prstGeom>
        </p:spPr>
        <p:txBody>
          <a:bodyPr/>
          <a:lstStyle/>
          <a:p>
            <a:r>
              <a:t>相平面と時系列の対応</a:t>
            </a:r>
          </a:p>
        </p:txBody>
      </p:sp>
      <p:sp>
        <p:nvSpPr>
          <p:cNvPr id="811" name="楕円"/>
          <p:cNvSpPr/>
          <p:nvPr/>
        </p:nvSpPr>
        <p:spPr>
          <a:xfrm>
            <a:off x="2782887" y="3603626"/>
            <a:ext cx="2160588" cy="154781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2" name="楕円"/>
          <p:cNvSpPr/>
          <p:nvPr/>
        </p:nvSpPr>
        <p:spPr>
          <a:xfrm>
            <a:off x="2998787" y="3759200"/>
            <a:ext cx="1743076" cy="117633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3" name="楕円"/>
          <p:cNvSpPr/>
          <p:nvPr/>
        </p:nvSpPr>
        <p:spPr>
          <a:xfrm>
            <a:off x="3255962" y="3917950"/>
            <a:ext cx="1322388" cy="80168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4" name="三角形"/>
          <p:cNvSpPr/>
          <p:nvPr/>
        </p:nvSpPr>
        <p:spPr>
          <a:xfrm rot="16200000">
            <a:off x="3927783" y="48236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5" name="三角形"/>
          <p:cNvSpPr/>
          <p:nvPr/>
        </p:nvSpPr>
        <p:spPr>
          <a:xfrm rot="16200000">
            <a:off x="3927783" y="50395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6" name="三角形"/>
          <p:cNvSpPr/>
          <p:nvPr/>
        </p:nvSpPr>
        <p:spPr>
          <a:xfrm rot="16200000">
            <a:off x="3927783" y="46077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7" name="楕円"/>
          <p:cNvSpPr/>
          <p:nvPr/>
        </p:nvSpPr>
        <p:spPr>
          <a:xfrm>
            <a:off x="3811587" y="4278312"/>
            <a:ext cx="123826" cy="117476"/>
          </a:xfrm>
          <a:prstGeom prst="ellipse">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8" name="線"/>
          <p:cNvSpPr/>
          <p:nvPr/>
        </p:nvSpPr>
        <p:spPr>
          <a:xfrm flipH="1">
            <a:off x="2855913" y="1344613"/>
            <a:ext cx="107950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9" name="線"/>
          <p:cNvSpPr/>
          <p:nvPr/>
        </p:nvSpPr>
        <p:spPr>
          <a:xfrm>
            <a:off x="3935412" y="1344613"/>
            <a:ext cx="865188"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0" name="線"/>
          <p:cNvSpPr/>
          <p:nvPr/>
        </p:nvSpPr>
        <p:spPr>
          <a:xfrm rot="10800000" flipH="1">
            <a:off x="4008438" y="1920875"/>
            <a:ext cx="792163"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1" name="線"/>
          <p:cNvSpPr/>
          <p:nvPr/>
        </p:nvSpPr>
        <p:spPr>
          <a:xfrm rot="10800000">
            <a:off x="3287712" y="1920876"/>
            <a:ext cx="720726"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2" name="線"/>
          <p:cNvSpPr/>
          <p:nvPr/>
        </p:nvSpPr>
        <p:spPr>
          <a:xfrm flipH="1">
            <a:off x="3287713" y="1633466"/>
            <a:ext cx="635003" cy="287410"/>
          </a:xfrm>
          <a:custGeom>
            <a:avLst/>
            <a:gdLst/>
            <a:ahLst/>
            <a:cxnLst>
              <a:cxn ang="0">
                <a:pos x="wd2" y="hd2"/>
              </a:cxn>
              <a:cxn ang="5400000">
                <a:pos x="wd2" y="hd2"/>
              </a:cxn>
              <a:cxn ang="10800000">
                <a:pos x="wd2" y="hd2"/>
              </a:cxn>
              <a:cxn ang="16200000">
                <a:pos x="wd2" y="hd2"/>
              </a:cxn>
            </a:cxnLst>
            <a:rect l="0" t="0" r="r" b="b"/>
            <a:pathLst>
              <a:path w="21600" h="19491" extrusionOk="0">
                <a:moveTo>
                  <a:pt x="0" y="663"/>
                </a:moveTo>
                <a:cubicBezTo>
                  <a:pt x="9166" y="-2109"/>
                  <a:pt x="18577" y="4074"/>
                  <a:pt x="21021" y="14472"/>
                </a:cubicBezTo>
                <a:cubicBezTo>
                  <a:pt x="21405" y="16110"/>
                  <a:pt x="21600" y="17797"/>
                  <a:pt x="21600" y="19491"/>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3" name="線"/>
          <p:cNvSpPr/>
          <p:nvPr/>
        </p:nvSpPr>
        <p:spPr>
          <a:xfrm>
            <a:off x="3863976" y="1633538"/>
            <a:ext cx="504825"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4" name="線"/>
          <p:cNvSpPr/>
          <p:nvPr/>
        </p:nvSpPr>
        <p:spPr>
          <a:xfrm rot="10800000" flipH="1">
            <a:off x="3851274" y="1851026"/>
            <a:ext cx="517526" cy="215943"/>
          </a:xfrm>
          <a:custGeom>
            <a:avLst/>
            <a:gdLst/>
            <a:ahLst/>
            <a:cxnLst>
              <a:cxn ang="0">
                <a:pos x="wd2" y="hd2"/>
              </a:cxn>
              <a:cxn ang="5400000">
                <a:pos x="wd2" y="hd2"/>
              </a:cxn>
              <a:cxn ang="10800000">
                <a:pos x="wd2" y="hd2"/>
              </a:cxn>
              <a:cxn ang="16200000">
                <a:pos x="wd2" y="hd2"/>
              </a:cxn>
            </a:cxnLst>
            <a:rect l="0" t="0" r="r" b="b"/>
            <a:pathLst>
              <a:path w="21600" h="19815" extrusionOk="0">
                <a:moveTo>
                  <a:pt x="0" y="404"/>
                </a:moveTo>
                <a:cubicBezTo>
                  <a:pt x="9739" y="-1785"/>
                  <a:pt x="19247" y="5131"/>
                  <a:pt x="21236" y="15851"/>
                </a:cubicBezTo>
                <a:cubicBezTo>
                  <a:pt x="21478" y="17155"/>
                  <a:pt x="21600" y="18484"/>
                  <a:pt x="21600" y="19815"/>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5" name="三角形"/>
          <p:cNvSpPr/>
          <p:nvPr/>
        </p:nvSpPr>
        <p:spPr>
          <a:xfrm rot="16200000">
            <a:off x="3934871" y="191988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6" name="円形"/>
          <p:cNvSpPr/>
          <p:nvPr/>
        </p:nvSpPr>
        <p:spPr>
          <a:xfrm>
            <a:off x="3721101" y="1993901"/>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7" name="Stable Spiral"/>
          <p:cNvSpPr/>
          <p:nvPr/>
        </p:nvSpPr>
        <p:spPr>
          <a:xfrm>
            <a:off x="3196189" y="2545954"/>
            <a:ext cx="1490793"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Stable Spiral</a:t>
            </a:r>
          </a:p>
        </p:txBody>
      </p:sp>
      <p:sp>
        <p:nvSpPr>
          <p:cNvPr id="828" name="Center"/>
          <p:cNvSpPr/>
          <p:nvPr/>
        </p:nvSpPr>
        <p:spPr>
          <a:xfrm>
            <a:off x="3454901" y="5424092"/>
            <a:ext cx="843180"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Center</a:t>
            </a:r>
          </a:p>
        </p:txBody>
      </p:sp>
      <p:sp>
        <p:nvSpPr>
          <p:cNvPr id="829" name="線"/>
          <p:cNvSpPr/>
          <p:nvPr/>
        </p:nvSpPr>
        <p:spPr>
          <a:xfrm>
            <a:off x="6743700" y="12017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0" name="線"/>
          <p:cNvSpPr/>
          <p:nvPr/>
        </p:nvSpPr>
        <p:spPr>
          <a:xfrm>
            <a:off x="6743700" y="32178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1" name="線"/>
          <p:cNvSpPr/>
          <p:nvPr/>
        </p:nvSpPr>
        <p:spPr>
          <a:xfrm>
            <a:off x="6743700" y="36750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2" name="線"/>
          <p:cNvSpPr/>
          <p:nvPr/>
        </p:nvSpPr>
        <p:spPr>
          <a:xfrm>
            <a:off x="6743700" y="56911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3" name="双方向矢印"/>
          <p:cNvSpPr/>
          <p:nvPr/>
        </p:nvSpPr>
        <p:spPr>
          <a:xfrm>
            <a:off x="5375276" y="17780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4" name="双方向矢印"/>
          <p:cNvSpPr/>
          <p:nvPr/>
        </p:nvSpPr>
        <p:spPr>
          <a:xfrm>
            <a:off x="5375276" y="40354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5" name="time"/>
          <p:cNvSpPr/>
          <p:nvPr/>
        </p:nvSpPr>
        <p:spPr>
          <a:xfrm>
            <a:off x="9194748" y="3196343"/>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836" name="time"/>
          <p:cNvSpPr/>
          <p:nvPr/>
        </p:nvSpPr>
        <p:spPr>
          <a:xfrm>
            <a:off x="9205861" y="5726818"/>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837" name="三角関数"/>
          <p:cNvSpPr/>
          <p:nvPr/>
        </p:nvSpPr>
        <p:spPr>
          <a:xfrm>
            <a:off x="8094890" y="5261680"/>
            <a:ext cx="102592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三角関数</a:t>
            </a:r>
          </a:p>
        </p:txBody>
      </p:sp>
      <p:sp>
        <p:nvSpPr>
          <p:cNvPr id="838" name="減衰振動"/>
          <p:cNvSpPr/>
          <p:nvPr/>
        </p:nvSpPr>
        <p:spPr>
          <a:xfrm>
            <a:off x="8072609" y="2775655"/>
            <a:ext cx="102592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減衰振動</a:t>
            </a:r>
          </a:p>
        </p:txBody>
      </p:sp>
      <p:sp>
        <p:nvSpPr>
          <p:cNvPr id="839" name="線"/>
          <p:cNvSpPr/>
          <p:nvPr/>
        </p:nvSpPr>
        <p:spPr>
          <a:xfrm>
            <a:off x="6743700" y="3885631"/>
            <a:ext cx="2952750" cy="1244412"/>
          </a:xfrm>
          <a:custGeom>
            <a:avLst/>
            <a:gdLst/>
            <a:ahLst/>
            <a:cxnLst>
              <a:cxn ang="0">
                <a:pos x="wd2" y="hd2"/>
              </a:cxn>
              <a:cxn ang="5400000">
                <a:pos x="wd2" y="hd2"/>
              </a:cxn>
              <a:cxn ang="10800000">
                <a:pos x="wd2" y="hd2"/>
              </a:cxn>
              <a:cxn ang="16200000">
                <a:pos x="wd2" y="hd2"/>
              </a:cxn>
            </a:cxnLst>
            <a:rect l="0" t="0" r="r" b="b"/>
            <a:pathLst>
              <a:path w="21600" h="19484" extrusionOk="0">
                <a:moveTo>
                  <a:pt x="0" y="13605"/>
                </a:moveTo>
                <a:cubicBezTo>
                  <a:pt x="917" y="6372"/>
                  <a:pt x="1835" y="-861"/>
                  <a:pt x="3159" y="84"/>
                </a:cubicBezTo>
                <a:cubicBezTo>
                  <a:pt x="4483" y="1028"/>
                  <a:pt x="6329" y="19248"/>
                  <a:pt x="7908" y="19248"/>
                </a:cubicBezTo>
                <a:cubicBezTo>
                  <a:pt x="9488" y="19248"/>
                  <a:pt x="10986" y="84"/>
                  <a:pt x="12646" y="84"/>
                </a:cubicBezTo>
                <a:cubicBezTo>
                  <a:pt x="14307" y="84"/>
                  <a:pt x="16421" y="17756"/>
                  <a:pt x="17907" y="19248"/>
                </a:cubicBezTo>
                <a:cubicBezTo>
                  <a:pt x="19394" y="20739"/>
                  <a:pt x="20497" y="14923"/>
                  <a:pt x="21600" y="9106"/>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0" name="線"/>
          <p:cNvSpPr/>
          <p:nvPr/>
        </p:nvSpPr>
        <p:spPr>
          <a:xfrm>
            <a:off x="6743700" y="1410244"/>
            <a:ext cx="3024188" cy="1235784"/>
          </a:xfrm>
          <a:custGeom>
            <a:avLst/>
            <a:gdLst/>
            <a:ahLst/>
            <a:cxnLst>
              <a:cxn ang="0">
                <a:pos x="wd2" y="hd2"/>
              </a:cxn>
              <a:cxn ang="5400000">
                <a:pos x="wd2" y="hd2"/>
              </a:cxn>
              <a:cxn ang="10800000">
                <a:pos x="wd2" y="hd2"/>
              </a:cxn>
              <a:cxn ang="16200000">
                <a:pos x="wd2" y="hd2"/>
              </a:cxn>
            </a:cxnLst>
            <a:rect l="0" t="0" r="r" b="b"/>
            <a:pathLst>
              <a:path w="21600" h="19349" extrusionOk="0">
                <a:moveTo>
                  <a:pt x="0" y="13637"/>
                </a:moveTo>
                <a:cubicBezTo>
                  <a:pt x="896" y="13637"/>
                  <a:pt x="1803" y="13637"/>
                  <a:pt x="2574" y="11375"/>
                </a:cubicBezTo>
                <a:cubicBezTo>
                  <a:pt x="3345" y="9113"/>
                  <a:pt x="3776" y="-1202"/>
                  <a:pt x="4626" y="115"/>
                </a:cubicBezTo>
                <a:cubicBezTo>
                  <a:pt x="5477" y="1433"/>
                  <a:pt x="6860" y="18161"/>
                  <a:pt x="7722" y="19279"/>
                </a:cubicBezTo>
                <a:cubicBezTo>
                  <a:pt x="8583" y="20398"/>
                  <a:pt x="9003" y="7622"/>
                  <a:pt x="9774" y="6876"/>
                </a:cubicBezTo>
                <a:cubicBezTo>
                  <a:pt x="10545" y="6131"/>
                  <a:pt x="11316" y="14010"/>
                  <a:pt x="12348" y="14756"/>
                </a:cubicBezTo>
                <a:cubicBezTo>
                  <a:pt x="13380" y="15501"/>
                  <a:pt x="14740" y="11549"/>
                  <a:pt x="15942" y="11375"/>
                </a:cubicBezTo>
                <a:cubicBezTo>
                  <a:pt x="17144" y="11201"/>
                  <a:pt x="18607" y="13438"/>
                  <a:pt x="19548" y="13637"/>
                </a:cubicBezTo>
                <a:cubicBezTo>
                  <a:pt x="20489" y="13836"/>
                  <a:pt x="21044" y="13165"/>
                  <a:pt x="21600" y="1251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841" name="image.pdf" descr="image.pdf"/>
          <p:cNvPicPr>
            <a:picLocks/>
          </p:cNvPicPr>
          <p:nvPr/>
        </p:nvPicPr>
        <p:blipFill>
          <a:blip r:embed="rId3"/>
          <a:stretch>
            <a:fillRect/>
          </a:stretch>
        </p:blipFill>
        <p:spPr>
          <a:xfrm>
            <a:off x="2244725" y="5884863"/>
            <a:ext cx="2844800" cy="800101"/>
          </a:xfrm>
          <a:prstGeom prst="rect">
            <a:avLst/>
          </a:prstGeom>
          <a:ln w="12700">
            <a:miter lim="400000"/>
          </a:ln>
        </p:spPr>
      </p:pic>
      <p:sp>
        <p:nvSpPr>
          <p:cNvPr id="842" name="固有値の虚数部分が三角関数になる"/>
          <p:cNvSpPr/>
          <p:nvPr/>
        </p:nvSpPr>
        <p:spPr>
          <a:xfrm>
            <a:off x="5386833" y="6202938"/>
            <a:ext cx="502701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2400"/>
            </a:lvl1pPr>
          </a:lstStyle>
          <a:p>
            <a:r>
              <a:t>固有値の虚数部分が三角関数になる</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9774-2979-8F73-AA32-7F3992CD089C}"/>
            </a:ext>
          </a:extLst>
        </p:cNvPr>
        <p:cNvGrpSpPr/>
        <p:nvPr/>
      </p:nvGrpSpPr>
      <p:grpSpPr>
        <a:xfrm>
          <a:off x="0" y="0"/>
          <a:ext cx="0" cy="0"/>
          <a:chOff x="0" y="0"/>
          <a:chExt cx="0" cy="0"/>
        </a:xfrm>
      </p:grpSpPr>
      <p:sp>
        <p:nvSpPr>
          <p:cNvPr id="647" name="演習5: Sel’kovモデルの固定点の分類">
            <a:extLst>
              <a:ext uri="{FF2B5EF4-FFF2-40B4-BE49-F238E27FC236}">
                <a16:creationId xmlns:a16="http://schemas.microsoft.com/office/drawing/2014/main" id="{443F65BB-8E3A-B8FD-1FB9-BA826C686C37}"/>
              </a:ext>
            </a:extLst>
          </p:cNvPr>
          <p:cNvSpPr txBox="1">
            <a:spLocks noGrp="1"/>
          </p:cNvSpPr>
          <p:nvPr>
            <p:ph type="title"/>
          </p:nvPr>
        </p:nvSpPr>
        <p:spPr>
          <a:prstGeom prst="rect">
            <a:avLst/>
          </a:prstGeom>
        </p:spPr>
        <p:txBody>
          <a:bodyPr/>
          <a:lstStyle/>
          <a:p>
            <a:r>
              <a:t>演習5: Sel’kovモデルの固定点の分類</a:t>
            </a:r>
          </a:p>
        </p:txBody>
      </p:sp>
      <p:sp>
        <p:nvSpPr>
          <p:cNvPr id="640" name="Sel’kovモデルのヤコビ行列の固有値を虚実・正負を調べ、固定点を分類しなさい(紙と鉛筆)。ただし、a=0.06, b=0.6とする。…">
            <a:extLst>
              <a:ext uri="{FF2B5EF4-FFF2-40B4-BE49-F238E27FC236}">
                <a16:creationId xmlns:a16="http://schemas.microsoft.com/office/drawing/2014/main" id="{FB72CC88-BFC0-F401-F2F5-D1302608A5D9}"/>
              </a:ext>
            </a:extLst>
          </p:cNvPr>
          <p:cNvSpPr txBox="1">
            <a:spLocks noGrp="1"/>
          </p:cNvSpPr>
          <p:nvPr>
            <p:ph type="body" idx="4294967295"/>
          </p:nvPr>
        </p:nvSpPr>
        <p:spPr>
          <a:xfrm>
            <a:off x="1108362" y="1821873"/>
            <a:ext cx="10210801" cy="2473036"/>
          </a:xfrm>
          <a:prstGeom prst="rect">
            <a:avLst/>
          </a:prstGeom>
        </p:spPr>
        <p:txBody>
          <a:bodyPr>
            <a:noAutofit/>
          </a:bodyPr>
          <a:lstStyle/>
          <a:p>
            <a:pPr marL="544424" indent="-514350" defTabSz="300736">
              <a:lnSpc>
                <a:spcPct val="90000"/>
              </a:lnSpc>
              <a:spcBef>
                <a:spcPts val="1200"/>
              </a:spcBef>
              <a:buClr>
                <a:srgbClr val="000000"/>
              </a:buClr>
              <a:buSzPct val="100000"/>
              <a:buFont typeface="+mj-lt"/>
              <a:buAutoNum type="arabicPeriod"/>
              <a:defRPr sz="1332"/>
            </a:pPr>
            <a:r>
              <a:rPr sz="2800" dirty="0" err="1"/>
              <a:t>Sel’kovモデルのヤコビ行列の固有値を虚実・正負を調べ、固定点を分類しなさい。ただし、a</a:t>
            </a:r>
            <a:r>
              <a:rPr sz="2800" dirty="0"/>
              <a:t>=0.06, b=0.6とする。</a:t>
            </a:r>
            <a:endParaRPr lang="en-US" sz="2800" dirty="0"/>
          </a:p>
          <a:p>
            <a:pPr marL="544424" indent="-514350" defTabSz="300736">
              <a:lnSpc>
                <a:spcPct val="90000"/>
              </a:lnSpc>
              <a:spcBef>
                <a:spcPts val="1200"/>
              </a:spcBef>
              <a:buClr>
                <a:srgbClr val="000000"/>
              </a:buClr>
              <a:buSzPct val="100000"/>
              <a:buFont typeface="+mj-lt"/>
              <a:buAutoNum type="arabicPeriod"/>
              <a:defRPr sz="1332"/>
            </a:pPr>
            <a:endParaRPr lang="en-US" altLang="ja-JP" sz="2800" dirty="0"/>
          </a:p>
          <a:p>
            <a:pPr marL="544424" indent="-514350" defTabSz="300736">
              <a:lnSpc>
                <a:spcPct val="90000"/>
              </a:lnSpc>
              <a:spcBef>
                <a:spcPts val="1200"/>
              </a:spcBef>
              <a:buClr>
                <a:srgbClr val="000000"/>
              </a:buClr>
              <a:buSzPct val="100000"/>
              <a:buFont typeface="+mj-lt"/>
              <a:buAutoNum type="arabicPeriod"/>
              <a:defRPr sz="1332"/>
            </a:pPr>
            <a:r>
              <a:rPr lang="ja-JP" altLang="en-US" sz="2800"/>
              <a:t>この固定点は安定か、それとも不安定か答えなさい。</a:t>
            </a:r>
            <a:endParaRPr sz="2800" dirty="0"/>
          </a:p>
          <a:p>
            <a:pPr marL="283819" indent="-253745" defTabSz="300736">
              <a:lnSpc>
                <a:spcPct val="90000"/>
              </a:lnSpc>
              <a:spcBef>
                <a:spcPts val="1200"/>
              </a:spcBef>
              <a:buClr>
                <a:srgbClr val="000000"/>
              </a:buClr>
              <a:buSzPct val="100000"/>
              <a:buFont typeface="Arial"/>
              <a:defRPr sz="1776"/>
            </a:pPr>
            <a:endParaRPr sz="2800" dirty="0"/>
          </a:p>
          <a:p>
            <a:pPr marL="283819" indent="-253745" defTabSz="300736">
              <a:lnSpc>
                <a:spcPct val="90000"/>
              </a:lnSpc>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9618752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91C5-63BC-A413-814C-BAFDF5D8338D}"/>
            </a:ext>
          </a:extLst>
        </p:cNvPr>
        <p:cNvGrpSpPr/>
        <p:nvPr/>
      </p:nvGrpSpPr>
      <p:grpSpPr>
        <a:xfrm>
          <a:off x="0" y="0"/>
          <a:ext cx="0" cy="0"/>
          <a:chOff x="0" y="0"/>
          <a:chExt cx="0" cy="0"/>
        </a:xfrm>
      </p:grpSpPr>
      <p:sp>
        <p:nvSpPr>
          <p:cNvPr id="709" name="固定点を回る周期解の正体">
            <a:extLst>
              <a:ext uri="{FF2B5EF4-FFF2-40B4-BE49-F238E27FC236}">
                <a16:creationId xmlns:a16="http://schemas.microsoft.com/office/drawing/2014/main" id="{5E043FE4-CCB8-BED2-140E-13D89FE37229}"/>
              </a:ext>
            </a:extLst>
          </p:cNvPr>
          <p:cNvSpPr txBox="1">
            <a:spLocks noGrp="1"/>
          </p:cNvSpPr>
          <p:nvPr>
            <p:ph type="title"/>
          </p:nvPr>
        </p:nvSpPr>
        <p:spPr>
          <a:prstGeom prst="rect">
            <a:avLst/>
          </a:prstGeom>
        </p:spPr>
        <p:txBody>
          <a:bodyPr/>
          <a:lstStyle/>
          <a:p>
            <a:r>
              <a:t>固定点を回る周期解の正体</a:t>
            </a:r>
          </a:p>
        </p:txBody>
      </p:sp>
      <p:sp>
        <p:nvSpPr>
          <p:cNvPr id="688" name="リミットサイクル (limit cycle)…">
            <a:extLst>
              <a:ext uri="{FF2B5EF4-FFF2-40B4-BE49-F238E27FC236}">
                <a16:creationId xmlns:a16="http://schemas.microsoft.com/office/drawing/2014/main" id="{8207D5BF-4BDE-9329-333B-88BC8266A278}"/>
              </a:ext>
            </a:extLst>
          </p:cNvPr>
          <p:cNvSpPr txBox="1">
            <a:spLocks noGrp="1"/>
          </p:cNvSpPr>
          <p:nvPr>
            <p:ph type="body" idx="4294967295"/>
          </p:nvPr>
        </p:nvSpPr>
        <p:spPr>
          <a:xfrm>
            <a:off x="247650" y="1400175"/>
            <a:ext cx="8575670" cy="5351463"/>
          </a:xfrm>
          <a:prstGeom prst="rect">
            <a:avLst/>
          </a:prstGeom>
        </p:spPr>
        <p:txBody>
          <a:bodyPr>
            <a:noAutofit/>
          </a:bodyPr>
          <a:lstStyle/>
          <a:p>
            <a:pPr marL="268477" indent="-240029" defTabSz="284479">
              <a:lnSpc>
                <a:spcPct val="90000"/>
              </a:lnSpc>
              <a:spcBef>
                <a:spcPts val="1100"/>
              </a:spcBef>
              <a:buClr>
                <a:srgbClr val="000000"/>
              </a:buClr>
              <a:buSzPct val="100000"/>
              <a:buFont typeface="Arial"/>
              <a:defRPr sz="1679"/>
            </a:pPr>
            <a:r>
              <a:rPr sz="2800" dirty="0" err="1"/>
              <a:t>リミットサイクル</a:t>
            </a:r>
            <a:r>
              <a:rPr sz="2800" dirty="0"/>
              <a:t> (limit cycle)</a:t>
            </a:r>
          </a:p>
          <a:p>
            <a:pPr marL="548512" lvl="1" indent="-200025" defTabSz="284479">
              <a:lnSpc>
                <a:spcPct val="90000"/>
              </a:lnSpc>
              <a:spcBef>
                <a:spcPts val="1100"/>
              </a:spcBef>
              <a:buClr>
                <a:srgbClr val="000000"/>
              </a:buClr>
              <a:buSzPct val="100000"/>
              <a:buFont typeface="Arial"/>
              <a:defRPr sz="1679"/>
            </a:pPr>
            <a:r>
              <a:rPr sz="2400" dirty="0" err="1"/>
              <a:t>閉曲線になっている解軌道</a:t>
            </a:r>
            <a:r>
              <a:rPr sz="2400" dirty="0"/>
              <a:t>(trajectory)</a:t>
            </a:r>
            <a:r>
              <a:rPr sz="2400" dirty="0" err="1"/>
              <a:t>のこと</a:t>
            </a:r>
            <a:endParaRPr sz="2400" dirty="0"/>
          </a:p>
          <a:p>
            <a:pPr marL="548512" lvl="1" indent="-200025" defTabSz="284479">
              <a:lnSpc>
                <a:spcPct val="90000"/>
              </a:lnSpc>
              <a:spcBef>
                <a:spcPts val="1100"/>
              </a:spcBef>
              <a:buClr>
                <a:srgbClr val="000000"/>
              </a:buClr>
              <a:buSzPct val="100000"/>
              <a:buFont typeface="Arial"/>
              <a:defRPr sz="1679"/>
            </a:pPr>
            <a:r>
              <a:rPr sz="2400" dirty="0" err="1"/>
              <a:t>非線形現象</a:t>
            </a:r>
            <a:endParaRPr sz="2400" dirty="0"/>
          </a:p>
          <a:p>
            <a:pPr marL="548512" lvl="1" indent="-200025" defTabSz="284479">
              <a:lnSpc>
                <a:spcPct val="90000"/>
              </a:lnSpc>
              <a:spcBef>
                <a:spcPts val="1100"/>
              </a:spcBef>
              <a:buClr>
                <a:srgbClr val="000000"/>
              </a:buClr>
              <a:buSzPct val="100000"/>
              <a:buFont typeface="Arial"/>
              <a:defRPr sz="1679"/>
            </a:pPr>
            <a:r>
              <a:rPr sz="2400" dirty="0"/>
              <a:t>Center (</a:t>
            </a:r>
            <a:r>
              <a:rPr sz="2400" dirty="0" err="1"/>
              <a:t>純虚数の固有値</a:t>
            </a:r>
            <a:r>
              <a:rPr sz="2400" dirty="0"/>
              <a:t>) </a:t>
            </a:r>
            <a:r>
              <a:rPr sz="2400" dirty="0" err="1"/>
              <a:t>とは異なる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隣接する軌道は閉曲線ではない</a:t>
            </a:r>
            <a:endParaRPr sz="2800" dirty="0"/>
          </a:p>
          <a:p>
            <a:pPr marL="548512" lvl="1" indent="-200025" defTabSz="284479">
              <a:lnSpc>
                <a:spcPct val="90000"/>
              </a:lnSpc>
              <a:spcBef>
                <a:spcPts val="1100"/>
              </a:spcBef>
              <a:buClr>
                <a:srgbClr val="000000"/>
              </a:buClr>
              <a:buSzPct val="100000"/>
              <a:buFont typeface="Arial"/>
              <a:defRPr sz="1679"/>
            </a:pPr>
            <a:r>
              <a:rPr sz="2400" dirty="0" err="1"/>
              <a:t>Centerとはこの点で異なる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生物学</a:t>
            </a:r>
            <a:r>
              <a:rPr lang="ja-JP" altLang="en-US" sz="2800"/>
              <a:t>では</a:t>
            </a:r>
            <a:r>
              <a:rPr sz="2800" dirty="0" err="1"/>
              <a:t>振動現象</a:t>
            </a:r>
            <a:r>
              <a:rPr lang="en-US" sz="2800" dirty="0"/>
              <a:t>、</a:t>
            </a:r>
            <a:r>
              <a:rPr lang="ja-JP" altLang="en-US" sz="2800"/>
              <a:t>マクロ経済学では景気循環</a:t>
            </a:r>
            <a:endParaRPr sz="2800" dirty="0"/>
          </a:p>
        </p:txBody>
      </p:sp>
      <p:sp>
        <p:nvSpPr>
          <p:cNvPr id="689" name="楕円">
            <a:extLst>
              <a:ext uri="{FF2B5EF4-FFF2-40B4-BE49-F238E27FC236}">
                <a16:creationId xmlns:a16="http://schemas.microsoft.com/office/drawing/2014/main" id="{1C16A06B-FB9B-710B-221D-8D109F9FC30C}"/>
              </a:ext>
            </a:extLst>
          </p:cNvPr>
          <p:cNvSpPr/>
          <p:nvPr/>
        </p:nvSpPr>
        <p:spPr>
          <a:xfrm>
            <a:off x="8809038" y="4162426"/>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楕円">
            <a:extLst>
              <a:ext uri="{FF2B5EF4-FFF2-40B4-BE49-F238E27FC236}">
                <a16:creationId xmlns:a16="http://schemas.microsoft.com/office/drawing/2014/main" id="{47B7A868-C681-1067-2A87-6840537D8D39}"/>
              </a:ext>
            </a:extLst>
          </p:cNvPr>
          <p:cNvSpPr/>
          <p:nvPr/>
        </p:nvSpPr>
        <p:spPr>
          <a:xfrm>
            <a:off x="9024937" y="4400550"/>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楕円">
            <a:extLst>
              <a:ext uri="{FF2B5EF4-FFF2-40B4-BE49-F238E27FC236}">
                <a16:creationId xmlns:a16="http://schemas.microsoft.com/office/drawing/2014/main" id="{35245687-2C78-9073-24D2-327CA75F644A}"/>
              </a:ext>
            </a:extLst>
          </p:cNvPr>
          <p:cNvSpPr/>
          <p:nvPr/>
        </p:nvSpPr>
        <p:spPr>
          <a:xfrm>
            <a:off x="9282113" y="4643438"/>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三角形">
            <a:extLst>
              <a:ext uri="{FF2B5EF4-FFF2-40B4-BE49-F238E27FC236}">
                <a16:creationId xmlns:a16="http://schemas.microsoft.com/office/drawing/2014/main" id="{100CA7C0-8B78-2DDE-4810-FF8C50419E2D}"/>
              </a:ext>
            </a:extLst>
          </p:cNvPr>
          <p:cNvSpPr/>
          <p:nvPr/>
        </p:nvSpPr>
        <p:spPr>
          <a:xfrm rot="16200000">
            <a:off x="9961021" y="5694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3" name="三角形">
            <a:extLst>
              <a:ext uri="{FF2B5EF4-FFF2-40B4-BE49-F238E27FC236}">
                <a16:creationId xmlns:a16="http://schemas.microsoft.com/office/drawing/2014/main" id="{38A89E71-5B00-4DB7-B949-873EC08BDE9C}"/>
              </a:ext>
            </a:extLst>
          </p:cNvPr>
          <p:cNvSpPr/>
          <p:nvPr/>
        </p:nvSpPr>
        <p:spPr>
          <a:xfrm rot="16200000">
            <a:off x="9961021" y="59108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4" name="三角形">
            <a:extLst>
              <a:ext uri="{FF2B5EF4-FFF2-40B4-BE49-F238E27FC236}">
                <a16:creationId xmlns:a16="http://schemas.microsoft.com/office/drawing/2014/main" id="{7891CF30-7B9E-C857-8E5D-1F8168A5893A}"/>
              </a:ext>
            </a:extLst>
          </p:cNvPr>
          <p:cNvSpPr/>
          <p:nvPr/>
        </p:nvSpPr>
        <p:spPr>
          <a:xfrm rot="16200000">
            <a:off x="9961021" y="54790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5" name="円形">
            <a:extLst>
              <a:ext uri="{FF2B5EF4-FFF2-40B4-BE49-F238E27FC236}">
                <a16:creationId xmlns:a16="http://schemas.microsoft.com/office/drawing/2014/main" id="{6B4FE9E4-D04E-973A-F363-BF5D51748D62}"/>
              </a:ext>
            </a:extLst>
          </p:cNvPr>
          <p:cNvSpPr/>
          <p:nvPr/>
        </p:nvSpPr>
        <p:spPr>
          <a:xfrm>
            <a:off x="9961562" y="5049837"/>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6" name="Center">
            <a:extLst>
              <a:ext uri="{FF2B5EF4-FFF2-40B4-BE49-F238E27FC236}">
                <a16:creationId xmlns:a16="http://schemas.microsoft.com/office/drawing/2014/main" id="{E22E3BBA-C6D1-6336-1737-7EA1213724F6}"/>
              </a:ext>
            </a:extLst>
          </p:cNvPr>
          <p:cNvSpPr/>
          <p:nvPr/>
        </p:nvSpPr>
        <p:spPr>
          <a:xfrm>
            <a:off x="9611994" y="6345238"/>
            <a:ext cx="804492"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sp>
        <p:nvSpPr>
          <p:cNvPr id="697" name="楕円">
            <a:extLst>
              <a:ext uri="{FF2B5EF4-FFF2-40B4-BE49-F238E27FC236}">
                <a16:creationId xmlns:a16="http://schemas.microsoft.com/office/drawing/2014/main" id="{8AD35AEC-FEF9-1782-A815-AC2681FC8D61}"/>
              </a:ext>
            </a:extLst>
          </p:cNvPr>
          <p:cNvSpPr/>
          <p:nvPr/>
        </p:nvSpPr>
        <p:spPr>
          <a:xfrm>
            <a:off x="8809038" y="1628776"/>
            <a:ext cx="2590801" cy="1800225"/>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01" name="グループ">
            <a:extLst>
              <a:ext uri="{FF2B5EF4-FFF2-40B4-BE49-F238E27FC236}">
                <a16:creationId xmlns:a16="http://schemas.microsoft.com/office/drawing/2014/main" id="{40E3B3B7-6069-DAC6-1D4D-2DC7C9BFD413}"/>
              </a:ext>
            </a:extLst>
          </p:cNvPr>
          <p:cNvGrpSpPr/>
          <p:nvPr/>
        </p:nvGrpSpPr>
        <p:grpSpPr>
          <a:xfrm>
            <a:off x="9169393" y="1917696"/>
            <a:ext cx="1873264" cy="1295179"/>
            <a:chOff x="0" y="0"/>
            <a:chExt cx="1873262" cy="1295177"/>
          </a:xfrm>
        </p:grpSpPr>
        <p:sp>
          <p:nvSpPr>
            <p:cNvPr id="698" name="線">
              <a:extLst>
                <a:ext uri="{FF2B5EF4-FFF2-40B4-BE49-F238E27FC236}">
                  <a16:creationId xmlns:a16="http://schemas.microsoft.com/office/drawing/2014/main" id="{360CC53D-F70F-BCCD-DFFD-561FB593B858}"/>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99" name="線">
              <a:extLst>
                <a:ext uri="{FF2B5EF4-FFF2-40B4-BE49-F238E27FC236}">
                  <a16:creationId xmlns:a16="http://schemas.microsoft.com/office/drawing/2014/main" id="{18CB217C-29A4-0333-956C-4E96618A0934}"/>
                </a:ext>
              </a:extLst>
            </p:cNvPr>
            <p:cNvSpPr/>
            <p:nvPr/>
          </p:nvSpPr>
          <p:spPr>
            <a:xfrm>
              <a:off x="1016568" y="360361"/>
              <a:ext cx="496341" cy="358783"/>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00" name="線">
              <a:extLst>
                <a:ext uri="{FF2B5EF4-FFF2-40B4-BE49-F238E27FC236}">
                  <a16:creationId xmlns:a16="http://schemas.microsoft.com/office/drawing/2014/main" id="{50299EE0-53C6-40E3-239D-24AC8A4806DF}"/>
                </a:ext>
              </a:extLst>
            </p:cNvPr>
            <p:cNvSpPr/>
            <p:nvPr/>
          </p:nvSpPr>
          <p:spPr>
            <a:xfrm>
              <a:off x="360252" y="362130"/>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02" name="円形">
            <a:extLst>
              <a:ext uri="{FF2B5EF4-FFF2-40B4-BE49-F238E27FC236}">
                <a16:creationId xmlns:a16="http://schemas.microsoft.com/office/drawing/2014/main" id="{66864F98-8FAE-ADC0-842E-ABC890149116}"/>
              </a:ext>
            </a:extLst>
          </p:cNvPr>
          <p:cNvSpPr/>
          <p:nvPr/>
        </p:nvSpPr>
        <p:spPr>
          <a:xfrm>
            <a:off x="10042526" y="2565401"/>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3" name="三角形">
            <a:extLst>
              <a:ext uri="{FF2B5EF4-FFF2-40B4-BE49-F238E27FC236}">
                <a16:creationId xmlns:a16="http://schemas.microsoft.com/office/drawing/2014/main" id="{CD816D84-1A83-9C29-E638-3B02D46B5851}"/>
              </a:ext>
            </a:extLst>
          </p:cNvPr>
          <p:cNvSpPr/>
          <p:nvPr/>
        </p:nvSpPr>
        <p:spPr>
          <a:xfrm rot="5400000">
            <a:off x="10032061" y="30676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Limit cycle">
            <a:extLst>
              <a:ext uri="{FF2B5EF4-FFF2-40B4-BE49-F238E27FC236}">
                <a16:creationId xmlns:a16="http://schemas.microsoft.com/office/drawing/2014/main" id="{4C1AC549-6B1E-C000-E4A5-FC5C20D1C75E}"/>
              </a:ext>
            </a:extLst>
          </p:cNvPr>
          <p:cNvSpPr/>
          <p:nvPr/>
        </p:nvSpPr>
        <p:spPr>
          <a:xfrm>
            <a:off x="9261158" y="3573463"/>
            <a:ext cx="1194297"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Limit cycle</a:t>
            </a:r>
          </a:p>
        </p:txBody>
      </p:sp>
      <p:sp>
        <p:nvSpPr>
          <p:cNvPr id="705" name="線">
            <a:extLst>
              <a:ext uri="{FF2B5EF4-FFF2-40B4-BE49-F238E27FC236}">
                <a16:creationId xmlns:a16="http://schemas.microsoft.com/office/drawing/2014/main" id="{B17CD833-14E4-45CE-D53D-28D28A333AE0}"/>
              </a:ext>
            </a:extLst>
          </p:cNvPr>
          <p:cNvSpPr/>
          <p:nvPr/>
        </p:nvSpPr>
        <p:spPr>
          <a:xfrm>
            <a:off x="8809031" y="1447764"/>
            <a:ext cx="797544" cy="709884"/>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三角形">
            <a:extLst>
              <a:ext uri="{FF2B5EF4-FFF2-40B4-BE49-F238E27FC236}">
                <a16:creationId xmlns:a16="http://schemas.microsoft.com/office/drawing/2014/main" id="{859EB887-3CD7-DA49-FAD1-D8D9E056F5C0}"/>
              </a:ext>
            </a:extLst>
          </p:cNvPr>
          <p:cNvSpPr/>
          <p:nvPr/>
        </p:nvSpPr>
        <p:spPr>
          <a:xfrm rot="10800000">
            <a:off x="8734584" y="2060178"/>
            <a:ext cx="145732" cy="28932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7" name="線">
            <a:extLst>
              <a:ext uri="{FF2B5EF4-FFF2-40B4-BE49-F238E27FC236}">
                <a16:creationId xmlns:a16="http://schemas.microsoft.com/office/drawing/2014/main" id="{C7EC3296-0B4A-BCCA-A6B2-FA43C6CEE532}"/>
              </a:ext>
            </a:extLst>
          </p:cNvPr>
          <p:cNvSpPr/>
          <p:nvPr/>
        </p:nvSpPr>
        <p:spPr>
          <a:xfrm rot="10800000">
            <a:off x="10602300" y="2828690"/>
            <a:ext cx="797545" cy="709885"/>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8" name="三角形">
            <a:extLst>
              <a:ext uri="{FF2B5EF4-FFF2-40B4-BE49-F238E27FC236}">
                <a16:creationId xmlns:a16="http://schemas.microsoft.com/office/drawing/2014/main" id="{5AF9B324-9629-E1C3-0A3C-E18260E7B39C}"/>
              </a:ext>
            </a:extLst>
          </p:cNvPr>
          <p:cNvSpPr/>
          <p:nvPr/>
        </p:nvSpPr>
        <p:spPr>
          <a:xfrm>
            <a:off x="11326973" y="2563812"/>
            <a:ext cx="145731" cy="28813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Tree>
    <p:extLst>
      <p:ext uri="{BB962C8B-B14F-4D97-AF65-F5344CB8AC3E}">
        <p14:creationId xmlns:p14="http://schemas.microsoft.com/office/powerpoint/2010/main" val="34124540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4028A-A88D-570F-34B3-671055B9D65D}"/>
            </a:ext>
          </a:extLst>
        </p:cNvPr>
        <p:cNvGrpSpPr/>
        <p:nvPr/>
      </p:nvGrpSpPr>
      <p:grpSpPr>
        <a:xfrm>
          <a:off x="0" y="0"/>
          <a:ext cx="0" cy="0"/>
          <a:chOff x="0" y="0"/>
          <a:chExt cx="0" cy="0"/>
        </a:xfrm>
      </p:grpSpPr>
      <p:sp>
        <p:nvSpPr>
          <p:cNvPr id="723" name="Supercritical Hopf 分岐の定義">
            <a:extLst>
              <a:ext uri="{FF2B5EF4-FFF2-40B4-BE49-F238E27FC236}">
                <a16:creationId xmlns:a16="http://schemas.microsoft.com/office/drawing/2014/main" id="{5028B852-610B-B1F6-17B5-F4DF8AC9CAFC}"/>
              </a:ext>
            </a:extLst>
          </p:cNvPr>
          <p:cNvSpPr txBox="1">
            <a:spLocks noGrp="1"/>
          </p:cNvSpPr>
          <p:nvPr>
            <p:ph type="title"/>
          </p:nvPr>
        </p:nvSpPr>
        <p:spPr>
          <a:prstGeom prst="rect">
            <a:avLst/>
          </a:prstGeom>
        </p:spPr>
        <p:txBody>
          <a:bodyPr/>
          <a:lstStyle/>
          <a:p>
            <a:r>
              <a:rPr sz="3600" dirty="0"/>
              <a:t>Supercritical Hopf </a:t>
            </a:r>
            <a:r>
              <a:rPr sz="3600" dirty="0" err="1"/>
              <a:t>分岐</a:t>
            </a:r>
            <a:r>
              <a:rPr lang="ja-JP" altLang="en-US" sz="3600"/>
              <a:t>（以下「</a:t>
            </a:r>
            <a:r>
              <a:rPr lang="en-US" altLang="ja-JP" sz="3600" dirty="0"/>
              <a:t>Hopf </a:t>
            </a:r>
            <a:r>
              <a:rPr lang="ja-JP" altLang="en-US" sz="3600"/>
              <a:t>分岐」）</a:t>
            </a:r>
            <a:r>
              <a:rPr sz="3600" dirty="0" err="1"/>
              <a:t>の定義</a:t>
            </a:r>
            <a:endParaRPr sz="3600" dirty="0"/>
          </a:p>
        </p:txBody>
      </p:sp>
      <p:sp>
        <p:nvSpPr>
          <p:cNvPr id="711" name="互いに共役な複素固有値が虚軸を左から右に横切る…">
            <a:extLst>
              <a:ext uri="{FF2B5EF4-FFF2-40B4-BE49-F238E27FC236}">
                <a16:creationId xmlns:a16="http://schemas.microsoft.com/office/drawing/2014/main" id="{949AB8E8-150D-3DD9-A2FA-7E97FC35F316}"/>
              </a:ext>
            </a:extLst>
          </p:cNvPr>
          <p:cNvSpPr txBox="1">
            <a:spLocks noGrp="1"/>
          </p:cNvSpPr>
          <p:nvPr>
            <p:ph type="body" sz="quarter" idx="4294967295"/>
          </p:nvPr>
        </p:nvSpPr>
        <p:spPr>
          <a:xfrm>
            <a:off x="202306" y="1333235"/>
            <a:ext cx="8463162" cy="2792676"/>
          </a:xfrm>
          <a:prstGeom prst="rect">
            <a:avLst/>
          </a:prstGeom>
        </p:spPr>
        <p:txBody>
          <a:bodyPr>
            <a:noAutofit/>
          </a:bodyPr>
          <a:lstStyle/>
          <a:p>
            <a:pPr marL="383540">
              <a:buClr>
                <a:srgbClr val="000000"/>
              </a:buClr>
              <a:buSzPct val="100000"/>
              <a:buFont typeface="Arial"/>
            </a:pPr>
            <a:r>
              <a:rPr sz="2800" dirty="0" err="1"/>
              <a:t>互いに共役な複素固有値</a:t>
            </a:r>
            <a:r>
              <a:rPr lang="en-US" sz="2800" dirty="0"/>
              <a:t> </a:t>
            </a:r>
            <a:r>
              <a:rPr lang="en-US" sz="2800" i="1" dirty="0">
                <a:latin typeface="Times New Roman" panose="02020603050405020304" pitchFamily="18" charset="0"/>
                <a:cs typeface="Times New Roman" panose="02020603050405020304" pitchFamily="18" charset="0"/>
              </a:rPr>
              <a:t>a </a:t>
            </a:r>
            <a:r>
              <a:rPr lang="en-US" sz="2800" dirty="0">
                <a:latin typeface="Times New Roman" panose="02020603050405020304" pitchFamily="18" charset="0"/>
                <a:cs typeface="Times New Roman" panose="02020603050405020304" pitchFamily="18" charset="0"/>
              </a:rPr>
              <a:t>± </a:t>
            </a:r>
            <a:r>
              <a:rPr lang="en-US" sz="2800" i="1" dirty="0">
                <a:latin typeface="Times New Roman" panose="02020603050405020304" pitchFamily="18" charset="0"/>
                <a:cs typeface="Times New Roman" panose="02020603050405020304" pitchFamily="18" charset="0"/>
              </a:rPr>
              <a:t>bi </a:t>
            </a:r>
            <a:r>
              <a:rPr sz="2800" dirty="0" err="1"/>
              <a:t>が</a:t>
            </a:r>
            <a:r>
              <a:rPr lang="ja-JP" altLang="en-US" sz="2800"/>
              <a:t>、複素平面上で</a:t>
            </a:r>
            <a:r>
              <a:rPr sz="2800" dirty="0" err="1"/>
              <a:t>虚軸を左から右に横切る</a:t>
            </a:r>
            <a:endParaRPr sz="2800" dirty="0"/>
          </a:p>
          <a:p>
            <a:pPr marL="383540">
              <a:buClr>
                <a:srgbClr val="000000"/>
              </a:buClr>
              <a:buSzPct val="100000"/>
              <a:buFont typeface="Arial"/>
            </a:pPr>
            <a:endParaRPr lang="en-US" sz="2800" dirty="0"/>
          </a:p>
          <a:p>
            <a:pPr marL="383540">
              <a:buClr>
                <a:srgbClr val="000000"/>
              </a:buClr>
              <a:buSzPct val="100000"/>
              <a:buFont typeface="Arial"/>
            </a:pPr>
            <a:r>
              <a:rPr sz="2800" dirty="0" err="1"/>
              <a:t>左半平面は</a:t>
            </a:r>
            <a:r>
              <a:rPr lang="ja-JP" altLang="en-US" sz="2800"/>
              <a:t>固有値の実部が負なので</a:t>
            </a:r>
            <a:r>
              <a:rPr sz="2800" dirty="0" err="1"/>
              <a:t>安定</a:t>
            </a:r>
            <a:endParaRPr lang="en-US" sz="2800" dirty="0"/>
          </a:p>
          <a:p>
            <a:pPr marL="383540">
              <a:buClr>
                <a:srgbClr val="000000"/>
              </a:buClr>
              <a:buSzPct val="100000"/>
              <a:buFont typeface="Arial"/>
            </a:pPr>
            <a:endParaRPr lang="en-US" sz="2800" dirty="0"/>
          </a:p>
          <a:p>
            <a:pPr marL="383540">
              <a:buClr>
                <a:srgbClr val="000000"/>
              </a:buClr>
              <a:buSzPct val="100000"/>
              <a:buFont typeface="Arial"/>
            </a:pPr>
            <a:r>
              <a:rPr lang="ja-JP" altLang="en-US" sz="2800">
                <a:solidFill>
                  <a:srgbClr val="C00000"/>
                </a:solidFill>
              </a:rPr>
              <a:t>分岐</a:t>
            </a:r>
            <a:r>
              <a:rPr lang="ja-JP" altLang="en-US" sz="2800"/>
              <a:t>の仕組み</a:t>
            </a:r>
            <a:endParaRPr sz="2800" dirty="0"/>
          </a:p>
        </p:txBody>
      </p:sp>
      <p:sp>
        <p:nvSpPr>
          <p:cNvPr id="712" name="線">
            <a:extLst>
              <a:ext uri="{FF2B5EF4-FFF2-40B4-BE49-F238E27FC236}">
                <a16:creationId xmlns:a16="http://schemas.microsoft.com/office/drawing/2014/main" id="{EED94248-2D7F-2A53-E0A5-15265EE5710C}"/>
              </a:ext>
            </a:extLst>
          </p:cNvPr>
          <p:cNvSpPr/>
          <p:nvPr/>
        </p:nvSpPr>
        <p:spPr>
          <a:xfrm>
            <a:off x="8881370" y="3058102"/>
            <a:ext cx="20891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a:extLst>
              <a:ext uri="{FF2B5EF4-FFF2-40B4-BE49-F238E27FC236}">
                <a16:creationId xmlns:a16="http://schemas.microsoft.com/office/drawing/2014/main" id="{C2956B55-4B8D-F639-CCD1-115C745CDEB5}"/>
              </a:ext>
            </a:extLst>
          </p:cNvPr>
          <p:cNvSpPr/>
          <p:nvPr/>
        </p:nvSpPr>
        <p:spPr>
          <a:xfrm>
            <a:off x="10033894" y="1834139"/>
            <a:ext cx="1588" cy="23764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Re λ">
            <a:extLst>
              <a:ext uri="{FF2B5EF4-FFF2-40B4-BE49-F238E27FC236}">
                <a16:creationId xmlns:a16="http://schemas.microsoft.com/office/drawing/2014/main" id="{81DFA41B-9A9A-44BB-F378-B932C0290C59}"/>
              </a:ext>
            </a:extLst>
          </p:cNvPr>
          <p:cNvSpPr/>
          <p:nvPr/>
        </p:nvSpPr>
        <p:spPr>
          <a:xfrm>
            <a:off x="11114982" y="2877127"/>
            <a:ext cx="876300" cy="419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Re </a:t>
            </a:r>
            <a:r>
              <a:rPr sz="2000">
                <a:latin typeface="Symbol"/>
                <a:ea typeface="Symbol"/>
                <a:cs typeface="Symbol"/>
                <a:sym typeface="Symbol"/>
              </a:rPr>
              <a:t>l</a:t>
            </a:r>
          </a:p>
        </p:txBody>
      </p:sp>
      <p:sp>
        <p:nvSpPr>
          <p:cNvPr id="715" name="Im λ">
            <a:extLst>
              <a:ext uri="{FF2B5EF4-FFF2-40B4-BE49-F238E27FC236}">
                <a16:creationId xmlns:a16="http://schemas.microsoft.com/office/drawing/2014/main" id="{E089054D-FC7B-26E3-7BBD-E05ECEA97DDE}"/>
              </a:ext>
            </a:extLst>
          </p:cNvPr>
          <p:cNvSpPr/>
          <p:nvPr/>
        </p:nvSpPr>
        <p:spPr>
          <a:xfrm>
            <a:off x="9673532" y="1473777"/>
            <a:ext cx="876300" cy="419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Im </a:t>
            </a:r>
            <a:r>
              <a:rPr sz="2000">
                <a:latin typeface="Symbol"/>
                <a:ea typeface="Symbol"/>
                <a:cs typeface="Symbol"/>
                <a:sym typeface="Symbol"/>
              </a:rPr>
              <a:t>l</a:t>
            </a:r>
          </a:p>
        </p:txBody>
      </p:sp>
      <p:sp>
        <p:nvSpPr>
          <p:cNvPr id="716" name="円形">
            <a:extLst>
              <a:ext uri="{FF2B5EF4-FFF2-40B4-BE49-F238E27FC236}">
                <a16:creationId xmlns:a16="http://schemas.microsoft.com/office/drawing/2014/main" id="{9AA9C7D2-5AFE-59EF-F9C5-2A4CCBAB914F}"/>
              </a:ext>
            </a:extLst>
          </p:cNvPr>
          <p:cNvSpPr/>
          <p:nvPr/>
        </p:nvSpPr>
        <p:spPr>
          <a:xfrm>
            <a:off x="9240144" y="3489903"/>
            <a:ext cx="144464"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7" name="円形">
            <a:extLst>
              <a:ext uri="{FF2B5EF4-FFF2-40B4-BE49-F238E27FC236}">
                <a16:creationId xmlns:a16="http://schemas.microsoft.com/office/drawing/2014/main" id="{0B6C4311-65D8-3E3D-D4F1-041C657B1D25}"/>
              </a:ext>
            </a:extLst>
          </p:cNvPr>
          <p:cNvSpPr/>
          <p:nvPr/>
        </p:nvSpPr>
        <p:spPr>
          <a:xfrm>
            <a:off x="9240144" y="2408814"/>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8" name="線">
            <a:extLst>
              <a:ext uri="{FF2B5EF4-FFF2-40B4-BE49-F238E27FC236}">
                <a16:creationId xmlns:a16="http://schemas.microsoft.com/office/drawing/2014/main" id="{67F8DA52-AF6B-D26A-00C6-7569973E5EE6}"/>
              </a:ext>
            </a:extLst>
          </p:cNvPr>
          <p:cNvSpPr/>
          <p:nvPr/>
        </p:nvSpPr>
        <p:spPr>
          <a:xfrm>
            <a:off x="9600507" y="24818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9" name="線">
            <a:extLst>
              <a:ext uri="{FF2B5EF4-FFF2-40B4-BE49-F238E27FC236}">
                <a16:creationId xmlns:a16="http://schemas.microsoft.com/office/drawing/2014/main" id="{012868EF-F5CA-1ACB-1274-7050CA0C5BE9}"/>
              </a:ext>
            </a:extLst>
          </p:cNvPr>
          <p:cNvSpPr/>
          <p:nvPr/>
        </p:nvSpPr>
        <p:spPr>
          <a:xfrm>
            <a:off x="9600507" y="35613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 name="三角形 1">
            <a:extLst>
              <a:ext uri="{FF2B5EF4-FFF2-40B4-BE49-F238E27FC236}">
                <a16:creationId xmlns:a16="http://schemas.microsoft.com/office/drawing/2014/main" id="{2AA198C0-A0E3-6B0B-D24B-3B7079D256F1}"/>
              </a:ext>
            </a:extLst>
          </p:cNvPr>
          <p:cNvSpPr/>
          <p:nvPr/>
        </p:nvSpPr>
        <p:spPr>
          <a:xfrm rot="10800000">
            <a:off x="2650128" y="4957053"/>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テキスト ボックス 2">
            <a:extLst>
              <a:ext uri="{FF2B5EF4-FFF2-40B4-BE49-F238E27FC236}">
                <a16:creationId xmlns:a16="http://schemas.microsoft.com/office/drawing/2014/main" id="{6FCCAD21-95E0-545D-FE42-35852928A99D}"/>
              </a:ext>
            </a:extLst>
          </p:cNvPr>
          <p:cNvSpPr txBox="1"/>
          <p:nvPr/>
        </p:nvSpPr>
        <p:spPr>
          <a:xfrm>
            <a:off x="942413" y="4396052"/>
            <a:ext cx="5153587" cy="461665"/>
          </a:xfrm>
          <a:prstGeom prst="rect">
            <a:avLst/>
          </a:prstGeom>
          <a:noFill/>
        </p:spPr>
        <p:txBody>
          <a:bodyPr wrap="square" rtlCol="0">
            <a:spAutoFit/>
          </a:bodyPr>
          <a:lstStyle/>
          <a:p>
            <a:r>
              <a:rPr lang="en-US" altLang="ja-JP" sz="2400" dirty="0"/>
              <a:t>1. </a:t>
            </a:r>
            <a:r>
              <a:rPr lang="ja-JP" altLang="en-US" sz="2400"/>
              <a:t>モデルのパラメータの値が変わる</a:t>
            </a:r>
            <a:endParaRPr kumimoji="1" lang="en-US" altLang="ja-JP" sz="2400" dirty="0"/>
          </a:p>
        </p:txBody>
      </p:sp>
      <p:sp>
        <p:nvSpPr>
          <p:cNvPr id="4" name="テキスト ボックス 3">
            <a:extLst>
              <a:ext uri="{FF2B5EF4-FFF2-40B4-BE49-F238E27FC236}">
                <a16:creationId xmlns:a16="http://schemas.microsoft.com/office/drawing/2014/main" id="{C9FB4E23-B7B5-9700-2407-7375152BE841}"/>
              </a:ext>
            </a:extLst>
          </p:cNvPr>
          <p:cNvSpPr txBox="1"/>
          <p:nvPr/>
        </p:nvSpPr>
        <p:spPr>
          <a:xfrm>
            <a:off x="942413" y="5288475"/>
            <a:ext cx="2802406" cy="461665"/>
          </a:xfrm>
          <a:prstGeom prst="rect">
            <a:avLst/>
          </a:prstGeom>
          <a:noFill/>
        </p:spPr>
        <p:txBody>
          <a:bodyPr wrap="square" rtlCol="0">
            <a:spAutoFit/>
          </a:bodyPr>
          <a:lstStyle/>
          <a:p>
            <a:r>
              <a:rPr lang="en-US" altLang="ja-JP" sz="2400" dirty="0"/>
              <a:t>2. </a:t>
            </a:r>
            <a:r>
              <a:rPr lang="ja-JP" altLang="en-US" sz="2400"/>
              <a:t>固有値が変わる</a:t>
            </a:r>
            <a:endParaRPr kumimoji="1" lang="en-US" altLang="ja-JP" sz="2400" dirty="0"/>
          </a:p>
        </p:txBody>
      </p:sp>
      <p:sp>
        <p:nvSpPr>
          <p:cNvPr id="5" name="テキスト ボックス 4">
            <a:extLst>
              <a:ext uri="{FF2B5EF4-FFF2-40B4-BE49-F238E27FC236}">
                <a16:creationId xmlns:a16="http://schemas.microsoft.com/office/drawing/2014/main" id="{63740F78-7739-A117-E261-758DB3CE091B}"/>
              </a:ext>
            </a:extLst>
          </p:cNvPr>
          <p:cNvSpPr txBox="1"/>
          <p:nvPr/>
        </p:nvSpPr>
        <p:spPr>
          <a:xfrm>
            <a:off x="942413" y="6180898"/>
            <a:ext cx="7067054" cy="461665"/>
          </a:xfrm>
          <a:prstGeom prst="rect">
            <a:avLst/>
          </a:prstGeom>
          <a:noFill/>
        </p:spPr>
        <p:txBody>
          <a:bodyPr wrap="square" rtlCol="0">
            <a:spAutoFit/>
          </a:bodyPr>
          <a:lstStyle/>
          <a:p>
            <a:r>
              <a:rPr kumimoji="1" lang="en-US" altLang="ja-JP" sz="2400" dirty="0"/>
              <a:t>3. </a:t>
            </a:r>
            <a:r>
              <a:rPr kumimoji="1" lang="ja-JP" altLang="en-US" sz="2400">
                <a:solidFill>
                  <a:srgbClr val="C00000"/>
                </a:solidFill>
              </a:rPr>
              <a:t>分岐</a:t>
            </a:r>
            <a:r>
              <a:rPr kumimoji="1" lang="ja-JP" altLang="en-US" sz="2400"/>
              <a:t>点をこえると生化学反応系の挙動が変わる</a:t>
            </a:r>
            <a:endParaRPr kumimoji="1" lang="en-US" altLang="ja-JP" sz="2400" dirty="0"/>
          </a:p>
        </p:txBody>
      </p:sp>
      <p:sp>
        <p:nvSpPr>
          <p:cNvPr id="6" name="三角形 5">
            <a:extLst>
              <a:ext uri="{FF2B5EF4-FFF2-40B4-BE49-F238E27FC236}">
                <a16:creationId xmlns:a16="http://schemas.microsoft.com/office/drawing/2014/main" id="{26969D1D-D64F-FAB9-1486-5D19AE14DE6E}"/>
              </a:ext>
            </a:extLst>
          </p:cNvPr>
          <p:cNvSpPr/>
          <p:nvPr/>
        </p:nvSpPr>
        <p:spPr>
          <a:xfrm rot="10800000">
            <a:off x="2650127" y="584947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9776429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DCD5A-185E-8EB4-81A4-87D71CC1AB5D}"/>
            </a:ext>
          </a:extLst>
        </p:cNvPr>
        <p:cNvGrpSpPr/>
        <p:nvPr/>
      </p:nvGrpSpPr>
      <p:grpSpPr>
        <a:xfrm>
          <a:off x="0" y="0"/>
          <a:ext cx="0" cy="0"/>
          <a:chOff x="0" y="0"/>
          <a:chExt cx="0" cy="0"/>
        </a:xfrm>
      </p:grpSpPr>
      <p:sp>
        <p:nvSpPr>
          <p:cNvPr id="742" name="Hopf 分岐に伴って起こる現象">
            <a:extLst>
              <a:ext uri="{FF2B5EF4-FFF2-40B4-BE49-F238E27FC236}">
                <a16:creationId xmlns:a16="http://schemas.microsoft.com/office/drawing/2014/main" id="{374F3180-AFBA-5870-BFE5-009DF5BB7DC7}"/>
              </a:ext>
            </a:extLst>
          </p:cNvPr>
          <p:cNvSpPr txBox="1">
            <a:spLocks noGrp="1"/>
          </p:cNvSpPr>
          <p:nvPr>
            <p:ph type="title"/>
          </p:nvPr>
        </p:nvSpPr>
        <p:spPr>
          <a:prstGeom prst="rect">
            <a:avLst/>
          </a:prstGeom>
        </p:spPr>
        <p:txBody>
          <a:bodyPr/>
          <a:lstStyle/>
          <a:p>
            <a:r>
              <a:t>Hopf 分岐に伴って起こる現象</a:t>
            </a:r>
          </a:p>
        </p:txBody>
      </p:sp>
      <p:sp>
        <p:nvSpPr>
          <p:cNvPr id="725" name="Stable Spiral が Unstable Spiral に変化…">
            <a:extLst>
              <a:ext uri="{FF2B5EF4-FFF2-40B4-BE49-F238E27FC236}">
                <a16:creationId xmlns:a16="http://schemas.microsoft.com/office/drawing/2014/main" id="{AB36A75D-8726-2977-1430-6DA30CDE28E1}"/>
              </a:ext>
            </a:extLst>
          </p:cNvPr>
          <p:cNvSpPr txBox="1">
            <a:spLocks noGrp="1"/>
          </p:cNvSpPr>
          <p:nvPr>
            <p:ph type="body" sz="half" idx="4294967295"/>
          </p:nvPr>
        </p:nvSpPr>
        <p:spPr>
          <a:xfrm>
            <a:off x="1103874" y="1614574"/>
            <a:ext cx="10072126" cy="1925642"/>
          </a:xfrm>
          <a:prstGeom prst="rect">
            <a:avLst/>
          </a:prstGeom>
        </p:spPr>
        <p:txBody>
          <a:bodyPr>
            <a:normAutofit/>
          </a:bodyPr>
          <a:lstStyle/>
          <a:p>
            <a:pPr marL="383540">
              <a:buClr>
                <a:srgbClr val="000000"/>
              </a:buClr>
              <a:buSzPct val="100000"/>
              <a:buFont typeface="Arial"/>
              <a:defRPr sz="2400"/>
            </a:pPr>
            <a:r>
              <a:rPr sz="2800" dirty="0"/>
              <a:t>Stable Spiral </a:t>
            </a:r>
            <a:r>
              <a:rPr sz="2800" dirty="0" err="1"/>
              <a:t>が</a:t>
            </a:r>
            <a:r>
              <a:rPr sz="2800" dirty="0"/>
              <a:t> Unstable Spiral </a:t>
            </a:r>
            <a:r>
              <a:rPr sz="2800" dirty="0" err="1"/>
              <a:t>に変化</a:t>
            </a:r>
            <a:endParaRPr sz="2800" dirty="0"/>
          </a:p>
          <a:p>
            <a:pPr marL="383540">
              <a:buClr>
                <a:srgbClr val="000000"/>
              </a:buClr>
              <a:buSzPct val="100000"/>
              <a:buFont typeface="Arial"/>
              <a:defRPr sz="2400"/>
            </a:pPr>
            <a:endParaRPr sz="2800" dirty="0"/>
          </a:p>
          <a:p>
            <a:pPr marL="383540">
              <a:buClr>
                <a:srgbClr val="000000"/>
              </a:buClr>
              <a:buSzPct val="100000"/>
              <a:buFont typeface="Arial"/>
              <a:defRPr sz="2400"/>
            </a:pPr>
            <a:r>
              <a:rPr sz="2800" dirty="0" err="1"/>
              <a:t>そのUnstable</a:t>
            </a:r>
            <a:r>
              <a:rPr sz="2800" dirty="0"/>
              <a:t> Spiral </a:t>
            </a:r>
            <a:r>
              <a:rPr sz="2800" dirty="0" err="1"/>
              <a:t>は</a:t>
            </a:r>
            <a:r>
              <a:rPr sz="2800" dirty="0" err="1">
                <a:solidFill>
                  <a:srgbClr val="C00000"/>
                </a:solidFill>
              </a:rPr>
              <a:t>リミットサイクル</a:t>
            </a:r>
            <a:r>
              <a:rPr sz="2800" dirty="0" err="1"/>
              <a:t>に囲まれている</a:t>
            </a:r>
            <a:endParaRPr sz="2800" dirty="0"/>
          </a:p>
        </p:txBody>
      </p:sp>
      <p:sp>
        <p:nvSpPr>
          <p:cNvPr id="726" name="矢印">
            <a:extLst>
              <a:ext uri="{FF2B5EF4-FFF2-40B4-BE49-F238E27FC236}">
                <a16:creationId xmlns:a16="http://schemas.microsoft.com/office/drawing/2014/main" id="{38AC5389-3CAC-D89D-C116-1B9F0DACDE96}"/>
              </a:ext>
            </a:extLst>
          </p:cNvPr>
          <p:cNvSpPr/>
          <p:nvPr/>
        </p:nvSpPr>
        <p:spPr>
          <a:xfrm>
            <a:off x="5375276" y="4941887"/>
            <a:ext cx="1152525" cy="935038"/>
          </a:xfrm>
          <a:prstGeom prst="rightArrow">
            <a:avLst>
              <a:gd name="adj1" fmla="val 50000"/>
              <a:gd name="adj2" fmla="val 50000"/>
            </a:avLst>
          </a:prstGeom>
          <a:blipFill>
            <a:blip r:embed="rId2"/>
          </a:blipFill>
          <a:ln w="25400">
            <a:solidFill>
              <a:srgbClr val="47719C"/>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7" name="楕円">
            <a:extLst>
              <a:ext uri="{FF2B5EF4-FFF2-40B4-BE49-F238E27FC236}">
                <a16:creationId xmlns:a16="http://schemas.microsoft.com/office/drawing/2014/main" id="{1719AEDF-FCC6-716B-D567-0B2043077301}"/>
              </a:ext>
            </a:extLst>
          </p:cNvPr>
          <p:cNvSpPr/>
          <p:nvPr/>
        </p:nvSpPr>
        <p:spPr>
          <a:xfrm>
            <a:off x="7104062" y="4437062"/>
            <a:ext cx="2879726" cy="1944688"/>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31" name="グループ">
            <a:extLst>
              <a:ext uri="{FF2B5EF4-FFF2-40B4-BE49-F238E27FC236}">
                <a16:creationId xmlns:a16="http://schemas.microsoft.com/office/drawing/2014/main" id="{62A47870-28EE-12AB-ECEA-6E868766F787}"/>
              </a:ext>
            </a:extLst>
          </p:cNvPr>
          <p:cNvGrpSpPr/>
          <p:nvPr/>
        </p:nvGrpSpPr>
        <p:grpSpPr>
          <a:xfrm>
            <a:off x="7535855" y="4797421"/>
            <a:ext cx="1873264" cy="1295179"/>
            <a:chOff x="0" y="0"/>
            <a:chExt cx="1873262" cy="1295177"/>
          </a:xfrm>
        </p:grpSpPr>
        <p:sp>
          <p:nvSpPr>
            <p:cNvPr id="728" name="線">
              <a:extLst>
                <a:ext uri="{FF2B5EF4-FFF2-40B4-BE49-F238E27FC236}">
                  <a16:creationId xmlns:a16="http://schemas.microsoft.com/office/drawing/2014/main" id="{04FEA2D4-D755-4EB5-6304-EAE0B30B4C5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29" name="線">
              <a:extLst>
                <a:ext uri="{FF2B5EF4-FFF2-40B4-BE49-F238E27FC236}">
                  <a16:creationId xmlns:a16="http://schemas.microsoft.com/office/drawing/2014/main" id="{21D289CD-D7F3-AC7C-6C72-16A7954BF169}"/>
                </a:ext>
              </a:extLst>
            </p:cNvPr>
            <p:cNvSpPr/>
            <p:nvPr/>
          </p:nvSpPr>
          <p:spPr>
            <a:xfrm>
              <a:off x="1016567" y="360361"/>
              <a:ext cx="496340"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0" name="線">
              <a:extLst>
                <a:ext uri="{FF2B5EF4-FFF2-40B4-BE49-F238E27FC236}">
                  <a16:creationId xmlns:a16="http://schemas.microsoft.com/office/drawing/2014/main" id="{27C62759-AC5C-6155-75EE-8EEE49B678A1}"/>
                </a:ext>
              </a:extLst>
            </p:cNvPr>
            <p:cNvSpPr/>
            <p:nvPr/>
          </p:nvSpPr>
          <p:spPr>
            <a:xfrm>
              <a:off x="360252" y="362129"/>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2" name="円形">
            <a:extLst>
              <a:ext uri="{FF2B5EF4-FFF2-40B4-BE49-F238E27FC236}">
                <a16:creationId xmlns:a16="http://schemas.microsoft.com/office/drawing/2014/main" id="{BE8F8604-7F72-ABFF-8630-36A972BDF068}"/>
              </a:ext>
            </a:extLst>
          </p:cNvPr>
          <p:cNvSpPr/>
          <p:nvPr/>
        </p:nvSpPr>
        <p:spPr>
          <a:xfrm>
            <a:off x="8472487" y="54451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33" name="三角形">
            <a:extLst>
              <a:ext uri="{FF2B5EF4-FFF2-40B4-BE49-F238E27FC236}">
                <a16:creationId xmlns:a16="http://schemas.microsoft.com/office/drawing/2014/main" id="{C937DCE2-A080-8A24-518C-756578CFD66D}"/>
              </a:ext>
            </a:extLst>
          </p:cNvPr>
          <p:cNvSpPr/>
          <p:nvPr/>
        </p:nvSpPr>
        <p:spPr>
          <a:xfrm rot="5400000">
            <a:off x="8398524" y="5947371"/>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734" name="imagedDrawable.pdf" descr="imagedDrawable.pdf">
            <a:extLst>
              <a:ext uri="{FF2B5EF4-FFF2-40B4-BE49-F238E27FC236}">
                <a16:creationId xmlns:a16="http://schemas.microsoft.com/office/drawing/2014/main" id="{F62F06F7-95B6-B2BA-FEF9-6E9EBA2843A3}"/>
              </a:ext>
            </a:extLst>
          </p:cNvPr>
          <p:cNvPicPr>
            <a:picLocks/>
          </p:cNvPicPr>
          <p:nvPr/>
        </p:nvPicPr>
        <p:blipFill>
          <a:blip r:embed="rId3"/>
          <a:stretch>
            <a:fillRect/>
          </a:stretch>
        </p:blipFill>
        <p:spPr>
          <a:xfrm>
            <a:off x="8347075" y="4302125"/>
            <a:ext cx="469900" cy="254000"/>
          </a:xfrm>
          <a:prstGeom prst="rect">
            <a:avLst/>
          </a:prstGeom>
          <a:ln w="12700">
            <a:miter lim="400000"/>
          </a:ln>
          <a:effectLst>
            <a:outerShdw blurRad="63500" dist="25400" dir="5400000" rotWithShape="0">
              <a:srgbClr val="000000">
                <a:alpha val="34997"/>
              </a:srgbClr>
            </a:outerShdw>
          </a:effectLst>
        </p:spPr>
      </p:pic>
      <p:grpSp>
        <p:nvGrpSpPr>
          <p:cNvPr id="738" name="グループ">
            <a:extLst>
              <a:ext uri="{FF2B5EF4-FFF2-40B4-BE49-F238E27FC236}">
                <a16:creationId xmlns:a16="http://schemas.microsoft.com/office/drawing/2014/main" id="{FCA666F9-B861-631A-43CB-B9A30D8ECC04}"/>
              </a:ext>
            </a:extLst>
          </p:cNvPr>
          <p:cNvGrpSpPr/>
          <p:nvPr/>
        </p:nvGrpSpPr>
        <p:grpSpPr>
          <a:xfrm>
            <a:off x="2782882" y="4581521"/>
            <a:ext cx="1873263" cy="1295179"/>
            <a:chOff x="0" y="0"/>
            <a:chExt cx="1873262" cy="1295177"/>
          </a:xfrm>
        </p:grpSpPr>
        <p:sp>
          <p:nvSpPr>
            <p:cNvPr id="735" name="線">
              <a:extLst>
                <a:ext uri="{FF2B5EF4-FFF2-40B4-BE49-F238E27FC236}">
                  <a16:creationId xmlns:a16="http://schemas.microsoft.com/office/drawing/2014/main" id="{B1A09A3F-6195-2DF5-34B7-CFE1EFDEA7C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6" name="線">
              <a:extLst>
                <a:ext uri="{FF2B5EF4-FFF2-40B4-BE49-F238E27FC236}">
                  <a16:creationId xmlns:a16="http://schemas.microsoft.com/office/drawing/2014/main" id="{0B799372-5AC7-CF36-1B42-4447FD0EEF78}"/>
                </a:ext>
              </a:extLst>
            </p:cNvPr>
            <p:cNvSpPr/>
            <p:nvPr/>
          </p:nvSpPr>
          <p:spPr>
            <a:xfrm>
              <a:off x="1016567" y="360361"/>
              <a:ext cx="496341"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7" name="線">
              <a:extLst>
                <a:ext uri="{FF2B5EF4-FFF2-40B4-BE49-F238E27FC236}">
                  <a16:creationId xmlns:a16="http://schemas.microsoft.com/office/drawing/2014/main" id="{FD8EAC0C-60A1-AC29-C918-42C117A5143D}"/>
                </a:ext>
              </a:extLst>
            </p:cNvPr>
            <p:cNvSpPr/>
            <p:nvPr/>
          </p:nvSpPr>
          <p:spPr>
            <a:xfrm>
              <a:off x="360253" y="362129"/>
              <a:ext cx="1502995"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9" name="円形">
            <a:extLst>
              <a:ext uri="{FF2B5EF4-FFF2-40B4-BE49-F238E27FC236}">
                <a16:creationId xmlns:a16="http://schemas.microsoft.com/office/drawing/2014/main" id="{1937EB9C-68C3-AF68-AEA7-FD87059EAF29}"/>
              </a:ext>
            </a:extLst>
          </p:cNvPr>
          <p:cNvSpPr/>
          <p:nvPr/>
        </p:nvSpPr>
        <p:spPr>
          <a:xfrm>
            <a:off x="3719512" y="52292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0" name="三角形">
            <a:extLst>
              <a:ext uri="{FF2B5EF4-FFF2-40B4-BE49-F238E27FC236}">
                <a16:creationId xmlns:a16="http://schemas.microsoft.com/office/drawing/2014/main" id="{FB8308EE-7C9D-21B3-5F35-5A1D69AE7799}"/>
              </a:ext>
            </a:extLst>
          </p:cNvPr>
          <p:cNvSpPr/>
          <p:nvPr/>
        </p:nvSpPr>
        <p:spPr>
          <a:xfrm rot="15720000" flipH="1">
            <a:off x="3934146" y="5137655"/>
            <a:ext cx="144357" cy="28694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1" name="Hopf 分岐">
            <a:extLst>
              <a:ext uri="{FF2B5EF4-FFF2-40B4-BE49-F238E27FC236}">
                <a16:creationId xmlns:a16="http://schemas.microsoft.com/office/drawing/2014/main" id="{6C087992-7C5D-97D1-EF7D-6D58CCC8FCD3}"/>
              </a:ext>
            </a:extLst>
          </p:cNvPr>
          <p:cNvSpPr/>
          <p:nvPr/>
        </p:nvSpPr>
        <p:spPr>
          <a:xfrm>
            <a:off x="5059882" y="4203661"/>
            <a:ext cx="167353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rPr sz="2800"/>
              <a:t>Hopf </a:t>
            </a:r>
            <a:r>
              <a:rPr sz="2800">
                <a:latin typeface="Heiti TC Light"/>
                <a:ea typeface="Heiti TC Light"/>
                <a:cs typeface="Heiti TC Light"/>
                <a:sym typeface="Heiti TC Light"/>
              </a:rPr>
              <a:t>分岐</a:t>
            </a:r>
          </a:p>
        </p:txBody>
      </p:sp>
    </p:spTree>
    <p:extLst>
      <p:ext uri="{BB962C8B-B14F-4D97-AF65-F5344CB8AC3E}">
        <p14:creationId xmlns:p14="http://schemas.microsoft.com/office/powerpoint/2010/main" val="16951381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82AF3-61E9-E02E-F1A1-2B01DFCDDBD1}"/>
            </a:ext>
          </a:extLst>
        </p:cNvPr>
        <p:cNvGrpSpPr/>
        <p:nvPr/>
      </p:nvGrpSpPr>
      <p:grpSpPr>
        <a:xfrm>
          <a:off x="0" y="0"/>
          <a:ext cx="0" cy="0"/>
          <a:chOff x="0" y="0"/>
          <a:chExt cx="0" cy="0"/>
        </a:xfrm>
      </p:grpSpPr>
      <p:sp>
        <p:nvSpPr>
          <p:cNvPr id="745" name="演習6: Sel’kovモデルとHopf分岐">
            <a:extLst>
              <a:ext uri="{FF2B5EF4-FFF2-40B4-BE49-F238E27FC236}">
                <a16:creationId xmlns:a16="http://schemas.microsoft.com/office/drawing/2014/main" id="{A412DAE7-C6F0-254A-F922-25676CA38D68}"/>
              </a:ext>
            </a:extLst>
          </p:cNvPr>
          <p:cNvSpPr txBox="1">
            <a:spLocks noGrp="1"/>
          </p:cNvSpPr>
          <p:nvPr>
            <p:ph type="title"/>
          </p:nvPr>
        </p:nvSpPr>
        <p:spPr>
          <a:prstGeom prst="rect">
            <a:avLst/>
          </a:prstGeom>
        </p:spPr>
        <p:txBody>
          <a:bodyPr/>
          <a:lstStyle/>
          <a:p>
            <a:r>
              <a:t>演習6: Sel’kovモデルとHopf分岐</a:t>
            </a:r>
          </a:p>
        </p:txBody>
      </p:sp>
      <p:sp>
        <p:nvSpPr>
          <p:cNvPr id="744" name="Sel’kov モデルにおいて、以下2つの条件の間でHopf 分岐が起こることを、固有値から示しなさい。(紙と鉛筆)…">
            <a:extLst>
              <a:ext uri="{FF2B5EF4-FFF2-40B4-BE49-F238E27FC236}">
                <a16:creationId xmlns:a16="http://schemas.microsoft.com/office/drawing/2014/main" id="{A51EDFC2-B07C-DC40-3495-A7F5B64CDE4C}"/>
              </a:ext>
            </a:extLst>
          </p:cNvPr>
          <p:cNvSpPr txBox="1">
            <a:spLocks noGrp="1"/>
          </p:cNvSpPr>
          <p:nvPr>
            <p:ph type="body" idx="4294967295"/>
          </p:nvPr>
        </p:nvSpPr>
        <p:spPr>
          <a:xfrm>
            <a:off x="523875" y="1371600"/>
            <a:ext cx="11144250" cy="5257800"/>
          </a:xfrm>
          <a:prstGeom prst="rect">
            <a:avLst/>
          </a:prstGeom>
        </p:spPr>
        <p:txBody>
          <a:bodyPr>
            <a:normAutofit/>
          </a:bodyPr>
          <a:lstStyle/>
          <a:p>
            <a:pPr marL="553770" indent="-514350" defTabSz="394208">
              <a:spcBef>
                <a:spcPts val="1600"/>
              </a:spcBef>
              <a:buClr>
                <a:srgbClr val="000000"/>
              </a:buClr>
              <a:buSzPct val="100000"/>
              <a:buFont typeface="+mj-lt"/>
              <a:buAutoNum type="arabicPeriod"/>
              <a:defRPr sz="1746"/>
            </a:pPr>
            <a:r>
              <a:rPr sz="3104" dirty="0" err="1"/>
              <a:t>Sel’kov</a:t>
            </a:r>
            <a:r>
              <a:rPr sz="3104" dirty="0"/>
              <a:t> モデルにおいて、以下2つの条件の間でHopf </a:t>
            </a:r>
            <a:r>
              <a:rPr sz="3104" dirty="0" err="1"/>
              <a:t>分岐が起こることを、固有値から示しなさい</a:t>
            </a:r>
            <a:r>
              <a:rPr sz="3104" dirty="0"/>
              <a:t>。</a:t>
            </a:r>
          </a:p>
          <a:p>
            <a:pPr marL="760082" lvl="1" indent="-277177" defTabSz="394208">
              <a:spcBef>
                <a:spcPts val="1600"/>
              </a:spcBef>
              <a:buClr>
                <a:srgbClr val="000000"/>
              </a:buClr>
              <a:buSzPct val="100000"/>
              <a:buFont typeface="Arial"/>
              <a:defRPr sz="2328"/>
            </a:pPr>
            <a:r>
              <a:rPr sz="3200" dirty="0"/>
              <a:t>条件1: 	a=0.14, b=0.6</a:t>
            </a:r>
          </a:p>
          <a:p>
            <a:pPr marL="760082" lvl="1" indent="-277177" defTabSz="394208">
              <a:spcBef>
                <a:spcPts val="1600"/>
              </a:spcBef>
              <a:buClr>
                <a:srgbClr val="000000"/>
              </a:buClr>
              <a:buSzPct val="100000"/>
              <a:buFont typeface="Arial"/>
              <a:defRPr sz="2328"/>
            </a:pPr>
            <a:r>
              <a:rPr sz="3200" dirty="0"/>
              <a:t>条件2: 	a=0.06, b=0.6</a:t>
            </a:r>
          </a:p>
          <a:p>
            <a:pPr marL="1591614" lvl="3" indent="-221742" defTabSz="394208">
              <a:spcBef>
                <a:spcPts val="1600"/>
              </a:spcBef>
              <a:buClr>
                <a:srgbClr val="000000"/>
              </a:buClr>
              <a:buSzPct val="100000"/>
              <a:buFont typeface="Arial"/>
              <a:buChar char="–"/>
              <a:defRPr sz="2716"/>
            </a:pPr>
            <a:endParaRPr dirty="0"/>
          </a:p>
          <a:p>
            <a:pPr marL="553770" indent="-514350" defTabSz="394208">
              <a:spcBef>
                <a:spcPts val="1600"/>
              </a:spcBef>
              <a:buClr>
                <a:srgbClr val="000000"/>
              </a:buClr>
              <a:buSzPct val="100000"/>
              <a:buFont typeface="+mj-lt"/>
              <a:buAutoNum type="arabicPeriod"/>
              <a:defRPr sz="1746"/>
            </a:pPr>
            <a:r>
              <a:rPr sz="3104" dirty="0" err="1"/>
              <a:t>それぞれの条件で振動するかどうか</a:t>
            </a:r>
            <a:r>
              <a:rPr lang="en-US" sz="3104" dirty="0" err="1"/>
              <a:t>、シミュレーションで</a:t>
            </a:r>
            <a:r>
              <a:rPr sz="3104" dirty="0" err="1"/>
              <a:t>確認しなさい</a:t>
            </a:r>
            <a:r>
              <a:rPr sz="3104" dirty="0"/>
              <a:t>。</a:t>
            </a:r>
          </a:p>
        </p:txBody>
      </p:sp>
    </p:spTree>
    <p:extLst>
      <p:ext uri="{BB962C8B-B14F-4D97-AF65-F5344CB8AC3E}">
        <p14:creationId xmlns:p14="http://schemas.microsoft.com/office/powerpoint/2010/main" val="42196296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1">
            <a:extLst>
              <a:ext uri="{FF2B5EF4-FFF2-40B4-BE49-F238E27FC236}">
                <a16:creationId xmlns:a16="http://schemas.microsoft.com/office/drawing/2014/main" id="{9C14EEFC-37C6-A749-B26B-1EA2CB5080CC}"/>
              </a:ext>
            </a:extLst>
          </p:cNvPr>
          <p:cNvSpPr>
            <a:spLocks noGrp="1" noChangeArrowheads="1"/>
          </p:cNvSpPr>
          <p:nvPr>
            <p:ph type="title"/>
          </p:nvPr>
        </p:nvSpPr>
        <p:spPr/>
        <p:txBody>
          <a:bodyPr/>
          <a:lstStyle/>
          <a:p>
            <a:pPr eaLnBrk="1" hangingPunct="1"/>
            <a:r>
              <a:rPr lang="en-US" altLang="ja-JP" dirty="0"/>
              <a:t>Further Readings</a:t>
            </a:r>
          </a:p>
        </p:txBody>
      </p:sp>
      <p:sp>
        <p:nvSpPr>
          <p:cNvPr id="59395" name="Rectangle 2">
            <a:extLst>
              <a:ext uri="{FF2B5EF4-FFF2-40B4-BE49-F238E27FC236}">
                <a16:creationId xmlns:a16="http://schemas.microsoft.com/office/drawing/2014/main" id="{E1A46249-C7D7-59C3-3A21-98EE81585216}"/>
              </a:ext>
            </a:extLst>
          </p:cNvPr>
          <p:cNvSpPr>
            <a:spLocks noGrp="1" noChangeArrowheads="1"/>
          </p:cNvSpPr>
          <p:nvPr>
            <p:ph type="body" idx="4294967295"/>
          </p:nvPr>
        </p:nvSpPr>
        <p:spPr>
          <a:xfrm>
            <a:off x="-751112" y="1240974"/>
            <a:ext cx="12932229" cy="6469063"/>
          </a:xfrm>
        </p:spPr>
        <p:txBody>
          <a:bodyPr/>
          <a:lstStyle/>
          <a:p>
            <a:pPr marL="1185304">
              <a:lnSpc>
                <a:spcPct val="80000"/>
              </a:lnSpc>
            </a:pPr>
            <a:r>
              <a:rPr lang="en-US" altLang="ja-JP" sz="2000" dirty="0"/>
              <a:t>Steven </a:t>
            </a:r>
            <a:r>
              <a:rPr lang="en-US" altLang="ja-JP" sz="2000" dirty="0" err="1"/>
              <a:t>Strogatz</a:t>
            </a:r>
            <a:r>
              <a:rPr lang="en-US" altLang="ja-JP" sz="2000" dirty="0"/>
              <a:t>, “Nonlinear dynamics and chaos”, Perseus Books Publishing,</a:t>
            </a:r>
          </a:p>
          <a:p>
            <a:pPr marL="1777956" lvl="1">
              <a:lnSpc>
                <a:spcPct val="80000"/>
              </a:lnSpc>
              <a:spcBef>
                <a:spcPts val="1700"/>
              </a:spcBef>
            </a:pPr>
            <a:r>
              <a:rPr lang="ja-JP" altLang="en-US" sz="1733"/>
              <a:t>生物・化学の例が多く比較的読みやすい非線形力学系教科書</a:t>
            </a:r>
          </a:p>
          <a:p>
            <a:pPr marL="1185304">
              <a:lnSpc>
                <a:spcPct val="80000"/>
              </a:lnSpc>
              <a:spcBef>
                <a:spcPts val="1700"/>
              </a:spcBef>
            </a:pPr>
            <a:endParaRPr lang="en-US" altLang="ja-JP" sz="2000" dirty="0"/>
          </a:p>
          <a:p>
            <a:pPr marL="1185304">
              <a:lnSpc>
                <a:spcPct val="80000"/>
              </a:lnSpc>
              <a:spcBef>
                <a:spcPts val="1700"/>
              </a:spcBef>
            </a:pPr>
            <a:r>
              <a:rPr lang="en-US" altLang="ja-JP" sz="2000" dirty="0" err="1"/>
              <a:t>Ozbudak</a:t>
            </a:r>
            <a:r>
              <a:rPr lang="en-US" altLang="ja-JP" sz="2000" dirty="0"/>
              <a:t>, E.M. et al.,  “</a:t>
            </a:r>
            <a:r>
              <a:rPr lang="en-US" altLang="ja-JP" sz="2000" dirty="0" err="1"/>
              <a:t>Multistability</a:t>
            </a:r>
            <a:r>
              <a:rPr lang="en-US" altLang="ja-JP" sz="2000" dirty="0"/>
              <a:t> in the lactose utilization network of Escherichia coli”, Nature 427(6976):737-40, 2004.</a:t>
            </a:r>
          </a:p>
          <a:p>
            <a:pPr marL="1777956" lvl="1">
              <a:lnSpc>
                <a:spcPct val="80000"/>
              </a:lnSpc>
              <a:spcBef>
                <a:spcPts val="1700"/>
              </a:spcBef>
            </a:pPr>
            <a:r>
              <a:rPr lang="ja-JP" altLang="en-US" sz="1733"/>
              <a:t>大腸菌 </a:t>
            </a:r>
            <a:r>
              <a:rPr lang="en-US" altLang="ja-JP" sz="1733" dirty="0"/>
              <a:t>lac </a:t>
            </a:r>
            <a:r>
              <a:rPr lang="ja-JP" altLang="en-US" sz="1733"/>
              <a:t>オペロンのような古典的な系で、ヒステリシスが起きることを示した</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Bhalla, U.S. and Iyengar, R., “Emergent properties of networks of biological signaling pathways”, Science 283(5400):381-7.</a:t>
            </a:r>
          </a:p>
          <a:p>
            <a:pPr marL="1777956" lvl="1">
              <a:lnSpc>
                <a:spcPct val="80000"/>
              </a:lnSpc>
              <a:spcBef>
                <a:spcPts val="1700"/>
              </a:spcBef>
            </a:pPr>
            <a:r>
              <a:rPr lang="ja-JP" altLang="en-US" sz="1733"/>
              <a:t>シグナル伝達経路に生じる双安定性が記憶装置の基盤である可能性を指摘</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Tanaka, R.J. et al. “Skin barrier homeostasis in atopic dermatitis: feedback regulation of kallikrein activity”, </a:t>
            </a:r>
            <a:r>
              <a:rPr lang="en-US" altLang="ja-JP" sz="2000" dirty="0" err="1"/>
              <a:t>PLoS</a:t>
            </a:r>
            <a:r>
              <a:rPr lang="en-US" altLang="ja-JP" sz="2000" dirty="0"/>
              <a:t> ONE 6(5):e19895, 2011.</a:t>
            </a:r>
          </a:p>
          <a:p>
            <a:pPr marL="1777956" lvl="1">
              <a:lnSpc>
                <a:spcPct val="80000"/>
              </a:lnSpc>
              <a:spcBef>
                <a:spcPts val="1700"/>
              </a:spcBef>
            </a:pPr>
            <a:r>
              <a:rPr lang="ja-JP" altLang="en-US" sz="1733"/>
              <a:t>アトピー性皮膚炎を起こした外部刺激を取り除いても炎症がおさまらない理由として双安定性の可能性を指摘</a:t>
            </a:r>
          </a:p>
        </p:txBody>
      </p:sp>
    </p:spTree>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37545</TotalTime>
  <Words>2455</Words>
  <Application>Microsoft Macintosh PowerPoint</Application>
  <PresentationFormat>ワイド画面</PresentationFormat>
  <Paragraphs>520</Paragraphs>
  <Slides>52</Slides>
  <Notes>5</Notes>
  <HiddenSlides>0</HiddenSlides>
  <MMClips>2</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52</vt:i4>
      </vt:variant>
    </vt:vector>
  </HeadingPairs>
  <TitlesOfParts>
    <vt:vector size="67" baseType="lpstr">
      <vt:lpstr>Heiti TC Light</vt:lpstr>
      <vt:lpstr>Hiragino Kaku Gothic ProN W3</vt:lpstr>
      <vt:lpstr>Hiragino Kaku Gothic ProN W6</vt:lpstr>
      <vt:lpstr>Hiragino Sans</vt:lpstr>
      <vt:lpstr>Times Roman</vt:lpstr>
      <vt:lpstr>游ゴシック</vt:lpstr>
      <vt:lpstr>Arial</vt:lpstr>
      <vt:lpstr>Calibri</vt:lpstr>
      <vt:lpstr>Courier New</vt:lpstr>
      <vt:lpstr>Gill Sans</vt:lpstr>
      <vt:lpstr>Helvetica Neue Light</vt:lpstr>
      <vt:lpstr>Symbol</vt:lpstr>
      <vt:lpstr>Times New Roman</vt:lpstr>
      <vt:lpstr>Wingdings</vt:lpstr>
      <vt:lpstr>YugiTalk</vt:lpstr>
      <vt:lpstr>力学系(2): 濃度が振動する生化学反応系</vt:lpstr>
      <vt:lpstr>一番身近な生物振動</vt:lpstr>
      <vt:lpstr>振動は微生物のレベルにもある</vt:lpstr>
      <vt:lpstr>連続系の離散的挙動</vt:lpstr>
      <vt:lpstr>最先端で発見されている振動現象</vt:lpstr>
      <vt:lpstr>今日と明日の内容</vt:lpstr>
      <vt:lpstr>力学系の七つ道具</vt:lpstr>
      <vt:lpstr>Sel’kovモデル</vt:lpstr>
      <vt:lpstr>解糖系の振動とは？</vt:lpstr>
      <vt:lpstr>解糖系振動　→　insulin分泌</vt:lpstr>
      <vt:lpstr>演習1: Sel’kov modelを作る </vt:lpstr>
      <vt:lpstr>空欄を埋めなさい</vt:lpstr>
      <vt:lpstr>シミュレーション結果</vt:lpstr>
      <vt:lpstr>復習：相平面とヌルクライン</vt:lpstr>
      <vt:lpstr>演習2: 相平面とヌルクライン</vt:lpstr>
      <vt:lpstr>空欄を埋めなさい（相平面とヌルクライン）</vt:lpstr>
      <vt:lpstr>出力例: 解の軌跡とヌルクライン</vt:lpstr>
      <vt:lpstr>力学系の七つ道具</vt:lpstr>
      <vt:lpstr>ベクトル場：相平面上の風向きを可視化 </vt:lpstr>
      <vt:lpstr>ヌルクラインとベクトルの方向</vt:lpstr>
      <vt:lpstr>演習3: Sel’kov モデルのベクトル場</vt:lpstr>
      <vt:lpstr>Pythonでベクトル場を描く</vt:lpstr>
      <vt:lpstr>空欄を埋めなさい</vt:lpstr>
      <vt:lpstr>ベクトル場の描画例</vt:lpstr>
      <vt:lpstr>解軌跡、ヌルクライン、ベクトル場の描画例</vt:lpstr>
      <vt:lpstr>力学系の七つ道具</vt:lpstr>
      <vt:lpstr>ベクトル場で周期解と言えるか？</vt:lpstr>
      <vt:lpstr>ベクトル場だけで周期解と言えるか？</vt:lpstr>
      <vt:lpstr>固定点の座標を求める準備</vt:lpstr>
      <vt:lpstr>演習4: 空欄を埋めて固定点の座標を求めなさい</vt:lpstr>
      <vt:lpstr>力学系の七つ道具</vt:lpstr>
      <vt:lpstr>微分方程式の線形化</vt:lpstr>
      <vt:lpstr>もう少し詳しく：ODEの線形化とヤコビ行列</vt:lpstr>
      <vt:lpstr>線形化したODEの解は行列指数関数になる</vt:lpstr>
      <vt:lpstr>SymPyを用いて線形化</vt:lpstr>
      <vt:lpstr>文字式に数値を代入する</vt:lpstr>
      <vt:lpstr>演習4: Sel’kovモデルの線形化</vt:lpstr>
      <vt:lpstr>空欄を埋めなさい</vt:lpstr>
      <vt:lpstr>解答</vt:lpstr>
      <vt:lpstr>力学系の七つ道具</vt:lpstr>
      <vt:lpstr>すべての固有値が実数である固定点</vt:lpstr>
      <vt:lpstr>固有値と解軌道の収束・発散</vt:lpstr>
      <vt:lpstr>正の固有値を一つでも含むと発散</vt:lpstr>
      <vt:lpstr>相平面と時系列の対応</vt:lpstr>
      <vt:lpstr>複素数の固有値を含む固定点</vt:lpstr>
      <vt:lpstr>相平面と時系列の対応</vt:lpstr>
      <vt:lpstr>演習5: Sel’kovモデルの固定点の分類</vt:lpstr>
      <vt:lpstr>固定点を回る周期解の正体</vt:lpstr>
      <vt:lpstr>Supercritical Hopf 分岐（以下「Hopf 分岐」）の定義</vt:lpstr>
      <vt:lpstr>Hopf 分岐に伴って起こる現象</vt:lpstr>
      <vt:lpstr>演習6: Sel’kovモデルとHopf分岐</vt:lpstr>
      <vt:lpstr>Further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647</cp:revision>
  <cp:lastPrinted>2025-11-07T06:34:28Z</cp:lastPrinted>
  <dcterms:created xsi:type="dcterms:W3CDTF">2022-03-29T08:03:06Z</dcterms:created>
  <dcterms:modified xsi:type="dcterms:W3CDTF">2026-10-28T05:20:07Z</dcterms:modified>
</cp:coreProperties>
</file>