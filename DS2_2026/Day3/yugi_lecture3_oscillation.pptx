
<file path=[Content_Types].xml><?xml version="1.0" encoding="utf-8"?>
<Types xmlns="http://schemas.openxmlformats.org/package/2006/content-types">
  <Default Extension="emf" ContentType="image/x-emf"/>
  <Default Extension="jpeg" ContentType="image/jpeg"/>
  <Default Extension="mpg" ContentType="video/m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14" r:id="rId1"/>
  </p:sldMasterIdLst>
  <p:notesMasterIdLst>
    <p:notesMasterId r:id="rId54"/>
  </p:notesMasterIdLst>
  <p:sldIdLst>
    <p:sldId id="256" r:id="rId2"/>
    <p:sldId id="257" r:id="rId3"/>
    <p:sldId id="258" r:id="rId4"/>
    <p:sldId id="259" r:id="rId5"/>
    <p:sldId id="260" r:id="rId6"/>
    <p:sldId id="261" r:id="rId7"/>
    <p:sldId id="582" r:id="rId8"/>
    <p:sldId id="263" r:id="rId9"/>
    <p:sldId id="264" r:id="rId10"/>
    <p:sldId id="563" r:id="rId11"/>
    <p:sldId id="268" r:id="rId12"/>
    <p:sldId id="269" r:id="rId13"/>
    <p:sldId id="270" r:id="rId14"/>
    <p:sldId id="280" r:id="rId15"/>
    <p:sldId id="281" r:id="rId16"/>
    <p:sldId id="282" r:id="rId17"/>
    <p:sldId id="283" r:id="rId18"/>
    <p:sldId id="583" r:id="rId19"/>
    <p:sldId id="285" r:id="rId20"/>
    <p:sldId id="286" r:id="rId21"/>
    <p:sldId id="289" r:id="rId22"/>
    <p:sldId id="290" r:id="rId23"/>
    <p:sldId id="291" r:id="rId24"/>
    <p:sldId id="564" r:id="rId25"/>
    <p:sldId id="292" r:id="rId26"/>
    <p:sldId id="584" r:id="rId27"/>
    <p:sldId id="300" r:id="rId28"/>
    <p:sldId id="301" r:id="rId29"/>
    <p:sldId id="305" r:id="rId30"/>
    <p:sldId id="566" r:id="rId31"/>
    <p:sldId id="572" r:id="rId32"/>
    <p:sldId id="302" r:id="rId33"/>
    <p:sldId id="590" r:id="rId34"/>
    <p:sldId id="591" r:id="rId35"/>
    <p:sldId id="304" r:id="rId36"/>
    <p:sldId id="306" r:id="rId37"/>
    <p:sldId id="303" r:id="rId38"/>
    <p:sldId id="575" r:id="rId39"/>
    <p:sldId id="309" r:id="rId40"/>
    <p:sldId id="585" r:id="rId41"/>
    <p:sldId id="311" r:id="rId42"/>
    <p:sldId id="310" r:id="rId43"/>
    <p:sldId id="586" r:id="rId44"/>
    <p:sldId id="587" r:id="rId45"/>
    <p:sldId id="312" r:id="rId46"/>
    <p:sldId id="589" r:id="rId47"/>
    <p:sldId id="576" r:id="rId48"/>
    <p:sldId id="578" r:id="rId49"/>
    <p:sldId id="579" r:id="rId50"/>
    <p:sldId id="580" r:id="rId51"/>
    <p:sldId id="581" r:id="rId52"/>
    <p:sldId id="557" r:id="rId53"/>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8F00"/>
    <a:srgbClr val="011893"/>
    <a:srgbClr val="004000"/>
    <a:srgbClr val="009193"/>
    <a:srgbClr val="4E8F00"/>
    <a:srgbClr val="0432FF"/>
    <a:srgbClr val="FF7E79"/>
    <a:srgbClr val="521B93"/>
    <a:srgbClr val="D5FC79"/>
    <a:srgbClr val="73FE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31348"/>
    <p:restoredTop sz="77524"/>
  </p:normalViewPr>
  <p:slideViewPr>
    <p:cSldViewPr snapToGrid="0" snapToObjects="1">
      <p:cViewPr varScale="1">
        <p:scale>
          <a:sx n="92" d="100"/>
          <a:sy n="92" d="100"/>
        </p:scale>
        <p:origin x="200" y="264"/>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tableStyles" Target="tableStyles.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heme" Target="theme/theme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1C3C840-1276-6B4F-8604-7EE6E066B4F8}" type="datetimeFigureOut">
              <a:rPr kumimoji="1" lang="ja-JP" altLang="en-US" smtClean="0"/>
              <a:t>2026/10/28</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r>
              <a:rPr kumimoji="1" lang="ja-JP" altLang="en-US"/>
              <a:t>マスター テキストの書式設定
第 </a:t>
            </a:r>
            <a:r>
              <a:rPr kumimoji="1" lang="en-US" altLang="ja-JP"/>
              <a:t>2 </a:t>
            </a:r>
            <a:r>
              <a:rPr kumimoji="1" lang="ja-JP" altLang="en-US"/>
              <a:t>レベル
第 </a:t>
            </a:r>
            <a:r>
              <a:rPr kumimoji="1" lang="en-US" altLang="ja-JP"/>
              <a:t>3 </a:t>
            </a:r>
            <a:r>
              <a:rPr kumimoji="1" lang="ja-JP" altLang="en-US"/>
              <a:t>レベル
第 </a:t>
            </a:r>
            <a:r>
              <a:rPr kumimoji="1" lang="en-US" altLang="ja-JP"/>
              <a:t>4 </a:t>
            </a:r>
            <a:r>
              <a:rPr kumimoji="1" lang="ja-JP" altLang="en-US"/>
              <a:t>レベル
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39D5D7F-D110-D14A-B0DD-305779BF2E8D}" type="slidenum">
              <a:rPr kumimoji="1" lang="ja-JP" altLang="en-US" smtClean="0"/>
              <a:t>‹#›</a:t>
            </a:fld>
            <a:endParaRPr kumimoji="1" lang="ja-JP" altLang="en-US"/>
          </a:p>
        </p:txBody>
      </p:sp>
    </p:spTree>
    <p:extLst>
      <p:ext uri="{BB962C8B-B14F-4D97-AF65-F5344CB8AC3E}">
        <p14:creationId xmlns:p14="http://schemas.microsoft.com/office/powerpoint/2010/main" val="645783882"/>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en-US" altLang="ja-JP" sz="3600" dirty="0"/>
              <a:t>Python </a:t>
            </a:r>
            <a:r>
              <a:rPr kumimoji="1" lang="ja-JP" altLang="en-US" sz="3600"/>
              <a:t>関数は使わない</a:t>
            </a:r>
          </a:p>
        </p:txBody>
      </p:sp>
      <p:sp>
        <p:nvSpPr>
          <p:cNvPr id="4" name="スライド番号プレースホルダー 3"/>
          <p:cNvSpPr>
            <a:spLocks noGrp="1"/>
          </p:cNvSpPr>
          <p:nvPr>
            <p:ph type="sldNum" sz="quarter" idx="5"/>
          </p:nvPr>
        </p:nvSpPr>
        <p:spPr/>
        <p:txBody>
          <a:bodyPr/>
          <a:lstStyle/>
          <a:p>
            <a:fld id="{B39D5D7F-D110-D14A-B0DD-305779BF2E8D}" type="slidenum">
              <a:rPr kumimoji="1" lang="ja-JP" altLang="en-US" smtClean="0"/>
              <a:t>1</a:t>
            </a:fld>
            <a:endParaRPr kumimoji="1" lang="ja-JP" altLang="en-US"/>
          </a:p>
        </p:txBody>
      </p:sp>
    </p:spTree>
    <p:extLst>
      <p:ext uri="{BB962C8B-B14F-4D97-AF65-F5344CB8AC3E}">
        <p14:creationId xmlns:p14="http://schemas.microsoft.com/office/powerpoint/2010/main" val="369100486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fld id="{B39D5D7F-D110-D14A-B0DD-305779BF2E8D}" type="slidenum">
              <a:rPr kumimoji="1" lang="ja-JP" altLang="en-US" smtClean="0"/>
              <a:t>22</a:t>
            </a:fld>
            <a:endParaRPr kumimoji="1" lang="ja-JP" altLang="en-US"/>
          </a:p>
        </p:txBody>
      </p:sp>
    </p:spTree>
    <p:extLst>
      <p:ext uri="{BB962C8B-B14F-4D97-AF65-F5344CB8AC3E}">
        <p14:creationId xmlns:p14="http://schemas.microsoft.com/office/powerpoint/2010/main" val="46484982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fld id="{B39D5D7F-D110-D14A-B0DD-305779BF2E8D}" type="slidenum">
              <a:rPr kumimoji="1" lang="ja-JP" altLang="en-US" smtClean="0"/>
              <a:t>30</a:t>
            </a:fld>
            <a:endParaRPr kumimoji="1" lang="ja-JP" altLang="en-US"/>
          </a:p>
        </p:txBody>
      </p:sp>
    </p:spTree>
    <p:extLst>
      <p:ext uri="{BB962C8B-B14F-4D97-AF65-F5344CB8AC3E}">
        <p14:creationId xmlns:p14="http://schemas.microsoft.com/office/powerpoint/2010/main" val="418754451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fld id="{B39D5D7F-D110-D14A-B0DD-305779BF2E8D}" type="slidenum">
              <a:rPr kumimoji="1" lang="ja-JP" altLang="en-US" smtClean="0"/>
              <a:t>32</a:t>
            </a:fld>
            <a:endParaRPr kumimoji="1" lang="ja-JP" altLang="en-US"/>
          </a:p>
        </p:txBody>
      </p:sp>
    </p:spTree>
    <p:extLst>
      <p:ext uri="{BB962C8B-B14F-4D97-AF65-F5344CB8AC3E}">
        <p14:creationId xmlns:p14="http://schemas.microsoft.com/office/powerpoint/2010/main" val="310018173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fld id="{B39D5D7F-D110-D14A-B0DD-305779BF2E8D}" type="slidenum">
              <a:rPr kumimoji="1" lang="ja-JP" altLang="en-US" smtClean="0"/>
              <a:t>47</a:t>
            </a:fld>
            <a:endParaRPr kumimoji="1" lang="ja-JP" altLang="en-US"/>
          </a:p>
        </p:txBody>
      </p:sp>
    </p:spTree>
    <p:extLst>
      <p:ext uri="{BB962C8B-B14F-4D97-AF65-F5344CB8AC3E}">
        <p14:creationId xmlns:p14="http://schemas.microsoft.com/office/powerpoint/2010/main" val="351005775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p:cNvSpPr>
            <a:spLocks noGrp="1"/>
          </p:cNvSpPr>
          <p:nvPr>
            <p:ph type="ctrTitle"/>
          </p:nvPr>
        </p:nvSpPr>
        <p:spPr>
          <a:xfrm>
            <a:off x="0" y="1"/>
            <a:ext cx="12192000" cy="3600450"/>
          </a:xfrm>
          <a:solidFill>
            <a:srgbClr val="011893"/>
          </a:solidFill>
          <a:ln>
            <a:noFill/>
          </a:ln>
        </p:spPr>
        <p:txBody>
          <a:bodyPr/>
          <a:lstStyle>
            <a:lvl1pPr>
              <a:defRPr b="0" i="0">
                <a:solidFill>
                  <a:schemeClr val="bg1"/>
                </a:solidFill>
                <a:ea typeface="Hiragino Kaku Gothic ProN W3" panose="020B0300000000000000" pitchFamily="34" charset="-128"/>
              </a:defRPr>
            </a:lvl1pPr>
          </a:lstStyle>
          <a:p>
            <a:r>
              <a:rPr kumimoji="1" lang="ja-JP" altLang="en-US"/>
              <a:t>マスター タイトルの書式設定</a:t>
            </a:r>
            <a:endParaRPr kumimoji="1" lang="ja-JP" altLang="en-US" dirty="0"/>
          </a:p>
        </p:txBody>
      </p:sp>
      <p:sp>
        <p:nvSpPr>
          <p:cNvPr id="3" name="サブタイトル 2"/>
          <p:cNvSpPr>
            <a:spLocks noGrp="1"/>
          </p:cNvSpPr>
          <p:nvPr>
            <p:ph type="subTitle" idx="1"/>
          </p:nvPr>
        </p:nvSpPr>
        <p:spPr>
          <a:xfrm>
            <a:off x="1828800" y="3886200"/>
            <a:ext cx="8534400" cy="1752600"/>
          </a:xfrm>
        </p:spPr>
        <p:txBody>
          <a:bodyPr/>
          <a:lstStyle>
            <a:lvl1pPr marL="0" indent="0" algn="ctr">
              <a:buNone/>
              <a:defRPr b="0" i="0">
                <a:solidFill>
                  <a:schemeClr val="tx1">
                    <a:tint val="75000"/>
                  </a:schemeClr>
                </a:solidFill>
                <a:ea typeface="Hiragino Kaku Gothic ProN W3" panose="020B0300000000000000" pitchFamily="34" charset="-128"/>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kumimoji="1" lang="ja-JP" altLang="en-US"/>
              <a:t>マスター サブタイトルの書式設定</a:t>
            </a:r>
          </a:p>
        </p:txBody>
      </p:sp>
      <p:sp>
        <p:nvSpPr>
          <p:cNvPr id="4" name="日付プレースホルダ 3"/>
          <p:cNvSpPr>
            <a:spLocks noGrp="1"/>
          </p:cNvSpPr>
          <p:nvPr>
            <p:ph type="dt" sz="half" idx="10"/>
          </p:nvPr>
        </p:nvSpPr>
        <p:spPr>
          <a:xfrm>
            <a:off x="609600" y="6356351"/>
            <a:ext cx="2844800" cy="365125"/>
          </a:xfrm>
          <a:prstGeom prst="rect">
            <a:avLst/>
          </a:prstGeom>
        </p:spPr>
        <p:txBody>
          <a:bodyPr/>
          <a:lstStyle>
            <a:lvl1pPr>
              <a:defRPr b="0" i="0">
                <a:ea typeface="Hiragino Kaku Gothic ProN W3" panose="020B0300000000000000" pitchFamily="34" charset="-128"/>
              </a:defRPr>
            </a:lvl1pPr>
          </a:lstStyle>
          <a:p>
            <a:fld id="{C8BC208A-B9F0-7945-ADEB-1A1AFDC48EA0}" type="datetimeFigureOut">
              <a:rPr lang="ja-JP" altLang="en-US" smtClean="0"/>
              <a:pPr/>
              <a:t>2026/10/28</a:t>
            </a:fld>
            <a:endParaRPr lang="ja-JP" altLang="en-US"/>
          </a:p>
        </p:txBody>
      </p:sp>
      <p:sp>
        <p:nvSpPr>
          <p:cNvPr id="5" name="フッター プレースホルダ 4"/>
          <p:cNvSpPr>
            <a:spLocks noGrp="1"/>
          </p:cNvSpPr>
          <p:nvPr>
            <p:ph type="ftr" sz="quarter" idx="11"/>
          </p:nvPr>
        </p:nvSpPr>
        <p:spPr>
          <a:xfrm>
            <a:off x="4165600" y="6356351"/>
            <a:ext cx="3860800" cy="365125"/>
          </a:xfrm>
          <a:prstGeom prst="rect">
            <a:avLst/>
          </a:prstGeom>
        </p:spPr>
        <p:txBody>
          <a:bodyPr/>
          <a:lstStyle>
            <a:lvl1pPr>
              <a:defRPr b="0" i="0">
                <a:ea typeface="Hiragino Kaku Gothic ProN W3" panose="020B0300000000000000" pitchFamily="34" charset="-128"/>
              </a:defRPr>
            </a:lvl1pPr>
          </a:lstStyle>
          <a:p>
            <a:endParaRPr lang="ja-JP" altLang="en-US"/>
          </a:p>
        </p:txBody>
      </p:sp>
    </p:spTree>
    <p:extLst>
      <p:ext uri="{BB962C8B-B14F-4D97-AF65-F5344CB8AC3E}">
        <p14:creationId xmlns:p14="http://schemas.microsoft.com/office/powerpoint/2010/main" val="20206322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0" y="0"/>
            <a:ext cx="12192000" cy="1143000"/>
          </a:xfrm>
        </p:spPr>
        <p:txBody>
          <a:bodyPr anchor="ctr" anchorCtr="0"/>
          <a:lstStyle>
            <a:lvl1pPr>
              <a:defRPr b="0" i="0">
                <a:ea typeface="Hiragino Kaku Gothic ProN W3" panose="020B0300000000000000" pitchFamily="34" charset="-128"/>
              </a:defRPr>
            </a:lvl1pPr>
          </a:lstStyle>
          <a:p>
            <a:r>
              <a:rPr kumimoji="1" lang="ja-JP" altLang="en-US"/>
              <a:t>マスター タイトルの書式設定</a:t>
            </a:r>
            <a:endParaRPr kumimoji="1" lang="ja-JP" altLang="en-US" dirty="0"/>
          </a:p>
        </p:txBody>
      </p:sp>
      <p:sp>
        <p:nvSpPr>
          <p:cNvPr id="3" name="コンテンツ プレースホルダ 2"/>
          <p:cNvSpPr>
            <a:spLocks noGrp="1"/>
          </p:cNvSpPr>
          <p:nvPr>
            <p:ph idx="1"/>
          </p:nvPr>
        </p:nvSpPr>
        <p:spPr/>
        <p:txBody>
          <a:bodyPr/>
          <a:lstStyle>
            <a:lvl1pPr>
              <a:defRPr b="0" i="0">
                <a:ea typeface="Hiragino Kaku Gothic ProN W3" panose="020B0300000000000000" pitchFamily="34" charset="-128"/>
              </a:defRPr>
            </a:lvl1pPr>
          </a:lstStyle>
          <a:p>
            <a:pPr lvl="0"/>
            <a:r>
              <a:rPr kumimoji="1" lang="ja-JP" altLang="en-US"/>
              <a:t>マスター テキストの書式設定
第 </a:t>
            </a:r>
            <a:r>
              <a:rPr kumimoji="1" lang="en-US" altLang="ja-JP" dirty="0"/>
              <a:t>2 </a:t>
            </a:r>
            <a:r>
              <a:rPr kumimoji="1" lang="ja-JP" altLang="en-US"/>
              <a:t>レベル
第 </a:t>
            </a:r>
            <a:r>
              <a:rPr kumimoji="1" lang="en-US" altLang="ja-JP" dirty="0"/>
              <a:t>3 </a:t>
            </a:r>
            <a:r>
              <a:rPr kumimoji="1" lang="ja-JP" altLang="en-US"/>
              <a:t>レベル
第 </a:t>
            </a:r>
            <a:r>
              <a:rPr kumimoji="1" lang="en-US" altLang="ja-JP" dirty="0"/>
              <a:t>4 </a:t>
            </a:r>
            <a:r>
              <a:rPr kumimoji="1" lang="ja-JP" altLang="en-US"/>
              <a:t>レベル
第 </a:t>
            </a:r>
            <a:r>
              <a:rPr kumimoji="1" lang="en-US" altLang="ja-JP" dirty="0"/>
              <a:t>5 </a:t>
            </a:r>
            <a:r>
              <a:rPr kumimoji="1" lang="ja-JP" altLang="en-US"/>
              <a:t>レベル</a:t>
            </a:r>
          </a:p>
        </p:txBody>
      </p:sp>
      <p:sp>
        <p:nvSpPr>
          <p:cNvPr id="4" name="日付プレースホルダ 3"/>
          <p:cNvSpPr>
            <a:spLocks noGrp="1"/>
          </p:cNvSpPr>
          <p:nvPr>
            <p:ph type="dt" sz="half" idx="10"/>
          </p:nvPr>
        </p:nvSpPr>
        <p:spPr>
          <a:xfrm>
            <a:off x="609600" y="6356351"/>
            <a:ext cx="2844800" cy="365125"/>
          </a:xfrm>
          <a:prstGeom prst="rect">
            <a:avLst/>
          </a:prstGeom>
        </p:spPr>
        <p:txBody>
          <a:bodyPr/>
          <a:lstStyle>
            <a:lvl1pPr>
              <a:defRPr b="0" i="0">
                <a:ea typeface="Hiragino Kaku Gothic ProN W3" panose="020B0300000000000000" pitchFamily="34" charset="-128"/>
              </a:defRPr>
            </a:lvl1pPr>
          </a:lstStyle>
          <a:p>
            <a:fld id="{C8BC208A-B9F0-7945-ADEB-1A1AFDC48EA0}" type="datetimeFigureOut">
              <a:rPr lang="ja-JP" altLang="en-US" smtClean="0"/>
              <a:pPr/>
              <a:t>2026/10/28</a:t>
            </a:fld>
            <a:endParaRPr lang="ja-JP" altLang="en-US"/>
          </a:p>
        </p:txBody>
      </p:sp>
      <p:sp>
        <p:nvSpPr>
          <p:cNvPr id="5" name="フッター プレースホルダ 4"/>
          <p:cNvSpPr>
            <a:spLocks noGrp="1"/>
          </p:cNvSpPr>
          <p:nvPr>
            <p:ph type="ftr" sz="quarter" idx="11"/>
          </p:nvPr>
        </p:nvSpPr>
        <p:spPr>
          <a:xfrm>
            <a:off x="4165600" y="6356351"/>
            <a:ext cx="3860800" cy="365125"/>
          </a:xfrm>
          <a:prstGeom prst="rect">
            <a:avLst/>
          </a:prstGeom>
        </p:spPr>
        <p:txBody>
          <a:bodyPr/>
          <a:lstStyle>
            <a:lvl1pPr>
              <a:defRPr b="0" i="0">
                <a:ea typeface="Hiragino Kaku Gothic ProN W3" panose="020B0300000000000000" pitchFamily="34" charset="-128"/>
              </a:defRPr>
            </a:lvl1pPr>
          </a:lstStyle>
          <a:p>
            <a:endParaRPr lang="ja-JP" altLang="en-US"/>
          </a:p>
        </p:txBody>
      </p:sp>
    </p:spTree>
    <p:extLst>
      <p:ext uri="{BB962C8B-B14F-4D97-AF65-F5344CB8AC3E}">
        <p14:creationId xmlns:p14="http://schemas.microsoft.com/office/powerpoint/2010/main" val="123523975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p:cNvSpPr>
            <a:spLocks noGrp="1"/>
          </p:cNvSpPr>
          <p:nvPr>
            <p:ph type="title"/>
          </p:nvPr>
        </p:nvSpPr>
        <p:spPr>
          <a:xfrm>
            <a:off x="963084" y="4406901"/>
            <a:ext cx="10363200" cy="1362075"/>
          </a:xfrm>
        </p:spPr>
        <p:txBody>
          <a:bodyPr anchor="t"/>
          <a:lstStyle>
            <a:lvl1pPr algn="l">
              <a:defRPr sz="4000" b="0" i="0" cap="all">
                <a:ea typeface="Hiragino Kaku Gothic ProN W3" panose="020B0300000000000000" pitchFamily="34" charset="-128"/>
              </a:defRPr>
            </a:lvl1pPr>
          </a:lstStyle>
          <a:p>
            <a:r>
              <a:rPr kumimoji="1" lang="ja-JP" altLang="en-US"/>
              <a:t>マスター タイトルの書式設定</a:t>
            </a:r>
            <a:endParaRPr kumimoji="1" lang="ja-JP" altLang="en-US" dirty="0"/>
          </a:p>
        </p:txBody>
      </p:sp>
      <p:sp>
        <p:nvSpPr>
          <p:cNvPr id="3" name="テキスト プレースホルダ 2"/>
          <p:cNvSpPr>
            <a:spLocks noGrp="1"/>
          </p:cNvSpPr>
          <p:nvPr>
            <p:ph type="body" idx="1"/>
          </p:nvPr>
        </p:nvSpPr>
        <p:spPr>
          <a:xfrm>
            <a:off x="963084" y="2906713"/>
            <a:ext cx="10363200" cy="1500187"/>
          </a:xfrm>
        </p:spPr>
        <p:txBody>
          <a:bodyPr anchor="b"/>
          <a:lstStyle>
            <a:lvl1pPr marL="0" indent="0">
              <a:buNone/>
              <a:defRPr sz="2000" b="0" i="0">
                <a:solidFill>
                  <a:schemeClr val="tx1">
                    <a:tint val="75000"/>
                  </a:schemeClr>
                </a:solidFill>
                <a:ea typeface="Hiragino Kaku Gothic ProN W3" panose="020B0300000000000000" pitchFamily="34" charset="-128"/>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kumimoji="1" lang="ja-JP" altLang="en-US"/>
              <a:t>マスター テキストの書式設定
第 </a:t>
            </a:r>
            <a:r>
              <a:rPr kumimoji="1" lang="en-US" altLang="ja-JP" dirty="0"/>
              <a:t>2 </a:t>
            </a:r>
            <a:r>
              <a:rPr kumimoji="1" lang="ja-JP" altLang="en-US"/>
              <a:t>レベル
第 </a:t>
            </a:r>
            <a:r>
              <a:rPr kumimoji="1" lang="en-US" altLang="ja-JP" dirty="0"/>
              <a:t>3 </a:t>
            </a:r>
            <a:r>
              <a:rPr kumimoji="1" lang="ja-JP" altLang="en-US"/>
              <a:t>レベル
第 </a:t>
            </a:r>
            <a:r>
              <a:rPr kumimoji="1" lang="en-US" altLang="ja-JP" dirty="0"/>
              <a:t>4 </a:t>
            </a:r>
            <a:r>
              <a:rPr kumimoji="1" lang="ja-JP" altLang="en-US"/>
              <a:t>レベル
第 </a:t>
            </a:r>
            <a:r>
              <a:rPr kumimoji="1" lang="en-US" altLang="ja-JP" dirty="0"/>
              <a:t>5 </a:t>
            </a:r>
            <a:r>
              <a:rPr kumimoji="1" lang="ja-JP" altLang="en-US"/>
              <a:t>レベル</a:t>
            </a:r>
          </a:p>
        </p:txBody>
      </p:sp>
      <p:sp>
        <p:nvSpPr>
          <p:cNvPr id="4" name="日付プレースホルダ 3"/>
          <p:cNvSpPr>
            <a:spLocks noGrp="1"/>
          </p:cNvSpPr>
          <p:nvPr>
            <p:ph type="dt" sz="half" idx="10"/>
          </p:nvPr>
        </p:nvSpPr>
        <p:spPr>
          <a:xfrm>
            <a:off x="609600" y="6356351"/>
            <a:ext cx="2844800" cy="365125"/>
          </a:xfrm>
          <a:prstGeom prst="rect">
            <a:avLst/>
          </a:prstGeom>
        </p:spPr>
        <p:txBody>
          <a:bodyPr/>
          <a:lstStyle>
            <a:lvl1pPr>
              <a:defRPr b="0" i="0">
                <a:ea typeface="Hiragino Kaku Gothic ProN W3" panose="020B0300000000000000" pitchFamily="34" charset="-128"/>
              </a:defRPr>
            </a:lvl1pPr>
          </a:lstStyle>
          <a:p>
            <a:fld id="{C8BC208A-B9F0-7945-ADEB-1A1AFDC48EA0}" type="datetimeFigureOut">
              <a:rPr lang="ja-JP" altLang="en-US" smtClean="0"/>
              <a:pPr/>
              <a:t>2026/10/28</a:t>
            </a:fld>
            <a:endParaRPr lang="ja-JP" altLang="en-US"/>
          </a:p>
        </p:txBody>
      </p:sp>
      <p:sp>
        <p:nvSpPr>
          <p:cNvPr id="5" name="フッター プレースホルダ 4"/>
          <p:cNvSpPr>
            <a:spLocks noGrp="1"/>
          </p:cNvSpPr>
          <p:nvPr>
            <p:ph type="ftr" sz="quarter" idx="11"/>
          </p:nvPr>
        </p:nvSpPr>
        <p:spPr>
          <a:xfrm>
            <a:off x="4165600" y="6356351"/>
            <a:ext cx="3860800" cy="365125"/>
          </a:xfrm>
          <a:prstGeom prst="rect">
            <a:avLst/>
          </a:prstGeom>
        </p:spPr>
        <p:txBody>
          <a:bodyPr/>
          <a:lstStyle>
            <a:lvl1pPr>
              <a:defRPr b="0" i="0">
                <a:ea typeface="Hiragino Kaku Gothic ProN W3" panose="020B0300000000000000" pitchFamily="34" charset="-128"/>
              </a:defRPr>
            </a:lvl1pPr>
          </a:lstStyle>
          <a:p>
            <a:endParaRPr lang="ja-JP" altLang="en-US"/>
          </a:p>
        </p:txBody>
      </p:sp>
    </p:spTree>
    <p:extLst>
      <p:ext uri="{BB962C8B-B14F-4D97-AF65-F5344CB8AC3E}">
        <p14:creationId xmlns:p14="http://schemas.microsoft.com/office/powerpoint/2010/main" val="258254546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lvl1pPr>
              <a:defRPr b="0" i="0">
                <a:ea typeface="Hiragino Kaku Gothic ProN W3" panose="020B0300000000000000" pitchFamily="34" charset="-128"/>
              </a:defRPr>
            </a:lvl1pPr>
          </a:lstStyle>
          <a:p>
            <a:r>
              <a:rPr kumimoji="1" lang="ja-JP" altLang="en-US"/>
              <a:t>マスター タイトルの書式設定</a:t>
            </a:r>
          </a:p>
        </p:txBody>
      </p:sp>
      <p:sp>
        <p:nvSpPr>
          <p:cNvPr id="3" name="コンテンツ プレースホルダ 2"/>
          <p:cNvSpPr>
            <a:spLocks noGrp="1"/>
          </p:cNvSpPr>
          <p:nvPr>
            <p:ph sz="half" idx="1"/>
          </p:nvPr>
        </p:nvSpPr>
        <p:spPr>
          <a:xfrm>
            <a:off x="609600" y="1600201"/>
            <a:ext cx="5384800" cy="4525963"/>
          </a:xfrm>
        </p:spPr>
        <p:txBody>
          <a:bodyPr/>
          <a:lstStyle>
            <a:lvl1pPr>
              <a:defRPr sz="2800" b="0" i="0">
                <a:ea typeface="Hiragino Kaku Gothic ProN W3" panose="020B0300000000000000" pitchFamily="34" charset="-128"/>
              </a:defRPr>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kumimoji="1" lang="ja-JP" altLang="en-US"/>
              <a:t>マスター テキストの書式設定
第 </a:t>
            </a:r>
            <a:r>
              <a:rPr kumimoji="1" lang="en-US" altLang="ja-JP" dirty="0"/>
              <a:t>2 </a:t>
            </a:r>
            <a:r>
              <a:rPr kumimoji="1" lang="ja-JP" altLang="en-US"/>
              <a:t>レベル
第 </a:t>
            </a:r>
            <a:r>
              <a:rPr kumimoji="1" lang="en-US" altLang="ja-JP" dirty="0"/>
              <a:t>3 </a:t>
            </a:r>
            <a:r>
              <a:rPr kumimoji="1" lang="ja-JP" altLang="en-US"/>
              <a:t>レベル
第 </a:t>
            </a:r>
            <a:r>
              <a:rPr kumimoji="1" lang="en-US" altLang="ja-JP" dirty="0"/>
              <a:t>4 </a:t>
            </a:r>
            <a:r>
              <a:rPr kumimoji="1" lang="ja-JP" altLang="en-US"/>
              <a:t>レベル
第 </a:t>
            </a:r>
            <a:r>
              <a:rPr kumimoji="1" lang="en-US" altLang="ja-JP" dirty="0"/>
              <a:t>5 </a:t>
            </a:r>
            <a:r>
              <a:rPr kumimoji="1" lang="ja-JP" altLang="en-US"/>
              <a:t>レベル</a:t>
            </a:r>
          </a:p>
        </p:txBody>
      </p:sp>
      <p:sp>
        <p:nvSpPr>
          <p:cNvPr id="4" name="コンテンツ プレースホルダ 3"/>
          <p:cNvSpPr>
            <a:spLocks noGrp="1"/>
          </p:cNvSpPr>
          <p:nvPr>
            <p:ph sz="half" idx="2"/>
          </p:nvPr>
        </p:nvSpPr>
        <p:spPr>
          <a:xfrm>
            <a:off x="6197600" y="1600201"/>
            <a:ext cx="5384800" cy="4525963"/>
          </a:xfrm>
        </p:spPr>
        <p:txBody>
          <a:bodyPr/>
          <a:lstStyle>
            <a:lvl1pPr>
              <a:defRPr sz="2800" b="0" i="0">
                <a:ea typeface="Hiragino Kaku Gothic ProN W3" panose="020B0300000000000000" pitchFamily="34" charset="-128"/>
              </a:defRPr>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kumimoji="1" lang="ja-JP" altLang="en-US"/>
              <a:t>マスター テキストの書式設定
第 </a:t>
            </a:r>
            <a:r>
              <a:rPr kumimoji="1" lang="en-US" altLang="ja-JP" dirty="0"/>
              <a:t>2 </a:t>
            </a:r>
            <a:r>
              <a:rPr kumimoji="1" lang="ja-JP" altLang="en-US"/>
              <a:t>レベル
第 </a:t>
            </a:r>
            <a:r>
              <a:rPr kumimoji="1" lang="en-US" altLang="ja-JP" dirty="0"/>
              <a:t>3 </a:t>
            </a:r>
            <a:r>
              <a:rPr kumimoji="1" lang="ja-JP" altLang="en-US"/>
              <a:t>レベル
第 </a:t>
            </a:r>
            <a:r>
              <a:rPr kumimoji="1" lang="en-US" altLang="ja-JP" dirty="0"/>
              <a:t>4 </a:t>
            </a:r>
            <a:r>
              <a:rPr kumimoji="1" lang="ja-JP" altLang="en-US"/>
              <a:t>レベル
第 </a:t>
            </a:r>
            <a:r>
              <a:rPr kumimoji="1" lang="en-US" altLang="ja-JP" dirty="0"/>
              <a:t>5 </a:t>
            </a:r>
            <a:r>
              <a:rPr kumimoji="1" lang="ja-JP" altLang="en-US"/>
              <a:t>レベル</a:t>
            </a:r>
          </a:p>
        </p:txBody>
      </p:sp>
      <p:sp>
        <p:nvSpPr>
          <p:cNvPr id="5" name="日付プレースホルダ 4"/>
          <p:cNvSpPr>
            <a:spLocks noGrp="1"/>
          </p:cNvSpPr>
          <p:nvPr>
            <p:ph type="dt" sz="half" idx="10"/>
          </p:nvPr>
        </p:nvSpPr>
        <p:spPr>
          <a:xfrm>
            <a:off x="609600" y="6356351"/>
            <a:ext cx="2844800" cy="365125"/>
          </a:xfrm>
          <a:prstGeom prst="rect">
            <a:avLst/>
          </a:prstGeom>
        </p:spPr>
        <p:txBody>
          <a:bodyPr/>
          <a:lstStyle>
            <a:lvl1pPr>
              <a:defRPr b="0" i="0">
                <a:ea typeface="Hiragino Kaku Gothic ProN W3" panose="020B0300000000000000" pitchFamily="34" charset="-128"/>
              </a:defRPr>
            </a:lvl1pPr>
          </a:lstStyle>
          <a:p>
            <a:fld id="{C8BC208A-B9F0-7945-ADEB-1A1AFDC48EA0}" type="datetimeFigureOut">
              <a:rPr lang="ja-JP" altLang="en-US" smtClean="0"/>
              <a:pPr/>
              <a:t>2026/10/28</a:t>
            </a:fld>
            <a:endParaRPr lang="ja-JP" altLang="en-US"/>
          </a:p>
        </p:txBody>
      </p:sp>
      <p:sp>
        <p:nvSpPr>
          <p:cNvPr id="6" name="フッター プレースホルダ 5"/>
          <p:cNvSpPr>
            <a:spLocks noGrp="1"/>
          </p:cNvSpPr>
          <p:nvPr>
            <p:ph type="ftr" sz="quarter" idx="11"/>
          </p:nvPr>
        </p:nvSpPr>
        <p:spPr>
          <a:xfrm>
            <a:off x="4165600" y="6356351"/>
            <a:ext cx="3860800" cy="365125"/>
          </a:xfrm>
          <a:prstGeom prst="rect">
            <a:avLst/>
          </a:prstGeom>
        </p:spPr>
        <p:txBody>
          <a:bodyPr/>
          <a:lstStyle>
            <a:lvl1pPr>
              <a:defRPr b="0" i="0">
                <a:ea typeface="Hiragino Kaku Gothic ProN W3" panose="020B0300000000000000" pitchFamily="34" charset="-128"/>
              </a:defRPr>
            </a:lvl1pPr>
          </a:lstStyle>
          <a:p>
            <a:endParaRPr lang="ja-JP" altLang="en-US"/>
          </a:p>
        </p:txBody>
      </p:sp>
    </p:spTree>
    <p:extLst>
      <p:ext uri="{BB962C8B-B14F-4D97-AF65-F5344CB8AC3E}">
        <p14:creationId xmlns:p14="http://schemas.microsoft.com/office/powerpoint/2010/main" val="38858784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lvl1pPr>
              <a:defRPr b="0" i="0">
                <a:ea typeface="Hiragino Kaku Gothic ProN W3" panose="020B0300000000000000" pitchFamily="34" charset="-128"/>
              </a:defRPr>
            </a:lvl1pPr>
          </a:lstStyle>
          <a:p>
            <a:r>
              <a:rPr kumimoji="1" lang="ja-JP" altLang="en-US"/>
              <a:t>マスター タイトルの書式設定</a:t>
            </a:r>
            <a:endParaRPr kumimoji="1" lang="ja-JP" altLang="en-US" dirty="0"/>
          </a:p>
        </p:txBody>
      </p:sp>
      <p:sp>
        <p:nvSpPr>
          <p:cNvPr id="3" name="テキスト プレースホルダ 2"/>
          <p:cNvSpPr>
            <a:spLocks noGrp="1"/>
          </p:cNvSpPr>
          <p:nvPr>
            <p:ph type="body" idx="1"/>
          </p:nvPr>
        </p:nvSpPr>
        <p:spPr>
          <a:xfrm>
            <a:off x="609600" y="1535113"/>
            <a:ext cx="5386917" cy="639762"/>
          </a:xfrm>
        </p:spPr>
        <p:txBody>
          <a:bodyPr anchor="b"/>
          <a:lstStyle>
            <a:lvl1pPr marL="0" indent="0">
              <a:buNone/>
              <a:defRPr sz="2400" b="0" i="0">
                <a:ea typeface="Hiragino Kaku Gothic ProN W3" panose="020B0300000000000000" pitchFamily="34" charset="-128"/>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
第 </a:t>
            </a:r>
            <a:r>
              <a:rPr kumimoji="1" lang="en-US" altLang="ja-JP" dirty="0"/>
              <a:t>2 </a:t>
            </a:r>
            <a:r>
              <a:rPr kumimoji="1" lang="ja-JP" altLang="en-US"/>
              <a:t>レベル
第 </a:t>
            </a:r>
            <a:r>
              <a:rPr kumimoji="1" lang="en-US" altLang="ja-JP" dirty="0"/>
              <a:t>3 </a:t>
            </a:r>
            <a:r>
              <a:rPr kumimoji="1" lang="ja-JP" altLang="en-US"/>
              <a:t>レベル
第 </a:t>
            </a:r>
            <a:r>
              <a:rPr kumimoji="1" lang="en-US" altLang="ja-JP" dirty="0"/>
              <a:t>4 </a:t>
            </a:r>
            <a:r>
              <a:rPr kumimoji="1" lang="ja-JP" altLang="en-US"/>
              <a:t>レベル
第 </a:t>
            </a:r>
            <a:r>
              <a:rPr kumimoji="1" lang="en-US" altLang="ja-JP" dirty="0"/>
              <a:t>5 </a:t>
            </a:r>
            <a:r>
              <a:rPr kumimoji="1" lang="ja-JP" altLang="en-US"/>
              <a:t>レベル</a:t>
            </a:r>
          </a:p>
        </p:txBody>
      </p:sp>
      <p:sp>
        <p:nvSpPr>
          <p:cNvPr id="4" name="コンテンツ プレースホルダ 3"/>
          <p:cNvSpPr>
            <a:spLocks noGrp="1"/>
          </p:cNvSpPr>
          <p:nvPr>
            <p:ph sz="half" idx="2"/>
          </p:nvPr>
        </p:nvSpPr>
        <p:spPr>
          <a:xfrm>
            <a:off x="609600" y="2174875"/>
            <a:ext cx="5386917" cy="3951288"/>
          </a:xfrm>
        </p:spPr>
        <p:txBody>
          <a:bodyPr/>
          <a:lstStyle>
            <a:lvl1pPr>
              <a:defRPr sz="2400" b="0" i="0">
                <a:ea typeface="Hiragino Kaku Gothic ProN W3" panose="020B0300000000000000" pitchFamily="34" charset="-128"/>
              </a:defRPr>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kumimoji="1" lang="ja-JP" altLang="en-US"/>
              <a:t>マスター テキストの書式設定
第 </a:t>
            </a:r>
            <a:r>
              <a:rPr kumimoji="1" lang="en-US" altLang="ja-JP" dirty="0"/>
              <a:t>2 </a:t>
            </a:r>
            <a:r>
              <a:rPr kumimoji="1" lang="ja-JP" altLang="en-US"/>
              <a:t>レベル
第 </a:t>
            </a:r>
            <a:r>
              <a:rPr kumimoji="1" lang="en-US" altLang="ja-JP" dirty="0"/>
              <a:t>3 </a:t>
            </a:r>
            <a:r>
              <a:rPr kumimoji="1" lang="ja-JP" altLang="en-US"/>
              <a:t>レベル
第 </a:t>
            </a:r>
            <a:r>
              <a:rPr kumimoji="1" lang="en-US" altLang="ja-JP" dirty="0"/>
              <a:t>4 </a:t>
            </a:r>
            <a:r>
              <a:rPr kumimoji="1" lang="ja-JP" altLang="en-US"/>
              <a:t>レベル
第 </a:t>
            </a:r>
            <a:r>
              <a:rPr kumimoji="1" lang="en-US" altLang="ja-JP" dirty="0"/>
              <a:t>5 </a:t>
            </a:r>
            <a:r>
              <a:rPr kumimoji="1" lang="ja-JP" altLang="en-US"/>
              <a:t>レベル</a:t>
            </a:r>
          </a:p>
        </p:txBody>
      </p:sp>
      <p:sp>
        <p:nvSpPr>
          <p:cNvPr id="5" name="テキスト プレースホルダ 4"/>
          <p:cNvSpPr>
            <a:spLocks noGrp="1"/>
          </p:cNvSpPr>
          <p:nvPr>
            <p:ph type="body" sz="quarter" idx="3"/>
          </p:nvPr>
        </p:nvSpPr>
        <p:spPr>
          <a:xfrm>
            <a:off x="6193368" y="1535113"/>
            <a:ext cx="5389033" cy="639762"/>
          </a:xfrm>
        </p:spPr>
        <p:txBody>
          <a:bodyPr anchor="b"/>
          <a:lstStyle>
            <a:lvl1pPr marL="0" indent="0">
              <a:buNone/>
              <a:defRPr sz="2400" b="0" i="0">
                <a:ea typeface="Hiragino Kaku Gothic ProN W3" panose="020B0300000000000000" pitchFamily="34" charset="-128"/>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
第 </a:t>
            </a:r>
            <a:r>
              <a:rPr kumimoji="1" lang="en-US" altLang="ja-JP" dirty="0"/>
              <a:t>2 </a:t>
            </a:r>
            <a:r>
              <a:rPr kumimoji="1" lang="ja-JP" altLang="en-US"/>
              <a:t>レベル
第 </a:t>
            </a:r>
            <a:r>
              <a:rPr kumimoji="1" lang="en-US" altLang="ja-JP" dirty="0"/>
              <a:t>3 </a:t>
            </a:r>
            <a:r>
              <a:rPr kumimoji="1" lang="ja-JP" altLang="en-US"/>
              <a:t>レベル
第 </a:t>
            </a:r>
            <a:r>
              <a:rPr kumimoji="1" lang="en-US" altLang="ja-JP" dirty="0"/>
              <a:t>4 </a:t>
            </a:r>
            <a:r>
              <a:rPr kumimoji="1" lang="ja-JP" altLang="en-US"/>
              <a:t>レベル
第 </a:t>
            </a:r>
            <a:r>
              <a:rPr kumimoji="1" lang="en-US" altLang="ja-JP" dirty="0"/>
              <a:t>5 </a:t>
            </a:r>
            <a:r>
              <a:rPr kumimoji="1" lang="ja-JP" altLang="en-US"/>
              <a:t>レベル</a:t>
            </a:r>
          </a:p>
        </p:txBody>
      </p:sp>
      <p:sp>
        <p:nvSpPr>
          <p:cNvPr id="6" name="コンテンツ プレースホルダ 5"/>
          <p:cNvSpPr>
            <a:spLocks noGrp="1"/>
          </p:cNvSpPr>
          <p:nvPr>
            <p:ph sz="quarter" idx="4"/>
          </p:nvPr>
        </p:nvSpPr>
        <p:spPr>
          <a:xfrm>
            <a:off x="6193368" y="2174875"/>
            <a:ext cx="5389033" cy="3951288"/>
          </a:xfrm>
        </p:spPr>
        <p:txBody>
          <a:bodyPr/>
          <a:lstStyle>
            <a:lvl1pPr>
              <a:defRPr sz="2400" b="0" i="0">
                <a:ea typeface="Hiragino Kaku Gothic ProN W3" panose="020B0300000000000000" pitchFamily="34" charset="-128"/>
              </a:defRPr>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kumimoji="1" lang="ja-JP" altLang="en-US"/>
              <a:t>マスター テキストの書式設定
第 </a:t>
            </a:r>
            <a:r>
              <a:rPr kumimoji="1" lang="en-US" altLang="ja-JP" dirty="0"/>
              <a:t>2 </a:t>
            </a:r>
            <a:r>
              <a:rPr kumimoji="1" lang="ja-JP" altLang="en-US"/>
              <a:t>レベル
第 </a:t>
            </a:r>
            <a:r>
              <a:rPr kumimoji="1" lang="en-US" altLang="ja-JP" dirty="0"/>
              <a:t>3 </a:t>
            </a:r>
            <a:r>
              <a:rPr kumimoji="1" lang="ja-JP" altLang="en-US"/>
              <a:t>レベル
第 </a:t>
            </a:r>
            <a:r>
              <a:rPr kumimoji="1" lang="en-US" altLang="ja-JP" dirty="0"/>
              <a:t>4 </a:t>
            </a:r>
            <a:r>
              <a:rPr kumimoji="1" lang="ja-JP" altLang="en-US"/>
              <a:t>レベル
第 </a:t>
            </a:r>
            <a:r>
              <a:rPr kumimoji="1" lang="en-US" altLang="ja-JP" dirty="0"/>
              <a:t>5 </a:t>
            </a:r>
            <a:r>
              <a:rPr kumimoji="1" lang="ja-JP" altLang="en-US"/>
              <a:t>レベル</a:t>
            </a:r>
          </a:p>
        </p:txBody>
      </p:sp>
      <p:sp>
        <p:nvSpPr>
          <p:cNvPr id="7" name="日付プレースホルダ 6"/>
          <p:cNvSpPr>
            <a:spLocks noGrp="1"/>
          </p:cNvSpPr>
          <p:nvPr>
            <p:ph type="dt" sz="half" idx="10"/>
          </p:nvPr>
        </p:nvSpPr>
        <p:spPr>
          <a:xfrm>
            <a:off x="609600" y="6356351"/>
            <a:ext cx="2844800" cy="365125"/>
          </a:xfrm>
          <a:prstGeom prst="rect">
            <a:avLst/>
          </a:prstGeom>
        </p:spPr>
        <p:txBody>
          <a:bodyPr/>
          <a:lstStyle>
            <a:lvl1pPr>
              <a:defRPr b="0" i="0">
                <a:ea typeface="Hiragino Kaku Gothic ProN W3" panose="020B0300000000000000" pitchFamily="34" charset="-128"/>
              </a:defRPr>
            </a:lvl1pPr>
          </a:lstStyle>
          <a:p>
            <a:fld id="{C8BC208A-B9F0-7945-ADEB-1A1AFDC48EA0}" type="datetimeFigureOut">
              <a:rPr lang="ja-JP" altLang="en-US" smtClean="0"/>
              <a:pPr/>
              <a:t>2026/10/28</a:t>
            </a:fld>
            <a:endParaRPr lang="ja-JP" altLang="en-US"/>
          </a:p>
        </p:txBody>
      </p:sp>
      <p:sp>
        <p:nvSpPr>
          <p:cNvPr id="8" name="フッター プレースホルダ 7"/>
          <p:cNvSpPr>
            <a:spLocks noGrp="1"/>
          </p:cNvSpPr>
          <p:nvPr>
            <p:ph type="ftr" sz="quarter" idx="11"/>
          </p:nvPr>
        </p:nvSpPr>
        <p:spPr>
          <a:xfrm>
            <a:off x="4165600" y="6356351"/>
            <a:ext cx="3860800" cy="365125"/>
          </a:xfrm>
          <a:prstGeom prst="rect">
            <a:avLst/>
          </a:prstGeom>
        </p:spPr>
        <p:txBody>
          <a:bodyPr/>
          <a:lstStyle>
            <a:lvl1pPr>
              <a:defRPr b="0" i="0">
                <a:ea typeface="Hiragino Kaku Gothic ProN W3" panose="020B0300000000000000" pitchFamily="34" charset="-128"/>
              </a:defRPr>
            </a:lvl1pPr>
          </a:lstStyle>
          <a:p>
            <a:endParaRPr lang="ja-JP" altLang="en-US"/>
          </a:p>
        </p:txBody>
      </p:sp>
    </p:spTree>
    <p:extLst>
      <p:ext uri="{BB962C8B-B14F-4D97-AF65-F5344CB8AC3E}">
        <p14:creationId xmlns:p14="http://schemas.microsoft.com/office/powerpoint/2010/main" val="335690892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タイトルのみ">
    <p:spTree>
      <p:nvGrpSpPr>
        <p:cNvPr id="1" name=""/>
        <p:cNvGrpSpPr/>
        <p:nvPr/>
      </p:nvGrpSpPr>
      <p:grpSpPr>
        <a:xfrm>
          <a:off x="0" y="0"/>
          <a:ext cx="0" cy="0"/>
          <a:chOff x="0" y="0"/>
          <a:chExt cx="0" cy="0"/>
        </a:xfrm>
      </p:grpSpPr>
      <p:sp>
        <p:nvSpPr>
          <p:cNvPr id="3" name="日付プレースホルダ 2"/>
          <p:cNvSpPr>
            <a:spLocks noGrp="1"/>
          </p:cNvSpPr>
          <p:nvPr>
            <p:ph type="dt" sz="half" idx="10"/>
          </p:nvPr>
        </p:nvSpPr>
        <p:spPr>
          <a:xfrm>
            <a:off x="609600" y="6356351"/>
            <a:ext cx="2844800" cy="365125"/>
          </a:xfrm>
          <a:prstGeom prst="rect">
            <a:avLst/>
          </a:prstGeom>
        </p:spPr>
        <p:txBody>
          <a:bodyPr/>
          <a:lstStyle>
            <a:lvl1pPr>
              <a:defRPr b="0" i="0">
                <a:ea typeface="Hiragino Kaku Gothic ProN W3" panose="020B0300000000000000" pitchFamily="34" charset="-128"/>
              </a:defRPr>
            </a:lvl1pPr>
          </a:lstStyle>
          <a:p>
            <a:fld id="{C8BC208A-B9F0-7945-ADEB-1A1AFDC48EA0}" type="datetimeFigureOut">
              <a:rPr lang="ja-JP" altLang="en-US" smtClean="0"/>
              <a:pPr/>
              <a:t>2026/10/28</a:t>
            </a:fld>
            <a:endParaRPr lang="ja-JP" altLang="en-US"/>
          </a:p>
        </p:txBody>
      </p:sp>
      <p:sp>
        <p:nvSpPr>
          <p:cNvPr id="4" name="フッター プレースホルダ 3"/>
          <p:cNvSpPr>
            <a:spLocks noGrp="1"/>
          </p:cNvSpPr>
          <p:nvPr>
            <p:ph type="ftr" sz="quarter" idx="11"/>
          </p:nvPr>
        </p:nvSpPr>
        <p:spPr>
          <a:xfrm>
            <a:off x="4165600" y="6356351"/>
            <a:ext cx="3860800" cy="365125"/>
          </a:xfrm>
          <a:prstGeom prst="rect">
            <a:avLst/>
          </a:prstGeom>
        </p:spPr>
        <p:txBody>
          <a:bodyPr/>
          <a:lstStyle>
            <a:lvl1pPr>
              <a:defRPr b="0" i="0">
                <a:ea typeface="Hiragino Kaku Gothic ProN W3" panose="020B0300000000000000" pitchFamily="34" charset="-128"/>
              </a:defRPr>
            </a:lvl1pPr>
          </a:lstStyle>
          <a:p>
            <a:endParaRPr lang="ja-JP" altLang="en-US"/>
          </a:p>
        </p:txBody>
      </p:sp>
      <p:sp>
        <p:nvSpPr>
          <p:cNvPr id="5" name="タイトル 4"/>
          <p:cNvSpPr>
            <a:spLocks noGrp="1"/>
          </p:cNvSpPr>
          <p:nvPr>
            <p:ph type="title"/>
          </p:nvPr>
        </p:nvSpPr>
        <p:spPr>
          <a:xfrm>
            <a:off x="0" y="0"/>
            <a:ext cx="12192000" cy="1143000"/>
          </a:xfrm>
          <a:solidFill>
            <a:srgbClr val="011893"/>
          </a:solidFill>
        </p:spPr>
        <p:txBody>
          <a:bodyPr lIns="0" tIns="0" rIns="0" bIns="0"/>
          <a:lstStyle>
            <a:lvl1pPr>
              <a:defRPr b="0" i="0">
                <a:solidFill>
                  <a:schemeClr val="bg1"/>
                </a:solidFill>
                <a:ea typeface="Hiragino Kaku Gothic ProN W3" panose="020B0300000000000000" pitchFamily="34" charset="-128"/>
              </a:defRPr>
            </a:lvl1pPr>
          </a:lstStyle>
          <a:p>
            <a:r>
              <a:rPr kumimoji="1" lang="ja-JP" altLang="en-US"/>
              <a:t>マスター タイトルの書式設定</a:t>
            </a:r>
            <a:endParaRPr kumimoji="1" lang="ja-JP" altLang="en-US" dirty="0"/>
          </a:p>
        </p:txBody>
      </p:sp>
    </p:spTree>
    <p:extLst>
      <p:ext uri="{BB962C8B-B14F-4D97-AF65-F5344CB8AC3E}">
        <p14:creationId xmlns:p14="http://schemas.microsoft.com/office/powerpoint/2010/main" val="125594197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 1"/>
          <p:cNvSpPr>
            <a:spLocks noGrp="1"/>
          </p:cNvSpPr>
          <p:nvPr>
            <p:ph type="dt" sz="half" idx="10"/>
          </p:nvPr>
        </p:nvSpPr>
        <p:spPr>
          <a:xfrm>
            <a:off x="609600" y="6356351"/>
            <a:ext cx="2844800" cy="365125"/>
          </a:xfrm>
          <a:prstGeom prst="rect">
            <a:avLst/>
          </a:prstGeom>
        </p:spPr>
        <p:txBody>
          <a:bodyPr/>
          <a:lstStyle>
            <a:lvl1pPr>
              <a:defRPr b="0" i="0">
                <a:ea typeface="Hiragino Kaku Gothic ProN W3" panose="020B0300000000000000" pitchFamily="34" charset="-128"/>
              </a:defRPr>
            </a:lvl1pPr>
          </a:lstStyle>
          <a:p>
            <a:fld id="{C8BC208A-B9F0-7945-ADEB-1A1AFDC48EA0}" type="datetimeFigureOut">
              <a:rPr lang="ja-JP" altLang="en-US" smtClean="0"/>
              <a:pPr/>
              <a:t>2026/10/28</a:t>
            </a:fld>
            <a:endParaRPr lang="ja-JP" altLang="en-US"/>
          </a:p>
        </p:txBody>
      </p:sp>
      <p:sp>
        <p:nvSpPr>
          <p:cNvPr id="3" name="フッター プレースホルダ 2"/>
          <p:cNvSpPr>
            <a:spLocks noGrp="1"/>
          </p:cNvSpPr>
          <p:nvPr>
            <p:ph type="ftr" sz="quarter" idx="11"/>
          </p:nvPr>
        </p:nvSpPr>
        <p:spPr>
          <a:xfrm>
            <a:off x="4165600" y="6356351"/>
            <a:ext cx="3860800" cy="365125"/>
          </a:xfrm>
          <a:prstGeom prst="rect">
            <a:avLst/>
          </a:prstGeom>
        </p:spPr>
        <p:txBody>
          <a:bodyPr/>
          <a:lstStyle>
            <a:lvl1pPr>
              <a:defRPr b="0" i="0">
                <a:ea typeface="Hiragino Kaku Gothic ProN W3" panose="020B0300000000000000" pitchFamily="34" charset="-128"/>
              </a:defRPr>
            </a:lvl1pPr>
          </a:lstStyle>
          <a:p>
            <a:endParaRPr lang="ja-JP" altLang="en-US"/>
          </a:p>
        </p:txBody>
      </p:sp>
    </p:spTree>
    <p:extLst>
      <p:ext uri="{BB962C8B-B14F-4D97-AF65-F5344CB8AC3E}">
        <p14:creationId xmlns:p14="http://schemas.microsoft.com/office/powerpoint/2010/main" val="268417102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609601" y="273050"/>
            <a:ext cx="4011084" cy="1162050"/>
          </a:xfrm>
        </p:spPr>
        <p:txBody>
          <a:bodyPr anchor="b"/>
          <a:lstStyle>
            <a:lvl1pPr algn="l">
              <a:defRPr sz="2000" b="0" i="0">
                <a:ea typeface="Hiragino Kaku Gothic ProN W3" panose="020B0300000000000000" pitchFamily="34" charset="-128"/>
              </a:defRPr>
            </a:lvl1pPr>
          </a:lstStyle>
          <a:p>
            <a:r>
              <a:rPr kumimoji="1" lang="ja-JP" altLang="en-US"/>
              <a:t>マスター タイトルの書式設定</a:t>
            </a:r>
          </a:p>
        </p:txBody>
      </p:sp>
      <p:sp>
        <p:nvSpPr>
          <p:cNvPr id="3" name="コンテンツ プレースホルダ 2"/>
          <p:cNvSpPr>
            <a:spLocks noGrp="1"/>
          </p:cNvSpPr>
          <p:nvPr>
            <p:ph idx="1"/>
          </p:nvPr>
        </p:nvSpPr>
        <p:spPr>
          <a:xfrm>
            <a:off x="4766733" y="273051"/>
            <a:ext cx="6815667" cy="5853113"/>
          </a:xfrm>
        </p:spPr>
        <p:txBody>
          <a:bodyPr/>
          <a:lstStyle>
            <a:lvl1pPr>
              <a:defRPr sz="3200" b="0" i="0">
                <a:ea typeface="Hiragino Kaku Gothic ProN W3" panose="020B0300000000000000" pitchFamily="34" charset="-128"/>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
第 </a:t>
            </a:r>
            <a:r>
              <a:rPr kumimoji="1" lang="en-US" altLang="ja-JP" dirty="0"/>
              <a:t>2 </a:t>
            </a:r>
            <a:r>
              <a:rPr kumimoji="1" lang="ja-JP" altLang="en-US"/>
              <a:t>レベル
第 </a:t>
            </a:r>
            <a:r>
              <a:rPr kumimoji="1" lang="en-US" altLang="ja-JP" dirty="0"/>
              <a:t>3 </a:t>
            </a:r>
            <a:r>
              <a:rPr kumimoji="1" lang="ja-JP" altLang="en-US"/>
              <a:t>レベル
第 </a:t>
            </a:r>
            <a:r>
              <a:rPr kumimoji="1" lang="en-US" altLang="ja-JP" dirty="0"/>
              <a:t>4 </a:t>
            </a:r>
            <a:r>
              <a:rPr kumimoji="1" lang="ja-JP" altLang="en-US"/>
              <a:t>レベル
第 </a:t>
            </a:r>
            <a:r>
              <a:rPr kumimoji="1" lang="en-US" altLang="ja-JP" dirty="0"/>
              <a:t>5 </a:t>
            </a:r>
            <a:r>
              <a:rPr kumimoji="1" lang="ja-JP" altLang="en-US"/>
              <a:t>レベル</a:t>
            </a:r>
          </a:p>
        </p:txBody>
      </p:sp>
      <p:sp>
        <p:nvSpPr>
          <p:cNvPr id="4" name="テキスト プレースホルダ 3"/>
          <p:cNvSpPr>
            <a:spLocks noGrp="1"/>
          </p:cNvSpPr>
          <p:nvPr>
            <p:ph type="body" sz="half" idx="2"/>
          </p:nvPr>
        </p:nvSpPr>
        <p:spPr>
          <a:xfrm>
            <a:off x="609601" y="1435101"/>
            <a:ext cx="4011084" cy="4691063"/>
          </a:xfrm>
        </p:spPr>
        <p:txBody>
          <a:bodyPr/>
          <a:lstStyle>
            <a:lvl1pPr marL="0" indent="0">
              <a:buNone/>
              <a:defRPr sz="1400" b="0" i="0">
                <a:ea typeface="Hiragino Kaku Gothic ProN W3" panose="020B0300000000000000" pitchFamily="34" charset="-128"/>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kumimoji="1" lang="ja-JP" altLang="en-US"/>
              <a:t>マスター テキストの書式設定
第 </a:t>
            </a:r>
            <a:r>
              <a:rPr kumimoji="1" lang="en-US" altLang="ja-JP" dirty="0"/>
              <a:t>2 </a:t>
            </a:r>
            <a:r>
              <a:rPr kumimoji="1" lang="ja-JP" altLang="en-US"/>
              <a:t>レベル
第 </a:t>
            </a:r>
            <a:r>
              <a:rPr kumimoji="1" lang="en-US" altLang="ja-JP" dirty="0"/>
              <a:t>3 </a:t>
            </a:r>
            <a:r>
              <a:rPr kumimoji="1" lang="ja-JP" altLang="en-US"/>
              <a:t>レベル
第 </a:t>
            </a:r>
            <a:r>
              <a:rPr kumimoji="1" lang="en-US" altLang="ja-JP" dirty="0"/>
              <a:t>4 </a:t>
            </a:r>
            <a:r>
              <a:rPr kumimoji="1" lang="ja-JP" altLang="en-US"/>
              <a:t>レベル
第 </a:t>
            </a:r>
            <a:r>
              <a:rPr kumimoji="1" lang="en-US" altLang="ja-JP" dirty="0"/>
              <a:t>5 </a:t>
            </a:r>
            <a:r>
              <a:rPr kumimoji="1" lang="ja-JP" altLang="en-US"/>
              <a:t>レベル</a:t>
            </a:r>
          </a:p>
        </p:txBody>
      </p:sp>
      <p:sp>
        <p:nvSpPr>
          <p:cNvPr id="5" name="日付プレースホルダ 4"/>
          <p:cNvSpPr>
            <a:spLocks noGrp="1"/>
          </p:cNvSpPr>
          <p:nvPr>
            <p:ph type="dt" sz="half" idx="10"/>
          </p:nvPr>
        </p:nvSpPr>
        <p:spPr>
          <a:xfrm>
            <a:off x="609600" y="6356351"/>
            <a:ext cx="2844800" cy="365125"/>
          </a:xfrm>
          <a:prstGeom prst="rect">
            <a:avLst/>
          </a:prstGeom>
        </p:spPr>
        <p:txBody>
          <a:bodyPr/>
          <a:lstStyle>
            <a:lvl1pPr>
              <a:defRPr b="0" i="0">
                <a:ea typeface="Hiragino Kaku Gothic ProN W3" panose="020B0300000000000000" pitchFamily="34" charset="-128"/>
              </a:defRPr>
            </a:lvl1pPr>
          </a:lstStyle>
          <a:p>
            <a:fld id="{C8BC208A-B9F0-7945-ADEB-1A1AFDC48EA0}" type="datetimeFigureOut">
              <a:rPr lang="ja-JP" altLang="en-US" smtClean="0"/>
              <a:pPr/>
              <a:t>2026/10/28</a:t>
            </a:fld>
            <a:endParaRPr lang="ja-JP" altLang="en-US"/>
          </a:p>
        </p:txBody>
      </p:sp>
      <p:sp>
        <p:nvSpPr>
          <p:cNvPr id="6" name="フッター プレースホルダ 5"/>
          <p:cNvSpPr>
            <a:spLocks noGrp="1"/>
          </p:cNvSpPr>
          <p:nvPr>
            <p:ph type="ftr" sz="quarter" idx="11"/>
          </p:nvPr>
        </p:nvSpPr>
        <p:spPr>
          <a:xfrm>
            <a:off x="4165600" y="6356351"/>
            <a:ext cx="3860800" cy="365125"/>
          </a:xfrm>
          <a:prstGeom prst="rect">
            <a:avLst/>
          </a:prstGeom>
        </p:spPr>
        <p:txBody>
          <a:bodyPr/>
          <a:lstStyle>
            <a:lvl1pPr>
              <a:defRPr b="0" i="0">
                <a:ea typeface="Hiragino Kaku Gothic ProN W3" panose="020B0300000000000000" pitchFamily="34" charset="-128"/>
              </a:defRPr>
            </a:lvl1pPr>
          </a:lstStyle>
          <a:p>
            <a:endParaRPr lang="ja-JP" altLang="en-US"/>
          </a:p>
        </p:txBody>
      </p:sp>
    </p:spTree>
    <p:extLst>
      <p:ext uri="{BB962C8B-B14F-4D97-AF65-F5344CB8AC3E}">
        <p14:creationId xmlns:p14="http://schemas.microsoft.com/office/powerpoint/2010/main" val="378377233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p:cNvSpPr>
            <a:spLocks noGrp="1"/>
          </p:cNvSpPr>
          <p:nvPr>
            <p:ph type="title"/>
          </p:nvPr>
        </p:nvSpPr>
        <p:spPr>
          <a:xfrm>
            <a:off x="2389717" y="4800600"/>
            <a:ext cx="7315200" cy="566738"/>
          </a:xfrm>
        </p:spPr>
        <p:txBody>
          <a:bodyPr anchor="b"/>
          <a:lstStyle>
            <a:lvl1pPr algn="l">
              <a:defRPr sz="2000" b="0" i="0">
                <a:ea typeface="Hiragino Kaku Gothic ProN W3" panose="020B0300000000000000" pitchFamily="34" charset="-128"/>
              </a:defRPr>
            </a:lvl1pPr>
          </a:lstStyle>
          <a:p>
            <a:r>
              <a:rPr kumimoji="1" lang="ja-JP" altLang="en-US"/>
              <a:t>マスター タイトルの書式設定</a:t>
            </a:r>
          </a:p>
        </p:txBody>
      </p:sp>
      <p:sp>
        <p:nvSpPr>
          <p:cNvPr id="3" name="図プレースホルダ 2"/>
          <p:cNvSpPr>
            <a:spLocks noGrp="1"/>
          </p:cNvSpPr>
          <p:nvPr>
            <p:ph type="pic" idx="1"/>
          </p:nvPr>
        </p:nvSpPr>
        <p:spPr>
          <a:xfrm>
            <a:off x="2389717" y="612775"/>
            <a:ext cx="7315200" cy="4114800"/>
          </a:xfrm>
        </p:spPr>
        <p:txBody>
          <a:bodyPr/>
          <a:lstStyle>
            <a:lvl1pPr marL="0" indent="0">
              <a:buNone/>
              <a:defRPr sz="3200" b="0" i="0">
                <a:ea typeface="Hiragino Kaku Gothic ProN W3" panose="020B0300000000000000" pitchFamily="34" charset="-128"/>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kumimoji="1" lang="ja-JP" altLang="en-US"/>
              <a:t>アイコンをクリックして図を追加</a:t>
            </a:r>
          </a:p>
        </p:txBody>
      </p:sp>
      <p:sp>
        <p:nvSpPr>
          <p:cNvPr id="4" name="テキスト プレースホルダ 3"/>
          <p:cNvSpPr>
            <a:spLocks noGrp="1"/>
          </p:cNvSpPr>
          <p:nvPr>
            <p:ph type="body" sz="half" idx="2"/>
          </p:nvPr>
        </p:nvSpPr>
        <p:spPr>
          <a:xfrm>
            <a:off x="2389717" y="5367338"/>
            <a:ext cx="7315200" cy="804862"/>
          </a:xfrm>
        </p:spPr>
        <p:txBody>
          <a:bodyPr/>
          <a:lstStyle>
            <a:lvl1pPr marL="0" indent="0">
              <a:buNone/>
              <a:defRPr sz="1400" b="0" i="0">
                <a:ea typeface="Hiragino Kaku Gothic ProN W3" panose="020B0300000000000000" pitchFamily="34" charset="-128"/>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kumimoji="1" lang="ja-JP" altLang="en-US"/>
              <a:t>マスター テキストの書式設定
第 </a:t>
            </a:r>
            <a:r>
              <a:rPr kumimoji="1" lang="en-US" altLang="ja-JP" dirty="0"/>
              <a:t>2 </a:t>
            </a:r>
            <a:r>
              <a:rPr kumimoji="1" lang="ja-JP" altLang="en-US"/>
              <a:t>レベル
第 </a:t>
            </a:r>
            <a:r>
              <a:rPr kumimoji="1" lang="en-US" altLang="ja-JP" dirty="0"/>
              <a:t>3 </a:t>
            </a:r>
            <a:r>
              <a:rPr kumimoji="1" lang="ja-JP" altLang="en-US"/>
              <a:t>レベル
第 </a:t>
            </a:r>
            <a:r>
              <a:rPr kumimoji="1" lang="en-US" altLang="ja-JP" dirty="0"/>
              <a:t>4 </a:t>
            </a:r>
            <a:r>
              <a:rPr kumimoji="1" lang="ja-JP" altLang="en-US"/>
              <a:t>レベル
第 </a:t>
            </a:r>
            <a:r>
              <a:rPr kumimoji="1" lang="en-US" altLang="ja-JP" dirty="0"/>
              <a:t>5 </a:t>
            </a:r>
            <a:r>
              <a:rPr kumimoji="1" lang="ja-JP" altLang="en-US"/>
              <a:t>レベル</a:t>
            </a:r>
          </a:p>
        </p:txBody>
      </p:sp>
      <p:sp>
        <p:nvSpPr>
          <p:cNvPr id="5" name="日付プレースホルダ 4"/>
          <p:cNvSpPr>
            <a:spLocks noGrp="1"/>
          </p:cNvSpPr>
          <p:nvPr>
            <p:ph type="dt" sz="half" idx="10"/>
          </p:nvPr>
        </p:nvSpPr>
        <p:spPr>
          <a:xfrm>
            <a:off x="609600" y="6356351"/>
            <a:ext cx="2844800" cy="365125"/>
          </a:xfrm>
          <a:prstGeom prst="rect">
            <a:avLst/>
          </a:prstGeom>
        </p:spPr>
        <p:txBody>
          <a:bodyPr/>
          <a:lstStyle>
            <a:lvl1pPr>
              <a:defRPr b="0" i="0">
                <a:ea typeface="Hiragino Kaku Gothic ProN W3" panose="020B0300000000000000" pitchFamily="34" charset="-128"/>
              </a:defRPr>
            </a:lvl1pPr>
          </a:lstStyle>
          <a:p>
            <a:fld id="{C8BC208A-B9F0-7945-ADEB-1A1AFDC48EA0}" type="datetimeFigureOut">
              <a:rPr lang="ja-JP" altLang="en-US" smtClean="0"/>
              <a:pPr/>
              <a:t>2026/10/28</a:t>
            </a:fld>
            <a:endParaRPr lang="ja-JP" altLang="en-US"/>
          </a:p>
        </p:txBody>
      </p:sp>
      <p:sp>
        <p:nvSpPr>
          <p:cNvPr id="6" name="フッター プレースホルダ 5"/>
          <p:cNvSpPr>
            <a:spLocks noGrp="1"/>
          </p:cNvSpPr>
          <p:nvPr>
            <p:ph type="ftr" sz="quarter" idx="11"/>
          </p:nvPr>
        </p:nvSpPr>
        <p:spPr>
          <a:xfrm>
            <a:off x="4165600" y="6356351"/>
            <a:ext cx="3860800" cy="365125"/>
          </a:xfrm>
          <a:prstGeom prst="rect">
            <a:avLst/>
          </a:prstGeom>
        </p:spPr>
        <p:txBody>
          <a:bodyPr/>
          <a:lstStyle>
            <a:lvl1pPr>
              <a:defRPr b="0" i="0">
                <a:ea typeface="Hiragino Kaku Gothic ProN W3" panose="020B0300000000000000" pitchFamily="34" charset="-128"/>
              </a:defRPr>
            </a:lvl1pPr>
          </a:lstStyle>
          <a:p>
            <a:endParaRPr lang="ja-JP" altLang="en-US"/>
          </a:p>
        </p:txBody>
      </p:sp>
    </p:spTree>
    <p:extLst>
      <p:ext uri="{BB962C8B-B14F-4D97-AF65-F5344CB8AC3E}">
        <p14:creationId xmlns:p14="http://schemas.microsoft.com/office/powerpoint/2010/main" val="344288979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_標準スライド_ロゴあり">
    <p:spTree>
      <p:nvGrpSpPr>
        <p:cNvPr id="1" name=""/>
        <p:cNvGrpSpPr/>
        <p:nvPr/>
      </p:nvGrpSpPr>
      <p:grpSpPr>
        <a:xfrm>
          <a:off x="0" y="0"/>
          <a:ext cx="0" cy="0"/>
          <a:chOff x="0" y="0"/>
          <a:chExt cx="0" cy="0"/>
        </a:xfrm>
      </p:grpSpPr>
      <p:sp>
        <p:nvSpPr>
          <p:cNvPr id="6" name="タイトル 1">
            <a:extLst>
              <a:ext uri="{FF2B5EF4-FFF2-40B4-BE49-F238E27FC236}">
                <a16:creationId xmlns:a16="http://schemas.microsoft.com/office/drawing/2014/main" id="{FBDB9AF5-D845-784E-9C1F-B7AD85A841D6}"/>
              </a:ext>
            </a:extLst>
          </p:cNvPr>
          <p:cNvSpPr txBox="1">
            <a:spLocks/>
          </p:cNvSpPr>
          <p:nvPr userDrawn="1"/>
        </p:nvSpPr>
        <p:spPr>
          <a:xfrm>
            <a:off x="0" y="0"/>
            <a:ext cx="12192000" cy="1117600"/>
          </a:xfrm>
          <a:prstGeom prst="rect">
            <a:avLst/>
          </a:prstGeom>
          <a:solidFill>
            <a:schemeClr val="tx1"/>
          </a:solidFill>
        </p:spPr>
        <p:txBody>
          <a:bodyPr vert="horz" lIns="792000" tIns="45720" rIns="792000" bIns="45720" rtlCol="0" anchor="ctr">
            <a:normAutofit/>
          </a:bodyPr>
          <a:lstStyle>
            <a:lvl1pPr marL="133350" indent="0" algn="l" defTabSz="457200" rtl="0" eaLnBrk="1" latinLnBrk="0" hangingPunct="1">
              <a:spcBef>
                <a:spcPct val="0"/>
              </a:spcBef>
              <a:buNone/>
              <a:tabLst/>
              <a:defRPr kumimoji="1" sz="4000" b="1" kern="1200">
                <a:solidFill>
                  <a:schemeClr val="tx1"/>
                </a:solidFill>
                <a:latin typeface="+mj-lt"/>
                <a:ea typeface="+mj-ea"/>
                <a:cs typeface="+mj-cs"/>
              </a:defRPr>
            </a:lvl1pPr>
          </a:lstStyle>
          <a:p>
            <a:endParaRPr lang="ja-JP" altLang="en-US" b="0" i="0">
              <a:ea typeface="Hiragino Kaku Gothic ProN W3" panose="020B0300000000000000" pitchFamily="34" charset="-128"/>
            </a:endParaRPr>
          </a:p>
        </p:txBody>
      </p:sp>
      <p:sp>
        <p:nvSpPr>
          <p:cNvPr id="2" name="タイトル 1">
            <a:extLst>
              <a:ext uri="{FF2B5EF4-FFF2-40B4-BE49-F238E27FC236}">
                <a16:creationId xmlns:a16="http://schemas.microsoft.com/office/drawing/2014/main" id="{E898891F-5647-B346-9126-050BE28A6802}"/>
              </a:ext>
            </a:extLst>
          </p:cNvPr>
          <p:cNvSpPr>
            <a:spLocks noGrp="1"/>
          </p:cNvSpPr>
          <p:nvPr>
            <p:ph type="title"/>
          </p:nvPr>
        </p:nvSpPr>
        <p:spPr>
          <a:xfrm>
            <a:off x="0" y="0"/>
            <a:ext cx="11318488" cy="1117600"/>
          </a:xfrm>
          <a:solidFill>
            <a:schemeClr val="tx1"/>
          </a:solidFill>
        </p:spPr>
        <p:txBody>
          <a:bodyPr lIns="72000" rIns="72000"/>
          <a:lstStyle>
            <a:lvl1pPr>
              <a:defRPr b="0" i="0">
                <a:ea typeface="Hiragino Kaku Gothic ProN W3" panose="020B0300000000000000" pitchFamily="34" charset="-128"/>
              </a:defRPr>
            </a:lvl1pPr>
          </a:lstStyle>
          <a:p>
            <a:r>
              <a:rPr kumimoji="1" lang="ja-JP" altLang="en-US"/>
              <a:t>マスター タイトルの書式設定</a:t>
            </a:r>
          </a:p>
        </p:txBody>
      </p:sp>
      <p:sp>
        <p:nvSpPr>
          <p:cNvPr id="3" name="スライド番号プレースホルダー 2">
            <a:extLst>
              <a:ext uri="{FF2B5EF4-FFF2-40B4-BE49-F238E27FC236}">
                <a16:creationId xmlns:a16="http://schemas.microsoft.com/office/drawing/2014/main" id="{0B21CC19-FFF3-354E-BEF3-60754AA40859}"/>
              </a:ext>
            </a:extLst>
          </p:cNvPr>
          <p:cNvSpPr>
            <a:spLocks noGrp="1"/>
          </p:cNvSpPr>
          <p:nvPr>
            <p:ph type="sldNum" sz="quarter" idx="10"/>
          </p:nvPr>
        </p:nvSpPr>
        <p:spPr/>
        <p:txBody>
          <a:bodyPr/>
          <a:lstStyle>
            <a:lvl1pPr>
              <a:defRPr b="0" i="0">
                <a:ea typeface="Hiragino Kaku Gothic ProN W3" panose="020B0300000000000000" pitchFamily="34" charset="-128"/>
              </a:defRPr>
            </a:lvl1pPr>
          </a:lstStyle>
          <a:p>
            <a:fld id="{AF64D956-97B4-0F42-97EB-56A02ED5B12D}" type="slidenum">
              <a:rPr lang="ja-JP" altLang="en-US" smtClean="0"/>
              <a:pPr/>
              <a:t>‹#›</a:t>
            </a:fld>
            <a:endParaRPr lang="ja-JP" altLang="en-US"/>
          </a:p>
        </p:txBody>
      </p:sp>
      <p:sp>
        <p:nvSpPr>
          <p:cNvPr id="4" name="フッター プレースホルダー 3">
            <a:extLst>
              <a:ext uri="{FF2B5EF4-FFF2-40B4-BE49-F238E27FC236}">
                <a16:creationId xmlns:a16="http://schemas.microsoft.com/office/drawing/2014/main" id="{4C6535A2-04BC-0043-B2E0-8D7147C6C881}"/>
              </a:ext>
            </a:extLst>
          </p:cNvPr>
          <p:cNvSpPr>
            <a:spLocks noGrp="1"/>
          </p:cNvSpPr>
          <p:nvPr>
            <p:ph type="ftr" sz="quarter" idx="11"/>
          </p:nvPr>
        </p:nvSpPr>
        <p:spPr/>
        <p:txBody>
          <a:bodyPr/>
          <a:lstStyle>
            <a:lvl1pPr>
              <a:defRPr b="0" i="0">
                <a:ea typeface="Hiragino Kaku Gothic ProN W3" panose="020B0300000000000000" pitchFamily="34" charset="-128"/>
              </a:defRPr>
            </a:lvl1pPr>
          </a:lstStyle>
          <a:p>
            <a:r>
              <a:rPr lang="ja-JP" altLang="en-US"/>
              <a:t>理化学研究所 砂川玄志郎</a:t>
            </a:r>
          </a:p>
        </p:txBody>
      </p:sp>
      <p:pic>
        <p:nvPicPr>
          <p:cNvPr id="7" name="図 6">
            <a:extLst>
              <a:ext uri="{FF2B5EF4-FFF2-40B4-BE49-F238E27FC236}">
                <a16:creationId xmlns:a16="http://schemas.microsoft.com/office/drawing/2014/main" id="{151D583D-CE80-3444-AC0C-DC9EEC74187C}"/>
              </a:ext>
            </a:extLst>
          </p:cNvPr>
          <p:cNvPicPr>
            <a:picLocks noChangeAspect="1"/>
          </p:cNvPicPr>
          <p:nvPr userDrawn="1"/>
        </p:nvPicPr>
        <p:blipFill>
          <a:blip r:embed="rId2"/>
          <a:stretch>
            <a:fillRect/>
          </a:stretch>
        </p:blipFill>
        <p:spPr>
          <a:xfrm>
            <a:off x="11472334" y="195890"/>
            <a:ext cx="457200" cy="731779"/>
          </a:xfrm>
          <a:prstGeom prst="rect">
            <a:avLst/>
          </a:prstGeom>
        </p:spPr>
      </p:pic>
    </p:spTree>
    <p:extLst>
      <p:ext uri="{BB962C8B-B14F-4D97-AF65-F5344CB8AC3E}">
        <p14:creationId xmlns:p14="http://schemas.microsoft.com/office/powerpoint/2010/main" val="374008646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x">
  <p:cSld name="タイトル &amp; 箇条書き">
    <p:spTree>
      <p:nvGrpSpPr>
        <p:cNvPr id="1" name=""/>
        <p:cNvGrpSpPr/>
        <p:nvPr/>
      </p:nvGrpSpPr>
      <p:grpSpPr>
        <a:xfrm>
          <a:off x="0" y="0"/>
          <a:ext cx="0" cy="0"/>
          <a:chOff x="0" y="0"/>
          <a:chExt cx="0" cy="0"/>
        </a:xfrm>
      </p:grpSpPr>
      <p:sp>
        <p:nvSpPr>
          <p:cNvPr id="20" name="タイトルテキスト"/>
          <p:cNvSpPr txBox="1">
            <a:spLocks noGrp="1"/>
          </p:cNvSpPr>
          <p:nvPr>
            <p:ph type="title"/>
          </p:nvPr>
        </p:nvSpPr>
        <p:spPr>
          <a:prstGeom prst="rect">
            <a:avLst/>
          </a:prstGeom>
        </p:spPr>
        <p:txBody>
          <a:bodyPr/>
          <a:lstStyle>
            <a:lvl1pPr>
              <a:defRPr sz="3200"/>
            </a:lvl1pPr>
          </a:lstStyle>
          <a:p>
            <a:r>
              <a:t>タイトルテキスト</a:t>
            </a:r>
          </a:p>
        </p:txBody>
      </p:sp>
      <p:sp>
        <p:nvSpPr>
          <p:cNvPr id="21" name="本文レベル1…"/>
          <p:cNvSpPr txBox="1">
            <a:spLocks noGrp="1"/>
          </p:cNvSpPr>
          <p:nvPr>
            <p:ph type="body" idx="1"/>
          </p:nvPr>
        </p:nvSpPr>
        <p:spPr>
          <a:xfrm>
            <a:off x="1185333" y="1943100"/>
            <a:ext cx="9804400" cy="4013200"/>
          </a:xfrm>
          <a:prstGeom prst="rect">
            <a:avLst/>
          </a:prstGeom>
        </p:spPr>
        <p:txBody>
          <a:bodyPr/>
          <a:lstStyle>
            <a:lvl1pPr>
              <a:spcBef>
                <a:spcPts val="1700"/>
              </a:spcBef>
              <a:defRPr sz="1800"/>
            </a:lvl1pPr>
            <a:lvl2pPr>
              <a:spcBef>
                <a:spcPts val="1700"/>
              </a:spcBef>
              <a:defRPr sz="1600"/>
            </a:lvl2pPr>
            <a:lvl3pPr>
              <a:spcBef>
                <a:spcPts val="1700"/>
              </a:spcBef>
              <a:defRPr sz="1400"/>
            </a:lvl3pPr>
            <a:lvl4pPr>
              <a:spcBef>
                <a:spcPts val="1700"/>
              </a:spcBef>
              <a:defRPr sz="1200"/>
            </a:lvl4pPr>
            <a:lvl5pPr>
              <a:spcBef>
                <a:spcPts val="1700"/>
              </a:spcBef>
              <a:defRPr sz="900"/>
            </a:lvl5pPr>
          </a:lstStyle>
          <a:p>
            <a:r>
              <a:t>本文レベル1</a:t>
            </a:r>
          </a:p>
          <a:p>
            <a:pPr lvl="1"/>
            <a:r>
              <a:t>本文レベル2</a:t>
            </a:r>
          </a:p>
          <a:p>
            <a:pPr lvl="2"/>
            <a:r>
              <a:t>本文レベル3</a:t>
            </a:r>
          </a:p>
          <a:p>
            <a:pPr lvl="3"/>
            <a:r>
              <a:t>本文レベル4</a:t>
            </a:r>
          </a:p>
          <a:p>
            <a:pPr lvl="4"/>
            <a:r>
              <a:t>本文レベル5</a:t>
            </a:r>
          </a:p>
        </p:txBody>
      </p:sp>
      <p:sp>
        <p:nvSpPr>
          <p:cNvPr id="22" name="スライド番号"/>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314501069"/>
      </p:ext>
    </p:extLst>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 1"/>
          <p:cNvSpPr>
            <a:spLocks noGrp="1"/>
          </p:cNvSpPr>
          <p:nvPr>
            <p:ph type="title"/>
          </p:nvPr>
        </p:nvSpPr>
        <p:spPr>
          <a:xfrm>
            <a:off x="0" y="0"/>
            <a:ext cx="12192000" cy="1143000"/>
          </a:xfrm>
          <a:prstGeom prst="rect">
            <a:avLst/>
          </a:prstGeom>
          <a:solidFill>
            <a:schemeClr val="bg1"/>
          </a:solidFill>
        </p:spPr>
        <p:txBody>
          <a:bodyPr vert="horz" wrap="square" lIns="0" tIns="0" rIns="0" bIns="0" rtlCol="0" anchor="ctr">
            <a:noAutofit/>
          </a:bodyPr>
          <a:lstStyle/>
          <a:p>
            <a:r>
              <a:rPr kumimoji="1" lang="ja-JP" altLang="en-US" dirty="0"/>
              <a:t>マスタ タイトルの書式設定</a:t>
            </a:r>
          </a:p>
        </p:txBody>
      </p:sp>
      <p:sp>
        <p:nvSpPr>
          <p:cNvPr id="3" name="テキスト プレースホルダ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kumimoji="1" lang="ja-JP" altLang="en-US" dirty="0"/>
              <a:t>マスタ テキストの書式設定</a:t>
            </a:r>
          </a:p>
          <a:p>
            <a:pPr lvl="1"/>
            <a:r>
              <a:rPr kumimoji="1" lang="ja-JP" altLang="en-US" dirty="0"/>
              <a:t>第 </a:t>
            </a:r>
            <a:r>
              <a:rPr kumimoji="1" lang="en-US" altLang="ja-JP" dirty="0"/>
              <a:t>2 </a:t>
            </a:r>
            <a:r>
              <a:rPr kumimoji="1" lang="ja-JP" altLang="en-US" dirty="0"/>
              <a:t>レベル</a:t>
            </a:r>
          </a:p>
          <a:p>
            <a:pPr lvl="2"/>
            <a:r>
              <a:rPr kumimoji="1" lang="ja-JP" altLang="en-US" dirty="0"/>
              <a:t>第 </a:t>
            </a:r>
            <a:r>
              <a:rPr kumimoji="1" lang="en-US" altLang="ja-JP" dirty="0"/>
              <a:t>3 </a:t>
            </a:r>
            <a:r>
              <a:rPr kumimoji="1" lang="ja-JP" altLang="en-US" dirty="0"/>
              <a:t>レベル</a:t>
            </a:r>
          </a:p>
          <a:p>
            <a:pPr lvl="3"/>
            <a:r>
              <a:rPr kumimoji="1" lang="ja-JP" altLang="en-US" dirty="0"/>
              <a:t>第 </a:t>
            </a:r>
            <a:r>
              <a:rPr kumimoji="1" lang="en-US" altLang="ja-JP" dirty="0"/>
              <a:t>4 </a:t>
            </a:r>
            <a:r>
              <a:rPr kumimoji="1" lang="ja-JP" altLang="en-US" dirty="0"/>
              <a:t>レベル</a:t>
            </a:r>
          </a:p>
          <a:p>
            <a:pPr lvl="4"/>
            <a:r>
              <a:rPr kumimoji="1" lang="ja-JP" altLang="en-US" dirty="0"/>
              <a:t>第 </a:t>
            </a:r>
            <a:r>
              <a:rPr kumimoji="1" lang="en-US" altLang="ja-JP" dirty="0"/>
              <a:t>5 </a:t>
            </a:r>
            <a:r>
              <a:rPr kumimoji="1" lang="ja-JP" altLang="en-US" dirty="0"/>
              <a:t>レベル</a:t>
            </a:r>
          </a:p>
        </p:txBody>
      </p:sp>
    </p:spTree>
    <p:extLst>
      <p:ext uri="{BB962C8B-B14F-4D97-AF65-F5344CB8AC3E}">
        <p14:creationId xmlns:p14="http://schemas.microsoft.com/office/powerpoint/2010/main" val="3452490633"/>
      </p:ext>
    </p:extLst>
  </p:cSld>
  <p:clrMap bg1="lt1" tx1="dk1" bg2="lt2" tx2="dk2" accent1="accent1" accent2="accent2" accent3="accent3" accent4="accent4" accent5="accent5" accent6="accent6" hlink="hlink" folHlink="folHlink"/>
  <p:sldLayoutIdLst>
    <p:sldLayoutId id="2147483715" r:id="rId1"/>
    <p:sldLayoutId id="2147483716" r:id="rId2"/>
    <p:sldLayoutId id="2147483717" r:id="rId3"/>
    <p:sldLayoutId id="2147483718" r:id="rId4"/>
    <p:sldLayoutId id="2147483719" r:id="rId5"/>
    <p:sldLayoutId id="2147483720" r:id="rId6"/>
    <p:sldLayoutId id="2147483721" r:id="rId7"/>
    <p:sldLayoutId id="2147483722" r:id="rId8"/>
    <p:sldLayoutId id="2147483723" r:id="rId9"/>
    <p:sldLayoutId id="2147483724" r:id="rId10"/>
    <p:sldLayoutId id="2147483726" r:id="rId11"/>
  </p:sldLayoutIdLst>
  <p:txStyles>
    <p:titleStyle>
      <a:lvl1pPr algn="ctr" defTabSz="914400" rtl="0" eaLnBrk="1" latinLnBrk="0" hangingPunct="1">
        <a:spcBef>
          <a:spcPct val="0"/>
        </a:spcBef>
        <a:buNone/>
        <a:defRPr kumimoji="1" sz="4400" b="0" i="0" kern="1200">
          <a:solidFill>
            <a:schemeClr val="tx1"/>
          </a:solidFill>
          <a:latin typeface="Helvetica Neue Light"/>
          <a:ea typeface="Hiragino Kaku Gothic ProN W3" panose="020B0300000000000000" pitchFamily="34" charset="-128"/>
          <a:cs typeface="+mj-cs"/>
        </a:defRPr>
      </a:lvl1pPr>
    </p:titleStyle>
    <p:bodyStyle>
      <a:lvl1pPr marL="342900" indent="-342900" algn="l" defTabSz="914400" rtl="0" eaLnBrk="1" latinLnBrk="0" hangingPunct="1">
        <a:spcBef>
          <a:spcPct val="20000"/>
        </a:spcBef>
        <a:buFont typeface="Arial" pitchFamily="34" charset="0"/>
        <a:buChar char="•"/>
        <a:defRPr kumimoji="1" sz="3200" b="0" i="0" kern="1200">
          <a:solidFill>
            <a:schemeClr val="tx1"/>
          </a:solidFill>
          <a:latin typeface="Helvetica Neue Light"/>
          <a:ea typeface="Hiragino Kaku Gothic ProN W3" panose="020B0300000000000000" pitchFamily="34" charset="-128"/>
          <a:cs typeface="+mn-cs"/>
        </a:defRPr>
      </a:lvl1pPr>
      <a:lvl2pPr marL="742950" indent="-285750" algn="l" defTabSz="914400" rtl="0" eaLnBrk="1" latinLnBrk="0" hangingPunct="1">
        <a:spcBef>
          <a:spcPct val="20000"/>
        </a:spcBef>
        <a:buFont typeface="Arial" pitchFamily="34" charset="0"/>
        <a:buChar char="–"/>
        <a:defRPr kumimoji="1" sz="2800" b="0" i="0" kern="1200">
          <a:solidFill>
            <a:schemeClr val="tx1"/>
          </a:solidFill>
          <a:latin typeface="Helvetica Neue Light"/>
          <a:ea typeface="Hiragino Kaku Gothic ProN W3" panose="020B0300000000000000" pitchFamily="34" charset="-128"/>
          <a:cs typeface="+mn-cs"/>
        </a:defRPr>
      </a:lvl2pPr>
      <a:lvl3pPr marL="1143000" indent="-228600" algn="l" defTabSz="914400" rtl="0" eaLnBrk="1" latinLnBrk="0" hangingPunct="1">
        <a:spcBef>
          <a:spcPct val="20000"/>
        </a:spcBef>
        <a:buFont typeface="Arial" pitchFamily="34" charset="0"/>
        <a:buChar char="•"/>
        <a:defRPr kumimoji="1" sz="2400" b="0" i="0" kern="1200">
          <a:solidFill>
            <a:schemeClr val="tx1"/>
          </a:solidFill>
          <a:latin typeface="Helvetica Neue Light"/>
          <a:ea typeface="Hiragino Kaku Gothic ProN W3" panose="020B0300000000000000" pitchFamily="34" charset="-128"/>
          <a:cs typeface="+mn-cs"/>
        </a:defRPr>
      </a:lvl3pPr>
      <a:lvl4pPr marL="1600200" indent="-228600" algn="l" defTabSz="914400" rtl="0" eaLnBrk="1" latinLnBrk="0" hangingPunct="1">
        <a:spcBef>
          <a:spcPct val="20000"/>
        </a:spcBef>
        <a:buFont typeface="Arial" pitchFamily="34" charset="0"/>
        <a:buChar char="–"/>
        <a:defRPr kumimoji="1" sz="2000" b="0" i="0" kern="1200">
          <a:solidFill>
            <a:schemeClr val="tx1"/>
          </a:solidFill>
          <a:latin typeface="Helvetica Neue Light"/>
          <a:ea typeface="Hiragino Kaku Gothic ProN W3" panose="020B0300000000000000" pitchFamily="34" charset="-128"/>
          <a:cs typeface="+mn-cs"/>
        </a:defRPr>
      </a:lvl4pPr>
      <a:lvl5pPr marL="2057400" indent="-228600" algn="l" defTabSz="914400" rtl="0" eaLnBrk="1" latinLnBrk="0" hangingPunct="1">
        <a:spcBef>
          <a:spcPct val="20000"/>
        </a:spcBef>
        <a:buFont typeface="Arial" pitchFamily="34" charset="0"/>
        <a:buChar char="»"/>
        <a:defRPr kumimoji="1" sz="2000" b="0" i="0" kern="1200">
          <a:solidFill>
            <a:schemeClr val="tx1"/>
          </a:solidFill>
          <a:latin typeface="Helvetica Neue Light"/>
          <a:ea typeface="Hiragino Kaku Gothic ProN W3" panose="020B0300000000000000" pitchFamily="34" charset="-128"/>
          <a:cs typeface="+mn-cs"/>
        </a:defRPr>
      </a:lvl5pPr>
      <a:lvl6pPr marL="25146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video" Target="../media/media1.mpg"/><Relationship Id="rId1" Type="http://schemas.microsoft.com/office/2007/relationships/media" Target="../media/media1.mp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video" Target="../media/media2.mpg"/><Relationship Id="rId1" Type="http://schemas.microsoft.com/office/2007/relationships/media" Target="../media/media2.mpg"/><Relationship Id="rId5" Type="http://schemas.openxmlformats.org/officeDocument/2006/relationships/image" Target="../media/image4.png"/><Relationship Id="rId4" Type="http://schemas.openxmlformats.org/officeDocument/2006/relationships/image" Target="../media/image3.jpeg"/></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3" Type="http://schemas.openxmlformats.org/officeDocument/2006/relationships/image" Target="../media/image14.emf"/><Relationship Id="rId2" Type="http://schemas.openxmlformats.org/officeDocument/2006/relationships/image" Target="../media/image13.emf"/><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3" Type="http://schemas.openxmlformats.org/officeDocument/2006/relationships/image" Target="../media/image17.emf"/><Relationship Id="rId2" Type="http://schemas.openxmlformats.org/officeDocument/2006/relationships/image" Target="../media/image16.jpeg"/><Relationship Id="rId1" Type="http://schemas.openxmlformats.org/officeDocument/2006/relationships/slideLayout" Target="../slideLayouts/slideLayout6.xml"/><Relationship Id="rId5" Type="http://schemas.openxmlformats.org/officeDocument/2006/relationships/image" Target="../media/image19.emf"/><Relationship Id="rId4" Type="http://schemas.openxmlformats.org/officeDocument/2006/relationships/image" Target="../media/image18.emf"/></Relationships>
</file>

<file path=ppt/slides/_rels/slide20.xml.rels><?xml version="1.0" encoding="UTF-8" standalone="yes"?>
<Relationships xmlns="http://schemas.openxmlformats.org/package/2006/relationships"><Relationship Id="rId3" Type="http://schemas.openxmlformats.org/officeDocument/2006/relationships/image" Target="../media/image13.emf"/><Relationship Id="rId2" Type="http://schemas.openxmlformats.org/officeDocument/2006/relationships/image" Target="../media/image18.emf"/><Relationship Id="rId1" Type="http://schemas.openxmlformats.org/officeDocument/2006/relationships/slideLayout" Target="../slideLayouts/slideLayout6.xml"/><Relationship Id="rId4" Type="http://schemas.openxmlformats.org/officeDocument/2006/relationships/image" Target="../media/image14.emf"/></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3" Type="http://schemas.openxmlformats.org/officeDocument/2006/relationships/image" Target="../media/image14.emf"/><Relationship Id="rId2" Type="http://schemas.openxmlformats.org/officeDocument/2006/relationships/image" Target="../media/image13.emf"/><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3" Type="http://schemas.openxmlformats.org/officeDocument/2006/relationships/image" Target="../media/image23.png"/><Relationship Id="rId7" Type="http://schemas.openxmlformats.org/officeDocument/2006/relationships/image" Target="../media/image27.png"/><Relationship Id="rId2" Type="http://schemas.openxmlformats.org/officeDocument/2006/relationships/notesSlide" Target="../notesSlides/notesSlide4.xml"/><Relationship Id="rId1" Type="http://schemas.openxmlformats.org/officeDocument/2006/relationships/slideLayout" Target="../slideLayouts/slideLayout6.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24.png"/></Relationships>
</file>

<file path=ppt/slides/_rels/slide33.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3.png"/><Relationship Id="rId1" Type="http://schemas.openxmlformats.org/officeDocument/2006/relationships/slideLayout" Target="../slideLayouts/slideLayout6.xml"/><Relationship Id="rId6" Type="http://schemas.openxmlformats.org/officeDocument/2006/relationships/image" Target="../media/image31.png"/><Relationship Id="rId5" Type="http://schemas.openxmlformats.org/officeDocument/2006/relationships/image" Target="../media/image30.png"/><Relationship Id="rId4" Type="http://schemas.openxmlformats.org/officeDocument/2006/relationships/image" Target="../media/image29.png"/></Relationships>
</file>

<file path=ppt/slides/_rels/slide34.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6.xml"/><Relationship Id="rId5" Type="http://schemas.openxmlformats.org/officeDocument/2006/relationships/image" Target="../media/image34.png"/><Relationship Id="rId4" Type="http://schemas.openxmlformats.org/officeDocument/2006/relationships/image" Target="../media/image23.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3" Type="http://schemas.openxmlformats.org/officeDocument/2006/relationships/image" Target="../media/image36.emf"/><Relationship Id="rId2" Type="http://schemas.openxmlformats.org/officeDocument/2006/relationships/image" Target="../media/image35.emf"/><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8" Type="http://schemas.openxmlformats.org/officeDocument/2006/relationships/image" Target="../media/image43.png"/><Relationship Id="rId3" Type="http://schemas.openxmlformats.org/officeDocument/2006/relationships/image" Target="../media/image38.png"/><Relationship Id="rId7" Type="http://schemas.openxmlformats.org/officeDocument/2006/relationships/image" Target="../media/image42.png"/><Relationship Id="rId2" Type="http://schemas.openxmlformats.org/officeDocument/2006/relationships/image" Target="../media/image37.png"/><Relationship Id="rId1" Type="http://schemas.openxmlformats.org/officeDocument/2006/relationships/slideLayout" Target="../slideLayouts/slideLayout6.xml"/><Relationship Id="rId6" Type="http://schemas.openxmlformats.org/officeDocument/2006/relationships/image" Target="../media/image41.png"/><Relationship Id="rId5" Type="http://schemas.openxmlformats.org/officeDocument/2006/relationships/image" Target="../media/image40.png"/><Relationship Id="rId4" Type="http://schemas.openxmlformats.org/officeDocument/2006/relationships/image" Target="../media/image39.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1.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slideLayout" Target="../slideLayouts/slideLayout6.xml"/></Relationships>
</file>

<file path=ppt/slides/_rels/slide42.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image" Target="../media/image45.png"/><Relationship Id="rId1" Type="http://schemas.openxmlformats.org/officeDocument/2006/relationships/slideLayout" Target="../slideLayouts/slideLayout6.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4.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6.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6.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16.jpeg"/><Relationship Id="rId1" Type="http://schemas.openxmlformats.org/officeDocument/2006/relationships/slideLayout" Target="../slideLayouts/slideLayout6.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0.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16.jpeg"/><Relationship Id="rId1" Type="http://schemas.openxmlformats.org/officeDocument/2006/relationships/slideLayout" Target="../slideLayouts/slideLayout6.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Rectangle 2">
            <a:extLst>
              <a:ext uri="{FF2B5EF4-FFF2-40B4-BE49-F238E27FC236}">
                <a16:creationId xmlns:a16="http://schemas.microsoft.com/office/drawing/2014/main" id="{B141A49D-614B-CA98-ABA5-451E7BC75272}"/>
              </a:ext>
            </a:extLst>
          </p:cNvPr>
          <p:cNvSpPr>
            <a:spLocks noGrp="1" noChangeArrowheads="1"/>
          </p:cNvSpPr>
          <p:nvPr>
            <p:ph type="ctrTitle"/>
          </p:nvPr>
        </p:nvSpPr>
        <p:spPr/>
        <p:txBody>
          <a:bodyPr/>
          <a:lstStyle/>
          <a:p>
            <a:pPr eaLnBrk="1" hangingPunct="1"/>
            <a:r>
              <a:rPr lang="ja-JP" altLang="en-US" sz="4800" b="1">
                <a:latin typeface="Hiragino Kaku Gothic ProN W6" panose="020B0300000000000000" pitchFamily="34" charset="-128"/>
                <a:ea typeface="Hiragino Kaku Gothic ProN W6" panose="020B0300000000000000" pitchFamily="34" charset="-128"/>
              </a:rPr>
              <a:t>力学系</a:t>
            </a:r>
            <a:r>
              <a:rPr lang="en-US" altLang="ja-JP" sz="4800" b="1" dirty="0">
                <a:latin typeface="Hiragino Kaku Gothic ProN W6" panose="020B0300000000000000" pitchFamily="34" charset="-128"/>
                <a:ea typeface="Hiragino Kaku Gothic ProN W6" panose="020B0300000000000000" pitchFamily="34" charset="-128"/>
              </a:rPr>
              <a:t>(2): </a:t>
            </a:r>
            <a:r>
              <a:rPr lang="ja-JP" altLang="en-US" sz="4800" b="1">
                <a:latin typeface="Hiragino Kaku Gothic ProN W6" panose="020B0300000000000000" pitchFamily="34" charset="-128"/>
                <a:ea typeface="Hiragino Kaku Gothic ProN W6" panose="020B0300000000000000" pitchFamily="34" charset="-128"/>
              </a:rPr>
              <a:t>濃度が振動する生化学反応系</a:t>
            </a:r>
            <a:endParaRPr lang="en-US" altLang="ja-JP" sz="4800" b="1" dirty="0">
              <a:latin typeface="Hiragino Kaku Gothic ProN W6" panose="020B0300000000000000" pitchFamily="34" charset="-128"/>
              <a:ea typeface="Hiragino Kaku Gothic ProN W6" panose="020B0300000000000000" pitchFamily="34" charset="-128"/>
            </a:endParaRPr>
          </a:p>
        </p:txBody>
      </p:sp>
      <p:sp>
        <p:nvSpPr>
          <p:cNvPr id="14338" name="Rectangle 1">
            <a:extLst>
              <a:ext uri="{FF2B5EF4-FFF2-40B4-BE49-F238E27FC236}">
                <a16:creationId xmlns:a16="http://schemas.microsoft.com/office/drawing/2014/main" id="{14F3306E-6162-EF24-ADAB-237616D8C9FD}"/>
              </a:ext>
            </a:extLst>
          </p:cNvPr>
          <p:cNvSpPr>
            <a:spLocks noGrp="1" noChangeArrowheads="1"/>
          </p:cNvSpPr>
          <p:nvPr>
            <p:ph type="subTitle" idx="1"/>
          </p:nvPr>
        </p:nvSpPr>
        <p:spPr/>
        <p:txBody>
          <a:bodyPr/>
          <a:lstStyle/>
          <a:p>
            <a:pPr marL="52916"/>
            <a:r>
              <a:rPr lang="ja-JP" altLang="en-US"/>
              <a:t>柚木克之 </a:t>
            </a:r>
            <a:r>
              <a:rPr lang="en-US" altLang="ja-JP" dirty="0"/>
              <a:t>(YUGI, Katsuyuki)</a:t>
            </a:r>
          </a:p>
          <a:p>
            <a:pPr marL="52916"/>
            <a:r>
              <a:rPr lang="ja-JP" altLang="en-US"/>
              <a:t>理化学研究所・生命医科学研究センター</a:t>
            </a:r>
            <a:endParaRPr lang="en-US" altLang="ja-JP"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 name="上から順に、心拍、動脈血酸素飽和度、呼吸"/>
          <p:cNvSpPr/>
          <p:nvPr/>
        </p:nvSpPr>
        <p:spPr>
          <a:xfrm>
            <a:off x="2453977" y="5830224"/>
            <a:ext cx="7284045" cy="53347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lvl1pPr>
              <a:buClr>
                <a:srgbClr val="000000"/>
              </a:buClr>
              <a:buFont typeface="Arial"/>
            </a:lvl1pPr>
          </a:lstStyle>
          <a:p>
            <a:r>
              <a:rPr sz="2800" dirty="0" err="1"/>
              <a:t>上から順に、心拍、動脈血酸素飽和度、呼吸</a:t>
            </a:r>
            <a:endParaRPr sz="2800" dirty="0"/>
          </a:p>
        </p:txBody>
      </p:sp>
      <p:sp>
        <p:nvSpPr>
          <p:cNvPr id="143" name="一番身近な生物振動"/>
          <p:cNvSpPr txBox="1">
            <a:spLocks noGrp="1"/>
          </p:cNvSpPr>
          <p:nvPr>
            <p:ph type="title"/>
          </p:nvPr>
        </p:nvSpPr>
        <p:spPr>
          <a:prstGeom prst="rect">
            <a:avLst/>
          </a:prstGeom>
        </p:spPr>
        <p:txBody>
          <a:bodyPr/>
          <a:lstStyle/>
          <a:p>
            <a:r>
              <a:t>一番身近な生物振動</a:t>
            </a:r>
          </a:p>
        </p:txBody>
      </p:sp>
      <p:pic>
        <p:nvPicPr>
          <p:cNvPr id="2" name="EKG.mpg">
            <a:hlinkClick r:id="" action="ppaction://media"/>
            <a:extLst>
              <a:ext uri="{FF2B5EF4-FFF2-40B4-BE49-F238E27FC236}">
                <a16:creationId xmlns:a16="http://schemas.microsoft.com/office/drawing/2014/main" id="{41E1E184-D279-04E8-819B-FD11F349133C}"/>
              </a:ext>
            </a:extLst>
          </p:cNvPr>
          <p:cNvPicPr>
            <a:picLocks noChangeAspect="1"/>
          </p:cNvPicPr>
          <p:nvPr>
            <a:videoFile r:link="rId2"/>
            <p:extLst>
              <p:ext uri="{DAA4B4D4-6D71-4841-9C94-3DE7FCFB9230}">
                <p14:media xmlns:p14="http://schemas.microsoft.com/office/powerpoint/2010/main" r:embed="rId1"/>
              </p:ext>
            </p:extLst>
          </p:nvPr>
        </p:nvPicPr>
        <p:blipFill>
          <a:blip r:embed="rId4"/>
          <a:stretch>
            <a:fillRect/>
          </a:stretch>
        </p:blipFill>
        <p:spPr>
          <a:xfrm>
            <a:off x="3246120" y="1291590"/>
            <a:ext cx="5897880" cy="4423410"/>
          </a:xfrm>
          <a:prstGeom prst="rect">
            <a:avLst/>
          </a:prstGeom>
        </p:spPr>
      </p:pic>
    </p:spTree>
  </p:cSld>
  <p:clrMapOvr>
    <a:masterClrMapping/>
  </p:clrMapOvr>
  <p:timing>
    <p:tnLst>
      <p:par>
        <p:cTn id="1" dur="indefinite" restart="never" fill="hold"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70470"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
                </p:tgtEl>
              </p:cMediaNode>
            </p:video>
            <p:seq concurrent="1" nextAc="seek">
              <p:cTn id="8" restart="whenNotActive" fill="hold" evtFilter="cancelBubble" nodeType="interactiveSeq">
                <p:stCondLst>
                  <p:cond evt="onClick" delay="0">
                    <p:tgtEl>
                      <p:spTgt spid="2"/>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withEffect">
                                  <p:stCondLst>
                                    <p:cond delay="0"/>
                                  </p:stCondLst>
                                  <p:childTnLst>
                                    <p:cmd type="call" cmd="togglePause">
                                      <p:cBhvr>
                                        <p:cTn id="12" dur="1" fill="hold"/>
                                        <p:tgtEl>
                                          <p:spTgt spid="2"/>
                                        </p:tgtEl>
                                      </p:cBhvr>
                                    </p:cmd>
                                  </p:childTnLst>
                                </p:cTn>
                              </p:par>
                            </p:childTnLst>
                          </p:cTn>
                        </p:par>
                      </p:childTnLst>
                    </p:cTn>
                  </p:par>
                </p:childTnLst>
              </p:cTn>
              <p:nextCondLst>
                <p:cond evt="onClick" delay="0">
                  <p:tgtEl>
                    <p:spTgt spid="2"/>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 name="酵母の細胞分裂   サイクリン濃度の振動が制御"/>
          <p:cNvSpPr/>
          <p:nvPr/>
        </p:nvSpPr>
        <p:spPr>
          <a:xfrm>
            <a:off x="1616571" y="6078928"/>
            <a:ext cx="2895469" cy="53347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anchor="ctr">
            <a:spAutoFit/>
          </a:bodyPr>
          <a:lstStyle>
            <a:lvl1pPr>
              <a:buClr>
                <a:srgbClr val="000000"/>
              </a:buClr>
              <a:buFont typeface="Arial"/>
            </a:lvl1pPr>
          </a:lstStyle>
          <a:p>
            <a:r>
              <a:rPr sz="2800" dirty="0" err="1"/>
              <a:t>酵母の細胞分裂</a:t>
            </a:r>
            <a:r>
              <a:rPr sz="2800" dirty="0"/>
              <a:t>	　　</a:t>
            </a:r>
          </a:p>
        </p:txBody>
      </p:sp>
      <p:pic>
        <p:nvPicPr>
          <p:cNvPr id="147" name="picrender.jpg" descr="picrender.jpg"/>
          <p:cNvPicPr>
            <a:picLocks/>
          </p:cNvPicPr>
          <p:nvPr/>
        </p:nvPicPr>
        <p:blipFill>
          <a:blip r:embed="rId4"/>
          <a:stretch>
            <a:fillRect/>
          </a:stretch>
        </p:blipFill>
        <p:spPr>
          <a:xfrm>
            <a:off x="5859929" y="1405744"/>
            <a:ext cx="5952319" cy="4410440"/>
          </a:xfrm>
          <a:prstGeom prst="rect">
            <a:avLst/>
          </a:prstGeom>
          <a:ln w="12700">
            <a:miter lim="400000"/>
          </a:ln>
        </p:spPr>
      </p:pic>
      <p:sp>
        <p:nvSpPr>
          <p:cNvPr id="148" name="振動は微生物のレベルにもある"/>
          <p:cNvSpPr txBox="1">
            <a:spLocks noGrp="1"/>
          </p:cNvSpPr>
          <p:nvPr>
            <p:ph type="title"/>
          </p:nvPr>
        </p:nvSpPr>
        <p:spPr>
          <a:prstGeom prst="rect">
            <a:avLst/>
          </a:prstGeom>
        </p:spPr>
        <p:txBody>
          <a:bodyPr/>
          <a:lstStyle/>
          <a:p>
            <a:r>
              <a:t>振動は微生物のレベルにもある</a:t>
            </a:r>
          </a:p>
        </p:txBody>
      </p:sp>
      <p:sp>
        <p:nvSpPr>
          <p:cNvPr id="3" name="テキスト ボックス 2">
            <a:extLst>
              <a:ext uri="{FF2B5EF4-FFF2-40B4-BE49-F238E27FC236}">
                <a16:creationId xmlns:a16="http://schemas.microsoft.com/office/drawing/2014/main" id="{DE013AA5-8895-C381-040C-3307D8E5A8DF}"/>
              </a:ext>
            </a:extLst>
          </p:cNvPr>
          <p:cNvSpPr txBox="1"/>
          <p:nvPr/>
        </p:nvSpPr>
        <p:spPr>
          <a:xfrm>
            <a:off x="5348377" y="6078928"/>
            <a:ext cx="6975422" cy="523220"/>
          </a:xfrm>
          <a:prstGeom prst="rect">
            <a:avLst/>
          </a:prstGeom>
          <a:noFill/>
        </p:spPr>
        <p:txBody>
          <a:bodyPr wrap="square">
            <a:spAutoFit/>
          </a:bodyPr>
          <a:lstStyle/>
          <a:p>
            <a:r>
              <a:rPr lang="ja-JP" altLang="en-US" sz="2800"/>
              <a:t>サイクリン濃度の振動</a:t>
            </a:r>
            <a:r>
              <a:rPr lang="en-US" altLang="ja-JP" sz="2800" dirty="0"/>
              <a:t> </a:t>
            </a:r>
            <a:r>
              <a:rPr lang="en-US" altLang="ja-JP" sz="2800" dirty="0">
                <a:sym typeface="Wingdings" pitchFamily="2" charset="2"/>
              </a:rPr>
              <a:t> </a:t>
            </a:r>
            <a:r>
              <a:rPr lang="ja-JP" altLang="en-US" sz="2800">
                <a:sym typeface="Wingdings" pitchFamily="2" charset="2"/>
              </a:rPr>
              <a:t>細胞分裂を制御</a:t>
            </a:r>
            <a:endParaRPr lang="ja-JP" altLang="en-US" sz="2800"/>
          </a:p>
        </p:txBody>
      </p:sp>
      <p:pic>
        <p:nvPicPr>
          <p:cNvPr id="4" name="yeast_cell_division.mpg">
            <a:hlinkClick r:id="" action="ppaction://media"/>
            <a:extLst>
              <a:ext uri="{FF2B5EF4-FFF2-40B4-BE49-F238E27FC236}">
                <a16:creationId xmlns:a16="http://schemas.microsoft.com/office/drawing/2014/main" id="{157B74E9-866D-6674-1F70-9FEA0D4B3DE4}"/>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137160" y="1555178"/>
            <a:ext cx="5471160" cy="4103370"/>
          </a:xfrm>
          <a:prstGeom prst="rect">
            <a:avLst/>
          </a:prstGeom>
        </p:spPr>
      </p:pic>
    </p:spTree>
  </p:cSld>
  <p:clrMapOvr>
    <a:masterClrMapping/>
  </p:clrMapOvr>
  <p:timing>
    <p:tnLst>
      <p:par>
        <p:cTn id="1" dur="indefinite" restart="never" fill="hold"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8933"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4"/>
                </p:tgtEl>
              </p:cMediaNode>
            </p:video>
            <p:seq concurrent="1" nextAc="seek">
              <p:cTn id="8" restart="whenNotActive" fill="hold" evtFilter="cancelBubble" nodeType="interactiveSeq">
                <p:stCondLst>
                  <p:cond evt="onClick" delay="0">
                    <p:tgtEl>
                      <p:spTgt spid="4"/>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withEffect">
                                  <p:stCondLst>
                                    <p:cond delay="0"/>
                                  </p:stCondLst>
                                  <p:childTnLst>
                                    <p:cmd type="call" cmd="togglePause">
                                      <p:cBhvr>
                                        <p:cTn id="12" dur="1" fill="hold"/>
                                        <p:tgtEl>
                                          <p:spTgt spid="4"/>
                                        </p:tgtEl>
                                      </p:cBhvr>
                                    </p:cmd>
                                  </p:childTnLst>
                                </p:cTn>
                              </p:par>
                            </p:childTnLst>
                          </p:cTn>
                        </p:par>
                      </p:childTnLst>
                    </p:cTn>
                  </p:par>
                </p:childTnLst>
              </p:cTn>
              <p:nextCondLst>
                <p:cond evt="onClick" delay="0">
                  <p:tgtEl>
                    <p:spTgt spid="4"/>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1" name="連続系の離散的挙動"/>
          <p:cNvSpPr txBox="1">
            <a:spLocks noGrp="1"/>
          </p:cNvSpPr>
          <p:nvPr>
            <p:ph type="title"/>
          </p:nvPr>
        </p:nvSpPr>
        <p:spPr>
          <a:prstGeom prst="rect">
            <a:avLst/>
          </a:prstGeom>
        </p:spPr>
        <p:txBody>
          <a:bodyPr/>
          <a:lstStyle/>
          <a:p>
            <a:r>
              <a:t>連続系の離散的挙動</a:t>
            </a:r>
          </a:p>
        </p:txBody>
      </p:sp>
      <p:sp>
        <p:nvSpPr>
          <p:cNvPr id="150" name="生化学パスウェイのモデル…"/>
          <p:cNvSpPr txBox="1">
            <a:spLocks noGrp="1"/>
          </p:cNvSpPr>
          <p:nvPr>
            <p:ph type="body" sz="half" idx="4294967295"/>
          </p:nvPr>
        </p:nvSpPr>
        <p:spPr>
          <a:xfrm>
            <a:off x="650875" y="1539171"/>
            <a:ext cx="6496685" cy="4965700"/>
          </a:xfrm>
          <a:prstGeom prst="rect">
            <a:avLst/>
          </a:prstGeom>
        </p:spPr>
        <p:txBody>
          <a:bodyPr>
            <a:noAutofit/>
          </a:bodyPr>
          <a:lstStyle/>
          <a:p>
            <a:pPr marL="283819" indent="-253745" defTabSz="300736">
              <a:lnSpc>
                <a:spcPct val="90000"/>
              </a:lnSpc>
              <a:spcBef>
                <a:spcPts val="1200"/>
              </a:spcBef>
              <a:buClr>
                <a:srgbClr val="000000"/>
              </a:buClr>
              <a:buSzPct val="100000"/>
              <a:buFont typeface="Arial"/>
              <a:defRPr sz="1776"/>
            </a:pPr>
            <a:r>
              <a:rPr sz="2800" dirty="0" err="1"/>
              <a:t>生化学パスウェイのモデル</a:t>
            </a:r>
            <a:endParaRPr sz="2800" dirty="0"/>
          </a:p>
          <a:p>
            <a:pPr marL="579856" lvl="1" indent="-211454" defTabSz="300736">
              <a:lnSpc>
                <a:spcPct val="90000"/>
              </a:lnSpc>
              <a:spcBef>
                <a:spcPts val="1200"/>
              </a:spcBef>
              <a:buClr>
                <a:srgbClr val="000000"/>
              </a:buClr>
              <a:buSzPct val="100000"/>
              <a:buFont typeface="Arial"/>
              <a:defRPr sz="1776"/>
            </a:pPr>
            <a:r>
              <a:rPr sz="2400" dirty="0" err="1"/>
              <a:t>連立常微分方程式</a:t>
            </a:r>
            <a:endParaRPr sz="2400" dirty="0"/>
          </a:p>
          <a:p>
            <a:pPr marL="579856" lvl="1" indent="-211454" defTabSz="300736">
              <a:lnSpc>
                <a:spcPct val="90000"/>
              </a:lnSpc>
              <a:spcBef>
                <a:spcPts val="1200"/>
              </a:spcBef>
              <a:buClr>
                <a:srgbClr val="000000"/>
              </a:buClr>
              <a:buSzPct val="100000"/>
              <a:buFont typeface="Arial"/>
              <a:defRPr sz="1776"/>
            </a:pPr>
            <a:r>
              <a:rPr sz="2400" dirty="0" err="1"/>
              <a:t>いわゆる非線形力学系</a:t>
            </a:r>
            <a:endParaRPr sz="2400" dirty="0"/>
          </a:p>
          <a:p>
            <a:pPr marL="875893" lvl="2" indent="-169163" defTabSz="300736">
              <a:lnSpc>
                <a:spcPct val="90000"/>
              </a:lnSpc>
              <a:spcBef>
                <a:spcPts val="1200"/>
              </a:spcBef>
              <a:buClr>
                <a:srgbClr val="000000"/>
              </a:buClr>
              <a:buSzPct val="100000"/>
              <a:buFont typeface="Arial"/>
              <a:buChar char="–"/>
              <a:defRPr sz="1480"/>
            </a:pPr>
            <a:endParaRPr dirty="0"/>
          </a:p>
          <a:p>
            <a:pPr marL="283819" indent="-253745" defTabSz="300736">
              <a:lnSpc>
                <a:spcPct val="90000"/>
              </a:lnSpc>
              <a:spcBef>
                <a:spcPts val="1200"/>
              </a:spcBef>
              <a:buClr>
                <a:srgbClr val="000000"/>
              </a:buClr>
              <a:buSzPct val="100000"/>
              <a:buFont typeface="Arial"/>
              <a:defRPr sz="1776"/>
            </a:pPr>
            <a:r>
              <a:rPr sz="2800" dirty="0" err="1"/>
              <a:t>連立常微分方程式の解</a:t>
            </a:r>
            <a:endParaRPr sz="2800" dirty="0"/>
          </a:p>
          <a:p>
            <a:pPr marL="579856" lvl="1" indent="-211454" defTabSz="300736">
              <a:lnSpc>
                <a:spcPct val="90000"/>
              </a:lnSpc>
              <a:spcBef>
                <a:spcPts val="1200"/>
              </a:spcBef>
              <a:buClr>
                <a:srgbClr val="000000"/>
              </a:buClr>
              <a:buSzPct val="100000"/>
              <a:buFont typeface="Arial"/>
              <a:defRPr sz="1776"/>
            </a:pPr>
            <a:r>
              <a:rPr sz="2400" dirty="0" err="1"/>
              <a:t>速度論定数を変える</a:t>
            </a:r>
            <a:endParaRPr sz="2400" dirty="0"/>
          </a:p>
          <a:p>
            <a:pPr marL="579856" lvl="1" indent="-211454" defTabSz="300736">
              <a:lnSpc>
                <a:spcPct val="90000"/>
              </a:lnSpc>
              <a:spcBef>
                <a:spcPts val="1200"/>
              </a:spcBef>
              <a:buClr>
                <a:srgbClr val="000000"/>
              </a:buClr>
              <a:buSzPct val="100000"/>
              <a:buFont typeface="Arial"/>
              <a:defRPr sz="1776"/>
            </a:pPr>
            <a:r>
              <a:rPr sz="2400" dirty="0" err="1"/>
              <a:t>ある点で振る舞いが変わる</a:t>
            </a:r>
            <a:endParaRPr sz="2400" dirty="0"/>
          </a:p>
          <a:p>
            <a:pPr marL="875893" lvl="2" indent="-169163" defTabSz="300736">
              <a:lnSpc>
                <a:spcPct val="90000"/>
              </a:lnSpc>
              <a:spcBef>
                <a:spcPts val="1200"/>
              </a:spcBef>
              <a:buClr>
                <a:srgbClr val="000000"/>
              </a:buClr>
              <a:buSzPct val="100000"/>
              <a:buFont typeface="Arial"/>
              <a:defRPr sz="1776"/>
            </a:pPr>
            <a:r>
              <a:rPr sz="2000" dirty="0" err="1"/>
              <a:t>定常状態</a:t>
            </a:r>
            <a:endParaRPr sz="2000" dirty="0"/>
          </a:p>
          <a:p>
            <a:pPr marL="875893" lvl="2" indent="-169163" defTabSz="300736">
              <a:lnSpc>
                <a:spcPct val="90000"/>
              </a:lnSpc>
              <a:spcBef>
                <a:spcPts val="1200"/>
              </a:spcBef>
              <a:buClr>
                <a:srgbClr val="000000"/>
              </a:buClr>
              <a:buSzPct val="100000"/>
              <a:buFont typeface="Arial"/>
              <a:defRPr sz="1776"/>
            </a:pPr>
            <a:r>
              <a:rPr sz="2000" dirty="0" err="1"/>
              <a:t>振動</a:t>
            </a:r>
            <a:endParaRPr sz="2000" dirty="0"/>
          </a:p>
          <a:p>
            <a:pPr marL="283819" indent="-253745" defTabSz="300736">
              <a:lnSpc>
                <a:spcPct val="90000"/>
              </a:lnSpc>
              <a:spcBef>
                <a:spcPts val="1200"/>
              </a:spcBef>
              <a:buClr>
                <a:srgbClr val="000000"/>
              </a:buClr>
              <a:buSzPct val="100000"/>
              <a:buFont typeface="Arial"/>
              <a:defRPr sz="1776"/>
            </a:pPr>
            <a:endParaRPr sz="2400" dirty="0"/>
          </a:p>
          <a:p>
            <a:pPr marL="283819" indent="-253745" defTabSz="300736">
              <a:lnSpc>
                <a:spcPct val="90000"/>
              </a:lnSpc>
              <a:spcBef>
                <a:spcPts val="1200"/>
              </a:spcBef>
              <a:buClr>
                <a:srgbClr val="0433FF"/>
              </a:buClr>
              <a:buSzPct val="100000"/>
              <a:buFont typeface="Arial"/>
              <a:defRPr sz="1776">
                <a:solidFill>
                  <a:srgbClr val="0433FF"/>
                </a:solidFill>
                <a:uFill>
                  <a:solidFill>
                    <a:srgbClr val="0433FF"/>
                  </a:solidFill>
                </a:uFill>
              </a:defRPr>
            </a:pPr>
            <a:r>
              <a:rPr sz="2800" dirty="0" err="1"/>
              <a:t>境界となるパラメータ値を見つける</a:t>
            </a:r>
            <a:endParaRPr sz="2800" dirty="0"/>
          </a:p>
        </p:txBody>
      </p:sp>
      <p:sp>
        <p:nvSpPr>
          <p:cNvPr id="151" name="線"/>
          <p:cNvSpPr/>
          <p:nvPr/>
        </p:nvSpPr>
        <p:spPr>
          <a:xfrm>
            <a:off x="7303951" y="4143376"/>
            <a:ext cx="1587" cy="1871663"/>
          </a:xfrm>
          <a:prstGeom prst="line">
            <a:avLst/>
          </a:prstGeom>
          <a:ln w="38100">
            <a:solidFill>
              <a:srgbClr val="000000"/>
            </a:solidFill>
            <a:miter lim="400000"/>
          </a:ln>
        </p:spPr>
        <p:txBody>
          <a:bodyPr lIns="0" tIns="0" rIns="0" bIns="0"/>
          <a:lstStyle/>
          <a:p>
            <a:pPr defTabSz="457200">
              <a:defRPr sz="1200">
                <a:latin typeface="ヒラギノ角ゴ ProN W3"/>
                <a:ea typeface="ヒラギノ角ゴ ProN W3"/>
                <a:cs typeface="ヒラギノ角ゴ ProN W3"/>
                <a:sym typeface="ヒラギノ角ゴ ProN W3"/>
              </a:defRPr>
            </a:pPr>
            <a:endParaRPr sz="1200"/>
          </a:p>
        </p:txBody>
      </p:sp>
      <p:sp>
        <p:nvSpPr>
          <p:cNvPr id="152" name="線"/>
          <p:cNvSpPr/>
          <p:nvPr/>
        </p:nvSpPr>
        <p:spPr>
          <a:xfrm>
            <a:off x="7303951" y="6015037"/>
            <a:ext cx="1871663" cy="1588"/>
          </a:xfrm>
          <a:prstGeom prst="line">
            <a:avLst/>
          </a:prstGeom>
          <a:ln w="38100">
            <a:solidFill>
              <a:srgbClr val="000000"/>
            </a:solidFill>
            <a:miter lim="400000"/>
          </a:ln>
        </p:spPr>
        <p:txBody>
          <a:bodyPr lIns="0" tIns="0" rIns="0" bIns="0"/>
          <a:lstStyle/>
          <a:p>
            <a:pPr defTabSz="457200">
              <a:defRPr sz="1200">
                <a:latin typeface="ヒラギノ角ゴ ProN W3"/>
                <a:ea typeface="ヒラギノ角ゴ ProN W3"/>
                <a:cs typeface="ヒラギノ角ゴ ProN W3"/>
                <a:sym typeface="ヒラギノ角ゴ ProN W3"/>
              </a:defRPr>
            </a:pPr>
            <a:endParaRPr sz="1200"/>
          </a:p>
        </p:txBody>
      </p:sp>
      <p:sp>
        <p:nvSpPr>
          <p:cNvPr id="153" name="線"/>
          <p:cNvSpPr/>
          <p:nvPr/>
        </p:nvSpPr>
        <p:spPr>
          <a:xfrm>
            <a:off x="9751876" y="4143376"/>
            <a:ext cx="1587" cy="1871663"/>
          </a:xfrm>
          <a:prstGeom prst="line">
            <a:avLst/>
          </a:prstGeom>
          <a:ln w="38100">
            <a:solidFill>
              <a:srgbClr val="000000"/>
            </a:solidFill>
            <a:miter lim="400000"/>
          </a:ln>
        </p:spPr>
        <p:txBody>
          <a:bodyPr lIns="0" tIns="0" rIns="0" bIns="0"/>
          <a:lstStyle/>
          <a:p>
            <a:pPr defTabSz="457200">
              <a:defRPr sz="1200">
                <a:latin typeface="ヒラギノ角ゴ ProN W3"/>
                <a:ea typeface="ヒラギノ角ゴ ProN W3"/>
                <a:cs typeface="ヒラギノ角ゴ ProN W3"/>
                <a:sym typeface="ヒラギノ角ゴ ProN W3"/>
              </a:defRPr>
            </a:pPr>
            <a:endParaRPr sz="1200"/>
          </a:p>
        </p:txBody>
      </p:sp>
      <p:sp>
        <p:nvSpPr>
          <p:cNvPr id="154" name="線"/>
          <p:cNvSpPr/>
          <p:nvPr/>
        </p:nvSpPr>
        <p:spPr>
          <a:xfrm>
            <a:off x="9751876" y="6015037"/>
            <a:ext cx="1871663" cy="1588"/>
          </a:xfrm>
          <a:prstGeom prst="line">
            <a:avLst/>
          </a:prstGeom>
          <a:ln w="38100">
            <a:solidFill>
              <a:srgbClr val="000000"/>
            </a:solidFill>
            <a:miter lim="400000"/>
          </a:ln>
        </p:spPr>
        <p:txBody>
          <a:bodyPr lIns="0" tIns="0" rIns="0" bIns="0"/>
          <a:lstStyle/>
          <a:p>
            <a:pPr defTabSz="457200">
              <a:defRPr sz="1200">
                <a:latin typeface="ヒラギノ角ゴ ProN W3"/>
                <a:ea typeface="ヒラギノ角ゴ ProN W3"/>
                <a:cs typeface="ヒラギノ角ゴ ProN W3"/>
                <a:sym typeface="ヒラギノ角ゴ ProN W3"/>
              </a:defRPr>
            </a:pPr>
            <a:endParaRPr sz="1200"/>
          </a:p>
        </p:txBody>
      </p:sp>
      <p:sp>
        <p:nvSpPr>
          <p:cNvPr id="155" name="線"/>
          <p:cNvSpPr/>
          <p:nvPr/>
        </p:nvSpPr>
        <p:spPr>
          <a:xfrm>
            <a:off x="7303951" y="4571159"/>
            <a:ext cx="1584325" cy="1012176"/>
          </a:xfrm>
          <a:custGeom>
            <a:avLst/>
            <a:gdLst/>
            <a:ahLst/>
            <a:cxnLst>
              <a:cxn ang="0">
                <a:pos x="wd2" y="hd2"/>
              </a:cxn>
              <a:cxn ang="5400000">
                <a:pos x="wd2" y="hd2"/>
              </a:cxn>
              <a:cxn ang="10800000">
                <a:pos x="wd2" y="hd2"/>
              </a:cxn>
              <a:cxn ang="16200000">
                <a:pos x="wd2" y="hd2"/>
              </a:cxn>
            </a:cxnLst>
            <a:rect l="0" t="0" r="r" b="b"/>
            <a:pathLst>
              <a:path w="21600" h="20494" extrusionOk="0">
                <a:moveTo>
                  <a:pt x="0" y="14674"/>
                </a:moveTo>
                <a:cubicBezTo>
                  <a:pt x="2034" y="6896"/>
                  <a:pt x="4091" y="-883"/>
                  <a:pt x="5887" y="81"/>
                </a:cubicBezTo>
                <a:cubicBezTo>
                  <a:pt x="7683" y="1046"/>
                  <a:pt x="9004" y="20267"/>
                  <a:pt x="10800" y="20492"/>
                </a:cubicBezTo>
                <a:cubicBezTo>
                  <a:pt x="12596" y="20717"/>
                  <a:pt x="14891" y="1528"/>
                  <a:pt x="16687" y="1528"/>
                </a:cubicBezTo>
                <a:cubicBezTo>
                  <a:pt x="18483" y="1528"/>
                  <a:pt x="20042" y="11010"/>
                  <a:pt x="21600" y="20492"/>
                </a:cubicBezTo>
              </a:path>
            </a:pathLst>
          </a:custGeom>
          <a:ln>
            <a:solidFill>
              <a:srgbClr val="FF4C00"/>
            </a:solidFill>
          </a:ln>
        </p:spPr>
        <p:txBody>
          <a:bodyPr lIns="50800" tIns="50800" rIns="50800" bIns="50800" anchor="ctr"/>
          <a:lstStyle/>
          <a:p>
            <a:pPr>
              <a:defRPr>
                <a:solidFill>
                  <a:srgbClr val="FFFFFF"/>
                </a:solidFill>
                <a:effectLst>
                  <a:outerShdw blurRad="38100" dist="12700" dir="5400000" rotWithShape="0">
                    <a:srgbClr val="000000">
                      <a:alpha val="50000"/>
                    </a:srgbClr>
                  </a:outerShdw>
                </a:effectLst>
              </a:defRPr>
            </a:pPr>
            <a:endParaRPr/>
          </a:p>
        </p:txBody>
      </p:sp>
      <p:sp>
        <p:nvSpPr>
          <p:cNvPr id="156" name="線"/>
          <p:cNvSpPr/>
          <p:nvPr/>
        </p:nvSpPr>
        <p:spPr>
          <a:xfrm>
            <a:off x="9751876" y="5080000"/>
            <a:ext cx="1223963" cy="1588"/>
          </a:xfrm>
          <a:prstGeom prst="line">
            <a:avLst/>
          </a:prstGeom>
          <a:ln>
            <a:solidFill>
              <a:srgbClr val="FF4C00"/>
            </a:solidFill>
          </a:ln>
        </p:spPr>
        <p:txBody>
          <a:bodyPr lIns="0" tIns="0" rIns="0" bIns="0"/>
          <a:lstStyle/>
          <a:p>
            <a:pPr defTabSz="457200">
              <a:defRPr sz="1200">
                <a:latin typeface="ヒラギノ角ゴ ProN W3"/>
                <a:ea typeface="ヒラギノ角ゴ ProN W3"/>
                <a:cs typeface="ヒラギノ角ゴ ProN W3"/>
                <a:sym typeface="ヒラギノ角ゴ ProN W3"/>
              </a:defRPr>
            </a:pPr>
            <a:endParaRPr sz="1200"/>
          </a:p>
        </p:txBody>
      </p:sp>
      <p:sp>
        <p:nvSpPr>
          <p:cNvPr id="157" name="k&lt;1.2x10-2 sec-1"/>
          <p:cNvSpPr/>
          <p:nvPr/>
        </p:nvSpPr>
        <p:spPr>
          <a:xfrm>
            <a:off x="7069501" y="6125280"/>
            <a:ext cx="1553310" cy="37959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p>
            <a:pPr>
              <a:buClr>
                <a:srgbClr val="000000"/>
              </a:buClr>
              <a:buFont typeface="Calibri"/>
            </a:pPr>
            <a:r>
              <a:rPr>
                <a:latin typeface="Calibri"/>
                <a:ea typeface="Calibri"/>
                <a:cs typeface="Calibri"/>
                <a:sym typeface="Calibri"/>
              </a:rPr>
              <a:t>k&lt;1.2x10</a:t>
            </a:r>
            <a:r>
              <a:rPr baseline="30714">
                <a:latin typeface="Calibri"/>
                <a:ea typeface="Calibri"/>
                <a:cs typeface="Calibri"/>
                <a:sym typeface="Calibri"/>
              </a:rPr>
              <a:t>-2</a:t>
            </a:r>
            <a:r>
              <a:rPr>
                <a:latin typeface="Calibri"/>
                <a:ea typeface="Calibri"/>
                <a:cs typeface="Calibri"/>
                <a:sym typeface="Calibri"/>
              </a:rPr>
              <a:t> sec</a:t>
            </a:r>
            <a:r>
              <a:rPr baseline="30714">
                <a:latin typeface="Calibri"/>
                <a:ea typeface="Calibri"/>
                <a:cs typeface="Calibri"/>
                <a:sym typeface="Calibri"/>
              </a:rPr>
              <a:t>-1</a:t>
            </a:r>
          </a:p>
        </p:txBody>
      </p:sp>
      <p:sp>
        <p:nvSpPr>
          <p:cNvPr id="158" name="k&gt;1.2x10-2 sec-1"/>
          <p:cNvSpPr/>
          <p:nvPr/>
        </p:nvSpPr>
        <p:spPr>
          <a:xfrm>
            <a:off x="9439638" y="6158618"/>
            <a:ext cx="1553310" cy="37959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p>
            <a:pPr>
              <a:buClr>
                <a:srgbClr val="000000"/>
              </a:buClr>
              <a:buFont typeface="Calibri"/>
            </a:pPr>
            <a:r>
              <a:rPr>
                <a:latin typeface="Calibri"/>
                <a:ea typeface="Calibri"/>
                <a:cs typeface="Calibri"/>
                <a:sym typeface="Calibri"/>
              </a:rPr>
              <a:t>k&gt;1.2x10</a:t>
            </a:r>
            <a:r>
              <a:rPr baseline="30714">
                <a:latin typeface="Calibri"/>
                <a:ea typeface="Calibri"/>
                <a:cs typeface="Calibri"/>
                <a:sym typeface="Calibri"/>
              </a:rPr>
              <a:t>-2</a:t>
            </a:r>
            <a:r>
              <a:rPr>
                <a:latin typeface="Calibri"/>
                <a:ea typeface="Calibri"/>
                <a:cs typeface="Calibri"/>
                <a:sym typeface="Calibri"/>
              </a:rPr>
              <a:t> sec</a:t>
            </a:r>
            <a:r>
              <a:rPr baseline="30714">
                <a:latin typeface="Calibri"/>
                <a:ea typeface="Calibri"/>
                <a:cs typeface="Calibri"/>
                <a:sym typeface="Calibri"/>
              </a:rPr>
              <a:t>-1</a:t>
            </a:r>
          </a:p>
        </p:txBody>
      </p:sp>
      <p:pic>
        <p:nvPicPr>
          <p:cNvPr id="159" name="image.png" descr="image.png"/>
          <p:cNvPicPr>
            <a:picLocks noChangeAspect="1"/>
          </p:cNvPicPr>
          <p:nvPr/>
        </p:nvPicPr>
        <p:blipFill>
          <a:blip r:embed="rId2"/>
          <a:stretch>
            <a:fillRect/>
          </a:stretch>
        </p:blipFill>
        <p:spPr>
          <a:xfrm>
            <a:off x="6240462" y="1339850"/>
            <a:ext cx="4896070" cy="1871663"/>
          </a:xfrm>
          <a:prstGeom prst="rect">
            <a:avLst/>
          </a:prstGeom>
          <a:ln w="12700">
            <a:miter lim="400000"/>
          </a:ln>
        </p:spPr>
      </p:pic>
      <p:sp>
        <p:nvSpPr>
          <p:cNvPr id="160" name="Borisuk and Tyson (1998)"/>
          <p:cNvSpPr/>
          <p:nvPr/>
        </p:nvSpPr>
        <p:spPr>
          <a:xfrm>
            <a:off x="7312756" y="3205478"/>
            <a:ext cx="2457660" cy="37959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lvl1pPr>
              <a:buClr>
                <a:srgbClr val="000000"/>
              </a:buClr>
              <a:buFont typeface="Calibri"/>
              <a:defRPr>
                <a:latin typeface="Calibri"/>
                <a:ea typeface="Calibri"/>
                <a:cs typeface="Calibri"/>
                <a:sym typeface="Calibri"/>
              </a:defRPr>
            </a:lvl1pPr>
          </a:lstStyle>
          <a:p>
            <a:r>
              <a:t>Borisuk and Tyson (1998)</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6" name="最先端で発見されている振動現象"/>
          <p:cNvSpPr txBox="1">
            <a:spLocks noGrp="1"/>
          </p:cNvSpPr>
          <p:nvPr>
            <p:ph type="title"/>
          </p:nvPr>
        </p:nvSpPr>
        <p:spPr>
          <a:prstGeom prst="rect">
            <a:avLst/>
          </a:prstGeom>
        </p:spPr>
        <p:txBody>
          <a:bodyPr/>
          <a:lstStyle/>
          <a:p>
            <a:r>
              <a:t>最先端で発見されている振動現象</a:t>
            </a:r>
          </a:p>
        </p:txBody>
      </p:sp>
      <p:sp>
        <p:nvSpPr>
          <p:cNvPr id="163" name="Hes1 (Notch signalling system)…"/>
          <p:cNvSpPr txBox="1">
            <a:spLocks noGrp="1"/>
          </p:cNvSpPr>
          <p:nvPr>
            <p:ph type="body" idx="4294967295"/>
          </p:nvPr>
        </p:nvSpPr>
        <p:spPr>
          <a:xfrm>
            <a:off x="390967" y="1533602"/>
            <a:ext cx="7269007" cy="5047079"/>
          </a:xfrm>
          <a:prstGeom prst="rect">
            <a:avLst/>
          </a:prstGeom>
        </p:spPr>
        <p:txBody>
          <a:bodyPr>
            <a:noAutofit/>
          </a:bodyPr>
          <a:lstStyle/>
          <a:p>
            <a:pPr marL="241630" indent="-216027" defTabSz="256031">
              <a:lnSpc>
                <a:spcPct val="70000"/>
              </a:lnSpc>
              <a:spcBef>
                <a:spcPts val="1000"/>
              </a:spcBef>
              <a:buClr>
                <a:srgbClr val="000000"/>
              </a:buClr>
              <a:buSzPct val="100000"/>
              <a:buFont typeface="Arial"/>
              <a:defRPr sz="1512"/>
            </a:pPr>
            <a:r>
              <a:rPr sz="2800" dirty="0"/>
              <a:t>Hes1　(Notch </a:t>
            </a:r>
            <a:r>
              <a:rPr sz="2800" dirty="0" err="1"/>
              <a:t>signalling</a:t>
            </a:r>
            <a:r>
              <a:rPr sz="2800" dirty="0"/>
              <a:t> system)</a:t>
            </a:r>
          </a:p>
          <a:p>
            <a:pPr marL="493661" lvl="1" indent="-180022" defTabSz="256031">
              <a:lnSpc>
                <a:spcPct val="70000"/>
              </a:lnSpc>
              <a:spcBef>
                <a:spcPts val="1000"/>
              </a:spcBef>
              <a:buClr>
                <a:srgbClr val="000000"/>
              </a:buClr>
              <a:buSzPct val="100000"/>
              <a:buFont typeface="Arial"/>
              <a:defRPr sz="1008"/>
            </a:pPr>
            <a:r>
              <a:rPr sz="2400" dirty="0"/>
              <a:t>mRNA転写が2時間周期</a:t>
            </a:r>
          </a:p>
          <a:p>
            <a:pPr marL="493661" lvl="1" indent="-180022" defTabSz="256031">
              <a:lnSpc>
                <a:spcPct val="70000"/>
              </a:lnSpc>
              <a:spcBef>
                <a:spcPts val="1000"/>
              </a:spcBef>
              <a:buClr>
                <a:srgbClr val="000000"/>
              </a:buClr>
              <a:buSzPct val="100000"/>
              <a:buFont typeface="Arial"/>
              <a:defRPr sz="1008"/>
            </a:pPr>
            <a:r>
              <a:rPr sz="2400" dirty="0" err="1"/>
              <a:t>体節形成に必要</a:t>
            </a:r>
            <a:endParaRPr sz="2400" dirty="0"/>
          </a:p>
          <a:p>
            <a:pPr marL="493661" lvl="1" indent="-180022" defTabSz="256031">
              <a:lnSpc>
                <a:spcPct val="70000"/>
              </a:lnSpc>
              <a:spcBef>
                <a:spcPts val="1000"/>
              </a:spcBef>
              <a:buClr>
                <a:srgbClr val="000000"/>
              </a:buClr>
              <a:buSzPct val="100000"/>
              <a:buFont typeface="Arial"/>
              <a:defRPr sz="1008"/>
            </a:pPr>
            <a:r>
              <a:rPr sz="2400" dirty="0"/>
              <a:t>Hirata </a:t>
            </a:r>
            <a:r>
              <a:rPr sz="2400" i="1" dirty="0"/>
              <a:t>et al.</a:t>
            </a:r>
            <a:r>
              <a:rPr sz="2400" dirty="0"/>
              <a:t> (2002) </a:t>
            </a:r>
            <a:r>
              <a:rPr sz="2400" i="1" dirty="0"/>
              <a:t>Science</a:t>
            </a:r>
          </a:p>
          <a:p>
            <a:pPr marL="745693" lvl="2" indent="-144018" defTabSz="256031">
              <a:lnSpc>
                <a:spcPct val="70000"/>
              </a:lnSpc>
              <a:spcBef>
                <a:spcPts val="1000"/>
              </a:spcBef>
              <a:buClr>
                <a:srgbClr val="000000"/>
              </a:buClr>
              <a:buSzPct val="100000"/>
              <a:buFont typeface="Arial"/>
              <a:buChar char="–"/>
              <a:defRPr sz="1512" i="1"/>
            </a:pPr>
            <a:endParaRPr sz="2800" i="1" dirty="0"/>
          </a:p>
          <a:p>
            <a:pPr marL="241630" indent="-216027" defTabSz="256031">
              <a:lnSpc>
                <a:spcPct val="70000"/>
              </a:lnSpc>
              <a:spcBef>
                <a:spcPts val="1000"/>
              </a:spcBef>
              <a:buClr>
                <a:srgbClr val="000000"/>
              </a:buClr>
              <a:buSzPct val="100000"/>
              <a:buFont typeface="Arial"/>
              <a:defRPr sz="1512"/>
            </a:pPr>
            <a:r>
              <a:rPr sz="2800" dirty="0"/>
              <a:t>「MAPKカスケードは2時間周期で振動」</a:t>
            </a:r>
          </a:p>
          <a:p>
            <a:pPr marL="493661" lvl="1" indent="-180022" defTabSz="256031">
              <a:lnSpc>
                <a:spcPct val="70000"/>
              </a:lnSpc>
              <a:spcBef>
                <a:spcPts val="1000"/>
              </a:spcBef>
              <a:buClr>
                <a:srgbClr val="000000"/>
              </a:buClr>
              <a:buSzPct val="100000"/>
              <a:buFont typeface="Arial"/>
              <a:defRPr sz="1008"/>
            </a:pPr>
            <a:r>
              <a:rPr sz="2400" dirty="0"/>
              <a:t>Nakayama </a:t>
            </a:r>
            <a:r>
              <a:rPr sz="2400" i="1" dirty="0"/>
              <a:t>et al</a:t>
            </a:r>
            <a:r>
              <a:rPr sz="2400" dirty="0"/>
              <a:t>. (2008) </a:t>
            </a:r>
            <a:r>
              <a:rPr sz="2400" i="1" dirty="0"/>
              <a:t>Curr. Biol.</a:t>
            </a:r>
          </a:p>
          <a:p>
            <a:pPr marL="241630" indent="-216027" defTabSz="256031">
              <a:lnSpc>
                <a:spcPct val="70000"/>
              </a:lnSpc>
              <a:spcBef>
                <a:spcPts val="1000"/>
              </a:spcBef>
              <a:buClr>
                <a:srgbClr val="000000"/>
              </a:buClr>
              <a:buSzPct val="100000"/>
              <a:buFont typeface="Arial"/>
              <a:defRPr sz="1134" i="1"/>
            </a:pPr>
            <a:endParaRPr sz="2800" i="1" dirty="0"/>
          </a:p>
          <a:p>
            <a:pPr marL="241630" indent="-216027" defTabSz="256031">
              <a:lnSpc>
                <a:spcPct val="70000"/>
              </a:lnSpc>
              <a:spcBef>
                <a:spcPts val="1000"/>
              </a:spcBef>
              <a:buClr>
                <a:srgbClr val="000000"/>
              </a:buClr>
              <a:buSzPct val="100000"/>
              <a:buFont typeface="Arial"/>
              <a:defRPr sz="1764"/>
            </a:pPr>
            <a:r>
              <a:rPr sz="2800" dirty="0"/>
              <a:t>In depth</a:t>
            </a:r>
          </a:p>
          <a:p>
            <a:pPr marL="493661" lvl="1" indent="-180022" defTabSz="256031">
              <a:lnSpc>
                <a:spcPct val="70000"/>
              </a:lnSpc>
              <a:spcBef>
                <a:spcPts val="1000"/>
              </a:spcBef>
              <a:buClr>
                <a:srgbClr val="000000"/>
              </a:buClr>
              <a:buSzPct val="100000"/>
              <a:buFont typeface="Arial"/>
              <a:defRPr sz="1764"/>
            </a:pPr>
            <a:r>
              <a:rPr sz="2400" dirty="0"/>
              <a:t>「</a:t>
            </a:r>
            <a:r>
              <a:rPr sz="2400" dirty="0" err="1"/>
              <a:t>フィードバック</a:t>
            </a:r>
            <a:r>
              <a:rPr sz="2400" dirty="0"/>
              <a:t>」</a:t>
            </a:r>
          </a:p>
          <a:p>
            <a:pPr marL="493661" lvl="1" indent="-180022" defTabSz="256031">
              <a:lnSpc>
                <a:spcPct val="70000"/>
              </a:lnSpc>
              <a:spcBef>
                <a:spcPts val="1000"/>
              </a:spcBef>
              <a:buClr>
                <a:srgbClr val="000000"/>
              </a:buClr>
              <a:buSzPct val="100000"/>
              <a:buFont typeface="Arial"/>
              <a:defRPr sz="1764"/>
            </a:pPr>
            <a:r>
              <a:rPr sz="2400" dirty="0" err="1"/>
              <a:t>数理的な解析が威力を発揮する</a:t>
            </a:r>
            <a:endParaRPr sz="2400" dirty="0"/>
          </a:p>
        </p:txBody>
      </p:sp>
      <p:pic>
        <p:nvPicPr>
          <p:cNvPr id="164" name="image.png" descr="image.png"/>
          <p:cNvPicPr>
            <a:picLocks noChangeAspect="1"/>
          </p:cNvPicPr>
          <p:nvPr/>
        </p:nvPicPr>
        <p:blipFill>
          <a:blip r:embed="rId2"/>
          <a:stretch>
            <a:fillRect/>
          </a:stretch>
        </p:blipFill>
        <p:spPr>
          <a:xfrm>
            <a:off x="8177344" y="3944937"/>
            <a:ext cx="2613008" cy="2440968"/>
          </a:xfrm>
          <a:prstGeom prst="rect">
            <a:avLst/>
          </a:prstGeom>
          <a:ln w="12700">
            <a:miter lim="400000"/>
          </a:ln>
        </p:spPr>
      </p:pic>
      <p:pic>
        <p:nvPicPr>
          <p:cNvPr id="165" name="image.png" descr="image.png"/>
          <p:cNvPicPr>
            <a:picLocks noChangeAspect="1"/>
          </p:cNvPicPr>
          <p:nvPr/>
        </p:nvPicPr>
        <p:blipFill>
          <a:blip r:embed="rId3"/>
          <a:stretch>
            <a:fillRect/>
          </a:stretch>
        </p:blipFill>
        <p:spPr>
          <a:xfrm>
            <a:off x="7256462" y="1299797"/>
            <a:ext cx="3834739" cy="2488342"/>
          </a:xfrm>
          <a:prstGeom prst="rect">
            <a:avLst/>
          </a:prstGeom>
          <a:ln w="12700">
            <a:miter lim="400000"/>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9" name="本日の内容"/>
          <p:cNvSpPr txBox="1">
            <a:spLocks noGrp="1"/>
          </p:cNvSpPr>
          <p:nvPr>
            <p:ph type="title"/>
          </p:nvPr>
        </p:nvSpPr>
        <p:spPr>
          <a:prstGeom prst="rect">
            <a:avLst/>
          </a:prstGeom>
        </p:spPr>
        <p:txBody>
          <a:bodyPr/>
          <a:lstStyle/>
          <a:p>
            <a:r>
              <a:rPr lang="ja-JP" altLang="en-US"/>
              <a:t>今日と明日</a:t>
            </a:r>
            <a:r>
              <a:rPr dirty="0" err="1"/>
              <a:t>の内容</a:t>
            </a:r>
            <a:endParaRPr dirty="0"/>
          </a:p>
        </p:txBody>
      </p:sp>
      <p:sp>
        <p:nvSpPr>
          <p:cNvPr id="168" name="生物リズムはなぜ起こるか？…"/>
          <p:cNvSpPr txBox="1">
            <a:spLocks noGrp="1"/>
          </p:cNvSpPr>
          <p:nvPr>
            <p:ph type="body" idx="4294967295"/>
          </p:nvPr>
        </p:nvSpPr>
        <p:spPr>
          <a:xfrm>
            <a:off x="689549" y="1678482"/>
            <a:ext cx="10897846" cy="4457700"/>
          </a:xfrm>
          <a:prstGeom prst="rect">
            <a:avLst/>
          </a:prstGeom>
        </p:spPr>
        <p:txBody>
          <a:bodyPr>
            <a:normAutofit/>
          </a:bodyPr>
          <a:lstStyle/>
          <a:p>
            <a:pPr marL="352856" indent="-315468" defTabSz="373888">
              <a:spcBef>
                <a:spcPts val="1500"/>
              </a:spcBef>
              <a:buClr>
                <a:srgbClr val="000000"/>
              </a:buClr>
              <a:buSzPct val="100000"/>
              <a:buFont typeface="Arial"/>
              <a:defRPr sz="2208"/>
            </a:pPr>
            <a:r>
              <a:rPr sz="3600" dirty="0" err="1"/>
              <a:t>生物リズムはなぜ起こるか</a:t>
            </a:r>
            <a:r>
              <a:rPr sz="3600" dirty="0"/>
              <a:t>？</a:t>
            </a:r>
          </a:p>
          <a:p>
            <a:pPr marL="720902" lvl="1" indent="-262890" defTabSz="373888">
              <a:spcBef>
                <a:spcPts val="1500"/>
              </a:spcBef>
              <a:buClr>
                <a:srgbClr val="000000"/>
              </a:buClr>
              <a:buSzPct val="100000"/>
              <a:buFont typeface="Arial"/>
              <a:defRPr sz="2208"/>
            </a:pPr>
            <a:r>
              <a:rPr sz="3600" dirty="0" err="1"/>
              <a:t>Sel’kov</a:t>
            </a:r>
            <a:r>
              <a:rPr sz="3600" dirty="0"/>
              <a:t> </a:t>
            </a:r>
            <a:r>
              <a:rPr lang="ja-JP" altLang="en-US" sz="3600"/>
              <a:t>モデルと</a:t>
            </a:r>
            <a:r>
              <a:rPr lang="en-US" altLang="ja-JP" sz="3600" dirty="0"/>
              <a:t> </a:t>
            </a:r>
            <a:r>
              <a:rPr sz="3600" dirty="0"/>
              <a:t>Hopf </a:t>
            </a:r>
            <a:r>
              <a:rPr sz="3600" dirty="0" err="1"/>
              <a:t>分岐</a:t>
            </a:r>
            <a:endParaRPr sz="3600" dirty="0"/>
          </a:p>
          <a:p>
            <a:pPr marL="352856" indent="-315468" defTabSz="373888">
              <a:spcBef>
                <a:spcPts val="1500"/>
              </a:spcBef>
              <a:buClr>
                <a:srgbClr val="000000"/>
              </a:buClr>
              <a:buSzPct val="100000"/>
              <a:buFont typeface="Arial"/>
              <a:defRPr sz="2208"/>
            </a:pPr>
            <a:endParaRPr sz="3600" dirty="0"/>
          </a:p>
          <a:p>
            <a:pPr marL="352856" indent="-315468" defTabSz="373888">
              <a:spcBef>
                <a:spcPts val="1500"/>
              </a:spcBef>
              <a:buClr>
                <a:srgbClr val="000000"/>
              </a:buClr>
              <a:buSzPct val="100000"/>
              <a:buFont typeface="Arial"/>
              <a:defRPr sz="2208"/>
            </a:pPr>
            <a:r>
              <a:rPr sz="3600"/>
              <a:t>引き続き</a:t>
            </a:r>
            <a:r>
              <a:rPr sz="3600" dirty="0" err="1"/>
              <a:t>「力学系</a:t>
            </a:r>
            <a:r>
              <a:rPr lang="ja-JP" altLang="en-US" sz="3600"/>
              <a:t>の</a:t>
            </a:r>
            <a:r>
              <a:rPr sz="3600" dirty="0" err="1"/>
              <a:t>七つ道具</a:t>
            </a:r>
            <a:r>
              <a:rPr sz="3600" dirty="0"/>
              <a:t>」</a:t>
            </a:r>
            <a:r>
              <a:rPr lang="ja-JP" altLang="en-US" sz="3600"/>
              <a:t>に取り組む</a:t>
            </a:r>
            <a:endParaRPr sz="3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B82ABE-AB5B-047D-16D7-061E03A31A86}"/>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536882CF-DEFF-90F2-E7CF-E8B5063E3756}"/>
              </a:ext>
            </a:extLst>
          </p:cNvPr>
          <p:cNvSpPr>
            <a:spLocks noGrp="1"/>
          </p:cNvSpPr>
          <p:nvPr>
            <p:ph type="title"/>
          </p:nvPr>
        </p:nvSpPr>
        <p:spPr/>
        <p:txBody>
          <a:bodyPr/>
          <a:lstStyle/>
          <a:p>
            <a:r>
              <a:rPr kumimoji="1" lang="ja-JP" altLang="en-US"/>
              <a:t>力学系の七つ道具</a:t>
            </a:r>
          </a:p>
        </p:txBody>
      </p:sp>
      <p:sp>
        <p:nvSpPr>
          <p:cNvPr id="4" name="テキスト ボックス 3">
            <a:extLst>
              <a:ext uri="{FF2B5EF4-FFF2-40B4-BE49-F238E27FC236}">
                <a16:creationId xmlns:a16="http://schemas.microsoft.com/office/drawing/2014/main" id="{981A1AB0-76FD-6B28-BF7F-7391318EAD43}"/>
              </a:ext>
            </a:extLst>
          </p:cNvPr>
          <p:cNvSpPr txBox="1"/>
          <p:nvPr/>
        </p:nvSpPr>
        <p:spPr>
          <a:xfrm>
            <a:off x="3036094" y="1898913"/>
            <a:ext cx="6129336" cy="4108817"/>
          </a:xfrm>
          <a:prstGeom prst="rect">
            <a:avLst/>
          </a:prstGeom>
          <a:noFill/>
        </p:spPr>
        <p:txBody>
          <a:bodyPr wrap="square">
            <a:spAutoFit/>
          </a:bodyPr>
          <a:lstStyle/>
          <a:p>
            <a:pPr>
              <a:spcAft>
                <a:spcPts val="1275"/>
              </a:spcAft>
              <a:buFont typeface="+mj-lt"/>
              <a:buAutoNum type="arabicPeriod"/>
            </a:pPr>
            <a:r>
              <a:rPr lang="ja-JP" altLang="en-US" sz="2800">
                <a:solidFill>
                  <a:srgbClr val="000000"/>
                </a:solidFill>
                <a:effectLst/>
                <a:latin typeface="Hiragino Sans" panose="020B0400000000000000" pitchFamily="34" charset="-128"/>
                <a:ea typeface="Hiragino Sans" panose="020B0400000000000000" pitchFamily="34" charset="-128"/>
                <a:cs typeface="Gill Sans" panose="020B0502020104020203" pitchFamily="34" charset="-79"/>
              </a:rPr>
              <a:t>相平面</a:t>
            </a:r>
            <a:endParaRPr lang="ja-JP" altLang="en-US" sz="2800">
              <a:solidFill>
                <a:srgbClr val="000000"/>
              </a:solidFill>
              <a:effectLst/>
              <a:latin typeface="Gill Sans" panose="020B0502020104020203" pitchFamily="34" charset="-79"/>
              <a:cs typeface="Gill Sans" panose="020B0502020104020203" pitchFamily="34" charset="-79"/>
            </a:endParaRPr>
          </a:p>
          <a:p>
            <a:pPr>
              <a:spcAft>
                <a:spcPts val="1275"/>
              </a:spcAft>
              <a:buFont typeface="+mj-lt"/>
              <a:buAutoNum type="arabicPeriod"/>
            </a:pPr>
            <a:r>
              <a:rPr lang="ja-JP" altLang="en-US" sz="2800">
                <a:solidFill>
                  <a:srgbClr val="000000"/>
                </a:solidFill>
                <a:effectLst/>
                <a:latin typeface="Hiragino Sans" panose="020B0400000000000000" pitchFamily="34" charset="-128"/>
                <a:ea typeface="Hiragino Sans" panose="020B0400000000000000" pitchFamily="34" charset="-128"/>
              </a:rPr>
              <a:t>ヌルクライン</a:t>
            </a:r>
            <a:endParaRPr lang="en-US" altLang="ja-JP" sz="2800" dirty="0">
              <a:solidFill>
                <a:srgbClr val="000000"/>
              </a:solidFill>
              <a:effectLst/>
              <a:latin typeface="Hiragino Sans" panose="020B0400000000000000" pitchFamily="34" charset="-128"/>
              <a:ea typeface="Hiragino Sans" panose="020B0400000000000000" pitchFamily="34" charset="-128"/>
            </a:endParaRPr>
          </a:p>
          <a:p>
            <a:pPr>
              <a:spcAft>
                <a:spcPts val="1275"/>
              </a:spcAft>
              <a:buFont typeface="+mj-lt"/>
              <a:buAutoNum type="arabicPeriod"/>
            </a:pPr>
            <a:r>
              <a:rPr lang="ja-JP" altLang="en-US" sz="2800">
                <a:solidFill>
                  <a:srgbClr val="000000"/>
                </a:solidFill>
                <a:effectLst/>
                <a:latin typeface="Hiragino Sans" panose="020B0400000000000000" pitchFamily="34" charset="-128"/>
                <a:ea typeface="Hiragino Sans" panose="020B0400000000000000" pitchFamily="34" charset="-128"/>
              </a:rPr>
              <a:t>ベクトル場</a:t>
            </a:r>
            <a:endParaRPr lang="en-US" altLang="ja-JP" sz="2800" dirty="0">
              <a:solidFill>
                <a:srgbClr val="000000"/>
              </a:solidFill>
              <a:effectLst/>
              <a:latin typeface="Hiragino Sans" panose="020B0400000000000000" pitchFamily="34" charset="-128"/>
              <a:ea typeface="Hiragino Sans" panose="020B0400000000000000" pitchFamily="34" charset="-128"/>
            </a:endParaRPr>
          </a:p>
          <a:p>
            <a:pPr>
              <a:spcAft>
                <a:spcPts val="1275"/>
              </a:spcAft>
              <a:buFont typeface="+mj-lt"/>
              <a:buAutoNum type="arabicPeriod"/>
            </a:pPr>
            <a:r>
              <a:rPr lang="ja-JP" altLang="en-US" sz="2800">
                <a:solidFill>
                  <a:srgbClr val="000000"/>
                </a:solidFill>
                <a:latin typeface="Hiragino Sans" panose="020B0400000000000000" pitchFamily="34" charset="-128"/>
                <a:ea typeface="Hiragino Sans" panose="020B0400000000000000" pitchFamily="34" charset="-128"/>
              </a:rPr>
              <a:t>固定点</a:t>
            </a:r>
            <a:endParaRPr lang="ja-JP" altLang="en-US" sz="2800">
              <a:solidFill>
                <a:srgbClr val="000000"/>
              </a:solidFill>
              <a:effectLst/>
              <a:latin typeface="Hiragino Sans" panose="020B0400000000000000" pitchFamily="34" charset="-128"/>
              <a:ea typeface="Hiragino Sans" panose="020B0400000000000000" pitchFamily="34" charset="-128"/>
            </a:endParaRPr>
          </a:p>
          <a:p>
            <a:pPr>
              <a:spcAft>
                <a:spcPts val="1275"/>
              </a:spcAft>
              <a:buFont typeface="+mj-lt"/>
              <a:buAutoNum type="arabicPeriod"/>
            </a:pPr>
            <a:r>
              <a:rPr lang="ja-JP" altLang="en-US" sz="2800">
                <a:solidFill>
                  <a:srgbClr val="000000"/>
                </a:solidFill>
                <a:effectLst/>
                <a:latin typeface="Hiragino Sans" panose="020B0400000000000000" pitchFamily="34" charset="-128"/>
                <a:ea typeface="Hiragino Sans" panose="020B0400000000000000" pitchFamily="34" charset="-128"/>
              </a:rPr>
              <a:t>ヤコビ行列</a:t>
            </a:r>
          </a:p>
          <a:p>
            <a:pPr>
              <a:spcAft>
                <a:spcPts val="1275"/>
              </a:spcAft>
              <a:buFont typeface="+mj-lt"/>
              <a:buAutoNum type="arabicPeriod"/>
            </a:pPr>
            <a:r>
              <a:rPr lang="ja-JP" altLang="en-US" sz="2800">
                <a:solidFill>
                  <a:srgbClr val="000000"/>
                </a:solidFill>
                <a:effectLst/>
                <a:latin typeface="Hiragino Sans" panose="020B0400000000000000" pitchFamily="34" charset="-128"/>
                <a:ea typeface="Hiragino Sans" panose="020B0400000000000000" pitchFamily="34" charset="-128"/>
              </a:rPr>
              <a:t>固有値による安定性解析</a:t>
            </a:r>
          </a:p>
          <a:p>
            <a:pPr>
              <a:spcAft>
                <a:spcPts val="1275"/>
              </a:spcAft>
              <a:buFont typeface="+mj-lt"/>
              <a:buAutoNum type="arabicPeriod"/>
            </a:pPr>
            <a:r>
              <a:rPr lang="ja-JP" altLang="en-US" sz="2800">
                <a:solidFill>
                  <a:srgbClr val="000000"/>
                </a:solidFill>
                <a:effectLst/>
                <a:latin typeface="Hiragino Sans" panose="020B0400000000000000" pitchFamily="34" charset="-128"/>
                <a:ea typeface="Hiragino Sans" panose="020B0400000000000000" pitchFamily="34" charset="-128"/>
                <a:cs typeface="Gill Sans" panose="020B0502020104020203" pitchFamily="34" charset="-79"/>
              </a:rPr>
              <a:t>分岐図</a:t>
            </a:r>
            <a:endParaRPr lang="ja-JP" altLang="en-US" sz="2800">
              <a:solidFill>
                <a:srgbClr val="000000"/>
              </a:solidFill>
              <a:effectLst/>
              <a:latin typeface="Gill Sans" panose="020B0502020104020203" pitchFamily="34" charset="-79"/>
              <a:cs typeface="Gill Sans" panose="020B0502020104020203" pitchFamily="34" charset="-79"/>
            </a:endParaRPr>
          </a:p>
        </p:txBody>
      </p:sp>
    </p:spTree>
    <p:extLst>
      <p:ext uri="{BB962C8B-B14F-4D97-AF65-F5344CB8AC3E}">
        <p14:creationId xmlns:p14="http://schemas.microsoft.com/office/powerpoint/2010/main" val="249263490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7" name="Sel’kovモデル"/>
          <p:cNvSpPr txBox="1">
            <a:spLocks noGrp="1"/>
          </p:cNvSpPr>
          <p:nvPr>
            <p:ph type="title"/>
          </p:nvPr>
        </p:nvSpPr>
        <p:spPr>
          <a:prstGeom prst="rect">
            <a:avLst/>
          </a:prstGeom>
        </p:spPr>
        <p:txBody>
          <a:bodyPr/>
          <a:lstStyle/>
          <a:p>
            <a:r>
              <a:t>Sel’kovモデル</a:t>
            </a:r>
          </a:p>
        </p:txBody>
      </p:sp>
      <p:sp>
        <p:nvSpPr>
          <p:cNvPr id="174" name="解糖系の振動を説明するためのモデル…"/>
          <p:cNvSpPr txBox="1">
            <a:spLocks noGrp="1"/>
          </p:cNvSpPr>
          <p:nvPr>
            <p:ph type="body" sz="half" idx="4294967295"/>
          </p:nvPr>
        </p:nvSpPr>
        <p:spPr>
          <a:xfrm>
            <a:off x="0" y="4941888"/>
            <a:ext cx="8229600" cy="1916112"/>
          </a:xfrm>
          <a:prstGeom prst="rect">
            <a:avLst/>
          </a:prstGeom>
        </p:spPr>
        <p:txBody>
          <a:bodyPr/>
          <a:lstStyle/>
          <a:p>
            <a:pPr marL="383540">
              <a:lnSpc>
                <a:spcPct val="90000"/>
              </a:lnSpc>
              <a:buClr>
                <a:srgbClr val="000000"/>
              </a:buClr>
              <a:buSzPct val="100000"/>
              <a:buFont typeface="Arial"/>
            </a:pPr>
            <a:r>
              <a:t>解糖系の振動を説明するためのモデル</a:t>
            </a:r>
          </a:p>
          <a:p>
            <a:pPr marL="783590" lvl="1">
              <a:lnSpc>
                <a:spcPct val="90000"/>
              </a:lnSpc>
              <a:buClr>
                <a:srgbClr val="000000"/>
              </a:buClr>
              <a:buSzPct val="100000"/>
              <a:buFont typeface="Arial"/>
            </a:pPr>
            <a:r>
              <a:t>振動するのは物質濃度、酵素活性</a:t>
            </a:r>
          </a:p>
          <a:p>
            <a:pPr marL="783590" lvl="1">
              <a:lnSpc>
                <a:spcPct val="90000"/>
              </a:lnSpc>
              <a:buClr>
                <a:srgbClr val="000000"/>
              </a:buClr>
              <a:buSzPct val="100000"/>
              <a:buFont typeface="Arial"/>
            </a:pPr>
            <a:r>
              <a:t>ポジティヴ・フィードバック</a:t>
            </a:r>
          </a:p>
        </p:txBody>
      </p:sp>
      <p:sp>
        <p:nvSpPr>
          <p:cNvPr id="2" name="Strogatz (1994) pp.205">
            <a:extLst>
              <a:ext uri="{FF2B5EF4-FFF2-40B4-BE49-F238E27FC236}">
                <a16:creationId xmlns:a16="http://schemas.microsoft.com/office/drawing/2014/main" id="{F07C885D-3F0E-C634-FA08-BC7CB487D1C6}"/>
              </a:ext>
            </a:extLst>
          </p:cNvPr>
          <p:cNvSpPr/>
          <p:nvPr/>
        </p:nvSpPr>
        <p:spPr>
          <a:xfrm>
            <a:off x="8394700" y="4603749"/>
            <a:ext cx="3171637" cy="47192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lvl1pPr>
              <a:buClr>
                <a:srgbClr val="000000"/>
              </a:buClr>
              <a:buFont typeface="Calibri"/>
              <a:defRPr sz="2400">
                <a:latin typeface="Calibri"/>
                <a:ea typeface="Calibri"/>
                <a:cs typeface="Calibri"/>
                <a:sym typeface="Calibri"/>
              </a:defRPr>
            </a:lvl1pPr>
          </a:lstStyle>
          <a:p>
            <a:r>
              <a:rPr dirty="0" err="1">
                <a:latin typeface="Helvetica Neue Light" panose="02000403000000020004" pitchFamily="2" charset="0"/>
                <a:ea typeface="Helvetica Neue Light" panose="02000403000000020004" pitchFamily="2" charset="0"/>
              </a:rPr>
              <a:t>Strogatz</a:t>
            </a:r>
            <a:r>
              <a:rPr dirty="0">
                <a:latin typeface="Helvetica Neue Light" panose="02000403000000020004" pitchFamily="2" charset="0"/>
                <a:ea typeface="Helvetica Neue Light" panose="02000403000000020004" pitchFamily="2" charset="0"/>
              </a:rPr>
              <a:t> (1994) pp.205</a:t>
            </a:r>
          </a:p>
        </p:txBody>
      </p:sp>
      <p:sp>
        <p:nvSpPr>
          <p:cNvPr id="3" name="ただし">
            <a:extLst>
              <a:ext uri="{FF2B5EF4-FFF2-40B4-BE49-F238E27FC236}">
                <a16:creationId xmlns:a16="http://schemas.microsoft.com/office/drawing/2014/main" id="{87D2C369-2ED4-2408-CBA5-C8D61B3077A0}"/>
              </a:ext>
            </a:extLst>
          </p:cNvPr>
          <p:cNvSpPr/>
          <p:nvPr/>
        </p:nvSpPr>
        <p:spPr>
          <a:xfrm>
            <a:off x="5500172" y="3666243"/>
            <a:ext cx="795089" cy="37959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lvl1pPr>
              <a:buClr>
                <a:srgbClr val="000000"/>
              </a:buClr>
              <a:buFont typeface="Arial"/>
              <a:defRPr>
                <a:latin typeface="Arial"/>
                <a:ea typeface="Arial"/>
                <a:cs typeface="Arial"/>
                <a:sym typeface="Arial"/>
              </a:defRPr>
            </a:lvl1pPr>
          </a:lstStyle>
          <a:p>
            <a:r>
              <a:rPr dirty="0" err="1"/>
              <a:t>ただし</a:t>
            </a:r>
            <a:endParaRPr dirty="0"/>
          </a:p>
        </p:txBody>
      </p:sp>
      <p:sp>
        <p:nvSpPr>
          <p:cNvPr id="4" name="v2 = ay + x2y">
            <a:extLst>
              <a:ext uri="{FF2B5EF4-FFF2-40B4-BE49-F238E27FC236}">
                <a16:creationId xmlns:a16="http://schemas.microsoft.com/office/drawing/2014/main" id="{74865F4A-0CE8-C2E4-6902-16753884206B}"/>
              </a:ext>
            </a:extLst>
          </p:cNvPr>
          <p:cNvSpPr/>
          <p:nvPr/>
        </p:nvSpPr>
        <p:spPr>
          <a:xfrm>
            <a:off x="8538805" y="3352762"/>
            <a:ext cx="1889941" cy="53347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p>
            <a:pPr>
              <a:defRPr>
                <a:latin typeface="Times New Roman"/>
                <a:ea typeface="Times New Roman"/>
                <a:cs typeface="Times New Roman"/>
                <a:sym typeface="Times New Roman"/>
              </a:defRPr>
            </a:pPr>
            <a:r>
              <a:rPr sz="2800" i="1" dirty="0"/>
              <a:t>v</a:t>
            </a:r>
            <a:r>
              <a:rPr sz="2800" baseline="-5999" dirty="0"/>
              <a:t>2 </a:t>
            </a:r>
            <a:r>
              <a:rPr sz="2800" dirty="0"/>
              <a:t>= </a:t>
            </a:r>
            <a:r>
              <a:rPr sz="2800" i="1" dirty="0"/>
              <a:t>ay </a:t>
            </a:r>
            <a:r>
              <a:rPr sz="2800" dirty="0"/>
              <a:t>+ </a:t>
            </a:r>
            <a:r>
              <a:rPr sz="2800" i="1" dirty="0"/>
              <a:t>x</a:t>
            </a:r>
            <a:r>
              <a:rPr sz="2800" baseline="31999" dirty="0"/>
              <a:t>2</a:t>
            </a:r>
            <a:r>
              <a:rPr sz="2800" i="1" dirty="0"/>
              <a:t>y</a:t>
            </a:r>
          </a:p>
        </p:txBody>
      </p:sp>
      <p:sp>
        <p:nvSpPr>
          <p:cNvPr id="5" name="v1 = b">
            <a:extLst>
              <a:ext uri="{FF2B5EF4-FFF2-40B4-BE49-F238E27FC236}">
                <a16:creationId xmlns:a16="http://schemas.microsoft.com/office/drawing/2014/main" id="{CFC0FF29-31D3-251C-5C3E-F38C8E09D5BD}"/>
              </a:ext>
            </a:extLst>
          </p:cNvPr>
          <p:cNvSpPr/>
          <p:nvPr/>
        </p:nvSpPr>
        <p:spPr>
          <a:xfrm>
            <a:off x="7089188" y="3346412"/>
            <a:ext cx="912109" cy="53347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p>
            <a:pPr>
              <a:defRPr>
                <a:latin typeface="Times New Roman"/>
                <a:ea typeface="Times New Roman"/>
                <a:cs typeface="Times New Roman"/>
                <a:sym typeface="Times New Roman"/>
              </a:defRPr>
            </a:pPr>
            <a:r>
              <a:rPr sz="2800" i="1"/>
              <a:t>v</a:t>
            </a:r>
            <a:r>
              <a:rPr sz="2800" baseline="-5999"/>
              <a:t>1 </a:t>
            </a:r>
            <a:r>
              <a:rPr sz="2800"/>
              <a:t>= </a:t>
            </a:r>
            <a:r>
              <a:rPr sz="2800" i="1"/>
              <a:t>b</a:t>
            </a:r>
          </a:p>
        </p:txBody>
      </p:sp>
      <p:sp>
        <p:nvSpPr>
          <p:cNvPr id="6" name="v3 = x">
            <a:extLst>
              <a:ext uri="{FF2B5EF4-FFF2-40B4-BE49-F238E27FC236}">
                <a16:creationId xmlns:a16="http://schemas.microsoft.com/office/drawing/2014/main" id="{20BEBEBC-DDDA-7977-060A-82A160F4AEDC}"/>
              </a:ext>
            </a:extLst>
          </p:cNvPr>
          <p:cNvSpPr/>
          <p:nvPr/>
        </p:nvSpPr>
        <p:spPr>
          <a:xfrm>
            <a:off x="7099301" y="3867112"/>
            <a:ext cx="891270" cy="53347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p>
            <a:pPr>
              <a:defRPr>
                <a:latin typeface="Times New Roman"/>
                <a:ea typeface="Times New Roman"/>
                <a:cs typeface="Times New Roman"/>
                <a:sym typeface="Times New Roman"/>
              </a:defRPr>
            </a:pPr>
            <a:r>
              <a:rPr sz="2800" i="1" dirty="0"/>
              <a:t>v</a:t>
            </a:r>
            <a:r>
              <a:rPr sz="2800" baseline="-5999" dirty="0"/>
              <a:t>3 </a:t>
            </a:r>
            <a:r>
              <a:rPr sz="2800" dirty="0"/>
              <a:t>= </a:t>
            </a:r>
            <a:r>
              <a:rPr sz="2800" i="1" dirty="0"/>
              <a:t>x</a:t>
            </a:r>
          </a:p>
        </p:txBody>
      </p:sp>
      <p:sp>
        <p:nvSpPr>
          <p:cNvPr id="7" name="v1">
            <a:extLst>
              <a:ext uri="{FF2B5EF4-FFF2-40B4-BE49-F238E27FC236}">
                <a16:creationId xmlns:a16="http://schemas.microsoft.com/office/drawing/2014/main" id="{264121A0-A3AE-B7EF-C3A4-2437991D0C0C}"/>
              </a:ext>
            </a:extLst>
          </p:cNvPr>
          <p:cNvSpPr/>
          <p:nvPr/>
        </p:nvSpPr>
        <p:spPr>
          <a:xfrm>
            <a:off x="3453673" y="2025612"/>
            <a:ext cx="381515" cy="53347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p>
            <a:pPr>
              <a:defRPr>
                <a:latin typeface="Times New Roman"/>
                <a:ea typeface="Times New Roman"/>
                <a:cs typeface="Times New Roman"/>
                <a:sym typeface="Times New Roman"/>
              </a:defRPr>
            </a:pPr>
            <a:r>
              <a:rPr sz="2800" i="1"/>
              <a:t>v</a:t>
            </a:r>
            <a:r>
              <a:rPr sz="2800" baseline="-5999"/>
              <a:t>1</a:t>
            </a:r>
          </a:p>
        </p:txBody>
      </p:sp>
      <p:sp>
        <p:nvSpPr>
          <p:cNvPr id="8" name="v2">
            <a:extLst>
              <a:ext uri="{FF2B5EF4-FFF2-40B4-BE49-F238E27FC236}">
                <a16:creationId xmlns:a16="http://schemas.microsoft.com/office/drawing/2014/main" id="{1BB68A46-A987-40DA-0C2A-3C34714AC35F}"/>
              </a:ext>
            </a:extLst>
          </p:cNvPr>
          <p:cNvSpPr/>
          <p:nvPr/>
        </p:nvSpPr>
        <p:spPr>
          <a:xfrm>
            <a:off x="5892800" y="2025612"/>
            <a:ext cx="381515" cy="53347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p>
            <a:pPr>
              <a:defRPr>
                <a:latin typeface="Times New Roman"/>
                <a:ea typeface="Times New Roman"/>
                <a:cs typeface="Times New Roman"/>
                <a:sym typeface="Times New Roman"/>
              </a:defRPr>
            </a:pPr>
            <a:r>
              <a:rPr sz="2800" i="1"/>
              <a:t>v</a:t>
            </a:r>
            <a:r>
              <a:rPr sz="2800" baseline="-5999"/>
              <a:t>2</a:t>
            </a:r>
          </a:p>
        </p:txBody>
      </p:sp>
      <p:sp>
        <p:nvSpPr>
          <p:cNvPr id="9" name="v3">
            <a:extLst>
              <a:ext uri="{FF2B5EF4-FFF2-40B4-BE49-F238E27FC236}">
                <a16:creationId xmlns:a16="http://schemas.microsoft.com/office/drawing/2014/main" id="{669B6625-AAAD-62DF-10E3-98AFA9CD901C}"/>
              </a:ext>
            </a:extLst>
          </p:cNvPr>
          <p:cNvSpPr/>
          <p:nvPr/>
        </p:nvSpPr>
        <p:spPr>
          <a:xfrm>
            <a:off x="8394700" y="2025612"/>
            <a:ext cx="381515" cy="53347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p>
            <a:pPr>
              <a:defRPr>
                <a:latin typeface="Times New Roman"/>
                <a:ea typeface="Times New Roman"/>
                <a:cs typeface="Times New Roman"/>
                <a:sym typeface="Times New Roman"/>
              </a:defRPr>
            </a:pPr>
            <a:r>
              <a:rPr sz="2800" i="1"/>
              <a:t>v</a:t>
            </a:r>
            <a:r>
              <a:rPr sz="2800" baseline="-5999"/>
              <a:t>3</a:t>
            </a:r>
          </a:p>
        </p:txBody>
      </p:sp>
      <p:sp>
        <p:nvSpPr>
          <p:cNvPr id="10" name="線">
            <a:extLst>
              <a:ext uri="{FF2B5EF4-FFF2-40B4-BE49-F238E27FC236}">
                <a16:creationId xmlns:a16="http://schemas.microsoft.com/office/drawing/2014/main" id="{4691EE4B-2006-5943-7DC4-2622EBEBC632}"/>
              </a:ext>
            </a:extLst>
          </p:cNvPr>
          <p:cNvSpPr/>
          <p:nvPr/>
        </p:nvSpPr>
        <p:spPr>
          <a:xfrm flipH="1">
            <a:off x="3111500" y="2527301"/>
            <a:ext cx="1079500" cy="1"/>
          </a:xfrm>
          <a:prstGeom prst="line">
            <a:avLst/>
          </a:prstGeom>
          <a:ln w="38100">
            <a:solidFill>
              <a:srgbClr val="000000"/>
            </a:solidFill>
            <a:miter lim="400000"/>
            <a:headEnd type="stealth"/>
          </a:ln>
        </p:spPr>
        <p:txBody>
          <a:bodyPr lIns="0" tIns="0" rIns="0" bIns="0"/>
          <a:lstStyle/>
          <a:p>
            <a:pPr defTabSz="457200">
              <a:defRPr sz="1200">
                <a:latin typeface="ヒラギノ角ゴ ProN W3"/>
                <a:ea typeface="ヒラギノ角ゴ ProN W3"/>
                <a:cs typeface="ヒラギノ角ゴ ProN W3"/>
                <a:sym typeface="ヒラギノ角ゴ ProN W3"/>
              </a:defRPr>
            </a:pPr>
            <a:endParaRPr sz="1200"/>
          </a:p>
        </p:txBody>
      </p:sp>
      <p:sp>
        <p:nvSpPr>
          <p:cNvPr id="11" name="線">
            <a:extLst>
              <a:ext uri="{FF2B5EF4-FFF2-40B4-BE49-F238E27FC236}">
                <a16:creationId xmlns:a16="http://schemas.microsoft.com/office/drawing/2014/main" id="{D276DA45-7E59-27F3-89EB-AB1F9AF203C1}"/>
              </a:ext>
            </a:extLst>
          </p:cNvPr>
          <p:cNvSpPr/>
          <p:nvPr/>
        </p:nvSpPr>
        <p:spPr>
          <a:xfrm flipH="1">
            <a:off x="5549900" y="2527301"/>
            <a:ext cx="1079500" cy="1"/>
          </a:xfrm>
          <a:prstGeom prst="line">
            <a:avLst/>
          </a:prstGeom>
          <a:ln w="38100">
            <a:solidFill>
              <a:srgbClr val="000000"/>
            </a:solidFill>
            <a:miter lim="400000"/>
            <a:headEnd type="stealth"/>
          </a:ln>
        </p:spPr>
        <p:txBody>
          <a:bodyPr lIns="0" tIns="0" rIns="0" bIns="0"/>
          <a:lstStyle/>
          <a:p>
            <a:pPr defTabSz="457200">
              <a:defRPr sz="1200">
                <a:latin typeface="ヒラギノ角ゴ ProN W3"/>
                <a:ea typeface="ヒラギノ角ゴ ProN W3"/>
                <a:cs typeface="ヒラギノ角ゴ ProN W3"/>
                <a:sym typeface="ヒラギノ角ゴ ProN W3"/>
              </a:defRPr>
            </a:pPr>
            <a:endParaRPr sz="1200"/>
          </a:p>
        </p:txBody>
      </p:sp>
      <p:sp>
        <p:nvSpPr>
          <p:cNvPr id="12" name="線">
            <a:extLst>
              <a:ext uri="{FF2B5EF4-FFF2-40B4-BE49-F238E27FC236}">
                <a16:creationId xmlns:a16="http://schemas.microsoft.com/office/drawing/2014/main" id="{CEB33FF9-82A3-B685-9E32-8B32776BC2B8}"/>
              </a:ext>
            </a:extLst>
          </p:cNvPr>
          <p:cNvSpPr/>
          <p:nvPr/>
        </p:nvSpPr>
        <p:spPr>
          <a:xfrm flipH="1">
            <a:off x="8064500" y="2527301"/>
            <a:ext cx="1079500" cy="1"/>
          </a:xfrm>
          <a:prstGeom prst="line">
            <a:avLst/>
          </a:prstGeom>
          <a:ln w="38100">
            <a:solidFill>
              <a:srgbClr val="000000"/>
            </a:solidFill>
            <a:miter lim="400000"/>
            <a:headEnd type="stealth"/>
          </a:ln>
        </p:spPr>
        <p:txBody>
          <a:bodyPr lIns="0" tIns="0" rIns="0" bIns="0"/>
          <a:lstStyle/>
          <a:p>
            <a:pPr defTabSz="457200">
              <a:defRPr sz="1200">
                <a:latin typeface="ヒラギノ角ゴ ProN W3"/>
                <a:ea typeface="ヒラギノ角ゴ ProN W3"/>
                <a:cs typeface="ヒラギノ角ゴ ProN W3"/>
                <a:sym typeface="ヒラギノ角ゴ ProN W3"/>
              </a:defRPr>
            </a:pPr>
            <a:endParaRPr sz="1200"/>
          </a:p>
        </p:txBody>
      </p:sp>
      <p:sp>
        <p:nvSpPr>
          <p:cNvPr id="13" name="ADP(x)">
            <a:extLst>
              <a:ext uri="{FF2B5EF4-FFF2-40B4-BE49-F238E27FC236}">
                <a16:creationId xmlns:a16="http://schemas.microsoft.com/office/drawing/2014/main" id="{E0FE0A1F-B17A-3310-209C-81DC007823E0}"/>
              </a:ext>
            </a:extLst>
          </p:cNvPr>
          <p:cNvSpPr/>
          <p:nvPr/>
        </p:nvSpPr>
        <p:spPr>
          <a:xfrm>
            <a:off x="6735262" y="2254212"/>
            <a:ext cx="1221488" cy="53347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p>
            <a:pPr>
              <a:defRPr>
                <a:latin typeface="Times New Roman"/>
                <a:ea typeface="Times New Roman"/>
                <a:cs typeface="Times New Roman"/>
                <a:sym typeface="Times New Roman"/>
              </a:defRPr>
            </a:pPr>
            <a:r>
              <a:rPr sz="2800"/>
              <a:t>ADP(</a:t>
            </a:r>
            <a:r>
              <a:rPr sz="2800" i="1"/>
              <a:t>x</a:t>
            </a:r>
            <a:r>
              <a:rPr sz="2800"/>
              <a:t>)</a:t>
            </a:r>
          </a:p>
        </p:txBody>
      </p:sp>
      <p:sp>
        <p:nvSpPr>
          <p:cNvPr id="14" name="F6P(y)">
            <a:extLst>
              <a:ext uri="{FF2B5EF4-FFF2-40B4-BE49-F238E27FC236}">
                <a16:creationId xmlns:a16="http://schemas.microsoft.com/office/drawing/2014/main" id="{468EE475-F9E0-BAD9-D0EF-605D11A441F1}"/>
              </a:ext>
            </a:extLst>
          </p:cNvPr>
          <p:cNvSpPr/>
          <p:nvPr/>
        </p:nvSpPr>
        <p:spPr>
          <a:xfrm>
            <a:off x="4361620" y="2254212"/>
            <a:ext cx="1082027" cy="53347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p>
            <a:pPr>
              <a:defRPr>
                <a:latin typeface="Times New Roman"/>
                <a:ea typeface="Times New Roman"/>
                <a:cs typeface="Times New Roman"/>
                <a:sym typeface="Times New Roman"/>
              </a:defRPr>
            </a:pPr>
            <a:r>
              <a:rPr sz="2800"/>
              <a:t>F6P(</a:t>
            </a:r>
            <a:r>
              <a:rPr sz="2800" i="1"/>
              <a:t>y</a:t>
            </a:r>
            <a:r>
              <a:rPr sz="2800"/>
              <a:t>)</a:t>
            </a:r>
          </a:p>
        </p:txBody>
      </p:sp>
      <p:sp>
        <p:nvSpPr>
          <p:cNvPr id="15" name="PFK">
            <a:extLst>
              <a:ext uri="{FF2B5EF4-FFF2-40B4-BE49-F238E27FC236}">
                <a16:creationId xmlns:a16="http://schemas.microsoft.com/office/drawing/2014/main" id="{5CB8B007-2164-4082-6277-624204DBBCAA}"/>
              </a:ext>
            </a:extLst>
          </p:cNvPr>
          <p:cNvSpPr/>
          <p:nvPr/>
        </p:nvSpPr>
        <p:spPr>
          <a:xfrm>
            <a:off x="5690915" y="2686012"/>
            <a:ext cx="763029" cy="53347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lvl1pPr>
              <a:defRPr i="1">
                <a:latin typeface="Times New Roman"/>
                <a:ea typeface="Times New Roman"/>
                <a:cs typeface="Times New Roman"/>
                <a:sym typeface="Times New Roman"/>
              </a:defRPr>
            </a:lvl1pPr>
          </a:lstStyle>
          <a:p>
            <a:pPr>
              <a:defRPr i="0"/>
            </a:pPr>
            <a:r>
              <a:rPr sz="2800" dirty="0"/>
              <a:t>PFK</a:t>
            </a:r>
          </a:p>
        </p:txBody>
      </p:sp>
      <p:sp>
        <p:nvSpPr>
          <p:cNvPr id="16" name="線">
            <a:extLst>
              <a:ext uri="{FF2B5EF4-FFF2-40B4-BE49-F238E27FC236}">
                <a16:creationId xmlns:a16="http://schemas.microsoft.com/office/drawing/2014/main" id="{C81721D3-D01B-0912-9F7A-1F9C9B22C444}"/>
              </a:ext>
            </a:extLst>
          </p:cNvPr>
          <p:cNvSpPr/>
          <p:nvPr/>
        </p:nvSpPr>
        <p:spPr>
          <a:xfrm flipV="1">
            <a:off x="6083300" y="1587500"/>
            <a:ext cx="0" cy="508000"/>
          </a:xfrm>
          <a:prstGeom prst="line">
            <a:avLst/>
          </a:prstGeom>
          <a:ln w="38100">
            <a:solidFill>
              <a:srgbClr val="000000"/>
            </a:solidFill>
            <a:miter lim="400000"/>
            <a:headEnd type="stealth"/>
          </a:ln>
        </p:spPr>
        <p:txBody>
          <a:bodyPr lIns="0" tIns="0" rIns="0" bIns="0"/>
          <a:lstStyle/>
          <a:p>
            <a:pPr defTabSz="457200">
              <a:defRPr sz="1200">
                <a:latin typeface="ヒラギノ角ゴ ProN W3"/>
                <a:ea typeface="ヒラギノ角ゴ ProN W3"/>
                <a:cs typeface="ヒラギノ角ゴ ProN W3"/>
                <a:sym typeface="ヒラギノ角ゴ ProN W3"/>
              </a:defRPr>
            </a:pPr>
            <a:endParaRPr sz="1200"/>
          </a:p>
        </p:txBody>
      </p:sp>
      <p:sp>
        <p:nvSpPr>
          <p:cNvPr id="17" name="線">
            <a:extLst>
              <a:ext uri="{FF2B5EF4-FFF2-40B4-BE49-F238E27FC236}">
                <a16:creationId xmlns:a16="http://schemas.microsoft.com/office/drawing/2014/main" id="{500A5510-D244-94DE-CA8B-37331435892A}"/>
              </a:ext>
            </a:extLst>
          </p:cNvPr>
          <p:cNvSpPr/>
          <p:nvPr/>
        </p:nvSpPr>
        <p:spPr>
          <a:xfrm flipH="1">
            <a:off x="6083300" y="1587500"/>
            <a:ext cx="1168400" cy="2"/>
          </a:xfrm>
          <a:prstGeom prst="line">
            <a:avLst/>
          </a:prstGeom>
          <a:ln w="38100">
            <a:solidFill>
              <a:srgbClr val="000000"/>
            </a:solidFill>
            <a:miter lim="400000"/>
          </a:ln>
        </p:spPr>
        <p:txBody>
          <a:bodyPr lIns="0" tIns="0" rIns="0" bIns="0"/>
          <a:lstStyle/>
          <a:p>
            <a:pPr defTabSz="457200">
              <a:defRPr sz="1200">
                <a:latin typeface="ヒラギノ角ゴ ProN W3"/>
                <a:ea typeface="ヒラギノ角ゴ ProN W3"/>
                <a:cs typeface="ヒラギノ角ゴ ProN W3"/>
                <a:sym typeface="ヒラギノ角ゴ ProN W3"/>
              </a:defRPr>
            </a:pPr>
            <a:endParaRPr sz="1200"/>
          </a:p>
        </p:txBody>
      </p:sp>
      <p:sp>
        <p:nvSpPr>
          <p:cNvPr id="18" name="線">
            <a:extLst>
              <a:ext uri="{FF2B5EF4-FFF2-40B4-BE49-F238E27FC236}">
                <a16:creationId xmlns:a16="http://schemas.microsoft.com/office/drawing/2014/main" id="{9660F665-E00B-C431-6690-0CF145795319}"/>
              </a:ext>
            </a:extLst>
          </p:cNvPr>
          <p:cNvSpPr/>
          <p:nvPr/>
        </p:nvSpPr>
        <p:spPr>
          <a:xfrm flipV="1">
            <a:off x="7251700" y="1574800"/>
            <a:ext cx="0" cy="520700"/>
          </a:xfrm>
          <a:prstGeom prst="line">
            <a:avLst/>
          </a:prstGeom>
          <a:ln w="38100">
            <a:solidFill>
              <a:srgbClr val="000000"/>
            </a:solidFill>
            <a:miter lim="400000"/>
          </a:ln>
        </p:spPr>
        <p:txBody>
          <a:bodyPr lIns="0" tIns="0" rIns="0" bIns="0"/>
          <a:lstStyle/>
          <a:p>
            <a:pPr defTabSz="457200">
              <a:defRPr sz="1200">
                <a:latin typeface="ヒラギノ角ゴ ProN W3"/>
                <a:ea typeface="ヒラギノ角ゴ ProN W3"/>
                <a:cs typeface="ヒラギノ角ゴ ProN W3"/>
                <a:sym typeface="ヒラギノ角ゴ ProN W3"/>
              </a:defRPr>
            </a:pPr>
            <a:endParaRPr sz="1200"/>
          </a:p>
        </p:txBody>
      </p:sp>
      <p:pic>
        <p:nvPicPr>
          <p:cNvPr id="19" name="図 18">
            <a:extLst>
              <a:ext uri="{FF2B5EF4-FFF2-40B4-BE49-F238E27FC236}">
                <a16:creationId xmlns:a16="http://schemas.microsoft.com/office/drawing/2014/main" id="{AED86729-4452-A7C5-6B81-0D7A5A2EE7EE}"/>
              </a:ext>
            </a:extLst>
          </p:cNvPr>
          <p:cNvPicPr>
            <a:picLocks noChangeAspect="1"/>
          </p:cNvPicPr>
          <p:nvPr/>
        </p:nvPicPr>
        <p:blipFill>
          <a:blip r:embed="rId2"/>
          <a:stretch>
            <a:fillRect/>
          </a:stretch>
        </p:blipFill>
        <p:spPr>
          <a:xfrm>
            <a:off x="1334315" y="2909770"/>
            <a:ext cx="3027305" cy="1693979"/>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8" name="解糖系の振動とは？"/>
          <p:cNvSpPr txBox="1">
            <a:spLocks noGrp="1"/>
          </p:cNvSpPr>
          <p:nvPr>
            <p:ph type="title"/>
          </p:nvPr>
        </p:nvSpPr>
        <p:spPr>
          <a:prstGeom prst="rect">
            <a:avLst/>
          </a:prstGeom>
        </p:spPr>
        <p:txBody>
          <a:bodyPr/>
          <a:lstStyle/>
          <a:p>
            <a:r>
              <a:t>解糖系の振動とは？</a:t>
            </a:r>
          </a:p>
        </p:txBody>
      </p:sp>
      <p:sp>
        <p:nvSpPr>
          <p:cNvPr id="195" name="代謝物質濃度の時間的振動…"/>
          <p:cNvSpPr txBox="1">
            <a:spLocks noGrp="1"/>
          </p:cNvSpPr>
          <p:nvPr>
            <p:ph type="body" sz="half" idx="4294967295"/>
          </p:nvPr>
        </p:nvSpPr>
        <p:spPr>
          <a:xfrm>
            <a:off x="674556" y="1655763"/>
            <a:ext cx="6280879" cy="4381500"/>
          </a:xfrm>
          <a:prstGeom prst="rect">
            <a:avLst/>
          </a:prstGeom>
        </p:spPr>
        <p:txBody>
          <a:bodyPr>
            <a:normAutofit/>
          </a:bodyPr>
          <a:lstStyle/>
          <a:p>
            <a:pPr marL="383540">
              <a:buClr>
                <a:srgbClr val="000000"/>
              </a:buClr>
              <a:buSzPct val="100000"/>
              <a:buFont typeface="Arial"/>
              <a:defRPr sz="2400"/>
            </a:pPr>
            <a:r>
              <a:rPr sz="3600" dirty="0" err="1"/>
              <a:t>代謝物質濃度の時間的振動</a:t>
            </a:r>
            <a:endParaRPr sz="3600" dirty="0"/>
          </a:p>
          <a:p>
            <a:pPr marL="383540">
              <a:buClr>
                <a:srgbClr val="000000"/>
              </a:buClr>
              <a:buSzPct val="100000"/>
              <a:buFont typeface="Arial"/>
              <a:defRPr sz="2400"/>
            </a:pPr>
            <a:endParaRPr dirty="0"/>
          </a:p>
          <a:p>
            <a:pPr marL="783590" lvl="1">
              <a:buClr>
                <a:srgbClr val="000000"/>
              </a:buClr>
              <a:buSzPct val="100000"/>
              <a:buFont typeface="Arial"/>
              <a:defRPr sz="2400"/>
            </a:pPr>
            <a:r>
              <a:rPr sz="3200" dirty="0" err="1"/>
              <a:t>グルコース</a:t>
            </a:r>
            <a:endParaRPr sz="3200" dirty="0"/>
          </a:p>
          <a:p>
            <a:pPr marL="383540">
              <a:buClr>
                <a:srgbClr val="000000"/>
              </a:buClr>
              <a:buSzPct val="100000"/>
              <a:buFont typeface="Arial"/>
              <a:defRPr sz="2400"/>
            </a:pPr>
            <a:endParaRPr dirty="0"/>
          </a:p>
          <a:p>
            <a:pPr marL="783590" lvl="1">
              <a:buClr>
                <a:srgbClr val="000000"/>
              </a:buClr>
              <a:buSzPct val="100000"/>
              <a:buFont typeface="Arial"/>
              <a:defRPr sz="2400"/>
            </a:pPr>
            <a:r>
              <a:rPr sz="3200" dirty="0" err="1"/>
              <a:t>酸素</a:t>
            </a:r>
            <a:endParaRPr sz="3200" dirty="0"/>
          </a:p>
        </p:txBody>
      </p:sp>
      <p:pic>
        <p:nvPicPr>
          <p:cNvPr id="196" name="image.png" descr="image.png"/>
          <p:cNvPicPr>
            <a:picLocks/>
          </p:cNvPicPr>
          <p:nvPr/>
        </p:nvPicPr>
        <p:blipFill>
          <a:blip r:embed="rId2"/>
          <a:stretch>
            <a:fillRect/>
          </a:stretch>
        </p:blipFill>
        <p:spPr>
          <a:xfrm>
            <a:off x="7085349" y="1484313"/>
            <a:ext cx="4279900" cy="4724401"/>
          </a:xfrm>
          <a:prstGeom prst="rect">
            <a:avLst/>
          </a:prstGeom>
          <a:ln w="12700">
            <a:miter lim="400000"/>
          </a:ln>
        </p:spPr>
      </p:pic>
      <p:sp>
        <p:nvSpPr>
          <p:cNvPr id="197" name="Kennedy et al. (2007)"/>
          <p:cNvSpPr/>
          <p:nvPr/>
        </p:nvSpPr>
        <p:spPr>
          <a:xfrm>
            <a:off x="8075498" y="6124270"/>
            <a:ext cx="2941511" cy="47192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p>
            <a:pPr>
              <a:buClr>
                <a:srgbClr val="000000"/>
              </a:buClr>
              <a:buFont typeface="Arial"/>
            </a:pPr>
            <a:r>
              <a:rPr sz="2400"/>
              <a:t>Kennedy </a:t>
            </a:r>
            <a:r>
              <a:rPr sz="2400" i="1">
                <a:latin typeface="Arial"/>
                <a:ea typeface="Arial"/>
                <a:cs typeface="Arial"/>
                <a:sym typeface="Arial"/>
              </a:rPr>
              <a:t>et al. </a:t>
            </a:r>
            <a:r>
              <a:rPr sz="2400"/>
              <a:t>(2007)</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0" name="image.png" descr="image.png"/>
          <p:cNvPicPr>
            <a:picLocks/>
          </p:cNvPicPr>
          <p:nvPr/>
        </p:nvPicPr>
        <p:blipFill>
          <a:blip r:embed="rId2"/>
          <a:stretch>
            <a:fillRect/>
          </a:stretch>
        </p:blipFill>
        <p:spPr>
          <a:xfrm>
            <a:off x="6816725" y="1628775"/>
            <a:ext cx="3508376" cy="4645026"/>
          </a:xfrm>
          <a:prstGeom prst="rect">
            <a:avLst/>
          </a:prstGeom>
          <a:ln w="12700">
            <a:miter lim="400000"/>
          </a:ln>
        </p:spPr>
      </p:pic>
      <p:pic>
        <p:nvPicPr>
          <p:cNvPr id="201" name="image.png" descr="image.png"/>
          <p:cNvPicPr>
            <a:picLocks/>
          </p:cNvPicPr>
          <p:nvPr/>
        </p:nvPicPr>
        <p:blipFill>
          <a:blip r:embed="rId3"/>
          <a:stretch>
            <a:fillRect/>
          </a:stretch>
        </p:blipFill>
        <p:spPr>
          <a:xfrm>
            <a:off x="2208213" y="1628776"/>
            <a:ext cx="3035301" cy="4525963"/>
          </a:xfrm>
          <a:prstGeom prst="rect">
            <a:avLst/>
          </a:prstGeom>
          <a:ln w="12700">
            <a:miter lim="400000"/>
          </a:ln>
        </p:spPr>
      </p:pic>
      <p:sp>
        <p:nvSpPr>
          <p:cNvPr id="202" name="Bertram et al. (2007)"/>
          <p:cNvSpPr/>
          <p:nvPr/>
        </p:nvSpPr>
        <p:spPr>
          <a:xfrm>
            <a:off x="2078868" y="6296730"/>
            <a:ext cx="2156039" cy="37959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p>
            <a:pPr>
              <a:buClr>
                <a:srgbClr val="000000"/>
              </a:buClr>
              <a:buFont typeface="Arial"/>
            </a:pPr>
            <a:r>
              <a:t>Bertram </a:t>
            </a:r>
            <a:r>
              <a:rPr i="1">
                <a:latin typeface="Arial"/>
                <a:ea typeface="Arial"/>
                <a:cs typeface="Arial"/>
                <a:sym typeface="Arial"/>
              </a:rPr>
              <a:t>et al. </a:t>
            </a:r>
            <a:r>
              <a:t>(2007)</a:t>
            </a:r>
          </a:p>
        </p:txBody>
      </p:sp>
      <p:sp>
        <p:nvSpPr>
          <p:cNvPr id="203" name="Corkey et al. (1988)"/>
          <p:cNvSpPr/>
          <p:nvPr/>
        </p:nvSpPr>
        <p:spPr>
          <a:xfrm>
            <a:off x="6926049" y="6225293"/>
            <a:ext cx="2061462" cy="37959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p>
            <a:pPr>
              <a:buClr>
                <a:srgbClr val="000000"/>
              </a:buClr>
              <a:buFont typeface="Arial"/>
            </a:pPr>
            <a:r>
              <a:t>Corkey </a:t>
            </a:r>
            <a:r>
              <a:rPr i="1">
                <a:latin typeface="Arial"/>
                <a:ea typeface="Arial"/>
                <a:cs typeface="Arial"/>
                <a:sym typeface="Arial"/>
              </a:rPr>
              <a:t>et al. </a:t>
            </a:r>
            <a:r>
              <a:t>(1988)</a:t>
            </a:r>
          </a:p>
        </p:txBody>
      </p:sp>
      <p:sp>
        <p:nvSpPr>
          <p:cNvPr id="204" name="解糖系振動 → insulin分泌"/>
          <p:cNvSpPr txBox="1">
            <a:spLocks noGrp="1"/>
          </p:cNvSpPr>
          <p:nvPr>
            <p:ph type="title"/>
          </p:nvPr>
        </p:nvSpPr>
        <p:spPr>
          <a:prstGeom prst="rect">
            <a:avLst/>
          </a:prstGeom>
        </p:spPr>
        <p:txBody>
          <a:bodyPr/>
          <a:lstStyle/>
          <a:p>
            <a:r>
              <a:t>解糖系振動　→　insulin分泌</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3" name="演習1(MATLAB): Sel’kov modelを作る"/>
          <p:cNvSpPr txBox="1">
            <a:spLocks noGrp="1"/>
          </p:cNvSpPr>
          <p:nvPr>
            <p:ph type="title"/>
          </p:nvPr>
        </p:nvSpPr>
        <p:spPr>
          <a:prstGeom prst="rect">
            <a:avLst/>
          </a:prstGeom>
        </p:spPr>
        <p:txBody>
          <a:bodyPr/>
          <a:lstStyle/>
          <a:p>
            <a:r>
              <a:rPr sz="4000" dirty="0"/>
              <a:t>演習1: </a:t>
            </a:r>
            <a:r>
              <a:rPr sz="4000" dirty="0" err="1"/>
              <a:t>Sel’kov</a:t>
            </a:r>
            <a:r>
              <a:rPr sz="4000" dirty="0"/>
              <a:t> </a:t>
            </a:r>
            <a:r>
              <a:rPr sz="4000" dirty="0" err="1"/>
              <a:t>modelを作る</a:t>
            </a:r>
            <a:r>
              <a:rPr sz="4000" dirty="0"/>
              <a:t> </a:t>
            </a:r>
          </a:p>
        </p:txBody>
      </p:sp>
      <p:sp>
        <p:nvSpPr>
          <p:cNvPr id="261" name="速度論パラメータ :  a = 0.06, b = 0.6…"/>
          <p:cNvSpPr txBox="1">
            <a:spLocks noGrp="1"/>
          </p:cNvSpPr>
          <p:nvPr>
            <p:ph type="body" sz="half" idx="4294967295"/>
          </p:nvPr>
        </p:nvSpPr>
        <p:spPr>
          <a:xfrm>
            <a:off x="0" y="4941888"/>
            <a:ext cx="8229600" cy="1916112"/>
          </a:xfrm>
          <a:prstGeom prst="rect">
            <a:avLst/>
          </a:prstGeom>
        </p:spPr>
        <p:txBody>
          <a:bodyPr/>
          <a:lstStyle/>
          <a:p>
            <a:pPr marL="383540">
              <a:lnSpc>
                <a:spcPct val="90000"/>
              </a:lnSpc>
              <a:buClr>
                <a:srgbClr val="000000"/>
              </a:buClr>
              <a:buSzPct val="100000"/>
              <a:buFont typeface="Arial"/>
            </a:pPr>
            <a:r>
              <a:rPr dirty="0" err="1"/>
              <a:t>速度論パラメータ</a:t>
            </a:r>
            <a:r>
              <a:rPr dirty="0"/>
              <a:t> :  a = 0.06, b = 0.6</a:t>
            </a:r>
          </a:p>
          <a:p>
            <a:pPr marL="383540">
              <a:lnSpc>
                <a:spcPct val="90000"/>
              </a:lnSpc>
              <a:buClr>
                <a:srgbClr val="000000"/>
              </a:buClr>
              <a:buSzPct val="100000"/>
              <a:buFont typeface="Arial"/>
            </a:pPr>
            <a:r>
              <a:rPr dirty="0" err="1"/>
              <a:t>初期値</a:t>
            </a:r>
            <a:r>
              <a:rPr dirty="0"/>
              <a:t>　　　　    :  ADP = 1.0, F6P = 1.0</a:t>
            </a:r>
          </a:p>
        </p:txBody>
      </p:sp>
      <p:sp>
        <p:nvSpPr>
          <p:cNvPr id="262" name="Strogatz (1994) pp.205"/>
          <p:cNvSpPr/>
          <p:nvPr/>
        </p:nvSpPr>
        <p:spPr>
          <a:xfrm>
            <a:off x="7143147" y="4499552"/>
            <a:ext cx="3171637" cy="47192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lvl1pPr>
              <a:buClr>
                <a:srgbClr val="000000"/>
              </a:buClr>
              <a:buFont typeface="Calibri"/>
              <a:defRPr sz="2400">
                <a:latin typeface="Calibri"/>
                <a:ea typeface="Calibri"/>
                <a:cs typeface="Calibri"/>
                <a:sym typeface="Calibri"/>
              </a:defRPr>
            </a:lvl1pPr>
          </a:lstStyle>
          <a:p>
            <a:r>
              <a:rPr>
                <a:latin typeface="Helvetica Neue Light" panose="02000403000000020004" pitchFamily="2" charset="0"/>
                <a:ea typeface="Helvetica Neue Light" panose="02000403000000020004" pitchFamily="2" charset="0"/>
              </a:rPr>
              <a:t>Strogatz (1994) pp.205</a:t>
            </a:r>
          </a:p>
        </p:txBody>
      </p:sp>
      <p:sp>
        <p:nvSpPr>
          <p:cNvPr id="264" name="ただし"/>
          <p:cNvSpPr/>
          <p:nvPr/>
        </p:nvSpPr>
        <p:spPr>
          <a:xfrm>
            <a:off x="5500172" y="3666243"/>
            <a:ext cx="795089" cy="37959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lvl1pPr>
              <a:buClr>
                <a:srgbClr val="000000"/>
              </a:buClr>
              <a:buFont typeface="Arial"/>
              <a:defRPr>
                <a:latin typeface="Arial"/>
                <a:ea typeface="Arial"/>
                <a:cs typeface="Arial"/>
                <a:sym typeface="Arial"/>
              </a:defRPr>
            </a:lvl1pPr>
          </a:lstStyle>
          <a:p>
            <a:r>
              <a:rPr dirty="0" err="1"/>
              <a:t>ただし</a:t>
            </a:r>
            <a:endParaRPr dirty="0"/>
          </a:p>
        </p:txBody>
      </p:sp>
      <p:sp>
        <p:nvSpPr>
          <p:cNvPr id="266" name="v2 = ay + x2y"/>
          <p:cNvSpPr/>
          <p:nvPr/>
        </p:nvSpPr>
        <p:spPr>
          <a:xfrm>
            <a:off x="8538805" y="3352762"/>
            <a:ext cx="1889941" cy="53347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p>
            <a:pPr>
              <a:defRPr>
                <a:latin typeface="Times New Roman"/>
                <a:ea typeface="Times New Roman"/>
                <a:cs typeface="Times New Roman"/>
                <a:sym typeface="Times New Roman"/>
              </a:defRPr>
            </a:pPr>
            <a:r>
              <a:rPr sz="2800" i="1" dirty="0"/>
              <a:t>v</a:t>
            </a:r>
            <a:r>
              <a:rPr sz="2800" baseline="-5999" dirty="0"/>
              <a:t>2 </a:t>
            </a:r>
            <a:r>
              <a:rPr sz="2800" dirty="0"/>
              <a:t>= </a:t>
            </a:r>
            <a:r>
              <a:rPr sz="2800" i="1" dirty="0"/>
              <a:t>ay </a:t>
            </a:r>
            <a:r>
              <a:rPr sz="2800" dirty="0"/>
              <a:t>+ </a:t>
            </a:r>
            <a:r>
              <a:rPr sz="2800" i="1" dirty="0"/>
              <a:t>x</a:t>
            </a:r>
            <a:r>
              <a:rPr sz="2800" baseline="31999" dirty="0"/>
              <a:t>2</a:t>
            </a:r>
            <a:r>
              <a:rPr sz="2800" i="1" dirty="0"/>
              <a:t>y</a:t>
            </a:r>
          </a:p>
        </p:txBody>
      </p:sp>
      <p:sp>
        <p:nvSpPr>
          <p:cNvPr id="267" name="v1 = b"/>
          <p:cNvSpPr/>
          <p:nvPr/>
        </p:nvSpPr>
        <p:spPr>
          <a:xfrm>
            <a:off x="7089188" y="3346412"/>
            <a:ext cx="912109" cy="53347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p>
            <a:pPr>
              <a:defRPr>
                <a:latin typeface="Times New Roman"/>
                <a:ea typeface="Times New Roman"/>
                <a:cs typeface="Times New Roman"/>
                <a:sym typeface="Times New Roman"/>
              </a:defRPr>
            </a:pPr>
            <a:r>
              <a:rPr sz="2800" i="1"/>
              <a:t>v</a:t>
            </a:r>
            <a:r>
              <a:rPr sz="2800" baseline="-5999"/>
              <a:t>1 </a:t>
            </a:r>
            <a:r>
              <a:rPr sz="2800"/>
              <a:t>= </a:t>
            </a:r>
            <a:r>
              <a:rPr sz="2800" i="1"/>
              <a:t>b</a:t>
            </a:r>
          </a:p>
        </p:txBody>
      </p:sp>
      <p:sp>
        <p:nvSpPr>
          <p:cNvPr id="268" name="v3 = x"/>
          <p:cNvSpPr/>
          <p:nvPr/>
        </p:nvSpPr>
        <p:spPr>
          <a:xfrm>
            <a:off x="7099301" y="3867112"/>
            <a:ext cx="891270" cy="53347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p>
            <a:pPr>
              <a:defRPr>
                <a:latin typeface="Times New Roman"/>
                <a:ea typeface="Times New Roman"/>
                <a:cs typeface="Times New Roman"/>
                <a:sym typeface="Times New Roman"/>
              </a:defRPr>
            </a:pPr>
            <a:r>
              <a:rPr sz="2800" i="1" dirty="0"/>
              <a:t>v</a:t>
            </a:r>
            <a:r>
              <a:rPr sz="2800" baseline="-5999" dirty="0"/>
              <a:t>3 </a:t>
            </a:r>
            <a:r>
              <a:rPr sz="2800" dirty="0"/>
              <a:t>= </a:t>
            </a:r>
            <a:r>
              <a:rPr sz="2800" i="1" dirty="0"/>
              <a:t>x</a:t>
            </a:r>
          </a:p>
        </p:txBody>
      </p:sp>
      <p:sp>
        <p:nvSpPr>
          <p:cNvPr id="269" name="v1"/>
          <p:cNvSpPr/>
          <p:nvPr/>
        </p:nvSpPr>
        <p:spPr>
          <a:xfrm>
            <a:off x="3453673" y="2025612"/>
            <a:ext cx="381515" cy="53347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p>
            <a:pPr>
              <a:defRPr>
                <a:latin typeface="Times New Roman"/>
                <a:ea typeface="Times New Roman"/>
                <a:cs typeface="Times New Roman"/>
                <a:sym typeface="Times New Roman"/>
              </a:defRPr>
            </a:pPr>
            <a:r>
              <a:rPr sz="2800" i="1"/>
              <a:t>v</a:t>
            </a:r>
            <a:r>
              <a:rPr sz="2800" baseline="-5999"/>
              <a:t>1</a:t>
            </a:r>
          </a:p>
        </p:txBody>
      </p:sp>
      <p:sp>
        <p:nvSpPr>
          <p:cNvPr id="270" name="v2"/>
          <p:cNvSpPr/>
          <p:nvPr/>
        </p:nvSpPr>
        <p:spPr>
          <a:xfrm>
            <a:off x="5892800" y="2025612"/>
            <a:ext cx="381515" cy="53347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p>
            <a:pPr>
              <a:defRPr>
                <a:latin typeface="Times New Roman"/>
                <a:ea typeface="Times New Roman"/>
                <a:cs typeface="Times New Roman"/>
                <a:sym typeface="Times New Roman"/>
              </a:defRPr>
            </a:pPr>
            <a:r>
              <a:rPr sz="2800" i="1"/>
              <a:t>v</a:t>
            </a:r>
            <a:r>
              <a:rPr sz="2800" baseline="-5999"/>
              <a:t>2</a:t>
            </a:r>
          </a:p>
        </p:txBody>
      </p:sp>
      <p:sp>
        <p:nvSpPr>
          <p:cNvPr id="271" name="v3"/>
          <p:cNvSpPr/>
          <p:nvPr/>
        </p:nvSpPr>
        <p:spPr>
          <a:xfrm>
            <a:off x="8394700" y="2025612"/>
            <a:ext cx="381515" cy="53347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p>
            <a:pPr>
              <a:defRPr>
                <a:latin typeface="Times New Roman"/>
                <a:ea typeface="Times New Roman"/>
                <a:cs typeface="Times New Roman"/>
                <a:sym typeface="Times New Roman"/>
              </a:defRPr>
            </a:pPr>
            <a:r>
              <a:rPr sz="2800" i="1"/>
              <a:t>v</a:t>
            </a:r>
            <a:r>
              <a:rPr sz="2800" baseline="-5999"/>
              <a:t>3</a:t>
            </a:r>
          </a:p>
        </p:txBody>
      </p:sp>
      <p:sp>
        <p:nvSpPr>
          <p:cNvPr id="272" name="線"/>
          <p:cNvSpPr/>
          <p:nvPr/>
        </p:nvSpPr>
        <p:spPr>
          <a:xfrm flipH="1">
            <a:off x="3111500" y="2527301"/>
            <a:ext cx="1079500" cy="1"/>
          </a:xfrm>
          <a:prstGeom prst="line">
            <a:avLst/>
          </a:prstGeom>
          <a:ln w="38100">
            <a:solidFill>
              <a:srgbClr val="000000"/>
            </a:solidFill>
            <a:miter lim="400000"/>
            <a:headEnd type="stealth"/>
          </a:ln>
        </p:spPr>
        <p:txBody>
          <a:bodyPr lIns="0" tIns="0" rIns="0" bIns="0"/>
          <a:lstStyle/>
          <a:p>
            <a:pPr defTabSz="457200">
              <a:defRPr sz="1200">
                <a:latin typeface="ヒラギノ角ゴ ProN W3"/>
                <a:ea typeface="ヒラギノ角ゴ ProN W3"/>
                <a:cs typeface="ヒラギノ角ゴ ProN W3"/>
                <a:sym typeface="ヒラギノ角ゴ ProN W3"/>
              </a:defRPr>
            </a:pPr>
            <a:endParaRPr sz="1200"/>
          </a:p>
        </p:txBody>
      </p:sp>
      <p:sp>
        <p:nvSpPr>
          <p:cNvPr id="273" name="線"/>
          <p:cNvSpPr/>
          <p:nvPr/>
        </p:nvSpPr>
        <p:spPr>
          <a:xfrm flipH="1">
            <a:off x="5549900" y="2527301"/>
            <a:ext cx="1079500" cy="1"/>
          </a:xfrm>
          <a:prstGeom prst="line">
            <a:avLst/>
          </a:prstGeom>
          <a:ln w="38100">
            <a:solidFill>
              <a:srgbClr val="000000"/>
            </a:solidFill>
            <a:miter lim="400000"/>
            <a:headEnd type="stealth"/>
          </a:ln>
        </p:spPr>
        <p:txBody>
          <a:bodyPr lIns="0" tIns="0" rIns="0" bIns="0"/>
          <a:lstStyle/>
          <a:p>
            <a:pPr defTabSz="457200">
              <a:defRPr sz="1200">
                <a:latin typeface="ヒラギノ角ゴ ProN W3"/>
                <a:ea typeface="ヒラギノ角ゴ ProN W3"/>
                <a:cs typeface="ヒラギノ角ゴ ProN W3"/>
                <a:sym typeface="ヒラギノ角ゴ ProN W3"/>
              </a:defRPr>
            </a:pPr>
            <a:endParaRPr sz="1200"/>
          </a:p>
        </p:txBody>
      </p:sp>
      <p:sp>
        <p:nvSpPr>
          <p:cNvPr id="274" name="線"/>
          <p:cNvSpPr/>
          <p:nvPr/>
        </p:nvSpPr>
        <p:spPr>
          <a:xfrm flipH="1">
            <a:off x="8064500" y="2527301"/>
            <a:ext cx="1079500" cy="1"/>
          </a:xfrm>
          <a:prstGeom prst="line">
            <a:avLst/>
          </a:prstGeom>
          <a:ln w="38100">
            <a:solidFill>
              <a:srgbClr val="000000"/>
            </a:solidFill>
            <a:miter lim="400000"/>
            <a:headEnd type="stealth"/>
          </a:ln>
        </p:spPr>
        <p:txBody>
          <a:bodyPr lIns="0" tIns="0" rIns="0" bIns="0"/>
          <a:lstStyle/>
          <a:p>
            <a:pPr defTabSz="457200">
              <a:defRPr sz="1200">
                <a:latin typeface="ヒラギノ角ゴ ProN W3"/>
                <a:ea typeface="ヒラギノ角ゴ ProN W3"/>
                <a:cs typeface="ヒラギノ角ゴ ProN W3"/>
                <a:sym typeface="ヒラギノ角ゴ ProN W3"/>
              </a:defRPr>
            </a:pPr>
            <a:endParaRPr sz="1200"/>
          </a:p>
        </p:txBody>
      </p:sp>
      <p:sp>
        <p:nvSpPr>
          <p:cNvPr id="275" name="ADP(x)"/>
          <p:cNvSpPr/>
          <p:nvPr/>
        </p:nvSpPr>
        <p:spPr>
          <a:xfrm>
            <a:off x="6735262" y="2254212"/>
            <a:ext cx="1221488" cy="53347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p>
            <a:pPr>
              <a:defRPr>
                <a:latin typeface="Times New Roman"/>
                <a:ea typeface="Times New Roman"/>
                <a:cs typeface="Times New Roman"/>
                <a:sym typeface="Times New Roman"/>
              </a:defRPr>
            </a:pPr>
            <a:r>
              <a:rPr sz="2800"/>
              <a:t>ADP(</a:t>
            </a:r>
            <a:r>
              <a:rPr sz="2800" i="1"/>
              <a:t>x</a:t>
            </a:r>
            <a:r>
              <a:rPr sz="2800"/>
              <a:t>)</a:t>
            </a:r>
          </a:p>
        </p:txBody>
      </p:sp>
      <p:sp>
        <p:nvSpPr>
          <p:cNvPr id="276" name="F6P(y)"/>
          <p:cNvSpPr/>
          <p:nvPr/>
        </p:nvSpPr>
        <p:spPr>
          <a:xfrm>
            <a:off x="4361620" y="2254212"/>
            <a:ext cx="1082027" cy="53347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p>
            <a:pPr>
              <a:defRPr>
                <a:latin typeface="Times New Roman"/>
                <a:ea typeface="Times New Roman"/>
                <a:cs typeface="Times New Roman"/>
                <a:sym typeface="Times New Roman"/>
              </a:defRPr>
            </a:pPr>
            <a:r>
              <a:rPr sz="2800"/>
              <a:t>F6P(</a:t>
            </a:r>
            <a:r>
              <a:rPr sz="2800" i="1"/>
              <a:t>y</a:t>
            </a:r>
            <a:r>
              <a:rPr sz="2800"/>
              <a:t>)</a:t>
            </a:r>
          </a:p>
        </p:txBody>
      </p:sp>
      <p:sp>
        <p:nvSpPr>
          <p:cNvPr id="277" name="PFK"/>
          <p:cNvSpPr/>
          <p:nvPr/>
        </p:nvSpPr>
        <p:spPr>
          <a:xfrm>
            <a:off x="5690915" y="2686012"/>
            <a:ext cx="763029" cy="53347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lvl1pPr>
              <a:defRPr i="1">
                <a:latin typeface="Times New Roman"/>
                <a:ea typeface="Times New Roman"/>
                <a:cs typeface="Times New Roman"/>
                <a:sym typeface="Times New Roman"/>
              </a:defRPr>
            </a:lvl1pPr>
          </a:lstStyle>
          <a:p>
            <a:pPr>
              <a:defRPr i="0"/>
            </a:pPr>
            <a:r>
              <a:rPr sz="2800" dirty="0"/>
              <a:t>PFK</a:t>
            </a:r>
          </a:p>
        </p:txBody>
      </p:sp>
      <p:sp>
        <p:nvSpPr>
          <p:cNvPr id="278" name="線"/>
          <p:cNvSpPr/>
          <p:nvPr/>
        </p:nvSpPr>
        <p:spPr>
          <a:xfrm flipV="1">
            <a:off x="6083300" y="1587500"/>
            <a:ext cx="0" cy="508000"/>
          </a:xfrm>
          <a:prstGeom prst="line">
            <a:avLst/>
          </a:prstGeom>
          <a:ln w="38100">
            <a:solidFill>
              <a:srgbClr val="000000"/>
            </a:solidFill>
            <a:miter lim="400000"/>
            <a:headEnd type="stealth"/>
          </a:ln>
        </p:spPr>
        <p:txBody>
          <a:bodyPr lIns="0" tIns="0" rIns="0" bIns="0"/>
          <a:lstStyle/>
          <a:p>
            <a:pPr defTabSz="457200">
              <a:defRPr sz="1200">
                <a:latin typeface="ヒラギノ角ゴ ProN W3"/>
                <a:ea typeface="ヒラギノ角ゴ ProN W3"/>
                <a:cs typeface="ヒラギノ角ゴ ProN W3"/>
                <a:sym typeface="ヒラギノ角ゴ ProN W3"/>
              </a:defRPr>
            </a:pPr>
            <a:endParaRPr sz="1200"/>
          </a:p>
        </p:txBody>
      </p:sp>
      <p:sp>
        <p:nvSpPr>
          <p:cNvPr id="279" name="線"/>
          <p:cNvSpPr/>
          <p:nvPr/>
        </p:nvSpPr>
        <p:spPr>
          <a:xfrm flipH="1">
            <a:off x="6083300" y="1587500"/>
            <a:ext cx="1168400" cy="2"/>
          </a:xfrm>
          <a:prstGeom prst="line">
            <a:avLst/>
          </a:prstGeom>
          <a:ln w="38100">
            <a:solidFill>
              <a:srgbClr val="000000"/>
            </a:solidFill>
            <a:miter lim="400000"/>
          </a:ln>
        </p:spPr>
        <p:txBody>
          <a:bodyPr lIns="0" tIns="0" rIns="0" bIns="0"/>
          <a:lstStyle/>
          <a:p>
            <a:pPr defTabSz="457200">
              <a:defRPr sz="1200">
                <a:latin typeface="ヒラギノ角ゴ ProN W3"/>
                <a:ea typeface="ヒラギノ角ゴ ProN W3"/>
                <a:cs typeface="ヒラギノ角ゴ ProN W3"/>
                <a:sym typeface="ヒラギノ角ゴ ProN W3"/>
              </a:defRPr>
            </a:pPr>
            <a:endParaRPr sz="1200"/>
          </a:p>
        </p:txBody>
      </p:sp>
      <p:sp>
        <p:nvSpPr>
          <p:cNvPr id="280" name="線"/>
          <p:cNvSpPr/>
          <p:nvPr/>
        </p:nvSpPr>
        <p:spPr>
          <a:xfrm flipV="1">
            <a:off x="7251700" y="1574800"/>
            <a:ext cx="0" cy="520700"/>
          </a:xfrm>
          <a:prstGeom prst="line">
            <a:avLst/>
          </a:prstGeom>
          <a:ln w="38100">
            <a:solidFill>
              <a:srgbClr val="000000"/>
            </a:solidFill>
            <a:miter lim="400000"/>
          </a:ln>
        </p:spPr>
        <p:txBody>
          <a:bodyPr lIns="0" tIns="0" rIns="0" bIns="0"/>
          <a:lstStyle/>
          <a:p>
            <a:pPr defTabSz="457200">
              <a:defRPr sz="1200">
                <a:latin typeface="ヒラギノ角ゴ ProN W3"/>
                <a:ea typeface="ヒラギノ角ゴ ProN W3"/>
                <a:cs typeface="ヒラギノ角ゴ ProN W3"/>
                <a:sym typeface="ヒラギノ角ゴ ProN W3"/>
              </a:defRPr>
            </a:pPr>
            <a:endParaRPr sz="1200"/>
          </a:p>
        </p:txBody>
      </p:sp>
      <p:pic>
        <p:nvPicPr>
          <p:cNvPr id="3" name="図 2">
            <a:extLst>
              <a:ext uri="{FF2B5EF4-FFF2-40B4-BE49-F238E27FC236}">
                <a16:creationId xmlns:a16="http://schemas.microsoft.com/office/drawing/2014/main" id="{5C9493B7-0EB5-6D7A-3D2C-93D58752ABDA}"/>
              </a:ext>
            </a:extLst>
          </p:cNvPr>
          <p:cNvPicPr>
            <a:picLocks noChangeAspect="1"/>
          </p:cNvPicPr>
          <p:nvPr/>
        </p:nvPicPr>
        <p:blipFill>
          <a:blip r:embed="rId2"/>
          <a:stretch>
            <a:fillRect/>
          </a:stretch>
        </p:blipFill>
        <p:spPr>
          <a:xfrm>
            <a:off x="1334315" y="2909770"/>
            <a:ext cx="3027305" cy="1693979"/>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8" name="空欄を埋めなさい"/>
          <p:cNvSpPr txBox="1">
            <a:spLocks noGrp="1"/>
          </p:cNvSpPr>
          <p:nvPr>
            <p:ph type="title"/>
          </p:nvPr>
        </p:nvSpPr>
        <p:spPr>
          <a:prstGeom prst="rect">
            <a:avLst/>
          </a:prstGeom>
        </p:spPr>
        <p:txBody>
          <a:bodyPr/>
          <a:lstStyle/>
          <a:p>
            <a:r>
              <a:t>空欄を埋めなさい</a:t>
            </a:r>
          </a:p>
        </p:txBody>
      </p:sp>
      <p:sp>
        <p:nvSpPr>
          <p:cNvPr id="3" name="テキスト ボックス 2">
            <a:extLst>
              <a:ext uri="{FF2B5EF4-FFF2-40B4-BE49-F238E27FC236}">
                <a16:creationId xmlns:a16="http://schemas.microsoft.com/office/drawing/2014/main" id="{7182D482-23FD-E211-8351-B8110E97A96B}"/>
              </a:ext>
            </a:extLst>
          </p:cNvPr>
          <p:cNvSpPr txBox="1"/>
          <p:nvPr/>
        </p:nvSpPr>
        <p:spPr>
          <a:xfrm>
            <a:off x="419462" y="1259058"/>
            <a:ext cx="4831806" cy="5078313"/>
          </a:xfrm>
          <a:prstGeom prst="rect">
            <a:avLst/>
          </a:prstGeom>
          <a:noFill/>
          <a:ln>
            <a:solidFill>
              <a:schemeClr val="accent1">
                <a:shade val="15000"/>
              </a:schemeClr>
            </a:solidFill>
          </a:ln>
        </p:spPr>
        <p:txBody>
          <a:bodyPr wrap="square">
            <a:spAutoFit/>
          </a:bodyPr>
          <a:lstStyle/>
          <a:p>
            <a:r>
              <a:rPr lang="ja-JP" altLang="en-US" b="1">
                <a:solidFill>
                  <a:srgbClr val="000000"/>
                </a:solidFill>
                <a:latin typeface="Hiragino Kaku Gothic ProN W6" panose="020B0300000000000000" pitchFamily="34" charset="-128"/>
                <a:ea typeface="Hiragino Kaku Gothic ProN W6" panose="020B0300000000000000" pitchFamily="34" charset="-128"/>
              </a:rPr>
              <a:t>コード</a:t>
            </a:r>
            <a:r>
              <a:rPr lang="en-GB" altLang="ja-JP" dirty="0">
                <a:latin typeface="Courier New" panose="02070309020205020404" pitchFamily="49" charset="0"/>
                <a:cs typeface="Courier New" panose="02070309020205020404" pitchFamily="49" charset="0"/>
              </a:rPr>
              <a:t>(</a:t>
            </a:r>
            <a:r>
              <a:rPr lang="en-GB" altLang="ja-JP" dirty="0" err="1">
                <a:latin typeface="Courier New" panose="02070309020205020404" pitchFamily="49" charset="0"/>
                <a:cs typeface="Courier New" panose="02070309020205020404" pitchFamily="49" charset="0"/>
              </a:rPr>
              <a:t>selkov.py</a:t>
            </a:r>
            <a:r>
              <a:rPr lang="en-GB" altLang="ja-JP" dirty="0">
                <a:latin typeface="Courier New" panose="02070309020205020404" pitchFamily="49" charset="0"/>
                <a:cs typeface="Courier New" panose="02070309020205020404" pitchFamily="49" charset="0"/>
              </a:rPr>
              <a:t>)</a:t>
            </a:r>
            <a:endParaRPr lang="en-US" altLang="ja-JP" dirty="0"/>
          </a:p>
          <a:p>
            <a:endParaRPr lang="en-US" altLang="ja-JP" dirty="0"/>
          </a:p>
          <a:p>
            <a:r>
              <a:rPr lang="en-US" altLang="ja-JP" dirty="0"/>
              <a:t>(</a:t>
            </a:r>
            <a:r>
              <a:rPr lang="ja-JP" altLang="en-US"/>
              <a:t>略</a:t>
            </a:r>
            <a:r>
              <a:rPr lang="en-US" altLang="ja-JP" dirty="0"/>
              <a:t>)</a:t>
            </a:r>
          </a:p>
          <a:p>
            <a:r>
              <a:rPr lang="ja-JP" altLang="en-US"/>
              <a:t>def selkov_model( t , init , *param ):</a:t>
            </a:r>
          </a:p>
          <a:p>
            <a:r>
              <a:rPr lang="ja-JP" altLang="en-US"/>
              <a:t>    x = init[ 0 ]</a:t>
            </a:r>
          </a:p>
          <a:p>
            <a:r>
              <a:rPr lang="ja-JP" altLang="en-US"/>
              <a:t>    y = init[ 1 ]</a:t>
            </a:r>
          </a:p>
          <a:p>
            <a:r>
              <a:rPr lang="ja-JP" altLang="en-US"/>
              <a:t>    </a:t>
            </a:r>
          </a:p>
          <a:p>
            <a:r>
              <a:rPr lang="ja-JP" altLang="en-US"/>
              <a:t>    [ a , b ] = param</a:t>
            </a:r>
          </a:p>
          <a:p>
            <a:endParaRPr lang="ja-JP" altLang="en-US"/>
          </a:p>
          <a:p>
            <a:endParaRPr lang="ja-JP" altLang="en-US"/>
          </a:p>
          <a:p>
            <a:r>
              <a:rPr lang="ja-JP" altLang="en-US"/>
              <a:t>    v1 = </a:t>
            </a:r>
          </a:p>
          <a:p>
            <a:r>
              <a:rPr lang="ja-JP" altLang="en-US"/>
              <a:t>    v2 = </a:t>
            </a:r>
          </a:p>
          <a:p>
            <a:r>
              <a:rPr lang="ja-JP" altLang="en-US"/>
              <a:t>    v3 = </a:t>
            </a:r>
          </a:p>
          <a:p>
            <a:r>
              <a:rPr lang="ja-JP" altLang="en-US"/>
              <a:t>    </a:t>
            </a:r>
          </a:p>
          <a:p>
            <a:r>
              <a:rPr lang="ja-JP" altLang="en-US"/>
              <a:t>    dxdt = v2 - v3</a:t>
            </a:r>
          </a:p>
          <a:p>
            <a:r>
              <a:rPr lang="ja-JP" altLang="en-US"/>
              <a:t>    dydt = v1 - v2</a:t>
            </a:r>
          </a:p>
          <a:p>
            <a:r>
              <a:rPr lang="ja-JP" altLang="en-US"/>
              <a:t>    </a:t>
            </a:r>
          </a:p>
          <a:p>
            <a:r>
              <a:rPr lang="ja-JP" altLang="en-US"/>
              <a:t>    return [ dxdt , dydt ] </a:t>
            </a:r>
          </a:p>
        </p:txBody>
      </p:sp>
      <p:sp>
        <p:nvSpPr>
          <p:cNvPr id="4" name="テキスト ボックス 3">
            <a:extLst>
              <a:ext uri="{FF2B5EF4-FFF2-40B4-BE49-F238E27FC236}">
                <a16:creationId xmlns:a16="http://schemas.microsoft.com/office/drawing/2014/main" id="{E66F2905-B943-4012-F58C-36F01B03507D}"/>
              </a:ext>
            </a:extLst>
          </p:cNvPr>
          <p:cNvSpPr txBox="1"/>
          <p:nvPr/>
        </p:nvSpPr>
        <p:spPr>
          <a:xfrm>
            <a:off x="5859054" y="1259058"/>
            <a:ext cx="6096000" cy="5078313"/>
          </a:xfrm>
          <a:prstGeom prst="rect">
            <a:avLst/>
          </a:prstGeom>
          <a:noFill/>
          <a:ln>
            <a:solidFill>
              <a:schemeClr val="accent1">
                <a:shade val="15000"/>
              </a:schemeClr>
            </a:solidFill>
          </a:ln>
        </p:spPr>
        <p:txBody>
          <a:bodyPr wrap="square">
            <a:spAutoFit/>
          </a:bodyPr>
          <a:lstStyle/>
          <a:p>
            <a:r>
              <a:rPr lang="ja-JP" altLang="en-US"/>
              <a:t>init = [ 1.0 , 1.0 ]</a:t>
            </a:r>
          </a:p>
          <a:p>
            <a:r>
              <a:rPr lang="ja-JP" altLang="en-US"/>
              <a:t>t_span = [ 0 , 100 ]</a:t>
            </a:r>
          </a:p>
          <a:p>
            <a:r>
              <a:rPr lang="ja-JP" altLang="en-US"/>
              <a:t>t_eval = np.linspace( t_span[0] , t_span[1] , 10000 )</a:t>
            </a:r>
          </a:p>
          <a:p>
            <a:endParaRPr lang="ja-JP" altLang="en-US"/>
          </a:p>
          <a:p>
            <a:r>
              <a:rPr lang="ja-JP" altLang="en-US"/>
              <a:t>a = 0.06</a:t>
            </a:r>
          </a:p>
          <a:p>
            <a:r>
              <a:rPr lang="ja-JP" altLang="en-US"/>
              <a:t>b = 0.6</a:t>
            </a:r>
          </a:p>
          <a:p>
            <a:endParaRPr lang="ja-JP" altLang="en-US"/>
          </a:p>
          <a:p>
            <a:r>
              <a:rPr lang="ja-JP" altLang="en-US"/>
              <a:t>param = [ a , b ]</a:t>
            </a:r>
          </a:p>
          <a:p>
            <a:endParaRPr lang="ja-JP" altLang="en-US"/>
          </a:p>
          <a:p>
            <a:r>
              <a:rPr lang="ja-JP" altLang="en-US"/>
              <a:t>solution = solve_ivp( selkov_model, t_span, init, t_eval=t_eval, method='RK45', args=param )</a:t>
            </a:r>
          </a:p>
          <a:p>
            <a:endParaRPr lang="ja-JP" altLang="en-US"/>
          </a:p>
          <a:p>
            <a:r>
              <a:rPr lang="ja-JP" altLang="en-US"/>
              <a:t>ADP = solution.y[0]</a:t>
            </a:r>
          </a:p>
          <a:p>
            <a:r>
              <a:rPr lang="ja-JP" altLang="en-US"/>
              <a:t>F6P = solution.y[1]</a:t>
            </a:r>
          </a:p>
          <a:p>
            <a:endParaRPr lang="ja-JP" altLang="en-US"/>
          </a:p>
          <a:p>
            <a:r>
              <a:rPr lang="ja-JP" altLang="en-US"/>
              <a:t>plt.plot( solution.t , ADP )</a:t>
            </a:r>
          </a:p>
          <a:p>
            <a:r>
              <a:rPr lang="ja-JP" altLang="en-US"/>
              <a:t>plt.plot( solution.t , F6P ) </a:t>
            </a:r>
          </a:p>
          <a:p>
            <a:r>
              <a:rPr lang="ja-JP" altLang="en-US"/>
              <a:t>plt.show()</a:t>
            </a:r>
          </a:p>
        </p:txBody>
      </p:sp>
      <p:sp>
        <p:nvSpPr>
          <p:cNvPr id="5" name="正方形/長方形 4">
            <a:extLst>
              <a:ext uri="{FF2B5EF4-FFF2-40B4-BE49-F238E27FC236}">
                <a16:creationId xmlns:a16="http://schemas.microsoft.com/office/drawing/2014/main" id="{34F66A7C-E93B-4B53-1406-7C47FA9299DF}"/>
              </a:ext>
            </a:extLst>
          </p:cNvPr>
          <p:cNvSpPr/>
          <p:nvPr/>
        </p:nvSpPr>
        <p:spPr>
          <a:xfrm>
            <a:off x="1293593" y="4636806"/>
            <a:ext cx="1316258" cy="237175"/>
          </a:xfrm>
          <a:prstGeom prst="rect">
            <a:avLst/>
          </a:prstGeom>
          <a:solidFill>
            <a:schemeClr val="bg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正方形/長方形 5">
            <a:extLst>
              <a:ext uri="{FF2B5EF4-FFF2-40B4-BE49-F238E27FC236}">
                <a16:creationId xmlns:a16="http://schemas.microsoft.com/office/drawing/2014/main" id="{AB05BC2F-D52E-1885-A288-E84D1DF6D622}"/>
              </a:ext>
            </a:extLst>
          </p:cNvPr>
          <p:cNvSpPr/>
          <p:nvPr/>
        </p:nvSpPr>
        <p:spPr>
          <a:xfrm>
            <a:off x="1293593" y="4332637"/>
            <a:ext cx="1316258" cy="237175"/>
          </a:xfrm>
          <a:prstGeom prst="rect">
            <a:avLst/>
          </a:prstGeom>
          <a:solidFill>
            <a:schemeClr val="bg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正方形/長方形 6">
            <a:extLst>
              <a:ext uri="{FF2B5EF4-FFF2-40B4-BE49-F238E27FC236}">
                <a16:creationId xmlns:a16="http://schemas.microsoft.com/office/drawing/2014/main" id="{77E2E377-8FC1-FEC5-EED4-FC67D0B58688}"/>
              </a:ext>
            </a:extLst>
          </p:cNvPr>
          <p:cNvSpPr/>
          <p:nvPr/>
        </p:nvSpPr>
        <p:spPr>
          <a:xfrm>
            <a:off x="1293593" y="4037433"/>
            <a:ext cx="1316258" cy="237175"/>
          </a:xfrm>
          <a:prstGeom prst="rect">
            <a:avLst/>
          </a:prstGeom>
          <a:solidFill>
            <a:schemeClr val="bg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1" name="シミュレーション結果"/>
          <p:cNvSpPr txBox="1">
            <a:spLocks noGrp="1"/>
          </p:cNvSpPr>
          <p:nvPr>
            <p:ph type="title"/>
          </p:nvPr>
        </p:nvSpPr>
        <p:spPr>
          <a:prstGeom prst="rect">
            <a:avLst/>
          </a:prstGeom>
        </p:spPr>
        <p:txBody>
          <a:bodyPr/>
          <a:lstStyle/>
          <a:p>
            <a:r>
              <a:t>シミュレーション結果</a:t>
            </a:r>
          </a:p>
        </p:txBody>
      </p:sp>
      <p:pic>
        <p:nvPicPr>
          <p:cNvPr id="2" name="図 1">
            <a:extLst>
              <a:ext uri="{FF2B5EF4-FFF2-40B4-BE49-F238E27FC236}">
                <a16:creationId xmlns:a16="http://schemas.microsoft.com/office/drawing/2014/main" id="{13372100-45A3-B064-DB46-B2D383E8F135}"/>
              </a:ext>
            </a:extLst>
          </p:cNvPr>
          <p:cNvPicPr>
            <a:picLocks noChangeAspect="1"/>
          </p:cNvPicPr>
          <p:nvPr/>
        </p:nvPicPr>
        <p:blipFill>
          <a:blip r:embed="rId2"/>
          <a:stretch>
            <a:fillRect/>
          </a:stretch>
        </p:blipFill>
        <p:spPr>
          <a:xfrm>
            <a:off x="1742535" y="1362974"/>
            <a:ext cx="7108165" cy="5331124"/>
          </a:xfrm>
          <a:prstGeom prst="rect">
            <a:avLst/>
          </a:prstGeom>
        </p:spPr>
      </p:pic>
      <p:sp>
        <p:nvSpPr>
          <p:cNvPr id="292" name="青: ADP"/>
          <p:cNvSpPr/>
          <p:nvPr/>
        </p:nvSpPr>
        <p:spPr>
          <a:xfrm>
            <a:off x="8522071" y="4628139"/>
            <a:ext cx="1179810" cy="47192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p>
            <a:r>
              <a:rPr sz="2400" dirty="0" err="1"/>
              <a:t>青</a:t>
            </a:r>
            <a:r>
              <a:rPr sz="2400" dirty="0"/>
              <a:t>: ADP</a:t>
            </a:r>
          </a:p>
        </p:txBody>
      </p:sp>
      <p:sp>
        <p:nvSpPr>
          <p:cNvPr id="293" name="緑:F6P"/>
          <p:cNvSpPr/>
          <p:nvPr/>
        </p:nvSpPr>
        <p:spPr>
          <a:xfrm>
            <a:off x="8615115" y="2392939"/>
            <a:ext cx="1110882" cy="47192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p>
            <a:r>
              <a:rPr lang="ja-JP" altLang="en-US" sz="2400"/>
              <a:t>橙</a:t>
            </a:r>
            <a:r>
              <a:rPr sz="2400" dirty="0"/>
              <a:t>:</a:t>
            </a:r>
            <a:r>
              <a:rPr lang="en-US" sz="2400" dirty="0"/>
              <a:t> </a:t>
            </a:r>
            <a:r>
              <a:rPr sz="2400" dirty="0"/>
              <a:t>F6P</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5" name="復習：相平面とヌルクライン"/>
          <p:cNvSpPr txBox="1">
            <a:spLocks noGrp="1"/>
          </p:cNvSpPr>
          <p:nvPr>
            <p:ph type="title"/>
          </p:nvPr>
        </p:nvSpPr>
        <p:spPr>
          <a:prstGeom prst="rect">
            <a:avLst/>
          </a:prstGeom>
        </p:spPr>
        <p:txBody>
          <a:bodyPr/>
          <a:lstStyle/>
          <a:p>
            <a:r>
              <a:t>復習：相平面とヌルクライン</a:t>
            </a:r>
          </a:p>
        </p:txBody>
      </p:sp>
      <p:sp>
        <p:nvSpPr>
          <p:cNvPr id="328" name="Phase plane (相平面)…"/>
          <p:cNvSpPr txBox="1">
            <a:spLocks noGrp="1"/>
          </p:cNvSpPr>
          <p:nvPr>
            <p:ph type="body" sz="half" idx="4294967295"/>
          </p:nvPr>
        </p:nvSpPr>
        <p:spPr>
          <a:xfrm>
            <a:off x="458118" y="1690216"/>
            <a:ext cx="5712418" cy="4699000"/>
          </a:xfrm>
          <a:prstGeom prst="rect">
            <a:avLst/>
          </a:prstGeom>
        </p:spPr>
        <p:txBody>
          <a:bodyPr>
            <a:normAutofit/>
          </a:bodyPr>
          <a:lstStyle/>
          <a:p>
            <a:pPr marL="383540">
              <a:buClr>
                <a:srgbClr val="000000"/>
              </a:buClr>
              <a:buSzPct val="100000"/>
              <a:buFont typeface="Arial"/>
            </a:pPr>
            <a:r>
              <a:rPr dirty="0"/>
              <a:t>Phase plane (</a:t>
            </a:r>
            <a:r>
              <a:rPr dirty="0" err="1"/>
              <a:t>相平面</a:t>
            </a:r>
            <a:r>
              <a:rPr dirty="0"/>
              <a:t>)</a:t>
            </a:r>
          </a:p>
          <a:p>
            <a:pPr marL="783590" lvl="1">
              <a:buClr>
                <a:srgbClr val="000000"/>
              </a:buClr>
              <a:buSzPct val="100000"/>
              <a:buFont typeface="Arial"/>
            </a:pPr>
            <a:r>
              <a:rPr dirty="0"/>
              <a:t>時間発展する2つの変数</a:t>
            </a:r>
          </a:p>
          <a:p>
            <a:pPr marL="783590" lvl="1">
              <a:buClr>
                <a:srgbClr val="000000"/>
              </a:buClr>
              <a:buSzPct val="100000"/>
              <a:buFont typeface="Arial"/>
            </a:pPr>
            <a:r>
              <a:rPr i="1" dirty="0"/>
              <a:t>x-y</a:t>
            </a:r>
            <a:r>
              <a:rPr dirty="0"/>
              <a:t> </a:t>
            </a:r>
            <a:r>
              <a:rPr dirty="0" err="1"/>
              <a:t>平面</a:t>
            </a:r>
            <a:endParaRPr sz="2400" dirty="0"/>
          </a:p>
          <a:p>
            <a:pPr marL="783590" lvl="1">
              <a:buClr>
                <a:srgbClr val="000000"/>
              </a:buClr>
              <a:buSzPct val="100000"/>
              <a:buFont typeface="Arial"/>
              <a:buChar char="–"/>
              <a:defRPr sz="2400"/>
            </a:pPr>
            <a:endParaRPr sz="2400" dirty="0"/>
          </a:p>
          <a:p>
            <a:pPr marL="383540">
              <a:buClr>
                <a:srgbClr val="000000"/>
              </a:buClr>
              <a:buSzPct val="100000"/>
              <a:buFont typeface="Arial"/>
            </a:pPr>
            <a:r>
              <a:rPr dirty="0"/>
              <a:t>Nullcline (</a:t>
            </a:r>
            <a:r>
              <a:rPr dirty="0" err="1"/>
              <a:t>ヌルクライン</a:t>
            </a:r>
            <a:r>
              <a:rPr dirty="0"/>
              <a:t>)</a:t>
            </a:r>
          </a:p>
          <a:p>
            <a:pPr marL="783590" lvl="1">
              <a:buClr>
                <a:srgbClr val="000000"/>
              </a:buClr>
              <a:buSzPct val="100000"/>
              <a:buFont typeface="Arial"/>
            </a:pPr>
            <a:r>
              <a:rPr dirty="0"/>
              <a:t>“</a:t>
            </a:r>
            <a:r>
              <a:rPr dirty="0" err="1"/>
              <a:t>時間変化</a:t>
            </a:r>
            <a:r>
              <a:rPr dirty="0"/>
              <a:t> = 0”の曲線</a:t>
            </a:r>
          </a:p>
          <a:p>
            <a:pPr marL="783590" lvl="1">
              <a:buClr>
                <a:srgbClr val="000000"/>
              </a:buClr>
              <a:buSzPct val="100000"/>
              <a:buFont typeface="Arial"/>
            </a:pPr>
            <a:r>
              <a:rPr dirty="0" err="1"/>
              <a:t>交点は「固定点」と呼ばれる</a:t>
            </a:r>
            <a:endParaRPr dirty="0"/>
          </a:p>
        </p:txBody>
      </p:sp>
      <p:sp>
        <p:nvSpPr>
          <p:cNvPr id="329" name="線"/>
          <p:cNvSpPr/>
          <p:nvPr/>
        </p:nvSpPr>
        <p:spPr>
          <a:xfrm>
            <a:off x="7451194" y="2636837"/>
            <a:ext cx="1590" cy="2592388"/>
          </a:xfrm>
          <a:prstGeom prst="line">
            <a:avLst/>
          </a:prstGeom>
          <a:ln w="38100">
            <a:solidFill>
              <a:srgbClr val="000000"/>
            </a:solidFill>
            <a:miter lim="400000"/>
          </a:ln>
        </p:spPr>
        <p:txBody>
          <a:bodyPr lIns="0" tIns="0" rIns="0" bIns="0"/>
          <a:lstStyle/>
          <a:p>
            <a:pPr defTabSz="457200">
              <a:defRPr sz="1200">
                <a:latin typeface="ヒラギノ角ゴ ProN W3"/>
                <a:ea typeface="ヒラギノ角ゴ ProN W3"/>
                <a:cs typeface="ヒラギノ角ゴ ProN W3"/>
                <a:sym typeface="ヒラギノ角ゴ ProN W3"/>
              </a:defRPr>
            </a:pPr>
            <a:endParaRPr sz="1200"/>
          </a:p>
        </p:txBody>
      </p:sp>
      <p:sp>
        <p:nvSpPr>
          <p:cNvPr id="330" name="線"/>
          <p:cNvSpPr/>
          <p:nvPr/>
        </p:nvSpPr>
        <p:spPr>
          <a:xfrm>
            <a:off x="7451195" y="5229225"/>
            <a:ext cx="3168651" cy="1588"/>
          </a:xfrm>
          <a:prstGeom prst="line">
            <a:avLst/>
          </a:prstGeom>
          <a:ln w="38100">
            <a:solidFill>
              <a:srgbClr val="000000"/>
            </a:solidFill>
            <a:miter lim="400000"/>
          </a:ln>
        </p:spPr>
        <p:txBody>
          <a:bodyPr lIns="0" tIns="0" rIns="0" bIns="0"/>
          <a:lstStyle/>
          <a:p>
            <a:pPr defTabSz="457200">
              <a:defRPr sz="1200">
                <a:latin typeface="ヒラギノ角ゴ ProN W3"/>
                <a:ea typeface="ヒラギノ角ゴ ProN W3"/>
                <a:cs typeface="ヒラギノ角ゴ ProN W3"/>
                <a:sym typeface="ヒラギノ角ゴ ProN W3"/>
              </a:defRPr>
            </a:pPr>
            <a:endParaRPr sz="1200"/>
          </a:p>
        </p:txBody>
      </p:sp>
      <p:sp>
        <p:nvSpPr>
          <p:cNvPr id="331" name="[ADP]"/>
          <p:cNvSpPr/>
          <p:nvPr/>
        </p:nvSpPr>
        <p:spPr>
          <a:xfrm>
            <a:off x="9968733" y="5466468"/>
            <a:ext cx="637995" cy="37959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lvl1pPr>
              <a:buClr>
                <a:srgbClr val="000000"/>
              </a:buClr>
              <a:buFont typeface="Calibri"/>
              <a:defRPr>
                <a:latin typeface="Calibri"/>
                <a:ea typeface="Calibri"/>
                <a:cs typeface="Calibri"/>
                <a:sym typeface="Calibri"/>
              </a:defRPr>
            </a:lvl1pPr>
          </a:lstStyle>
          <a:p>
            <a:r>
              <a:t>[ADP]</a:t>
            </a:r>
          </a:p>
        </p:txBody>
      </p:sp>
      <p:sp>
        <p:nvSpPr>
          <p:cNvPr id="332" name="[F6P]"/>
          <p:cNvSpPr/>
          <p:nvPr/>
        </p:nvSpPr>
        <p:spPr>
          <a:xfrm>
            <a:off x="7022494" y="2061280"/>
            <a:ext cx="585097" cy="37959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lvl1pPr>
              <a:buClr>
                <a:srgbClr val="000000"/>
              </a:buClr>
              <a:buFont typeface="Calibri"/>
              <a:defRPr>
                <a:latin typeface="Calibri"/>
                <a:ea typeface="Calibri"/>
                <a:cs typeface="Calibri"/>
                <a:sym typeface="Calibri"/>
              </a:defRPr>
            </a:lvl1pPr>
          </a:lstStyle>
          <a:p>
            <a:r>
              <a:t>[F6P]</a:t>
            </a:r>
          </a:p>
        </p:txBody>
      </p:sp>
      <p:sp>
        <p:nvSpPr>
          <p:cNvPr id="333" name="線"/>
          <p:cNvSpPr/>
          <p:nvPr/>
        </p:nvSpPr>
        <p:spPr>
          <a:xfrm>
            <a:off x="7451194" y="2924176"/>
            <a:ext cx="2663826" cy="2017713"/>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cubicBezTo>
                  <a:pt x="579" y="0"/>
                  <a:pt x="1171" y="17"/>
                  <a:pt x="1751" y="2328"/>
                </a:cubicBezTo>
                <a:cubicBezTo>
                  <a:pt x="2330" y="4639"/>
                  <a:pt x="2047" y="10927"/>
                  <a:pt x="3501" y="13885"/>
                </a:cubicBezTo>
                <a:cubicBezTo>
                  <a:pt x="4956" y="16842"/>
                  <a:pt x="7492" y="18762"/>
                  <a:pt x="10504" y="20054"/>
                </a:cubicBezTo>
                <a:cubicBezTo>
                  <a:pt x="13516" y="21345"/>
                  <a:pt x="17558" y="21464"/>
                  <a:pt x="21600" y="21600"/>
                </a:cubicBezTo>
              </a:path>
            </a:pathLst>
          </a:custGeom>
          <a:ln w="25400">
            <a:solidFill>
              <a:srgbClr val="000000"/>
            </a:solidFill>
            <a:miter lim="400000"/>
          </a:ln>
        </p:spPr>
        <p:txBody>
          <a:bodyPr lIns="50800" tIns="50800" rIns="50800" bIns="50800" anchor="ctr"/>
          <a:lstStyle/>
          <a:p>
            <a:pPr>
              <a:defRPr>
                <a:solidFill>
                  <a:srgbClr val="FFFFFF"/>
                </a:solidFill>
                <a:effectLst>
                  <a:outerShdw blurRad="38100" dist="12700" dir="5400000" rotWithShape="0">
                    <a:srgbClr val="000000">
                      <a:alpha val="50000"/>
                    </a:srgbClr>
                  </a:outerShdw>
                </a:effectLst>
              </a:defRPr>
            </a:pPr>
            <a:endParaRPr/>
          </a:p>
        </p:txBody>
      </p:sp>
      <p:sp>
        <p:nvSpPr>
          <p:cNvPr id="334" name="線"/>
          <p:cNvSpPr/>
          <p:nvPr/>
        </p:nvSpPr>
        <p:spPr>
          <a:xfrm>
            <a:off x="7451195" y="4039716"/>
            <a:ext cx="2736851" cy="1189510"/>
          </a:xfrm>
          <a:custGeom>
            <a:avLst/>
            <a:gdLst/>
            <a:ahLst/>
            <a:cxnLst>
              <a:cxn ang="0">
                <a:pos x="wd2" y="hd2"/>
              </a:cxn>
              <a:cxn ang="5400000">
                <a:pos x="wd2" y="hd2"/>
              </a:cxn>
              <a:cxn ang="10800000">
                <a:pos x="wd2" y="hd2"/>
              </a:cxn>
              <a:cxn ang="16200000">
                <a:pos x="wd2" y="hd2"/>
              </a:cxn>
            </a:cxnLst>
            <a:rect l="0" t="0" r="r" b="b"/>
            <a:pathLst>
              <a:path w="21600" h="20992" extrusionOk="0">
                <a:moveTo>
                  <a:pt x="0" y="20992"/>
                </a:moveTo>
                <a:cubicBezTo>
                  <a:pt x="276" y="13792"/>
                  <a:pt x="564" y="6592"/>
                  <a:pt x="1704" y="3202"/>
                </a:cubicBezTo>
                <a:cubicBezTo>
                  <a:pt x="2844" y="-188"/>
                  <a:pt x="4636" y="-608"/>
                  <a:pt x="6816" y="653"/>
                </a:cubicBezTo>
                <a:cubicBezTo>
                  <a:pt x="8996" y="1913"/>
                  <a:pt x="12303" y="8693"/>
                  <a:pt x="14772" y="10822"/>
                </a:cubicBezTo>
                <a:cubicBezTo>
                  <a:pt x="17240" y="12952"/>
                  <a:pt x="19420" y="13148"/>
                  <a:pt x="21600" y="13372"/>
                </a:cubicBezTo>
              </a:path>
            </a:pathLst>
          </a:custGeom>
          <a:ln>
            <a:solidFill>
              <a:srgbClr val="000000"/>
            </a:solidFill>
            <a:prstDash val="dash"/>
          </a:ln>
        </p:spPr>
        <p:txBody>
          <a:bodyPr lIns="50800" tIns="50800" rIns="50800" bIns="50800" anchor="ctr"/>
          <a:lstStyle/>
          <a:p>
            <a:pPr>
              <a:defRPr>
                <a:solidFill>
                  <a:srgbClr val="FFFFFF"/>
                </a:solidFill>
                <a:effectLst>
                  <a:outerShdw blurRad="38100" dist="12700" dir="5400000" rotWithShape="0">
                    <a:srgbClr val="000000">
                      <a:alpha val="50000"/>
                    </a:srgbClr>
                  </a:outerShdw>
                </a:effectLst>
              </a:defRPr>
            </a:pPr>
            <a:endParaRPr/>
          </a:p>
        </p:txBody>
      </p:sp>
      <p:pic>
        <p:nvPicPr>
          <p:cNvPr id="2" name="図 1">
            <a:extLst>
              <a:ext uri="{FF2B5EF4-FFF2-40B4-BE49-F238E27FC236}">
                <a16:creationId xmlns:a16="http://schemas.microsoft.com/office/drawing/2014/main" id="{1771E2BC-50C2-C69D-3DE4-774F83E8B479}"/>
              </a:ext>
            </a:extLst>
          </p:cNvPr>
          <p:cNvPicPr>
            <a:picLocks noChangeAspect="1"/>
          </p:cNvPicPr>
          <p:nvPr/>
        </p:nvPicPr>
        <p:blipFill>
          <a:blip r:embed="rId2"/>
          <a:stretch>
            <a:fillRect/>
          </a:stretch>
        </p:blipFill>
        <p:spPr>
          <a:xfrm>
            <a:off x="8819620" y="3561293"/>
            <a:ext cx="1028100" cy="713958"/>
          </a:xfrm>
          <a:prstGeom prst="rect">
            <a:avLst/>
          </a:prstGeom>
        </p:spPr>
      </p:pic>
      <p:pic>
        <p:nvPicPr>
          <p:cNvPr id="3" name="図 2">
            <a:extLst>
              <a:ext uri="{FF2B5EF4-FFF2-40B4-BE49-F238E27FC236}">
                <a16:creationId xmlns:a16="http://schemas.microsoft.com/office/drawing/2014/main" id="{0F799C5B-43E3-1732-95BD-C95A8BA807C1}"/>
              </a:ext>
            </a:extLst>
          </p:cNvPr>
          <p:cNvPicPr>
            <a:picLocks noChangeAspect="1"/>
          </p:cNvPicPr>
          <p:nvPr/>
        </p:nvPicPr>
        <p:blipFill>
          <a:blip r:embed="rId3"/>
          <a:stretch>
            <a:fillRect/>
          </a:stretch>
        </p:blipFill>
        <p:spPr>
          <a:xfrm>
            <a:off x="7792315" y="2636837"/>
            <a:ext cx="1028100" cy="713958"/>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0" name="演習2: 相平面とヌルクライン"/>
          <p:cNvSpPr txBox="1">
            <a:spLocks noGrp="1"/>
          </p:cNvSpPr>
          <p:nvPr>
            <p:ph type="title"/>
          </p:nvPr>
        </p:nvSpPr>
        <p:spPr>
          <a:prstGeom prst="rect">
            <a:avLst/>
          </a:prstGeom>
        </p:spPr>
        <p:txBody>
          <a:bodyPr/>
          <a:lstStyle/>
          <a:p>
            <a:r>
              <a:t>演習2: 相平面とヌルクライン</a:t>
            </a:r>
          </a:p>
        </p:txBody>
      </p:sp>
      <p:sp>
        <p:nvSpPr>
          <p:cNvPr id="339" name="Sel’kovモデルの解軌跡を相平面に描きなさい (MATLAB)…"/>
          <p:cNvSpPr txBox="1">
            <a:spLocks noGrp="1"/>
          </p:cNvSpPr>
          <p:nvPr>
            <p:ph type="body" idx="4294967295"/>
          </p:nvPr>
        </p:nvSpPr>
        <p:spPr>
          <a:xfrm>
            <a:off x="290945" y="1943100"/>
            <a:ext cx="11693236" cy="4013200"/>
          </a:xfrm>
          <a:prstGeom prst="rect">
            <a:avLst/>
          </a:prstGeom>
        </p:spPr>
        <p:txBody>
          <a:bodyPr>
            <a:normAutofit/>
          </a:bodyPr>
          <a:lstStyle/>
          <a:p>
            <a:pPr marL="554990" indent="-514350">
              <a:lnSpc>
                <a:spcPct val="80000"/>
              </a:lnSpc>
              <a:buClr>
                <a:srgbClr val="000000"/>
              </a:buClr>
              <a:buSzPct val="100000"/>
              <a:buFont typeface="+mj-lt"/>
              <a:buAutoNum type="arabicPeriod"/>
            </a:pPr>
            <a:r>
              <a:rPr sz="2800" dirty="0" err="1"/>
              <a:t>Sel’kovモデルの解軌跡を相平面に描きなさい</a:t>
            </a:r>
            <a:r>
              <a:rPr sz="2800" dirty="0"/>
              <a:t> (</a:t>
            </a:r>
            <a:r>
              <a:rPr lang="en-US" sz="2800" dirty="0">
                <a:solidFill>
                  <a:srgbClr val="0085CC"/>
                </a:solidFill>
                <a:uFill>
                  <a:solidFill>
                    <a:srgbClr val="0085CC"/>
                  </a:solidFill>
                </a:uFill>
              </a:rPr>
              <a:t>python</a:t>
            </a:r>
            <a:r>
              <a:rPr sz="2800" dirty="0"/>
              <a:t>)</a:t>
            </a:r>
            <a:endParaRPr lang="en-US" sz="2800" dirty="0"/>
          </a:p>
          <a:p>
            <a:pPr marL="955040" lvl="1" indent="-514350">
              <a:lnSpc>
                <a:spcPct val="80000"/>
              </a:lnSpc>
              <a:buClr>
                <a:srgbClr val="000000"/>
              </a:buClr>
              <a:buSzPct val="100000"/>
            </a:pPr>
            <a:endParaRPr lang="en-US" altLang="ja-JP" sz="2400" dirty="0"/>
          </a:p>
          <a:p>
            <a:pPr marL="955040" lvl="1" indent="-514350">
              <a:lnSpc>
                <a:spcPct val="80000"/>
              </a:lnSpc>
              <a:buClr>
                <a:srgbClr val="000000"/>
              </a:buClr>
              <a:buSzPct val="100000"/>
            </a:pPr>
            <a:r>
              <a:rPr lang="ja-JP" altLang="en-US" sz="2400"/>
              <a:t>解軌跡 ＝ 時間とともに点</a:t>
            </a:r>
            <a:r>
              <a:rPr lang="en-US" altLang="ja-JP" sz="2400" dirty="0"/>
              <a:t>([</a:t>
            </a:r>
            <a:r>
              <a:rPr lang="en-GB" altLang="ja-JP" sz="2400" dirty="0"/>
              <a:t>ADP],[F6P])</a:t>
            </a:r>
            <a:r>
              <a:rPr lang="ja-JP" altLang="en-US" sz="2400"/>
              <a:t>が</a:t>
            </a:r>
            <a:r>
              <a:rPr lang="en-US" altLang="ja-JP" sz="2400" dirty="0"/>
              <a:t>2</a:t>
            </a:r>
            <a:r>
              <a:rPr lang="ja-JP" altLang="en-US" sz="2400"/>
              <a:t>次元平面上でどのように動くか</a:t>
            </a:r>
            <a:endParaRPr lang="en-US" sz="2800" dirty="0"/>
          </a:p>
          <a:p>
            <a:pPr marL="554990" indent="-514350">
              <a:lnSpc>
                <a:spcPct val="80000"/>
              </a:lnSpc>
              <a:buClr>
                <a:srgbClr val="000000"/>
              </a:buClr>
              <a:buSzPct val="100000"/>
              <a:buFont typeface="+mj-lt"/>
              <a:buAutoNum type="arabicPeriod"/>
            </a:pPr>
            <a:endParaRPr lang="en-US" sz="2800" dirty="0"/>
          </a:p>
          <a:p>
            <a:pPr marL="554990" indent="-514350">
              <a:lnSpc>
                <a:spcPct val="80000"/>
              </a:lnSpc>
              <a:buClr>
                <a:srgbClr val="000000"/>
              </a:buClr>
              <a:buSzPct val="100000"/>
              <a:buFont typeface="+mj-lt"/>
              <a:buAutoNum type="arabicPeriod"/>
            </a:pPr>
            <a:endParaRPr lang="en-US" sz="2800" dirty="0"/>
          </a:p>
          <a:p>
            <a:pPr marL="554990" indent="-514350">
              <a:lnSpc>
                <a:spcPct val="80000"/>
              </a:lnSpc>
              <a:buClr>
                <a:srgbClr val="000000"/>
              </a:buClr>
              <a:buSzPct val="100000"/>
              <a:buFont typeface="+mj-lt"/>
              <a:buAutoNum type="arabicPeriod"/>
            </a:pPr>
            <a:r>
              <a:rPr lang="ja-JP" altLang="en-US" sz="2800"/>
              <a:t>ヌルクラインの式を</a:t>
            </a:r>
            <a:r>
              <a:rPr lang="ja-JP" altLang="en-US" sz="2800">
                <a:solidFill>
                  <a:srgbClr val="FF6962"/>
                </a:solidFill>
                <a:uFill>
                  <a:solidFill>
                    <a:srgbClr val="FF6962"/>
                  </a:solidFill>
                </a:uFill>
              </a:rPr>
              <a:t>紙と鉛筆</a:t>
            </a:r>
            <a:r>
              <a:rPr lang="ja-JP" altLang="en-US" sz="2800"/>
              <a:t>で求め、</a:t>
            </a:r>
            <a:r>
              <a:rPr lang="en-GB" altLang="ja-JP" sz="2800" dirty="0">
                <a:solidFill>
                  <a:srgbClr val="0085CC"/>
                </a:solidFill>
                <a:uFill>
                  <a:solidFill>
                    <a:srgbClr val="0085CC"/>
                  </a:solidFill>
                </a:uFill>
              </a:rPr>
              <a:t>python</a:t>
            </a:r>
            <a:r>
              <a:rPr lang="ja-JP" altLang="en-US" sz="2800"/>
              <a:t>でグラフ化しなさい。</a:t>
            </a:r>
            <a:endParaRPr sz="2800" dirty="0"/>
          </a:p>
          <a:p>
            <a:pPr marL="383540">
              <a:lnSpc>
                <a:spcPct val="80000"/>
              </a:lnSpc>
              <a:buClr>
                <a:srgbClr val="000000"/>
              </a:buClr>
              <a:buSzPct val="100000"/>
              <a:buFont typeface="Arial"/>
            </a:pPr>
            <a:endParaRPr lang="ja-JP" altLang="en-US"/>
          </a:p>
          <a:p>
            <a:pPr marL="40640" indent="0">
              <a:lnSpc>
                <a:spcPct val="80000"/>
              </a:lnSpc>
              <a:buClr>
                <a:srgbClr val="000000"/>
              </a:buClr>
              <a:buSzPct val="100000"/>
              <a:buNone/>
            </a:pPr>
            <a:endParaRPr lang="ja-JP" altLang="en-US" sz="2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1" name="空欄を埋めなさい（相平面）"/>
          <p:cNvSpPr txBox="1">
            <a:spLocks noGrp="1"/>
          </p:cNvSpPr>
          <p:nvPr>
            <p:ph type="title"/>
          </p:nvPr>
        </p:nvSpPr>
        <p:spPr>
          <a:prstGeom prst="rect">
            <a:avLst/>
          </a:prstGeom>
        </p:spPr>
        <p:txBody>
          <a:bodyPr/>
          <a:lstStyle/>
          <a:p>
            <a:r>
              <a:rPr dirty="0" err="1"/>
              <a:t>空欄を埋めなさい（相平面</a:t>
            </a:r>
            <a:r>
              <a:rPr lang="ja-JP" altLang="en-US"/>
              <a:t>とヌルクライン</a:t>
            </a:r>
            <a:r>
              <a:rPr dirty="0"/>
              <a:t>）</a:t>
            </a:r>
          </a:p>
        </p:txBody>
      </p:sp>
      <p:sp>
        <p:nvSpPr>
          <p:cNvPr id="3" name="テキスト ボックス 2">
            <a:extLst>
              <a:ext uri="{FF2B5EF4-FFF2-40B4-BE49-F238E27FC236}">
                <a16:creationId xmlns:a16="http://schemas.microsoft.com/office/drawing/2014/main" id="{7CD269E9-3FB3-A36D-A084-866D33036312}"/>
              </a:ext>
            </a:extLst>
          </p:cNvPr>
          <p:cNvSpPr txBox="1"/>
          <p:nvPr/>
        </p:nvSpPr>
        <p:spPr>
          <a:xfrm>
            <a:off x="3210606" y="1339402"/>
            <a:ext cx="6097904" cy="5355312"/>
          </a:xfrm>
          <a:prstGeom prst="rect">
            <a:avLst/>
          </a:prstGeom>
          <a:noFill/>
          <a:ln>
            <a:solidFill>
              <a:schemeClr val="accent1">
                <a:shade val="15000"/>
              </a:schemeClr>
            </a:solidFill>
          </a:ln>
        </p:spPr>
        <p:txBody>
          <a:bodyPr wrap="square">
            <a:spAutoFit/>
          </a:bodyPr>
          <a:lstStyle/>
          <a:p>
            <a:r>
              <a:rPr lang="ja-JP" altLang="en-US" b="1">
                <a:solidFill>
                  <a:srgbClr val="000000"/>
                </a:solidFill>
                <a:latin typeface="Hiragino Kaku Gothic ProN W6" panose="020B0300000000000000" pitchFamily="34" charset="-128"/>
                <a:ea typeface="Hiragino Kaku Gothic ProN W6" panose="020B0300000000000000" pitchFamily="34" charset="-128"/>
              </a:rPr>
              <a:t>コード</a:t>
            </a:r>
            <a:r>
              <a:rPr lang="en-GB" altLang="ja-JP" dirty="0">
                <a:latin typeface="Courier New" panose="02070309020205020404" pitchFamily="49" charset="0"/>
                <a:cs typeface="Courier New" panose="02070309020205020404" pitchFamily="49" charset="0"/>
              </a:rPr>
              <a:t>(</a:t>
            </a:r>
            <a:r>
              <a:rPr lang="en-GB" altLang="ja-JP" dirty="0" err="1">
                <a:latin typeface="Courier New" panose="02070309020205020404" pitchFamily="49" charset="0"/>
                <a:cs typeface="Courier New" panose="02070309020205020404" pitchFamily="49" charset="0"/>
              </a:rPr>
              <a:t>selkov_phaseplane.py</a:t>
            </a:r>
            <a:r>
              <a:rPr lang="en-GB" altLang="ja-JP" dirty="0">
                <a:latin typeface="Courier New" panose="02070309020205020404" pitchFamily="49" charset="0"/>
                <a:cs typeface="Courier New" panose="02070309020205020404" pitchFamily="49" charset="0"/>
              </a:rPr>
              <a:t>)</a:t>
            </a:r>
            <a:endParaRPr lang="en-US" altLang="ja-JP" dirty="0"/>
          </a:p>
          <a:p>
            <a:endParaRPr lang="en-US" altLang="ja-JP" dirty="0"/>
          </a:p>
          <a:p>
            <a:r>
              <a:rPr lang="en-US" altLang="ja-JP" dirty="0"/>
              <a:t>(</a:t>
            </a:r>
            <a:r>
              <a:rPr lang="ja-JP" altLang="en-US"/>
              <a:t>略</a:t>
            </a:r>
            <a:r>
              <a:rPr lang="en-US" altLang="ja-JP" dirty="0"/>
              <a:t>)</a:t>
            </a:r>
          </a:p>
          <a:p>
            <a:endParaRPr lang="ja-JP" altLang="en-US"/>
          </a:p>
          <a:p>
            <a:r>
              <a:rPr lang="ja-JP" altLang="en-US"/>
              <a:t>solution = solve_ivp( selkov_model, t_span, init, t_eval=t_eval, method='RK45', args=param )</a:t>
            </a:r>
          </a:p>
          <a:p>
            <a:endParaRPr lang="ja-JP" altLang="en-US"/>
          </a:p>
          <a:p>
            <a:r>
              <a:rPr lang="ja-JP" altLang="en-US"/>
              <a:t>ADP = solution.y[0]</a:t>
            </a:r>
          </a:p>
          <a:p>
            <a:r>
              <a:rPr lang="ja-JP" altLang="en-US"/>
              <a:t>F6P = solution.y[1]</a:t>
            </a:r>
          </a:p>
          <a:p>
            <a:endParaRPr lang="ja-JP" altLang="en-US"/>
          </a:p>
          <a:p>
            <a:r>
              <a:rPr lang="ja-JP" altLang="en-US"/>
              <a:t>plt.plot( </a:t>
            </a:r>
            <a:r>
              <a:rPr lang="en-US" altLang="ja-JP" dirty="0"/>
              <a:t>     </a:t>
            </a:r>
            <a:r>
              <a:rPr lang="ja-JP" altLang="en-US"/>
              <a:t>, </a:t>
            </a:r>
            <a:r>
              <a:rPr lang="en-US" altLang="ja-JP" dirty="0"/>
              <a:t>     </a:t>
            </a:r>
            <a:r>
              <a:rPr lang="ja-JP" altLang="en-US"/>
              <a:t>, 'k-')</a:t>
            </a:r>
          </a:p>
          <a:p>
            <a:endParaRPr lang="ja-JP" altLang="en-US"/>
          </a:p>
          <a:p>
            <a:r>
              <a:rPr lang="ja-JP" altLang="en-US"/>
              <a:t>x = np.linspace( 0, 3, 100 )</a:t>
            </a:r>
          </a:p>
          <a:p>
            <a:r>
              <a:rPr lang="ja-JP" altLang="en-US"/>
              <a:t>x_null = x / ( a + x**2 ) </a:t>
            </a:r>
            <a:r>
              <a:rPr lang="ja-JP" altLang="en-US">
                <a:solidFill>
                  <a:srgbClr val="008F00"/>
                </a:solidFill>
              </a:rPr>
              <a:t># The nullcline for dydt </a:t>
            </a:r>
          </a:p>
          <a:p>
            <a:r>
              <a:rPr lang="ja-JP" altLang="en-US"/>
              <a:t>y_null =</a:t>
            </a:r>
            <a:r>
              <a:rPr lang="en-US" altLang="ja-JP" dirty="0"/>
              <a:t>                      </a:t>
            </a:r>
            <a:r>
              <a:rPr lang="ja-JP" altLang="en-US"/>
              <a:t> </a:t>
            </a:r>
            <a:r>
              <a:rPr lang="ja-JP" altLang="en-US">
                <a:solidFill>
                  <a:srgbClr val="008F00"/>
                </a:solidFill>
              </a:rPr>
              <a:t># The nullcline for dydt </a:t>
            </a:r>
          </a:p>
          <a:p>
            <a:endParaRPr lang="ja-JP" altLang="en-US"/>
          </a:p>
          <a:p>
            <a:r>
              <a:rPr lang="ja-JP" altLang="en-US"/>
              <a:t>plt.plot( x , x_null , 'r-')</a:t>
            </a:r>
          </a:p>
          <a:p>
            <a:r>
              <a:rPr lang="ja-JP" altLang="en-US"/>
              <a:t>plt.plot( </a:t>
            </a:r>
            <a:r>
              <a:rPr lang="en-US" altLang="ja-JP" dirty="0"/>
              <a:t>     </a:t>
            </a:r>
            <a:r>
              <a:rPr lang="ja-JP" altLang="en-US"/>
              <a:t>, </a:t>
            </a:r>
            <a:r>
              <a:rPr lang="en-US" altLang="ja-JP" dirty="0"/>
              <a:t>     </a:t>
            </a:r>
            <a:r>
              <a:rPr lang="ja-JP" altLang="en-US"/>
              <a:t>, 'b-')</a:t>
            </a:r>
          </a:p>
          <a:p>
            <a:r>
              <a:rPr lang="ja-JP" altLang="en-US"/>
              <a:t>plt.show()</a:t>
            </a:r>
          </a:p>
        </p:txBody>
      </p:sp>
      <p:sp>
        <p:nvSpPr>
          <p:cNvPr id="4" name="正方形/長方形 3">
            <a:extLst>
              <a:ext uri="{FF2B5EF4-FFF2-40B4-BE49-F238E27FC236}">
                <a16:creationId xmlns:a16="http://schemas.microsoft.com/office/drawing/2014/main" id="{BA49A1E8-4920-9568-850A-0CF6232703EA}"/>
              </a:ext>
            </a:extLst>
          </p:cNvPr>
          <p:cNvSpPr/>
          <p:nvPr/>
        </p:nvSpPr>
        <p:spPr>
          <a:xfrm>
            <a:off x="4093943" y="5281423"/>
            <a:ext cx="1316258" cy="237175"/>
          </a:xfrm>
          <a:prstGeom prst="rect">
            <a:avLst/>
          </a:prstGeom>
          <a:solidFill>
            <a:schemeClr val="bg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 name="正方形/長方形 4">
            <a:extLst>
              <a:ext uri="{FF2B5EF4-FFF2-40B4-BE49-F238E27FC236}">
                <a16:creationId xmlns:a16="http://schemas.microsoft.com/office/drawing/2014/main" id="{B5F5A1ED-6F52-E660-CF02-2CBC98A15454}"/>
              </a:ext>
            </a:extLst>
          </p:cNvPr>
          <p:cNvSpPr/>
          <p:nvPr/>
        </p:nvSpPr>
        <p:spPr>
          <a:xfrm>
            <a:off x="4093942" y="6053099"/>
            <a:ext cx="306608" cy="237175"/>
          </a:xfrm>
          <a:prstGeom prst="rect">
            <a:avLst/>
          </a:prstGeom>
          <a:solidFill>
            <a:schemeClr val="bg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正方形/長方形 5">
            <a:extLst>
              <a:ext uri="{FF2B5EF4-FFF2-40B4-BE49-F238E27FC236}">
                <a16:creationId xmlns:a16="http://schemas.microsoft.com/office/drawing/2014/main" id="{F781062C-2C8F-8865-3FBD-C2C194F9DB98}"/>
              </a:ext>
            </a:extLst>
          </p:cNvPr>
          <p:cNvSpPr/>
          <p:nvPr/>
        </p:nvSpPr>
        <p:spPr>
          <a:xfrm>
            <a:off x="4513042" y="6053099"/>
            <a:ext cx="306608" cy="237175"/>
          </a:xfrm>
          <a:prstGeom prst="rect">
            <a:avLst/>
          </a:prstGeom>
          <a:solidFill>
            <a:schemeClr val="bg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正方形/長方形 7">
            <a:extLst>
              <a:ext uri="{FF2B5EF4-FFF2-40B4-BE49-F238E27FC236}">
                <a16:creationId xmlns:a16="http://schemas.microsoft.com/office/drawing/2014/main" id="{EB209B25-E6EB-F151-9E88-3806CA4195BB}"/>
              </a:ext>
            </a:extLst>
          </p:cNvPr>
          <p:cNvSpPr/>
          <p:nvPr/>
        </p:nvSpPr>
        <p:spPr>
          <a:xfrm>
            <a:off x="4093942" y="4143407"/>
            <a:ext cx="306608" cy="237175"/>
          </a:xfrm>
          <a:prstGeom prst="rect">
            <a:avLst/>
          </a:prstGeom>
          <a:solidFill>
            <a:schemeClr val="bg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正方形/長方形 8">
            <a:extLst>
              <a:ext uri="{FF2B5EF4-FFF2-40B4-BE49-F238E27FC236}">
                <a16:creationId xmlns:a16="http://schemas.microsoft.com/office/drawing/2014/main" id="{60FB0CF8-5505-4EAE-14C9-189D254163B2}"/>
              </a:ext>
            </a:extLst>
          </p:cNvPr>
          <p:cNvSpPr/>
          <p:nvPr/>
        </p:nvSpPr>
        <p:spPr>
          <a:xfrm>
            <a:off x="4513042" y="4143407"/>
            <a:ext cx="306608" cy="237175"/>
          </a:xfrm>
          <a:prstGeom prst="rect">
            <a:avLst/>
          </a:prstGeom>
          <a:solidFill>
            <a:schemeClr val="bg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4" name="青：解軌跡、赤：ヌルクライン"/>
          <p:cNvSpPr/>
          <p:nvPr/>
        </p:nvSpPr>
        <p:spPr>
          <a:xfrm>
            <a:off x="3390285" y="6021964"/>
            <a:ext cx="5334794" cy="47192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p>
            <a:pPr>
              <a:buClr>
                <a:srgbClr val="000000"/>
              </a:buClr>
              <a:buFont typeface="Arial"/>
            </a:pPr>
            <a:r>
              <a:rPr lang="ja-JP" altLang="en-US" sz="2400">
                <a:latin typeface="Hiragino Kaku Gothic ProN W3" panose="020B0300000000000000" pitchFamily="34" charset="-128"/>
                <a:ea typeface="Hiragino Kaku Gothic ProN W3" panose="020B0300000000000000" pitchFamily="34" charset="-128"/>
                <a:cs typeface="Heiti TC Light"/>
                <a:sym typeface="Heiti TC Light"/>
              </a:rPr>
              <a:t>黒</a:t>
            </a:r>
            <a:r>
              <a:rPr sz="2400" dirty="0">
                <a:latin typeface="Hiragino Kaku Gothic ProN W3" panose="020B0300000000000000" pitchFamily="34" charset="-128"/>
                <a:ea typeface="Hiragino Kaku Gothic ProN W3" panose="020B0300000000000000" pitchFamily="34" charset="-128"/>
                <a:cs typeface="Heiti TC Light"/>
                <a:sym typeface="Heiti TC Light"/>
              </a:rPr>
              <a:t>：</a:t>
            </a:r>
            <a:r>
              <a:rPr lang="ja-JP" altLang="en-US" sz="2400">
                <a:latin typeface="Hiragino Kaku Gothic ProN W3" panose="020B0300000000000000" pitchFamily="34" charset="-128"/>
                <a:ea typeface="Hiragino Kaku Gothic ProN W3" panose="020B0300000000000000" pitchFamily="34" charset="-128"/>
                <a:cs typeface="Heiti TC Light"/>
                <a:sym typeface="Heiti TC Light"/>
              </a:rPr>
              <a:t>解の軌跡</a:t>
            </a:r>
            <a:r>
              <a:rPr sz="2400" dirty="0">
                <a:latin typeface="Hiragino Kaku Gothic ProN W3" panose="020B0300000000000000" pitchFamily="34" charset="-128"/>
                <a:ea typeface="Hiragino Kaku Gothic ProN W3" panose="020B0300000000000000" pitchFamily="34" charset="-128"/>
                <a:cs typeface="Heiti TC Light"/>
                <a:sym typeface="Heiti TC Light"/>
              </a:rPr>
              <a:t>、</a:t>
            </a:r>
            <a:r>
              <a:rPr lang="ja-JP" altLang="en-US" sz="2400">
                <a:latin typeface="Hiragino Kaku Gothic ProN W3" panose="020B0300000000000000" pitchFamily="34" charset="-128"/>
                <a:ea typeface="Hiragino Kaku Gothic ProN W3" panose="020B0300000000000000" pitchFamily="34" charset="-128"/>
                <a:cs typeface="Heiti TC Light"/>
                <a:sym typeface="Heiti TC Light"/>
              </a:rPr>
              <a:t>青・</a:t>
            </a:r>
            <a:r>
              <a:rPr sz="2400" dirty="0" err="1">
                <a:latin typeface="Hiragino Kaku Gothic ProN W3" panose="020B0300000000000000" pitchFamily="34" charset="-128"/>
                <a:ea typeface="Hiragino Kaku Gothic ProN W3" panose="020B0300000000000000" pitchFamily="34" charset="-128"/>
                <a:cs typeface="Heiti TC Light"/>
                <a:sym typeface="Heiti TC Light"/>
              </a:rPr>
              <a:t>赤</a:t>
            </a:r>
            <a:r>
              <a:rPr sz="2400" dirty="0">
                <a:latin typeface="Hiragino Kaku Gothic ProN W3" panose="020B0300000000000000" pitchFamily="34" charset="-128"/>
                <a:ea typeface="Hiragino Kaku Gothic ProN W3" panose="020B0300000000000000" pitchFamily="34" charset="-128"/>
                <a:cs typeface="Heiti TC Light"/>
                <a:sym typeface="Heiti TC Light"/>
              </a:rPr>
              <a:t>：</a:t>
            </a:r>
            <a:r>
              <a:rPr lang="ja-JP" altLang="en-US" sz="2400">
                <a:latin typeface="Hiragino Kaku Gothic ProN W3" panose="020B0300000000000000" pitchFamily="34" charset="-128"/>
                <a:ea typeface="Hiragino Kaku Gothic ProN W3" panose="020B0300000000000000" pitchFamily="34" charset="-128"/>
                <a:cs typeface="Heiti TC Light"/>
                <a:sym typeface="Heiti TC Light"/>
              </a:rPr>
              <a:t>ヌルクライン</a:t>
            </a:r>
            <a:endParaRPr sz="2400" dirty="0">
              <a:solidFill>
                <a:srgbClr val="FF9292"/>
              </a:solidFill>
              <a:uFill>
                <a:solidFill>
                  <a:srgbClr val="FF9292"/>
                </a:solidFill>
              </a:uFill>
              <a:latin typeface="Hiragino Kaku Gothic ProN W3" panose="020B0300000000000000" pitchFamily="34" charset="-128"/>
              <a:ea typeface="Hiragino Kaku Gothic ProN W3" panose="020B0300000000000000" pitchFamily="34" charset="-128"/>
              <a:cs typeface="Heiti TC Light"/>
              <a:sym typeface="Heiti TC Light"/>
            </a:endParaRPr>
          </a:p>
        </p:txBody>
      </p:sp>
      <p:sp>
        <p:nvSpPr>
          <p:cNvPr id="355" name="出力例: 解の軌跡とヌルクライン"/>
          <p:cNvSpPr txBox="1">
            <a:spLocks noGrp="1"/>
          </p:cNvSpPr>
          <p:nvPr>
            <p:ph type="title"/>
          </p:nvPr>
        </p:nvSpPr>
        <p:spPr>
          <a:prstGeom prst="rect">
            <a:avLst/>
          </a:prstGeom>
        </p:spPr>
        <p:txBody>
          <a:bodyPr/>
          <a:lstStyle/>
          <a:p>
            <a:r>
              <a:t>出力例: 解の軌跡とヌルクライン</a:t>
            </a:r>
          </a:p>
        </p:txBody>
      </p:sp>
      <p:pic>
        <p:nvPicPr>
          <p:cNvPr id="2" name="図 1">
            <a:extLst>
              <a:ext uri="{FF2B5EF4-FFF2-40B4-BE49-F238E27FC236}">
                <a16:creationId xmlns:a16="http://schemas.microsoft.com/office/drawing/2014/main" id="{13358F84-194E-CD81-8795-CEF61FD88B03}"/>
              </a:ext>
            </a:extLst>
          </p:cNvPr>
          <p:cNvPicPr>
            <a:picLocks noChangeAspect="1"/>
          </p:cNvPicPr>
          <p:nvPr/>
        </p:nvPicPr>
        <p:blipFill>
          <a:blip r:embed="rId2"/>
          <a:stretch>
            <a:fillRect/>
          </a:stretch>
        </p:blipFill>
        <p:spPr>
          <a:xfrm>
            <a:off x="3030747" y="1311215"/>
            <a:ext cx="5888966" cy="4416725"/>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E88457-1557-34D6-0A2F-6F6473F49AFF}"/>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F4721499-C1B2-522F-492D-A4F17BF117D5}"/>
              </a:ext>
            </a:extLst>
          </p:cNvPr>
          <p:cNvSpPr>
            <a:spLocks noGrp="1"/>
          </p:cNvSpPr>
          <p:nvPr>
            <p:ph type="title"/>
          </p:nvPr>
        </p:nvSpPr>
        <p:spPr/>
        <p:txBody>
          <a:bodyPr/>
          <a:lstStyle/>
          <a:p>
            <a:r>
              <a:rPr kumimoji="1" lang="ja-JP" altLang="en-US"/>
              <a:t>力学系の七つ道具</a:t>
            </a:r>
          </a:p>
        </p:txBody>
      </p:sp>
      <p:sp>
        <p:nvSpPr>
          <p:cNvPr id="4" name="テキスト ボックス 3">
            <a:extLst>
              <a:ext uri="{FF2B5EF4-FFF2-40B4-BE49-F238E27FC236}">
                <a16:creationId xmlns:a16="http://schemas.microsoft.com/office/drawing/2014/main" id="{390EB3C7-5DBC-2254-B934-0AE4600EDC06}"/>
              </a:ext>
            </a:extLst>
          </p:cNvPr>
          <p:cNvSpPr txBox="1"/>
          <p:nvPr/>
        </p:nvSpPr>
        <p:spPr>
          <a:xfrm>
            <a:off x="3036094" y="1898913"/>
            <a:ext cx="6129336" cy="4108817"/>
          </a:xfrm>
          <a:prstGeom prst="rect">
            <a:avLst/>
          </a:prstGeom>
          <a:noFill/>
        </p:spPr>
        <p:txBody>
          <a:bodyPr wrap="square">
            <a:spAutoFit/>
          </a:bodyPr>
          <a:lstStyle/>
          <a:p>
            <a:pPr>
              <a:spcAft>
                <a:spcPts val="1275"/>
              </a:spcAft>
              <a:buFont typeface="+mj-lt"/>
              <a:buAutoNum type="arabicPeriod"/>
            </a:pPr>
            <a:r>
              <a:rPr lang="ja-JP" altLang="en-US" sz="2800">
                <a:solidFill>
                  <a:srgbClr val="000000"/>
                </a:solidFill>
                <a:effectLst/>
                <a:latin typeface="Hiragino Sans" panose="020B0400000000000000" pitchFamily="34" charset="-128"/>
                <a:ea typeface="Hiragino Sans" panose="020B0400000000000000" pitchFamily="34" charset="-128"/>
                <a:cs typeface="Gill Sans" panose="020B0502020104020203" pitchFamily="34" charset="-79"/>
              </a:rPr>
              <a:t>相平面</a:t>
            </a:r>
            <a:endParaRPr lang="ja-JP" altLang="en-US" sz="2800">
              <a:solidFill>
                <a:srgbClr val="000000"/>
              </a:solidFill>
              <a:effectLst/>
              <a:latin typeface="Gill Sans" panose="020B0502020104020203" pitchFamily="34" charset="-79"/>
              <a:cs typeface="Gill Sans" panose="020B0502020104020203" pitchFamily="34" charset="-79"/>
            </a:endParaRPr>
          </a:p>
          <a:p>
            <a:pPr>
              <a:spcAft>
                <a:spcPts val="1275"/>
              </a:spcAft>
              <a:buFont typeface="+mj-lt"/>
              <a:buAutoNum type="arabicPeriod"/>
            </a:pPr>
            <a:r>
              <a:rPr lang="ja-JP" altLang="en-US" sz="2800">
                <a:solidFill>
                  <a:srgbClr val="000000"/>
                </a:solidFill>
                <a:effectLst/>
                <a:latin typeface="Hiragino Sans" panose="020B0400000000000000" pitchFamily="34" charset="-128"/>
                <a:ea typeface="Hiragino Sans" panose="020B0400000000000000" pitchFamily="34" charset="-128"/>
              </a:rPr>
              <a:t>ヌルクライン</a:t>
            </a:r>
            <a:endParaRPr lang="en-US" altLang="ja-JP" sz="2800" dirty="0">
              <a:solidFill>
                <a:srgbClr val="000000"/>
              </a:solidFill>
              <a:effectLst/>
              <a:latin typeface="Hiragino Sans" panose="020B0400000000000000" pitchFamily="34" charset="-128"/>
              <a:ea typeface="Hiragino Sans" panose="020B0400000000000000" pitchFamily="34" charset="-128"/>
            </a:endParaRPr>
          </a:p>
          <a:p>
            <a:pPr>
              <a:spcAft>
                <a:spcPts val="1275"/>
              </a:spcAft>
              <a:buFont typeface="+mj-lt"/>
              <a:buAutoNum type="arabicPeriod"/>
            </a:pPr>
            <a:r>
              <a:rPr lang="ja-JP" altLang="en-US" sz="2800">
                <a:solidFill>
                  <a:srgbClr val="C00000"/>
                </a:solidFill>
                <a:effectLst/>
                <a:latin typeface="Hiragino Sans" panose="020B0400000000000000" pitchFamily="34" charset="-128"/>
                <a:ea typeface="Hiragino Sans" panose="020B0400000000000000" pitchFamily="34" charset="-128"/>
              </a:rPr>
              <a:t>ベクトル場</a:t>
            </a:r>
            <a:endParaRPr lang="en-US" altLang="ja-JP" sz="2800" dirty="0">
              <a:solidFill>
                <a:srgbClr val="C00000"/>
              </a:solidFill>
              <a:effectLst/>
              <a:latin typeface="Hiragino Sans" panose="020B0400000000000000" pitchFamily="34" charset="-128"/>
              <a:ea typeface="Hiragino Sans" panose="020B0400000000000000" pitchFamily="34" charset="-128"/>
            </a:endParaRPr>
          </a:p>
          <a:p>
            <a:pPr>
              <a:spcAft>
                <a:spcPts val="1275"/>
              </a:spcAft>
              <a:buFont typeface="+mj-lt"/>
              <a:buAutoNum type="arabicPeriod"/>
            </a:pPr>
            <a:r>
              <a:rPr lang="ja-JP" altLang="en-US" sz="2800">
                <a:solidFill>
                  <a:srgbClr val="000000"/>
                </a:solidFill>
                <a:latin typeface="Hiragino Sans" panose="020B0400000000000000" pitchFamily="34" charset="-128"/>
                <a:ea typeface="Hiragino Sans" panose="020B0400000000000000" pitchFamily="34" charset="-128"/>
              </a:rPr>
              <a:t>固定点</a:t>
            </a:r>
            <a:endParaRPr lang="ja-JP" altLang="en-US" sz="2800">
              <a:solidFill>
                <a:srgbClr val="000000"/>
              </a:solidFill>
              <a:effectLst/>
              <a:latin typeface="Hiragino Sans" panose="020B0400000000000000" pitchFamily="34" charset="-128"/>
              <a:ea typeface="Hiragino Sans" panose="020B0400000000000000" pitchFamily="34" charset="-128"/>
            </a:endParaRPr>
          </a:p>
          <a:p>
            <a:pPr>
              <a:spcAft>
                <a:spcPts val="1275"/>
              </a:spcAft>
              <a:buFont typeface="+mj-lt"/>
              <a:buAutoNum type="arabicPeriod"/>
            </a:pPr>
            <a:r>
              <a:rPr lang="ja-JP" altLang="en-US" sz="2800">
                <a:solidFill>
                  <a:srgbClr val="000000"/>
                </a:solidFill>
                <a:effectLst/>
                <a:latin typeface="Hiragino Sans" panose="020B0400000000000000" pitchFamily="34" charset="-128"/>
                <a:ea typeface="Hiragino Sans" panose="020B0400000000000000" pitchFamily="34" charset="-128"/>
              </a:rPr>
              <a:t>ヤコビ行列</a:t>
            </a:r>
          </a:p>
          <a:p>
            <a:pPr>
              <a:spcAft>
                <a:spcPts val="1275"/>
              </a:spcAft>
              <a:buFont typeface="+mj-lt"/>
              <a:buAutoNum type="arabicPeriod"/>
            </a:pPr>
            <a:r>
              <a:rPr lang="ja-JP" altLang="en-US" sz="2800">
                <a:solidFill>
                  <a:srgbClr val="000000"/>
                </a:solidFill>
                <a:effectLst/>
                <a:latin typeface="Hiragino Sans" panose="020B0400000000000000" pitchFamily="34" charset="-128"/>
                <a:ea typeface="Hiragino Sans" panose="020B0400000000000000" pitchFamily="34" charset="-128"/>
              </a:rPr>
              <a:t>固有値による安定性解析</a:t>
            </a:r>
          </a:p>
          <a:p>
            <a:pPr>
              <a:spcAft>
                <a:spcPts val="1275"/>
              </a:spcAft>
              <a:buFont typeface="+mj-lt"/>
              <a:buAutoNum type="arabicPeriod"/>
            </a:pPr>
            <a:r>
              <a:rPr lang="ja-JP" altLang="en-US" sz="2800">
                <a:solidFill>
                  <a:srgbClr val="000000"/>
                </a:solidFill>
                <a:effectLst/>
                <a:latin typeface="Hiragino Sans" panose="020B0400000000000000" pitchFamily="34" charset="-128"/>
                <a:ea typeface="Hiragino Sans" panose="020B0400000000000000" pitchFamily="34" charset="-128"/>
                <a:cs typeface="Gill Sans" panose="020B0502020104020203" pitchFamily="34" charset="-79"/>
              </a:rPr>
              <a:t>分岐図</a:t>
            </a:r>
            <a:endParaRPr lang="ja-JP" altLang="en-US" sz="2800">
              <a:solidFill>
                <a:srgbClr val="000000"/>
              </a:solidFill>
              <a:effectLst/>
              <a:latin typeface="Gill Sans" panose="020B0502020104020203" pitchFamily="34" charset="-79"/>
              <a:cs typeface="Gill Sans" panose="020B0502020104020203" pitchFamily="34" charset="-79"/>
            </a:endParaRPr>
          </a:p>
        </p:txBody>
      </p:sp>
    </p:spTree>
    <p:extLst>
      <p:ext uri="{BB962C8B-B14F-4D97-AF65-F5344CB8AC3E}">
        <p14:creationId xmlns:p14="http://schemas.microsoft.com/office/powerpoint/2010/main" val="1316569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6" name="前回の復習：ベクトル場"/>
          <p:cNvSpPr txBox="1">
            <a:spLocks noGrp="1"/>
          </p:cNvSpPr>
          <p:nvPr>
            <p:ph type="title"/>
          </p:nvPr>
        </p:nvSpPr>
        <p:spPr>
          <a:prstGeom prst="rect">
            <a:avLst/>
          </a:prstGeom>
        </p:spPr>
        <p:txBody>
          <a:bodyPr/>
          <a:lstStyle/>
          <a:p>
            <a:r>
              <a:rPr dirty="0" err="1"/>
              <a:t>ベクトル場</a:t>
            </a:r>
            <a:r>
              <a:rPr lang="ja-JP" altLang="en-US"/>
              <a:t>：相平面上の風向きを可視化</a:t>
            </a:r>
            <a:r>
              <a:rPr dirty="0"/>
              <a:t> </a:t>
            </a:r>
          </a:p>
        </p:txBody>
      </p:sp>
      <p:sp>
        <p:nvSpPr>
          <p:cNvPr id="361" name="描き方"/>
          <p:cNvSpPr txBox="1">
            <a:spLocks noGrp="1"/>
          </p:cNvSpPr>
          <p:nvPr>
            <p:ph type="body" sz="quarter" idx="4294967295"/>
          </p:nvPr>
        </p:nvSpPr>
        <p:spPr>
          <a:xfrm>
            <a:off x="0" y="1255713"/>
            <a:ext cx="8229600" cy="1282700"/>
          </a:xfrm>
          <a:prstGeom prst="rect">
            <a:avLst/>
          </a:prstGeom>
        </p:spPr>
        <p:txBody>
          <a:bodyPr/>
          <a:lstStyle>
            <a:lvl1pPr marL="383540" indent="-342900">
              <a:buClr>
                <a:srgbClr val="000000"/>
              </a:buClr>
              <a:buSzPct val="100000"/>
              <a:buFont typeface="Arial"/>
            </a:lvl1pPr>
          </a:lstStyle>
          <a:p>
            <a:r>
              <a:t>描き方</a:t>
            </a:r>
          </a:p>
        </p:txBody>
      </p:sp>
      <p:sp>
        <p:nvSpPr>
          <p:cNvPr id="362" name="矢印"/>
          <p:cNvSpPr/>
          <p:nvPr/>
        </p:nvSpPr>
        <p:spPr>
          <a:xfrm>
            <a:off x="5459412" y="2133600"/>
            <a:ext cx="720726" cy="863600"/>
          </a:xfrm>
          <a:prstGeom prst="rightArrow">
            <a:avLst>
              <a:gd name="adj1" fmla="val 50000"/>
              <a:gd name="adj2" fmla="val 25000"/>
            </a:avLst>
          </a:prstGeom>
          <a:blipFill>
            <a:blip r:embed="rId2"/>
          </a:blipFill>
          <a:ln w="25400">
            <a:solidFill>
              <a:srgbClr val="000000"/>
            </a:solidFill>
            <a:miter lim="400000"/>
          </a:ln>
        </p:spPr>
        <p:txBody>
          <a:bodyPr lIns="50800" tIns="50800" rIns="50800" bIns="50800" anchor="ctr"/>
          <a:lstStyle/>
          <a:p>
            <a:pPr>
              <a:defRPr>
                <a:solidFill>
                  <a:srgbClr val="FFFFFF"/>
                </a:solidFill>
                <a:effectLst>
                  <a:outerShdw blurRad="38100" dist="12700" dir="5400000" rotWithShape="0">
                    <a:srgbClr val="000000">
                      <a:alpha val="50000"/>
                    </a:srgbClr>
                  </a:outerShdw>
                </a:effectLst>
              </a:defRPr>
            </a:pPr>
            <a:endParaRPr/>
          </a:p>
        </p:txBody>
      </p:sp>
      <p:sp>
        <p:nvSpPr>
          <p:cNvPr id="363" name="線"/>
          <p:cNvSpPr/>
          <p:nvPr/>
        </p:nvSpPr>
        <p:spPr>
          <a:xfrm>
            <a:off x="7794625" y="3933826"/>
            <a:ext cx="1588" cy="2016125"/>
          </a:xfrm>
          <a:prstGeom prst="line">
            <a:avLst/>
          </a:prstGeom>
          <a:ln w="31750">
            <a:solidFill>
              <a:srgbClr val="000000"/>
            </a:solidFill>
          </a:ln>
        </p:spPr>
        <p:txBody>
          <a:bodyPr lIns="0" tIns="0" rIns="0" bIns="0"/>
          <a:lstStyle/>
          <a:p>
            <a:pPr defTabSz="457200">
              <a:defRPr sz="1200">
                <a:latin typeface="ヒラギノ角ゴ ProN W3"/>
                <a:ea typeface="ヒラギノ角ゴ ProN W3"/>
                <a:cs typeface="ヒラギノ角ゴ ProN W3"/>
                <a:sym typeface="ヒラギノ角ゴ ProN W3"/>
              </a:defRPr>
            </a:pPr>
            <a:endParaRPr sz="1200"/>
          </a:p>
        </p:txBody>
      </p:sp>
      <p:sp>
        <p:nvSpPr>
          <p:cNvPr id="364" name="線"/>
          <p:cNvSpPr/>
          <p:nvPr/>
        </p:nvSpPr>
        <p:spPr>
          <a:xfrm>
            <a:off x="7794625" y="5949950"/>
            <a:ext cx="2052638" cy="1588"/>
          </a:xfrm>
          <a:prstGeom prst="line">
            <a:avLst/>
          </a:prstGeom>
          <a:ln w="31750">
            <a:solidFill>
              <a:srgbClr val="000000"/>
            </a:solidFill>
          </a:ln>
        </p:spPr>
        <p:txBody>
          <a:bodyPr lIns="0" tIns="0" rIns="0" bIns="0"/>
          <a:lstStyle/>
          <a:p>
            <a:pPr defTabSz="457200">
              <a:defRPr sz="1200">
                <a:latin typeface="ヒラギノ角ゴ ProN W3"/>
                <a:ea typeface="ヒラギノ角ゴ ProN W3"/>
                <a:cs typeface="ヒラギノ角ゴ ProN W3"/>
                <a:sym typeface="ヒラギノ角ゴ ProN W3"/>
              </a:defRPr>
            </a:pPr>
            <a:endParaRPr sz="1200"/>
          </a:p>
        </p:txBody>
      </p:sp>
      <p:sp>
        <p:nvSpPr>
          <p:cNvPr id="365" name="[ADP]"/>
          <p:cNvSpPr/>
          <p:nvPr/>
        </p:nvSpPr>
        <p:spPr>
          <a:xfrm>
            <a:off x="9323151" y="6166555"/>
            <a:ext cx="637995" cy="37959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lvl1pPr>
              <a:buClr>
                <a:srgbClr val="000000"/>
              </a:buClr>
              <a:buFont typeface="Calibri"/>
              <a:defRPr>
                <a:latin typeface="Calibri"/>
                <a:ea typeface="Calibri"/>
                <a:cs typeface="Calibri"/>
                <a:sym typeface="Calibri"/>
              </a:defRPr>
            </a:lvl1pPr>
          </a:lstStyle>
          <a:p>
            <a:r>
              <a:t>[ADP]</a:t>
            </a:r>
          </a:p>
        </p:txBody>
      </p:sp>
      <p:sp>
        <p:nvSpPr>
          <p:cNvPr id="366" name="[F6P]"/>
          <p:cNvSpPr/>
          <p:nvPr/>
        </p:nvSpPr>
        <p:spPr>
          <a:xfrm>
            <a:off x="7177012" y="3429705"/>
            <a:ext cx="585097" cy="37959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lvl1pPr>
              <a:buClr>
                <a:srgbClr val="000000"/>
              </a:buClr>
              <a:buFont typeface="Calibri"/>
              <a:defRPr>
                <a:latin typeface="Calibri"/>
                <a:ea typeface="Calibri"/>
                <a:cs typeface="Calibri"/>
                <a:sym typeface="Calibri"/>
              </a:defRPr>
            </a:lvl1pPr>
          </a:lstStyle>
          <a:p>
            <a:r>
              <a:rPr dirty="0"/>
              <a:t>[F6P]</a:t>
            </a:r>
          </a:p>
        </p:txBody>
      </p:sp>
      <p:sp>
        <p:nvSpPr>
          <p:cNvPr id="367" name="円形"/>
          <p:cNvSpPr/>
          <p:nvPr/>
        </p:nvSpPr>
        <p:spPr>
          <a:xfrm>
            <a:off x="8154987" y="5229226"/>
            <a:ext cx="142876" cy="144463"/>
          </a:xfrm>
          <a:prstGeom prst="ellipse">
            <a:avLst/>
          </a:prstGeom>
          <a:ln w="25400">
            <a:solidFill>
              <a:srgbClr val="000000"/>
            </a:solidFill>
            <a:miter lim="400000"/>
          </a:ln>
        </p:spPr>
        <p:txBody>
          <a:bodyPr lIns="50800" tIns="50800" rIns="50800" bIns="50800" anchor="ctr"/>
          <a:lstStyle/>
          <a:p>
            <a:pPr>
              <a:defRPr>
                <a:solidFill>
                  <a:srgbClr val="FFFFFF"/>
                </a:solidFill>
                <a:effectLst>
                  <a:outerShdw blurRad="38100" dist="12700" dir="5400000" rotWithShape="0">
                    <a:srgbClr val="000000">
                      <a:alpha val="50000"/>
                    </a:srgbClr>
                  </a:outerShdw>
                </a:effectLst>
              </a:defRPr>
            </a:pPr>
            <a:endParaRPr/>
          </a:p>
        </p:txBody>
      </p:sp>
      <p:sp>
        <p:nvSpPr>
          <p:cNvPr id="368" name="(1,2)"/>
          <p:cNvSpPr/>
          <p:nvPr/>
        </p:nvSpPr>
        <p:spPr>
          <a:xfrm>
            <a:off x="8272486" y="5301368"/>
            <a:ext cx="535403" cy="37959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lvl1pPr>
              <a:buClr>
                <a:srgbClr val="000000"/>
              </a:buClr>
              <a:buFont typeface="Calibri"/>
              <a:defRPr>
                <a:latin typeface="Calibri"/>
                <a:ea typeface="Calibri"/>
                <a:cs typeface="Calibri"/>
                <a:sym typeface="Calibri"/>
              </a:defRPr>
            </a:lvl1pPr>
          </a:lstStyle>
          <a:p>
            <a:r>
              <a:t>(1,2)</a:t>
            </a:r>
          </a:p>
        </p:txBody>
      </p:sp>
      <p:sp>
        <p:nvSpPr>
          <p:cNvPr id="369" name="線"/>
          <p:cNvSpPr/>
          <p:nvPr/>
        </p:nvSpPr>
        <p:spPr>
          <a:xfrm flipV="1">
            <a:off x="8297863" y="4619626"/>
            <a:ext cx="1873251" cy="647701"/>
          </a:xfrm>
          <a:prstGeom prst="line">
            <a:avLst/>
          </a:prstGeom>
          <a:ln w="25400">
            <a:solidFill>
              <a:srgbClr val="FF2600"/>
            </a:solidFill>
            <a:tailEnd type="triangle"/>
          </a:ln>
        </p:spPr>
        <p:txBody>
          <a:bodyPr lIns="0" tIns="0" rIns="0" bIns="0"/>
          <a:lstStyle/>
          <a:p>
            <a:pPr defTabSz="457200">
              <a:defRPr sz="1200">
                <a:latin typeface="ヒラギノ角ゴ ProN W3"/>
                <a:ea typeface="ヒラギノ角ゴ ProN W3"/>
                <a:cs typeface="ヒラギノ角ゴ ProN W3"/>
                <a:sym typeface="ヒラギノ角ゴ ProN W3"/>
              </a:defRPr>
            </a:pPr>
            <a:endParaRPr sz="1200"/>
          </a:p>
        </p:txBody>
      </p:sp>
      <p:sp>
        <p:nvSpPr>
          <p:cNvPr id="370" name="線"/>
          <p:cNvSpPr/>
          <p:nvPr/>
        </p:nvSpPr>
        <p:spPr>
          <a:xfrm flipV="1">
            <a:off x="8226425" y="4581525"/>
            <a:ext cx="1588" cy="649288"/>
          </a:xfrm>
          <a:prstGeom prst="line">
            <a:avLst/>
          </a:prstGeom>
          <a:ln w="25400">
            <a:solidFill>
              <a:srgbClr val="000000"/>
            </a:solidFill>
            <a:custDash>
              <a:ds d="200000" sp="200000"/>
            </a:custDash>
          </a:ln>
        </p:spPr>
        <p:txBody>
          <a:bodyPr lIns="0" tIns="0" rIns="0" bIns="0"/>
          <a:lstStyle/>
          <a:p>
            <a:pPr defTabSz="457200">
              <a:defRPr sz="1200">
                <a:latin typeface="ヒラギノ角ゴ ProN W3"/>
                <a:ea typeface="ヒラギノ角ゴ ProN W3"/>
                <a:cs typeface="ヒラギノ角ゴ ProN W3"/>
                <a:sym typeface="ヒラギノ角ゴ ProN W3"/>
              </a:defRPr>
            </a:pPr>
            <a:endParaRPr sz="1200"/>
          </a:p>
        </p:txBody>
      </p:sp>
      <p:sp>
        <p:nvSpPr>
          <p:cNvPr id="371" name="線"/>
          <p:cNvSpPr/>
          <p:nvPr/>
        </p:nvSpPr>
        <p:spPr>
          <a:xfrm>
            <a:off x="8226426" y="4581526"/>
            <a:ext cx="2016125" cy="1587"/>
          </a:xfrm>
          <a:prstGeom prst="line">
            <a:avLst/>
          </a:prstGeom>
          <a:ln w="25400">
            <a:solidFill>
              <a:srgbClr val="000000"/>
            </a:solidFill>
            <a:custDash>
              <a:ds d="200000" sp="200000"/>
            </a:custDash>
          </a:ln>
        </p:spPr>
        <p:txBody>
          <a:bodyPr lIns="0" tIns="0" rIns="0" bIns="0"/>
          <a:lstStyle/>
          <a:p>
            <a:pPr defTabSz="457200">
              <a:defRPr sz="1200">
                <a:latin typeface="ヒラギノ角ゴ ProN W3"/>
                <a:ea typeface="ヒラギノ角ゴ ProN W3"/>
                <a:cs typeface="ヒラギノ角ゴ ProN W3"/>
                <a:sym typeface="ヒラギノ角ゴ ProN W3"/>
              </a:defRPr>
            </a:pPr>
            <a:endParaRPr sz="1200"/>
          </a:p>
        </p:txBody>
      </p:sp>
      <p:sp>
        <p:nvSpPr>
          <p:cNvPr id="372" name="5"/>
          <p:cNvSpPr/>
          <p:nvPr/>
        </p:nvSpPr>
        <p:spPr>
          <a:xfrm>
            <a:off x="8843210" y="3999618"/>
            <a:ext cx="219612" cy="37959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lvl1pPr>
              <a:buClr>
                <a:srgbClr val="000000"/>
              </a:buClr>
              <a:buFont typeface="Calibri"/>
              <a:defRPr>
                <a:latin typeface="Calibri"/>
                <a:ea typeface="Calibri"/>
                <a:cs typeface="Calibri"/>
                <a:sym typeface="Calibri"/>
              </a:defRPr>
            </a:lvl1pPr>
          </a:lstStyle>
          <a:p>
            <a:r>
              <a:t>5</a:t>
            </a:r>
          </a:p>
        </p:txBody>
      </p:sp>
      <p:sp>
        <p:nvSpPr>
          <p:cNvPr id="373" name="2"/>
          <p:cNvSpPr/>
          <p:nvPr/>
        </p:nvSpPr>
        <p:spPr>
          <a:xfrm>
            <a:off x="7782760" y="4791780"/>
            <a:ext cx="219612" cy="37959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lvl1pPr>
              <a:buClr>
                <a:srgbClr val="000000"/>
              </a:buClr>
              <a:buFont typeface="Calibri"/>
              <a:defRPr>
                <a:latin typeface="Calibri"/>
                <a:ea typeface="Calibri"/>
                <a:cs typeface="Calibri"/>
                <a:sym typeface="Calibri"/>
              </a:defRPr>
            </a:lvl1pPr>
          </a:lstStyle>
          <a:p>
            <a:r>
              <a:t>2</a:t>
            </a:r>
          </a:p>
        </p:txBody>
      </p:sp>
      <p:sp>
        <p:nvSpPr>
          <p:cNvPr id="374" name="線"/>
          <p:cNvSpPr/>
          <p:nvPr/>
        </p:nvSpPr>
        <p:spPr>
          <a:xfrm>
            <a:off x="8080129" y="4581525"/>
            <a:ext cx="146297" cy="719138"/>
          </a:xfrm>
          <a:custGeom>
            <a:avLst/>
            <a:gdLst/>
            <a:ahLst/>
            <a:cxnLst>
              <a:cxn ang="0">
                <a:pos x="wd2" y="hd2"/>
              </a:cxn>
              <a:cxn ang="5400000">
                <a:pos x="wd2" y="hd2"/>
              </a:cxn>
              <a:cxn ang="10800000">
                <a:pos x="wd2" y="hd2"/>
              </a:cxn>
              <a:cxn ang="16200000">
                <a:pos x="wd2" y="hd2"/>
              </a:cxn>
            </a:cxnLst>
            <a:rect l="0" t="0" r="r" b="b"/>
            <a:pathLst>
              <a:path w="20312" h="21600" extrusionOk="0">
                <a:moveTo>
                  <a:pt x="10394" y="21600"/>
                </a:moveTo>
                <a:cubicBezTo>
                  <a:pt x="4443" y="17976"/>
                  <a:pt x="-1288" y="14400"/>
                  <a:pt x="255" y="10824"/>
                </a:cubicBezTo>
                <a:cubicBezTo>
                  <a:pt x="1798" y="7248"/>
                  <a:pt x="11055" y="3624"/>
                  <a:pt x="20312" y="0"/>
                </a:cubicBezTo>
              </a:path>
            </a:pathLst>
          </a:custGeom>
          <a:ln w="25400">
            <a:solidFill>
              <a:srgbClr val="000000"/>
            </a:solidFill>
            <a:miter lim="400000"/>
          </a:ln>
        </p:spPr>
        <p:txBody>
          <a:bodyPr lIns="50800" tIns="50800" rIns="50800" bIns="50800" anchor="ctr"/>
          <a:lstStyle/>
          <a:p>
            <a:pPr>
              <a:defRPr>
                <a:solidFill>
                  <a:srgbClr val="FFFFFF"/>
                </a:solidFill>
                <a:effectLst>
                  <a:outerShdw blurRad="38100" dist="12700" dir="5400000" rotWithShape="0">
                    <a:srgbClr val="000000">
                      <a:alpha val="50000"/>
                    </a:srgbClr>
                  </a:outerShdw>
                </a:effectLst>
              </a:defRPr>
            </a:pPr>
            <a:endParaRPr/>
          </a:p>
        </p:txBody>
      </p:sp>
      <p:sp>
        <p:nvSpPr>
          <p:cNvPr id="375" name="線"/>
          <p:cNvSpPr/>
          <p:nvPr/>
        </p:nvSpPr>
        <p:spPr>
          <a:xfrm>
            <a:off x="8226425" y="4365625"/>
            <a:ext cx="1944688" cy="215900"/>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cubicBezTo>
                  <a:pt x="3791" y="10800"/>
                  <a:pt x="7600" y="0"/>
                  <a:pt x="11197" y="0"/>
                </a:cubicBezTo>
                <a:cubicBezTo>
                  <a:pt x="14794" y="0"/>
                  <a:pt x="18197" y="10800"/>
                  <a:pt x="21600" y="21600"/>
                </a:cubicBezTo>
              </a:path>
            </a:pathLst>
          </a:custGeom>
          <a:ln w="25400">
            <a:solidFill>
              <a:srgbClr val="000000"/>
            </a:solidFill>
            <a:miter lim="400000"/>
          </a:ln>
        </p:spPr>
        <p:txBody>
          <a:bodyPr lIns="50800" tIns="50800" rIns="50800" bIns="50800" anchor="ctr"/>
          <a:lstStyle/>
          <a:p>
            <a:pPr>
              <a:defRPr>
                <a:solidFill>
                  <a:srgbClr val="FFFFFF"/>
                </a:solidFill>
                <a:effectLst>
                  <a:outerShdw blurRad="38100" dist="12700" dir="5400000" rotWithShape="0">
                    <a:srgbClr val="000000">
                      <a:alpha val="50000"/>
                    </a:srgbClr>
                  </a:outerShdw>
                </a:effectLst>
              </a:defRPr>
            </a:pPr>
            <a:endParaRPr/>
          </a:p>
        </p:txBody>
      </p:sp>
      <p:sp>
        <p:nvSpPr>
          <p:cNvPr id="377" name="点 ( x , y ) に大きさ ( ẋ , ẏ ) のベクトルを描く"/>
          <p:cNvSpPr/>
          <p:nvPr/>
        </p:nvSpPr>
        <p:spPr>
          <a:xfrm>
            <a:off x="6383338" y="2143184"/>
            <a:ext cx="4978337" cy="84125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anchor="ctr">
            <a:spAutoFit/>
          </a:bodyPr>
          <a:lstStyle/>
          <a:p>
            <a:pPr algn="l">
              <a:buClr>
                <a:srgbClr val="000000"/>
              </a:buClr>
              <a:buFont typeface="Arial"/>
              <a:defRPr sz="2400"/>
            </a:pPr>
            <a:r>
              <a:rPr sz="2400" dirty="0" err="1"/>
              <a:t>点</a:t>
            </a:r>
            <a:r>
              <a:rPr sz="2400" dirty="0">
                <a:latin typeface="Heiti TC Light"/>
                <a:ea typeface="Heiti TC Light"/>
                <a:cs typeface="Heiti TC Light"/>
                <a:sym typeface="Heiti TC Light"/>
              </a:rPr>
              <a:t> </a:t>
            </a:r>
            <a:r>
              <a:rPr sz="2400" dirty="0">
                <a:latin typeface="Times Roman"/>
                <a:ea typeface="Times Roman"/>
                <a:cs typeface="Times Roman"/>
                <a:sym typeface="Times Roman"/>
              </a:rPr>
              <a:t>(</a:t>
            </a:r>
            <a:r>
              <a:rPr sz="2400" dirty="0">
                <a:latin typeface="Heiti TC Light"/>
                <a:ea typeface="Heiti TC Light"/>
                <a:cs typeface="Heiti TC Light"/>
                <a:sym typeface="Heiti TC Light"/>
              </a:rPr>
              <a:t> </a:t>
            </a:r>
            <a:r>
              <a:rPr sz="2400" i="1" dirty="0">
                <a:latin typeface="Times Roman"/>
                <a:ea typeface="Times Roman"/>
                <a:cs typeface="Times Roman"/>
                <a:sym typeface="Times Roman"/>
              </a:rPr>
              <a:t>x , y </a:t>
            </a:r>
            <a:r>
              <a:rPr sz="2400" dirty="0">
                <a:latin typeface="Times Roman"/>
                <a:ea typeface="Times Roman"/>
                <a:cs typeface="Times Roman"/>
                <a:sym typeface="Times Roman"/>
              </a:rPr>
              <a:t>)</a:t>
            </a:r>
            <a:r>
              <a:rPr sz="2400" dirty="0">
                <a:latin typeface="Heiti TC Light"/>
                <a:ea typeface="Heiti TC Light"/>
                <a:cs typeface="Heiti TC Light"/>
                <a:sym typeface="Heiti TC Light"/>
              </a:rPr>
              <a:t> </a:t>
            </a:r>
            <a:r>
              <a:rPr lang="ja-JP" altLang="en-US" sz="2400">
                <a:latin typeface="Heiti TC Light"/>
                <a:ea typeface="Heiti TC Light"/>
                <a:cs typeface="Heiti TC Light"/>
                <a:sym typeface="Heiti TC Light"/>
              </a:rPr>
              <a:t>を</a:t>
            </a:r>
            <a:r>
              <a:rPr sz="2400" dirty="0" err="1"/>
              <a:t>大きさ</a:t>
            </a:r>
            <a:r>
              <a:rPr sz="2400" dirty="0">
                <a:latin typeface="Heiti TC Light"/>
                <a:ea typeface="Heiti TC Light"/>
                <a:cs typeface="Heiti TC Light"/>
                <a:sym typeface="Heiti TC Light"/>
              </a:rPr>
              <a:t> </a:t>
            </a:r>
            <a:r>
              <a:rPr lang="en-US" sz="2400" dirty="0">
                <a:latin typeface="Times Roman"/>
                <a:ea typeface="Heiti TC Light"/>
                <a:cs typeface="Heiti TC Light"/>
                <a:sym typeface="Times Roman"/>
              </a:rPr>
              <a:t>                    </a:t>
            </a:r>
            <a:r>
              <a:rPr sz="2400" dirty="0" err="1"/>
              <a:t>の</a:t>
            </a:r>
            <a:endParaRPr lang="en-US" sz="2400" dirty="0"/>
          </a:p>
          <a:p>
            <a:pPr algn="l">
              <a:buClr>
                <a:srgbClr val="000000"/>
              </a:buClr>
              <a:buFont typeface="Arial"/>
              <a:defRPr sz="2400"/>
            </a:pPr>
            <a:r>
              <a:rPr sz="2400" dirty="0" err="1"/>
              <a:t>ベクトルを描く</a:t>
            </a:r>
            <a:endParaRPr sz="2400" dirty="0"/>
          </a:p>
        </p:txBody>
      </p:sp>
      <p:pic>
        <p:nvPicPr>
          <p:cNvPr id="2" name="図 1">
            <a:extLst>
              <a:ext uri="{FF2B5EF4-FFF2-40B4-BE49-F238E27FC236}">
                <a16:creationId xmlns:a16="http://schemas.microsoft.com/office/drawing/2014/main" id="{BD8F3EA5-34B6-54B5-4CDF-00ACC1853142}"/>
              </a:ext>
            </a:extLst>
          </p:cNvPr>
          <p:cNvPicPr>
            <a:picLocks noChangeAspect="1"/>
          </p:cNvPicPr>
          <p:nvPr/>
        </p:nvPicPr>
        <p:blipFill>
          <a:blip r:embed="rId3"/>
          <a:stretch>
            <a:fillRect/>
          </a:stretch>
        </p:blipFill>
        <p:spPr>
          <a:xfrm>
            <a:off x="2057401" y="1702909"/>
            <a:ext cx="2910786" cy="1671007"/>
          </a:xfrm>
          <a:prstGeom prst="rect">
            <a:avLst/>
          </a:prstGeom>
        </p:spPr>
      </p:pic>
      <p:pic>
        <p:nvPicPr>
          <p:cNvPr id="3" name="図 2">
            <a:extLst>
              <a:ext uri="{FF2B5EF4-FFF2-40B4-BE49-F238E27FC236}">
                <a16:creationId xmlns:a16="http://schemas.microsoft.com/office/drawing/2014/main" id="{396274FE-DBA3-8832-4685-82E183DC2384}"/>
              </a:ext>
            </a:extLst>
          </p:cNvPr>
          <p:cNvPicPr>
            <a:picLocks noChangeAspect="1"/>
          </p:cNvPicPr>
          <p:nvPr/>
        </p:nvPicPr>
        <p:blipFill>
          <a:blip r:embed="rId4"/>
          <a:stretch>
            <a:fillRect/>
          </a:stretch>
        </p:blipFill>
        <p:spPr>
          <a:xfrm>
            <a:off x="9095299" y="2042228"/>
            <a:ext cx="1288546" cy="658916"/>
          </a:xfrm>
          <a:prstGeom prst="rect">
            <a:avLst/>
          </a:prstGeom>
        </p:spPr>
      </p:pic>
      <p:pic>
        <p:nvPicPr>
          <p:cNvPr id="4" name="図 3">
            <a:extLst>
              <a:ext uri="{FF2B5EF4-FFF2-40B4-BE49-F238E27FC236}">
                <a16:creationId xmlns:a16="http://schemas.microsoft.com/office/drawing/2014/main" id="{1EEF4FE1-33DA-EFB6-0495-DE70035DB584}"/>
              </a:ext>
            </a:extLst>
          </p:cNvPr>
          <p:cNvPicPr>
            <a:picLocks noChangeAspect="1"/>
          </p:cNvPicPr>
          <p:nvPr/>
        </p:nvPicPr>
        <p:blipFill>
          <a:blip r:embed="rId5"/>
          <a:stretch>
            <a:fillRect/>
          </a:stretch>
        </p:blipFill>
        <p:spPr>
          <a:xfrm>
            <a:off x="2177090" y="4100787"/>
            <a:ext cx="3956884" cy="1548780"/>
          </a:xfrm>
          <a:prstGeom prst="rect">
            <a:avLst/>
          </a:prstGeom>
        </p:spPr>
      </p:pic>
    </p:spTree>
    <p:extLst>
      <p:ext uri="{BB962C8B-B14F-4D97-AF65-F5344CB8AC3E}">
        <p14:creationId xmlns:p14="http://schemas.microsoft.com/office/powerpoint/2010/main" val="121781736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0" name="矢印の方向"/>
          <p:cNvSpPr txBox="1">
            <a:spLocks noGrp="1"/>
          </p:cNvSpPr>
          <p:nvPr>
            <p:ph type="title"/>
          </p:nvPr>
        </p:nvSpPr>
        <p:spPr>
          <a:prstGeom prst="rect">
            <a:avLst/>
          </a:prstGeom>
        </p:spPr>
        <p:txBody>
          <a:bodyPr/>
          <a:lstStyle/>
          <a:p>
            <a:r>
              <a:rPr lang="ja-JP" altLang="en-US"/>
              <a:t>ヌルクラインとベクトル</a:t>
            </a:r>
            <a:r>
              <a:rPr dirty="0" err="1"/>
              <a:t>の方向</a:t>
            </a:r>
            <a:endParaRPr dirty="0"/>
          </a:p>
        </p:txBody>
      </p:sp>
      <p:sp>
        <p:nvSpPr>
          <p:cNvPr id="381" name="x のヌルクライン上では…"/>
          <p:cNvSpPr txBox="1">
            <a:spLocks noGrp="1"/>
          </p:cNvSpPr>
          <p:nvPr>
            <p:ph type="body" idx="4294967295"/>
          </p:nvPr>
        </p:nvSpPr>
        <p:spPr>
          <a:xfrm>
            <a:off x="477985" y="1600200"/>
            <a:ext cx="7216626" cy="4635500"/>
          </a:xfrm>
          <a:prstGeom prst="rect">
            <a:avLst/>
          </a:prstGeom>
        </p:spPr>
        <p:txBody>
          <a:bodyPr>
            <a:normAutofit/>
          </a:bodyPr>
          <a:lstStyle/>
          <a:p>
            <a:pPr marL="368198" indent="-329184" defTabSz="390143">
              <a:spcBef>
                <a:spcPts val="1600"/>
              </a:spcBef>
              <a:buClr>
                <a:srgbClr val="000000"/>
              </a:buClr>
              <a:buSzPct val="100000"/>
              <a:buFont typeface="Arial"/>
              <a:defRPr sz="2304"/>
            </a:pPr>
            <a:r>
              <a:rPr sz="2800" i="1" dirty="0">
                <a:latin typeface="Times New Roman"/>
                <a:ea typeface="Times New Roman"/>
                <a:cs typeface="Times New Roman"/>
                <a:sym typeface="Times New Roman"/>
              </a:rPr>
              <a:t>x</a:t>
            </a:r>
            <a:r>
              <a:rPr sz="2800" dirty="0"/>
              <a:t> </a:t>
            </a:r>
            <a:r>
              <a:rPr sz="2800" dirty="0" err="1"/>
              <a:t>のヌルクライン上では</a:t>
            </a:r>
            <a:endParaRPr sz="2800" dirty="0"/>
          </a:p>
          <a:p>
            <a:pPr marL="752246" lvl="1" indent="-274320" defTabSz="390143">
              <a:spcBef>
                <a:spcPts val="1600"/>
              </a:spcBef>
              <a:buClr>
                <a:srgbClr val="000000"/>
              </a:buClr>
              <a:buSzPct val="100000"/>
              <a:buFont typeface="Arial"/>
              <a:defRPr sz="1727"/>
            </a:pPr>
            <a:r>
              <a:rPr lang="ja-JP" altLang="en-US" sz="2400"/>
              <a:t>すなわち、</a:t>
            </a:r>
            <a:r>
              <a:rPr sz="2400" dirty="0" err="1"/>
              <a:t>ベクトルは垂直になる</a:t>
            </a:r>
            <a:endParaRPr sz="2400" dirty="0"/>
          </a:p>
          <a:p>
            <a:pPr marL="752246" lvl="1" indent="-274320" defTabSz="390143">
              <a:spcBef>
                <a:spcPts val="1600"/>
              </a:spcBef>
              <a:buClr>
                <a:srgbClr val="000000"/>
              </a:buClr>
              <a:buSzPct val="100000"/>
              <a:buFont typeface="Arial"/>
              <a:defRPr sz="1727"/>
            </a:pPr>
            <a:r>
              <a:rPr lang="ja-JP" altLang="en-US" sz="2400"/>
              <a:t>　　　　　</a:t>
            </a:r>
            <a:r>
              <a:rPr sz="2400" dirty="0"/>
              <a:t> = ( 0 , </a:t>
            </a:r>
            <a:r>
              <a:rPr lang="en-US" sz="2400" dirty="0"/>
              <a:t>c</a:t>
            </a:r>
            <a:r>
              <a:rPr sz="2400" dirty="0"/>
              <a:t> )   </a:t>
            </a:r>
          </a:p>
          <a:p>
            <a:pPr marL="368198" indent="-329184" defTabSz="390143">
              <a:spcBef>
                <a:spcPts val="1600"/>
              </a:spcBef>
              <a:buClr>
                <a:srgbClr val="000000"/>
              </a:buClr>
              <a:buNone/>
              <a:defRPr sz="2688"/>
            </a:pPr>
            <a:endParaRPr sz="2304" dirty="0"/>
          </a:p>
          <a:p>
            <a:pPr marL="368198" indent="-329184" defTabSz="390143">
              <a:spcBef>
                <a:spcPts val="1600"/>
              </a:spcBef>
              <a:buClr>
                <a:srgbClr val="000000"/>
              </a:buClr>
              <a:buSzPct val="100000"/>
              <a:buFont typeface="Arial"/>
              <a:defRPr sz="2304"/>
            </a:pPr>
            <a:r>
              <a:rPr sz="2800" dirty="0" err="1"/>
              <a:t>垂直はわかった。上下どちら向きか</a:t>
            </a:r>
            <a:r>
              <a:rPr sz="2800" dirty="0"/>
              <a:t>？</a:t>
            </a:r>
          </a:p>
          <a:p>
            <a:pPr marL="752246" lvl="1" indent="-274320" defTabSz="390143">
              <a:spcBef>
                <a:spcPts val="1600"/>
              </a:spcBef>
              <a:buClr>
                <a:srgbClr val="000000"/>
              </a:buClr>
              <a:buSzPct val="100000"/>
              <a:buFont typeface="Arial"/>
              <a:defRPr sz="2304"/>
            </a:pPr>
            <a:r>
              <a:rPr sz="2400" dirty="0"/>
              <a:t>↑ :  </a:t>
            </a:r>
            <a:r>
              <a:rPr sz="2400" dirty="0">
                <a:latin typeface="Times New Roman"/>
                <a:ea typeface="Times New Roman"/>
                <a:cs typeface="Times New Roman"/>
                <a:sym typeface="Times New Roman"/>
              </a:rPr>
              <a:t> </a:t>
            </a:r>
            <a:r>
              <a:rPr lang="en-US" sz="2400" dirty="0">
                <a:latin typeface="Times New Roman"/>
                <a:ea typeface="Times New Roman"/>
                <a:cs typeface="Times New Roman"/>
                <a:sym typeface="Times New Roman"/>
              </a:rPr>
              <a:t>             </a:t>
            </a:r>
            <a:r>
              <a:rPr sz="2400" dirty="0" err="1"/>
              <a:t>を境として上側</a:t>
            </a:r>
            <a:r>
              <a:rPr sz="2400" dirty="0"/>
              <a:t> </a:t>
            </a:r>
          </a:p>
          <a:p>
            <a:pPr marL="752246" lvl="1" indent="-274320" defTabSz="390143">
              <a:spcBef>
                <a:spcPts val="1600"/>
              </a:spcBef>
              <a:buClr>
                <a:srgbClr val="000000"/>
              </a:buClr>
              <a:buSzPct val="100000"/>
              <a:buFont typeface="Arial"/>
              <a:defRPr sz="2304"/>
            </a:pPr>
            <a:r>
              <a:rPr sz="2400" dirty="0"/>
              <a:t>↓ :  </a:t>
            </a:r>
            <a:r>
              <a:rPr lang="en-US" sz="2400" i="1" dirty="0">
                <a:latin typeface="Times New Roman"/>
                <a:cs typeface="Times New Roman"/>
                <a:sym typeface="Times New Roman"/>
              </a:rPr>
              <a:t>              </a:t>
            </a:r>
            <a:r>
              <a:rPr sz="2400" dirty="0" err="1"/>
              <a:t>を境として下側</a:t>
            </a:r>
            <a:endParaRPr sz="2400" dirty="0"/>
          </a:p>
          <a:p>
            <a:pPr marL="752246" lvl="2" indent="642518" defTabSz="390143">
              <a:spcBef>
                <a:spcPts val="1600"/>
              </a:spcBef>
              <a:buClr>
                <a:srgbClr val="000000"/>
              </a:buClr>
              <a:buNone/>
              <a:defRPr sz="2304"/>
            </a:pPr>
            <a:r>
              <a:rPr dirty="0"/>
              <a:t>　　　　　</a:t>
            </a:r>
          </a:p>
        </p:txBody>
      </p:sp>
      <p:sp>
        <p:nvSpPr>
          <p:cNvPr id="382" name="線"/>
          <p:cNvSpPr/>
          <p:nvPr/>
        </p:nvSpPr>
        <p:spPr>
          <a:xfrm>
            <a:off x="7838645" y="2754312"/>
            <a:ext cx="1590" cy="2592388"/>
          </a:xfrm>
          <a:prstGeom prst="line">
            <a:avLst/>
          </a:prstGeom>
          <a:ln w="38100">
            <a:solidFill>
              <a:srgbClr val="000000"/>
            </a:solidFill>
            <a:miter lim="400000"/>
          </a:ln>
        </p:spPr>
        <p:txBody>
          <a:bodyPr lIns="0" tIns="0" rIns="0" bIns="0"/>
          <a:lstStyle/>
          <a:p>
            <a:pPr defTabSz="457200">
              <a:defRPr sz="1200">
                <a:latin typeface="ヒラギノ角ゴ ProN W3"/>
                <a:ea typeface="ヒラギノ角ゴ ProN W3"/>
                <a:cs typeface="ヒラギノ角ゴ ProN W3"/>
                <a:sym typeface="ヒラギノ角ゴ ProN W3"/>
              </a:defRPr>
            </a:pPr>
            <a:endParaRPr sz="1200"/>
          </a:p>
        </p:txBody>
      </p:sp>
      <p:sp>
        <p:nvSpPr>
          <p:cNvPr id="383" name="線"/>
          <p:cNvSpPr/>
          <p:nvPr/>
        </p:nvSpPr>
        <p:spPr>
          <a:xfrm>
            <a:off x="7838646" y="5346700"/>
            <a:ext cx="3168651" cy="1588"/>
          </a:xfrm>
          <a:prstGeom prst="line">
            <a:avLst/>
          </a:prstGeom>
          <a:ln w="38100">
            <a:solidFill>
              <a:srgbClr val="000000"/>
            </a:solidFill>
            <a:miter lim="400000"/>
          </a:ln>
        </p:spPr>
        <p:txBody>
          <a:bodyPr lIns="0" tIns="0" rIns="0" bIns="0"/>
          <a:lstStyle/>
          <a:p>
            <a:pPr defTabSz="457200">
              <a:defRPr sz="1200">
                <a:latin typeface="ヒラギノ角ゴ ProN W3"/>
                <a:ea typeface="ヒラギノ角ゴ ProN W3"/>
                <a:cs typeface="ヒラギノ角ゴ ProN W3"/>
                <a:sym typeface="ヒラギノ角ゴ ProN W3"/>
              </a:defRPr>
            </a:pPr>
            <a:endParaRPr sz="1200"/>
          </a:p>
        </p:txBody>
      </p:sp>
      <p:sp>
        <p:nvSpPr>
          <p:cNvPr id="384" name="[ADP]"/>
          <p:cNvSpPr/>
          <p:nvPr/>
        </p:nvSpPr>
        <p:spPr>
          <a:xfrm>
            <a:off x="10229184" y="5583943"/>
            <a:ext cx="637995" cy="37959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lvl1pPr>
              <a:buClr>
                <a:srgbClr val="000000"/>
              </a:buClr>
              <a:buFont typeface="Calibri"/>
              <a:defRPr>
                <a:latin typeface="Calibri"/>
                <a:ea typeface="Calibri"/>
                <a:cs typeface="Calibri"/>
                <a:sym typeface="Calibri"/>
              </a:defRPr>
            </a:lvl1pPr>
          </a:lstStyle>
          <a:p>
            <a:r>
              <a:t>[ADP]</a:t>
            </a:r>
          </a:p>
        </p:txBody>
      </p:sp>
      <p:sp>
        <p:nvSpPr>
          <p:cNvPr id="385" name="[F6P]"/>
          <p:cNvSpPr/>
          <p:nvPr/>
        </p:nvSpPr>
        <p:spPr>
          <a:xfrm>
            <a:off x="7409945" y="2178755"/>
            <a:ext cx="585097" cy="37959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lvl1pPr>
              <a:buClr>
                <a:srgbClr val="000000"/>
              </a:buClr>
              <a:buFont typeface="Calibri"/>
              <a:defRPr>
                <a:latin typeface="Calibri"/>
                <a:ea typeface="Calibri"/>
                <a:cs typeface="Calibri"/>
                <a:sym typeface="Calibri"/>
              </a:defRPr>
            </a:lvl1pPr>
          </a:lstStyle>
          <a:p>
            <a:r>
              <a:t>[F6P]</a:t>
            </a:r>
          </a:p>
        </p:txBody>
      </p:sp>
      <p:sp>
        <p:nvSpPr>
          <p:cNvPr id="386" name="線"/>
          <p:cNvSpPr/>
          <p:nvPr/>
        </p:nvSpPr>
        <p:spPr>
          <a:xfrm>
            <a:off x="7838645" y="3041651"/>
            <a:ext cx="2663826" cy="2017713"/>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cubicBezTo>
                  <a:pt x="579" y="0"/>
                  <a:pt x="1171" y="17"/>
                  <a:pt x="1751" y="2328"/>
                </a:cubicBezTo>
                <a:cubicBezTo>
                  <a:pt x="2330" y="4639"/>
                  <a:pt x="2047" y="10927"/>
                  <a:pt x="3501" y="13885"/>
                </a:cubicBezTo>
                <a:cubicBezTo>
                  <a:pt x="4956" y="16842"/>
                  <a:pt x="7492" y="18762"/>
                  <a:pt x="10504" y="20054"/>
                </a:cubicBezTo>
                <a:cubicBezTo>
                  <a:pt x="13516" y="21345"/>
                  <a:pt x="17558" y="21464"/>
                  <a:pt x="21600" y="21600"/>
                </a:cubicBezTo>
              </a:path>
            </a:pathLst>
          </a:custGeom>
          <a:ln w="25400">
            <a:solidFill>
              <a:srgbClr val="000000"/>
            </a:solidFill>
            <a:miter lim="400000"/>
          </a:ln>
        </p:spPr>
        <p:txBody>
          <a:bodyPr lIns="50800" tIns="50800" rIns="50800" bIns="50800" anchor="ctr"/>
          <a:lstStyle/>
          <a:p>
            <a:pPr>
              <a:defRPr>
                <a:solidFill>
                  <a:srgbClr val="FFFFFF"/>
                </a:solidFill>
                <a:effectLst>
                  <a:outerShdw blurRad="38100" dist="12700" dir="5400000" rotWithShape="0">
                    <a:srgbClr val="000000">
                      <a:alpha val="50000"/>
                    </a:srgbClr>
                  </a:outerShdw>
                </a:effectLst>
              </a:defRPr>
            </a:pPr>
            <a:endParaRPr/>
          </a:p>
        </p:txBody>
      </p:sp>
      <p:sp>
        <p:nvSpPr>
          <p:cNvPr id="387" name="線"/>
          <p:cNvSpPr/>
          <p:nvPr/>
        </p:nvSpPr>
        <p:spPr>
          <a:xfrm>
            <a:off x="7838646" y="4157191"/>
            <a:ext cx="2736851" cy="1189510"/>
          </a:xfrm>
          <a:custGeom>
            <a:avLst/>
            <a:gdLst/>
            <a:ahLst/>
            <a:cxnLst>
              <a:cxn ang="0">
                <a:pos x="wd2" y="hd2"/>
              </a:cxn>
              <a:cxn ang="5400000">
                <a:pos x="wd2" y="hd2"/>
              </a:cxn>
              <a:cxn ang="10800000">
                <a:pos x="wd2" y="hd2"/>
              </a:cxn>
              <a:cxn ang="16200000">
                <a:pos x="wd2" y="hd2"/>
              </a:cxn>
            </a:cxnLst>
            <a:rect l="0" t="0" r="r" b="b"/>
            <a:pathLst>
              <a:path w="21600" h="20992" extrusionOk="0">
                <a:moveTo>
                  <a:pt x="0" y="20992"/>
                </a:moveTo>
                <a:cubicBezTo>
                  <a:pt x="276" y="13792"/>
                  <a:pt x="564" y="6592"/>
                  <a:pt x="1704" y="3202"/>
                </a:cubicBezTo>
                <a:cubicBezTo>
                  <a:pt x="2844" y="-188"/>
                  <a:pt x="4636" y="-608"/>
                  <a:pt x="6816" y="653"/>
                </a:cubicBezTo>
                <a:cubicBezTo>
                  <a:pt x="8996" y="1913"/>
                  <a:pt x="12303" y="8693"/>
                  <a:pt x="14772" y="10822"/>
                </a:cubicBezTo>
                <a:cubicBezTo>
                  <a:pt x="17240" y="12952"/>
                  <a:pt x="19420" y="13148"/>
                  <a:pt x="21600" y="13372"/>
                </a:cubicBezTo>
              </a:path>
            </a:pathLst>
          </a:custGeom>
          <a:ln>
            <a:solidFill>
              <a:srgbClr val="000000"/>
            </a:solidFill>
            <a:prstDash val="dash"/>
          </a:ln>
        </p:spPr>
        <p:txBody>
          <a:bodyPr lIns="50800" tIns="50800" rIns="50800" bIns="50800" anchor="ctr"/>
          <a:lstStyle/>
          <a:p>
            <a:pPr>
              <a:defRPr>
                <a:solidFill>
                  <a:srgbClr val="FFFFFF"/>
                </a:solidFill>
                <a:effectLst>
                  <a:outerShdw blurRad="38100" dist="12700" dir="5400000" rotWithShape="0">
                    <a:srgbClr val="000000">
                      <a:alpha val="50000"/>
                    </a:srgbClr>
                  </a:outerShdw>
                </a:effectLst>
              </a:defRPr>
            </a:pPr>
            <a:endParaRPr/>
          </a:p>
        </p:txBody>
      </p:sp>
      <p:sp>
        <p:nvSpPr>
          <p:cNvPr id="388" name="線"/>
          <p:cNvSpPr/>
          <p:nvPr/>
        </p:nvSpPr>
        <p:spPr>
          <a:xfrm>
            <a:off x="8027622" y="4312797"/>
            <a:ext cx="1588" cy="576263"/>
          </a:xfrm>
          <a:prstGeom prst="line">
            <a:avLst/>
          </a:prstGeom>
          <a:ln w="25400">
            <a:solidFill>
              <a:srgbClr val="FF2600"/>
            </a:solidFill>
            <a:tailEnd type="triangle"/>
          </a:ln>
        </p:spPr>
        <p:txBody>
          <a:bodyPr lIns="0" tIns="0" rIns="0" bIns="0"/>
          <a:lstStyle/>
          <a:p>
            <a:pPr defTabSz="457200">
              <a:defRPr sz="1200">
                <a:latin typeface="ヒラギノ角ゴ ProN W3"/>
                <a:ea typeface="ヒラギノ角ゴ ProN W3"/>
                <a:cs typeface="ヒラギノ角ゴ ProN W3"/>
                <a:sym typeface="ヒラギノ角ゴ ProN W3"/>
              </a:defRPr>
            </a:pPr>
            <a:endParaRPr sz="1200"/>
          </a:p>
        </p:txBody>
      </p:sp>
      <p:sp>
        <p:nvSpPr>
          <p:cNvPr id="389" name="線"/>
          <p:cNvSpPr/>
          <p:nvPr/>
        </p:nvSpPr>
        <p:spPr>
          <a:xfrm flipV="1">
            <a:off x="9535683" y="4038600"/>
            <a:ext cx="1588" cy="647700"/>
          </a:xfrm>
          <a:prstGeom prst="line">
            <a:avLst/>
          </a:prstGeom>
          <a:ln w="25400">
            <a:solidFill>
              <a:srgbClr val="FF2600"/>
            </a:solidFill>
            <a:tailEnd type="triangle"/>
          </a:ln>
        </p:spPr>
        <p:txBody>
          <a:bodyPr lIns="0" tIns="0" rIns="0" bIns="0"/>
          <a:lstStyle/>
          <a:p>
            <a:pPr defTabSz="457200">
              <a:defRPr sz="1200">
                <a:latin typeface="ヒラギノ角ゴ ProN W3"/>
                <a:ea typeface="ヒラギノ角ゴ ProN W3"/>
                <a:cs typeface="ヒラギノ角ゴ ProN W3"/>
                <a:sym typeface="ヒラギノ角ゴ ProN W3"/>
              </a:defRPr>
            </a:pPr>
            <a:endParaRPr sz="1200"/>
          </a:p>
        </p:txBody>
      </p:sp>
      <p:pic>
        <p:nvPicPr>
          <p:cNvPr id="2" name="図 1">
            <a:extLst>
              <a:ext uri="{FF2B5EF4-FFF2-40B4-BE49-F238E27FC236}">
                <a16:creationId xmlns:a16="http://schemas.microsoft.com/office/drawing/2014/main" id="{8FF8B7C1-E5F5-363A-E053-E20C2068B3A7}"/>
              </a:ext>
            </a:extLst>
          </p:cNvPr>
          <p:cNvPicPr>
            <a:picLocks noChangeAspect="1"/>
          </p:cNvPicPr>
          <p:nvPr/>
        </p:nvPicPr>
        <p:blipFill>
          <a:blip r:embed="rId2"/>
          <a:stretch>
            <a:fillRect/>
          </a:stretch>
        </p:blipFill>
        <p:spPr>
          <a:xfrm>
            <a:off x="1470141" y="2712193"/>
            <a:ext cx="1288546" cy="658916"/>
          </a:xfrm>
          <a:prstGeom prst="rect">
            <a:avLst/>
          </a:prstGeom>
        </p:spPr>
      </p:pic>
      <p:pic>
        <p:nvPicPr>
          <p:cNvPr id="3" name="図 2">
            <a:extLst>
              <a:ext uri="{FF2B5EF4-FFF2-40B4-BE49-F238E27FC236}">
                <a16:creationId xmlns:a16="http://schemas.microsoft.com/office/drawing/2014/main" id="{5CE19785-7477-0B95-FC06-9AA7A7F99759}"/>
              </a:ext>
            </a:extLst>
          </p:cNvPr>
          <p:cNvPicPr>
            <a:picLocks noChangeAspect="1"/>
          </p:cNvPicPr>
          <p:nvPr/>
        </p:nvPicPr>
        <p:blipFill>
          <a:blip r:embed="rId3"/>
          <a:stretch>
            <a:fillRect/>
          </a:stretch>
        </p:blipFill>
        <p:spPr>
          <a:xfrm>
            <a:off x="10061447" y="3939915"/>
            <a:ext cx="1028100" cy="713958"/>
          </a:xfrm>
          <a:prstGeom prst="rect">
            <a:avLst/>
          </a:prstGeom>
        </p:spPr>
      </p:pic>
      <p:pic>
        <p:nvPicPr>
          <p:cNvPr id="4" name="図 3">
            <a:extLst>
              <a:ext uri="{FF2B5EF4-FFF2-40B4-BE49-F238E27FC236}">
                <a16:creationId xmlns:a16="http://schemas.microsoft.com/office/drawing/2014/main" id="{3F16DE59-5175-9F58-6B59-9E39A8D60B28}"/>
              </a:ext>
            </a:extLst>
          </p:cNvPr>
          <p:cNvPicPr>
            <a:picLocks noChangeAspect="1"/>
          </p:cNvPicPr>
          <p:nvPr/>
        </p:nvPicPr>
        <p:blipFill>
          <a:blip r:embed="rId4"/>
          <a:stretch>
            <a:fillRect/>
          </a:stretch>
        </p:blipFill>
        <p:spPr>
          <a:xfrm>
            <a:off x="8173779" y="2563194"/>
            <a:ext cx="1028100" cy="713958"/>
          </a:xfrm>
          <a:prstGeom prst="rect">
            <a:avLst/>
          </a:prstGeom>
        </p:spPr>
      </p:pic>
      <p:pic>
        <p:nvPicPr>
          <p:cNvPr id="6" name="図 5">
            <a:extLst>
              <a:ext uri="{FF2B5EF4-FFF2-40B4-BE49-F238E27FC236}">
                <a16:creationId xmlns:a16="http://schemas.microsoft.com/office/drawing/2014/main" id="{8D373BC9-20EB-CF0D-DC8B-E9CE0B5DB342}"/>
              </a:ext>
            </a:extLst>
          </p:cNvPr>
          <p:cNvPicPr>
            <a:picLocks noChangeAspect="1"/>
          </p:cNvPicPr>
          <p:nvPr/>
        </p:nvPicPr>
        <p:blipFill>
          <a:blip r:embed="rId4"/>
          <a:stretch>
            <a:fillRect/>
          </a:stretch>
        </p:blipFill>
        <p:spPr>
          <a:xfrm>
            <a:off x="1877123" y="5141629"/>
            <a:ext cx="735027" cy="510435"/>
          </a:xfrm>
          <a:prstGeom prst="rect">
            <a:avLst/>
          </a:prstGeom>
        </p:spPr>
      </p:pic>
      <p:pic>
        <p:nvPicPr>
          <p:cNvPr id="7" name="図 6">
            <a:extLst>
              <a:ext uri="{FF2B5EF4-FFF2-40B4-BE49-F238E27FC236}">
                <a16:creationId xmlns:a16="http://schemas.microsoft.com/office/drawing/2014/main" id="{64FA67A6-3B3C-6EF0-BF6B-208C46FE9B44}"/>
              </a:ext>
            </a:extLst>
          </p:cNvPr>
          <p:cNvPicPr>
            <a:picLocks noChangeAspect="1"/>
          </p:cNvPicPr>
          <p:nvPr/>
        </p:nvPicPr>
        <p:blipFill>
          <a:blip r:embed="rId4"/>
          <a:stretch>
            <a:fillRect/>
          </a:stretch>
        </p:blipFill>
        <p:spPr>
          <a:xfrm>
            <a:off x="1887044" y="4496728"/>
            <a:ext cx="735027" cy="510435"/>
          </a:xfrm>
          <a:prstGeom prst="rect">
            <a:avLst/>
          </a:prstGeom>
        </p:spPr>
      </p:pic>
      <p:pic>
        <p:nvPicPr>
          <p:cNvPr id="8" name="図 7">
            <a:extLst>
              <a:ext uri="{FF2B5EF4-FFF2-40B4-BE49-F238E27FC236}">
                <a16:creationId xmlns:a16="http://schemas.microsoft.com/office/drawing/2014/main" id="{352250AE-778E-C8D2-BC74-880DDC05E110}"/>
              </a:ext>
            </a:extLst>
          </p:cNvPr>
          <p:cNvPicPr>
            <a:picLocks noChangeAspect="1"/>
          </p:cNvPicPr>
          <p:nvPr/>
        </p:nvPicPr>
        <p:blipFill>
          <a:blip r:embed="rId3"/>
          <a:stretch>
            <a:fillRect/>
          </a:stretch>
        </p:blipFill>
        <p:spPr>
          <a:xfrm>
            <a:off x="4869955" y="1464797"/>
            <a:ext cx="1028100" cy="713958"/>
          </a:xfrm>
          <a:prstGeom prst="rect">
            <a:avLst/>
          </a:prstGeom>
        </p:spPr>
      </p:pic>
    </p:spTree>
    <p:extLst>
      <p:ext uri="{BB962C8B-B14F-4D97-AF65-F5344CB8AC3E}">
        <p14:creationId xmlns:p14="http://schemas.microsoft.com/office/powerpoint/2010/main" val="414670158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5" name="演習3b: Sel’kov モデルのベクトル場"/>
          <p:cNvSpPr txBox="1">
            <a:spLocks noGrp="1"/>
          </p:cNvSpPr>
          <p:nvPr>
            <p:ph type="title"/>
          </p:nvPr>
        </p:nvSpPr>
        <p:spPr>
          <a:prstGeom prst="rect">
            <a:avLst/>
          </a:prstGeom>
        </p:spPr>
        <p:txBody>
          <a:bodyPr/>
          <a:lstStyle/>
          <a:p>
            <a:r>
              <a:rPr dirty="0"/>
              <a:t>演習3: </a:t>
            </a:r>
            <a:r>
              <a:rPr dirty="0" err="1"/>
              <a:t>Sel’kov</a:t>
            </a:r>
            <a:r>
              <a:rPr dirty="0"/>
              <a:t> </a:t>
            </a:r>
            <a:r>
              <a:rPr dirty="0" err="1"/>
              <a:t>モデルのベクトル場</a:t>
            </a:r>
            <a:endParaRPr dirty="0"/>
          </a:p>
        </p:txBody>
      </p:sp>
      <p:sp>
        <p:nvSpPr>
          <p:cNvPr id="414" name="Sel’kovモデルの相平面にベクトル場を描きなさい。ヌルクライン、解軌跡を描いたfigureに重ね描きすること。(MATLAB)…"/>
          <p:cNvSpPr txBox="1">
            <a:spLocks noGrp="1"/>
          </p:cNvSpPr>
          <p:nvPr>
            <p:ph type="body" idx="4294967295"/>
          </p:nvPr>
        </p:nvSpPr>
        <p:spPr>
          <a:xfrm>
            <a:off x="457204" y="1799840"/>
            <a:ext cx="11177746" cy="4013200"/>
          </a:xfrm>
          <a:prstGeom prst="rect">
            <a:avLst/>
          </a:prstGeom>
        </p:spPr>
        <p:txBody>
          <a:bodyPr>
            <a:noAutofit/>
          </a:bodyPr>
          <a:lstStyle/>
          <a:p>
            <a:pPr marL="496620" indent="-457200" defTabSz="394208">
              <a:spcBef>
                <a:spcPts val="1600"/>
              </a:spcBef>
              <a:buClr>
                <a:srgbClr val="000000"/>
              </a:buClr>
              <a:buSzPct val="100000"/>
              <a:buFont typeface="+mj-lt"/>
              <a:buAutoNum type="arabicPeriod"/>
              <a:defRPr sz="2328"/>
            </a:pPr>
            <a:r>
              <a:rPr sz="2400" dirty="0" err="1"/>
              <a:t>Sel’kovモデルの相平面にベクトル場を描きなさい</a:t>
            </a:r>
            <a:r>
              <a:rPr sz="2400" dirty="0"/>
              <a:t>。 (</a:t>
            </a:r>
            <a:r>
              <a:rPr lang="en-US" sz="2400" dirty="0">
                <a:solidFill>
                  <a:srgbClr val="0085CC"/>
                </a:solidFill>
                <a:uFill>
                  <a:solidFill>
                    <a:srgbClr val="0085CC"/>
                  </a:solidFill>
                </a:uFill>
              </a:rPr>
              <a:t>python</a:t>
            </a:r>
            <a:r>
              <a:rPr lang="en-US" altLang="ja-JP" sz="2400" dirty="0"/>
              <a:t>)</a:t>
            </a:r>
            <a:endParaRPr lang="en-US" sz="2400" dirty="0"/>
          </a:p>
          <a:p>
            <a:pPr marL="496620" indent="-457200" defTabSz="394208">
              <a:spcBef>
                <a:spcPts val="1600"/>
              </a:spcBef>
              <a:buClr>
                <a:srgbClr val="000000"/>
              </a:buClr>
              <a:buSzPct val="100000"/>
              <a:buFont typeface="+mj-lt"/>
              <a:buAutoNum type="arabicPeriod"/>
              <a:defRPr sz="2328"/>
            </a:pPr>
            <a:r>
              <a:rPr lang="ja-JP" altLang="en-US" sz="2400"/>
              <a:t>「</a:t>
            </a:r>
            <a:r>
              <a:rPr lang="en-US" altLang="ja-JP" sz="2400" dirty="0"/>
              <a:t>1</a:t>
            </a:r>
            <a:r>
              <a:rPr lang="ja-JP" altLang="en-US" sz="2400"/>
              <a:t>」ができたら、ヌルクライン、解軌跡を描いた</a:t>
            </a:r>
            <a:r>
              <a:rPr lang="en-GB" altLang="ja-JP" sz="2400" dirty="0"/>
              <a:t>figure</a:t>
            </a:r>
            <a:r>
              <a:rPr lang="ja-JP" altLang="en-US" sz="2400"/>
              <a:t>に重ね描きしなさい。</a:t>
            </a:r>
            <a:endParaRPr sz="2400" dirty="0"/>
          </a:p>
          <a:p>
            <a:pPr marL="1148130" lvl="2" indent="-221742" defTabSz="394208">
              <a:spcBef>
                <a:spcPts val="1600"/>
              </a:spcBef>
              <a:buClr>
                <a:srgbClr val="000000"/>
              </a:buClr>
              <a:buSzPct val="100000"/>
              <a:buFont typeface="Arial"/>
              <a:defRPr sz="2328"/>
            </a:pPr>
            <a:endParaRPr dirty="0"/>
          </a:p>
          <a:p>
            <a:pPr marL="372033" indent="-332613" defTabSz="394208">
              <a:spcBef>
                <a:spcPts val="1600"/>
              </a:spcBef>
              <a:buClr>
                <a:srgbClr val="000000"/>
              </a:buClr>
              <a:buSzPct val="100000"/>
              <a:buFont typeface="Arial"/>
              <a:defRPr sz="2328"/>
            </a:pPr>
            <a:r>
              <a:rPr sz="2400" dirty="0" err="1"/>
              <a:t>方針</a:t>
            </a:r>
            <a:endParaRPr sz="2400" dirty="0"/>
          </a:p>
          <a:p>
            <a:pPr marL="760082" lvl="1" indent="-277177" defTabSz="394208">
              <a:spcBef>
                <a:spcPts val="1600"/>
              </a:spcBef>
              <a:buClr>
                <a:srgbClr val="000000"/>
              </a:buClr>
              <a:buSzPct val="100000"/>
              <a:buFont typeface="Arial"/>
              <a:buChar char="–"/>
              <a:defRPr sz="2328"/>
            </a:pPr>
            <a:r>
              <a:rPr lang="en-GB" altLang="ja-JP" sz="2400" dirty="0" err="1"/>
              <a:t>meshgrid</a:t>
            </a:r>
            <a:r>
              <a:rPr lang="ja-JP" altLang="en-US" sz="2400"/>
              <a:t>関数</a:t>
            </a:r>
            <a:endParaRPr lang="en-US" sz="2400" dirty="0"/>
          </a:p>
          <a:p>
            <a:pPr marL="760082" lvl="1" indent="-277177" defTabSz="394208">
              <a:spcBef>
                <a:spcPts val="1600"/>
              </a:spcBef>
              <a:buClr>
                <a:srgbClr val="000000"/>
              </a:buClr>
              <a:buSzPct val="100000"/>
              <a:buFont typeface="Arial"/>
              <a:defRPr sz="2328"/>
            </a:pPr>
            <a:r>
              <a:rPr sz="2400" dirty="0" err="1"/>
              <a:t>quiver関数</a:t>
            </a:r>
            <a:endParaRPr lang="en-US" sz="2400" dirty="0"/>
          </a:p>
          <a:p>
            <a:pPr marL="760082" lvl="1" indent="-277177" defTabSz="394208">
              <a:spcBef>
                <a:spcPts val="1600"/>
              </a:spcBef>
              <a:buClr>
                <a:srgbClr val="000000"/>
              </a:buClr>
              <a:buSzPct val="100000"/>
              <a:buFont typeface="Arial"/>
              <a:defRPr sz="2328"/>
            </a:pPr>
            <a:r>
              <a:rPr lang="en-US" sz="2400" dirty="0" err="1"/>
              <a:t>streamline関数</a:t>
            </a:r>
            <a:endParaRPr sz="24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8" name="復習: MATLABでベクトル場を描く"/>
          <p:cNvSpPr txBox="1">
            <a:spLocks noGrp="1"/>
          </p:cNvSpPr>
          <p:nvPr>
            <p:ph type="title"/>
          </p:nvPr>
        </p:nvSpPr>
        <p:spPr>
          <a:prstGeom prst="rect">
            <a:avLst/>
          </a:prstGeom>
        </p:spPr>
        <p:txBody>
          <a:bodyPr/>
          <a:lstStyle/>
          <a:p>
            <a:r>
              <a:rPr lang="en-US" dirty="0" err="1"/>
              <a:t>Python</a:t>
            </a:r>
            <a:r>
              <a:rPr dirty="0" err="1"/>
              <a:t>でベクトル場を描く</a:t>
            </a:r>
            <a:endParaRPr dirty="0"/>
          </a:p>
        </p:txBody>
      </p:sp>
      <p:sp>
        <p:nvSpPr>
          <p:cNvPr id="417" name="相平面を基準線でメッシュ状に区切る…"/>
          <p:cNvSpPr txBox="1">
            <a:spLocks noGrp="1"/>
          </p:cNvSpPr>
          <p:nvPr>
            <p:ph type="body" idx="4294967295"/>
          </p:nvPr>
        </p:nvSpPr>
        <p:spPr>
          <a:xfrm>
            <a:off x="2497503" y="1311910"/>
            <a:ext cx="8570547" cy="5283200"/>
          </a:xfrm>
          <a:prstGeom prst="rect">
            <a:avLst/>
          </a:prstGeom>
        </p:spPr>
        <p:txBody>
          <a:bodyPr>
            <a:noAutofit/>
          </a:bodyPr>
          <a:lstStyle/>
          <a:p>
            <a:pPr marL="318338" indent="-284606" defTabSz="337311">
              <a:spcBef>
                <a:spcPts val="1400"/>
              </a:spcBef>
              <a:buClr>
                <a:srgbClr val="000000"/>
              </a:buClr>
              <a:buSzPct val="100000"/>
              <a:buFont typeface="Arial"/>
              <a:defRPr sz="1992"/>
            </a:pPr>
            <a:r>
              <a:rPr sz="2800" dirty="0" err="1"/>
              <a:t>相平面を基準線でメッシュ状に区切る</a:t>
            </a:r>
            <a:endParaRPr sz="2800" dirty="0"/>
          </a:p>
          <a:p>
            <a:pPr marL="650379" lvl="1" indent="-237172" defTabSz="337311">
              <a:lnSpc>
                <a:spcPts val="1800"/>
              </a:lnSpc>
              <a:spcBef>
                <a:spcPts val="1400"/>
              </a:spcBef>
              <a:buClr>
                <a:srgbClr val="000000"/>
              </a:buClr>
              <a:buNone/>
              <a:defRPr sz="1328"/>
            </a:pPr>
            <a:r>
              <a:rPr lang="en-GB" sz="2400" dirty="0"/>
              <a:t>x = </a:t>
            </a:r>
            <a:r>
              <a:rPr lang="en-GB" sz="2400" dirty="0" err="1"/>
              <a:t>np.linspace</a:t>
            </a:r>
            <a:r>
              <a:rPr lang="en-GB" sz="2400" dirty="0"/>
              <a:t>( 0, 3, N )</a:t>
            </a:r>
          </a:p>
          <a:p>
            <a:pPr marL="650379" lvl="1" indent="-237172" defTabSz="337311">
              <a:lnSpc>
                <a:spcPts val="1800"/>
              </a:lnSpc>
              <a:spcBef>
                <a:spcPts val="1400"/>
              </a:spcBef>
              <a:buClr>
                <a:srgbClr val="000000"/>
              </a:buClr>
              <a:buNone/>
              <a:defRPr sz="1328"/>
            </a:pPr>
            <a:r>
              <a:rPr lang="en-GB" sz="2400" dirty="0"/>
              <a:t>y = </a:t>
            </a:r>
            <a:r>
              <a:rPr lang="en-GB" sz="2400" dirty="0" err="1"/>
              <a:t>np.linspace</a:t>
            </a:r>
            <a:r>
              <a:rPr lang="en-GB" sz="2400" dirty="0"/>
              <a:t>( 0, 10, N )</a:t>
            </a:r>
          </a:p>
          <a:p>
            <a:pPr marL="650379" lvl="1" indent="-237172" defTabSz="337311">
              <a:lnSpc>
                <a:spcPts val="1800"/>
              </a:lnSpc>
              <a:spcBef>
                <a:spcPts val="1400"/>
              </a:spcBef>
              <a:buClr>
                <a:srgbClr val="000000"/>
              </a:buClr>
              <a:buNone/>
              <a:defRPr sz="1328"/>
            </a:pPr>
            <a:r>
              <a:rPr lang="en-GB" sz="2400" dirty="0"/>
              <a:t>[X, Y] = </a:t>
            </a:r>
            <a:r>
              <a:rPr lang="en-GB" sz="2400" dirty="0" err="1"/>
              <a:t>np.</a:t>
            </a:r>
            <a:r>
              <a:rPr lang="en-GB" sz="2400" dirty="0" err="1">
                <a:solidFill>
                  <a:srgbClr val="0070C0"/>
                </a:solidFill>
              </a:rPr>
              <a:t>meshgrid</a:t>
            </a:r>
            <a:r>
              <a:rPr lang="en-GB" sz="2400" dirty="0"/>
              <a:t>( x, y )</a:t>
            </a:r>
          </a:p>
          <a:p>
            <a:pPr marL="650379" lvl="1" indent="-237172" defTabSz="337311">
              <a:lnSpc>
                <a:spcPts val="1800"/>
              </a:lnSpc>
              <a:spcBef>
                <a:spcPts val="1400"/>
              </a:spcBef>
              <a:buClr>
                <a:srgbClr val="000000"/>
              </a:buClr>
              <a:buNone/>
              <a:defRPr sz="1328"/>
            </a:pPr>
            <a:endParaRPr sz="2800" dirty="0"/>
          </a:p>
          <a:p>
            <a:pPr marL="318338" indent="-284606" defTabSz="337311">
              <a:spcBef>
                <a:spcPts val="1400"/>
              </a:spcBef>
              <a:buClr>
                <a:srgbClr val="000000"/>
              </a:buClr>
              <a:buSzPct val="100000"/>
              <a:buFont typeface="Arial"/>
              <a:defRPr sz="1992"/>
            </a:pPr>
            <a:r>
              <a:rPr lang="ja-JP" altLang="en-US" sz="2800"/>
              <a:t>メッシュの</a:t>
            </a:r>
            <a:r>
              <a:rPr sz="2800" dirty="0" err="1"/>
              <a:t>各点における時間変化を計算</a:t>
            </a:r>
            <a:endParaRPr sz="2800" dirty="0"/>
          </a:p>
          <a:p>
            <a:pPr marL="650379" lvl="1" indent="-237172" defTabSz="337311">
              <a:lnSpc>
                <a:spcPts val="1800"/>
              </a:lnSpc>
              <a:spcBef>
                <a:spcPts val="1400"/>
              </a:spcBef>
              <a:buClr>
                <a:srgbClr val="000000"/>
              </a:buClr>
              <a:buNone/>
              <a:defRPr sz="1494"/>
            </a:pPr>
            <a:r>
              <a:rPr lang="en-US" sz="2400" dirty="0" err="1"/>
              <a:t>dxdt</a:t>
            </a:r>
            <a:r>
              <a:rPr sz="2400" dirty="0"/>
              <a:t> = -X + a * Y </a:t>
            </a:r>
            <a:r>
              <a:rPr lang="en-US" sz="2400" dirty="0">
                <a:solidFill>
                  <a:srgbClr val="008F00"/>
                </a:solidFill>
              </a:rPr>
              <a:t>#</a:t>
            </a:r>
            <a:r>
              <a:rPr lang="ja-JP" altLang="en-US" sz="2400">
                <a:solidFill>
                  <a:srgbClr val="008F00"/>
                </a:solidFill>
              </a:rPr>
              <a:t>右辺の方程式はあくまでも一例</a:t>
            </a:r>
            <a:endParaRPr sz="2400" dirty="0">
              <a:solidFill>
                <a:srgbClr val="008F00"/>
              </a:solidFill>
            </a:endParaRPr>
          </a:p>
          <a:p>
            <a:pPr marL="650379" lvl="1" indent="-237172" defTabSz="337311">
              <a:lnSpc>
                <a:spcPts val="1800"/>
              </a:lnSpc>
              <a:spcBef>
                <a:spcPts val="1400"/>
              </a:spcBef>
              <a:buClr>
                <a:srgbClr val="000000"/>
              </a:buClr>
              <a:buNone/>
              <a:defRPr sz="1494"/>
            </a:pPr>
            <a:r>
              <a:rPr lang="en-US" sz="2400" dirty="0" err="1"/>
              <a:t>dydt</a:t>
            </a:r>
            <a:r>
              <a:rPr sz="2400" dirty="0"/>
              <a:t> = b - a * Y</a:t>
            </a:r>
            <a:endParaRPr lang="en-US" sz="2400" dirty="0"/>
          </a:p>
          <a:p>
            <a:pPr marL="650379" lvl="1" indent="-237172" defTabSz="337311">
              <a:lnSpc>
                <a:spcPts val="1800"/>
              </a:lnSpc>
              <a:spcBef>
                <a:spcPts val="1400"/>
              </a:spcBef>
              <a:buClr>
                <a:srgbClr val="000000"/>
              </a:buClr>
              <a:buNone/>
              <a:defRPr sz="1494"/>
            </a:pPr>
            <a:endParaRPr dirty="0"/>
          </a:p>
          <a:p>
            <a:pPr marL="318338" indent="-284606" defTabSz="337311">
              <a:spcBef>
                <a:spcPts val="1400"/>
              </a:spcBef>
              <a:buClr>
                <a:srgbClr val="000000"/>
              </a:buClr>
              <a:buSzPct val="100000"/>
              <a:buFont typeface="Arial"/>
              <a:defRPr sz="1992"/>
            </a:pPr>
            <a:r>
              <a:rPr sz="2800" dirty="0" err="1"/>
              <a:t>点</a:t>
            </a:r>
            <a:r>
              <a:rPr sz="2800" dirty="0"/>
              <a:t>(X,Y)</a:t>
            </a:r>
            <a:r>
              <a:rPr sz="2800" dirty="0" err="1"/>
              <a:t>に大きさ</a:t>
            </a:r>
            <a:r>
              <a:rPr sz="2800" dirty="0"/>
              <a:t>(</a:t>
            </a:r>
            <a:r>
              <a:rPr lang="en-US" sz="2800" dirty="0"/>
              <a:t> </a:t>
            </a:r>
            <a:r>
              <a:rPr lang="en-US" sz="2800" dirty="0" err="1"/>
              <a:t>dxdt</a:t>
            </a:r>
            <a:r>
              <a:rPr lang="en-US" sz="2800" dirty="0"/>
              <a:t> </a:t>
            </a:r>
            <a:r>
              <a:rPr sz="2800" dirty="0"/>
              <a:t>,</a:t>
            </a:r>
            <a:r>
              <a:rPr lang="en-US" sz="2800" dirty="0"/>
              <a:t> </a:t>
            </a:r>
            <a:r>
              <a:rPr lang="en-US" sz="2800" dirty="0" err="1"/>
              <a:t>dydt</a:t>
            </a:r>
            <a:r>
              <a:rPr lang="en-US" sz="2800" dirty="0"/>
              <a:t> </a:t>
            </a:r>
            <a:r>
              <a:rPr sz="2800" dirty="0"/>
              <a:t>)</a:t>
            </a:r>
            <a:r>
              <a:rPr sz="2800" dirty="0" err="1"/>
              <a:t>の矢印を描く</a:t>
            </a:r>
            <a:endParaRPr sz="2800" dirty="0"/>
          </a:p>
          <a:p>
            <a:pPr marL="650379" lvl="1" indent="-237172" defTabSz="337311">
              <a:spcBef>
                <a:spcPts val="1400"/>
              </a:spcBef>
              <a:buClr>
                <a:srgbClr val="0085CC"/>
              </a:buClr>
              <a:buNone/>
              <a:defRPr sz="1494"/>
            </a:pPr>
            <a:r>
              <a:rPr lang="en-GB" altLang="ja-JP" sz="2400" dirty="0" err="1"/>
              <a:t>plt</a:t>
            </a:r>
            <a:r>
              <a:rPr lang="en-GB" altLang="ja-JP" sz="2400" dirty="0"/>
              <a:t>.</a:t>
            </a:r>
            <a:r>
              <a:rPr sz="2400" dirty="0">
                <a:solidFill>
                  <a:srgbClr val="0085CC"/>
                </a:solidFill>
                <a:uFill>
                  <a:solidFill>
                    <a:srgbClr val="0085CC"/>
                  </a:solidFill>
                </a:uFill>
              </a:rPr>
              <a:t>quiver</a:t>
            </a:r>
            <a:r>
              <a:rPr sz="2400" dirty="0"/>
              <a:t>(</a:t>
            </a:r>
            <a:r>
              <a:rPr lang="en-US" sz="2400" dirty="0"/>
              <a:t> </a:t>
            </a:r>
            <a:r>
              <a:rPr sz="2400" dirty="0"/>
              <a:t>X</a:t>
            </a:r>
            <a:r>
              <a:rPr lang="en-US" sz="2400" dirty="0"/>
              <a:t> </a:t>
            </a:r>
            <a:r>
              <a:rPr sz="2400" dirty="0"/>
              <a:t>,Y</a:t>
            </a:r>
            <a:r>
              <a:rPr lang="en-US" sz="2400" dirty="0"/>
              <a:t> </a:t>
            </a:r>
            <a:r>
              <a:rPr sz="2400" dirty="0"/>
              <a:t>,</a:t>
            </a:r>
            <a:r>
              <a:rPr lang="en-US" sz="2400" dirty="0"/>
              <a:t> </a:t>
            </a:r>
            <a:r>
              <a:rPr lang="en-US" sz="2400" dirty="0" err="1"/>
              <a:t>dxdt</a:t>
            </a:r>
            <a:r>
              <a:rPr lang="en-US" sz="2400" dirty="0"/>
              <a:t> , </a:t>
            </a:r>
            <a:r>
              <a:rPr lang="en-US" sz="2400" dirty="0" err="1"/>
              <a:t>dydt</a:t>
            </a:r>
            <a:r>
              <a:rPr lang="en-US" sz="2400" dirty="0"/>
              <a:t> </a:t>
            </a:r>
            <a:r>
              <a:rPr sz="2400" dirty="0"/>
              <a:t>)</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1" name="空欄を埋めなさい"/>
          <p:cNvSpPr txBox="1">
            <a:spLocks noGrp="1"/>
          </p:cNvSpPr>
          <p:nvPr>
            <p:ph type="title"/>
          </p:nvPr>
        </p:nvSpPr>
        <p:spPr>
          <a:prstGeom prst="rect">
            <a:avLst/>
          </a:prstGeom>
        </p:spPr>
        <p:txBody>
          <a:bodyPr/>
          <a:lstStyle/>
          <a:p>
            <a:r>
              <a:t>空欄を埋めなさい</a:t>
            </a:r>
          </a:p>
        </p:txBody>
      </p:sp>
      <p:sp>
        <p:nvSpPr>
          <p:cNvPr id="3" name="テキスト ボックス 2">
            <a:extLst>
              <a:ext uri="{FF2B5EF4-FFF2-40B4-BE49-F238E27FC236}">
                <a16:creationId xmlns:a16="http://schemas.microsoft.com/office/drawing/2014/main" id="{95E3BB45-6B7C-F733-358E-77E8FEB8635F}"/>
              </a:ext>
            </a:extLst>
          </p:cNvPr>
          <p:cNvSpPr txBox="1"/>
          <p:nvPr/>
        </p:nvSpPr>
        <p:spPr>
          <a:xfrm>
            <a:off x="1318846" y="1272750"/>
            <a:ext cx="9372600" cy="5078313"/>
          </a:xfrm>
          <a:prstGeom prst="rect">
            <a:avLst/>
          </a:prstGeom>
          <a:noFill/>
          <a:ln>
            <a:solidFill>
              <a:schemeClr val="tx1"/>
            </a:solidFill>
          </a:ln>
        </p:spPr>
        <p:txBody>
          <a:bodyPr wrap="square">
            <a:spAutoFit/>
          </a:bodyPr>
          <a:lstStyle/>
          <a:p>
            <a:r>
              <a:rPr lang="ja-JP" altLang="en-US" b="1">
                <a:solidFill>
                  <a:srgbClr val="000000"/>
                </a:solidFill>
                <a:latin typeface="Hiragino Kaku Gothic ProN W6" panose="020B0300000000000000" pitchFamily="34" charset="-128"/>
                <a:ea typeface="Hiragino Kaku Gothic ProN W6" panose="020B0300000000000000" pitchFamily="34" charset="-128"/>
              </a:rPr>
              <a:t>コード</a:t>
            </a:r>
            <a:r>
              <a:rPr lang="en-GB" altLang="ja-JP" dirty="0">
                <a:latin typeface="Courier New" panose="02070309020205020404" pitchFamily="49" charset="0"/>
                <a:cs typeface="Courier New" panose="02070309020205020404" pitchFamily="49" charset="0"/>
              </a:rPr>
              <a:t>(</a:t>
            </a:r>
            <a:r>
              <a:rPr lang="en-GB" altLang="ja-JP" dirty="0" err="1">
                <a:latin typeface="Courier New" panose="02070309020205020404" pitchFamily="49" charset="0"/>
                <a:cs typeface="Courier New" panose="02070309020205020404" pitchFamily="49" charset="0"/>
              </a:rPr>
              <a:t>selkov_vector_field.py</a:t>
            </a:r>
            <a:r>
              <a:rPr lang="en-GB" altLang="ja-JP" dirty="0">
                <a:latin typeface="Courier New" panose="02070309020205020404" pitchFamily="49" charset="0"/>
                <a:cs typeface="Courier New" panose="02070309020205020404" pitchFamily="49" charset="0"/>
              </a:rPr>
              <a:t>)</a:t>
            </a:r>
            <a:endParaRPr lang="en-US" altLang="ja-JP" dirty="0"/>
          </a:p>
          <a:p>
            <a:endParaRPr lang="ja-JP" altLang="en-US"/>
          </a:p>
          <a:p>
            <a:r>
              <a:rPr lang="en-US" altLang="ja-JP" dirty="0"/>
              <a:t>(</a:t>
            </a:r>
            <a:r>
              <a:rPr lang="ja-JP" altLang="en-US"/>
              <a:t>一部略</a:t>
            </a:r>
            <a:r>
              <a:rPr lang="en-US" altLang="ja-JP" dirty="0"/>
              <a:t>)</a:t>
            </a:r>
            <a:endParaRPr lang="ja-JP" altLang="en-US"/>
          </a:p>
          <a:p>
            <a:r>
              <a:rPr lang="ja-JP" altLang="en-US"/>
              <a:t>[X, Y] = np.meshgrid( x, y )</a:t>
            </a:r>
          </a:p>
          <a:p>
            <a:endParaRPr lang="ja-JP" altLang="en-US"/>
          </a:p>
          <a:p>
            <a:r>
              <a:rPr lang="ja-JP" altLang="en-US"/>
              <a:t>a = 0.06</a:t>
            </a:r>
          </a:p>
          <a:p>
            <a:r>
              <a:rPr lang="ja-JP" altLang="en-US"/>
              <a:t>b = 0.6</a:t>
            </a:r>
          </a:p>
          <a:p>
            <a:endParaRPr lang="ja-JP" altLang="en-US"/>
          </a:p>
          <a:p>
            <a:r>
              <a:rPr lang="ja-JP" altLang="en-US"/>
              <a:t>v1 = </a:t>
            </a:r>
          </a:p>
          <a:p>
            <a:r>
              <a:rPr lang="ja-JP" altLang="en-US"/>
              <a:t>v2 = </a:t>
            </a:r>
          </a:p>
          <a:p>
            <a:r>
              <a:rPr lang="ja-JP" altLang="en-US"/>
              <a:t>v3 = </a:t>
            </a:r>
          </a:p>
          <a:p>
            <a:endParaRPr lang="ja-JP" altLang="en-US"/>
          </a:p>
          <a:p>
            <a:r>
              <a:rPr lang="ja-JP" altLang="en-US"/>
              <a:t>dxdt = v2 - v3</a:t>
            </a:r>
          </a:p>
          <a:p>
            <a:r>
              <a:rPr lang="ja-JP" altLang="en-US"/>
              <a:t>dydt = v1 - v2</a:t>
            </a:r>
          </a:p>
          <a:p>
            <a:endParaRPr lang="ja-JP" altLang="en-US"/>
          </a:p>
          <a:p>
            <a:r>
              <a:rPr lang="ja-JP" altLang="en-US"/>
              <a:t>plt.quiver( </a:t>
            </a:r>
            <a:r>
              <a:rPr lang="en-US" altLang="ja-JP" dirty="0"/>
              <a:t>   </a:t>
            </a:r>
            <a:r>
              <a:rPr lang="ja-JP" altLang="en-US"/>
              <a:t>, </a:t>
            </a:r>
            <a:r>
              <a:rPr lang="en-US" altLang="ja-JP" dirty="0"/>
              <a:t>   </a:t>
            </a:r>
            <a:r>
              <a:rPr lang="ja-JP" altLang="en-US"/>
              <a:t>, </a:t>
            </a:r>
            <a:r>
              <a:rPr lang="en-US" altLang="ja-JP" dirty="0"/>
              <a:t>   </a:t>
            </a:r>
            <a:r>
              <a:rPr lang="ja-JP" altLang="en-US"/>
              <a:t>, </a:t>
            </a:r>
            <a:r>
              <a:rPr lang="en-US" altLang="ja-JP" dirty="0"/>
              <a:t>   </a:t>
            </a:r>
            <a:r>
              <a:rPr lang="ja-JP" altLang="en-US"/>
              <a:t>)</a:t>
            </a:r>
            <a:r>
              <a:rPr lang="en-US" altLang="ja-JP" dirty="0"/>
              <a:t> 		</a:t>
            </a:r>
            <a:r>
              <a:rPr lang="en-GB" altLang="ja-JP" dirty="0">
                <a:solidFill>
                  <a:srgbClr val="008F00"/>
                </a:solidFill>
                <a:uFill>
                  <a:solidFill>
                    <a:srgbClr val="008F00"/>
                  </a:solidFill>
                </a:uFill>
              </a:rPr>
              <a:t>#</a:t>
            </a:r>
            <a:r>
              <a:rPr lang="ja-JP" altLang="en-US">
                <a:solidFill>
                  <a:srgbClr val="008F00"/>
                </a:solidFill>
                <a:uFill>
                  <a:solidFill>
                    <a:srgbClr val="008F00"/>
                  </a:solidFill>
                </a:uFill>
              </a:rPr>
              <a:t>点</a:t>
            </a:r>
            <a:r>
              <a:rPr lang="en-US" altLang="ja-JP" dirty="0">
                <a:solidFill>
                  <a:srgbClr val="008F00"/>
                </a:solidFill>
                <a:uFill>
                  <a:solidFill>
                    <a:srgbClr val="008F00"/>
                  </a:solidFill>
                </a:uFill>
              </a:rPr>
              <a:t>(</a:t>
            </a:r>
            <a:r>
              <a:rPr lang="en-GB" altLang="ja-JP" dirty="0">
                <a:solidFill>
                  <a:srgbClr val="008F00"/>
                </a:solidFill>
                <a:uFill>
                  <a:solidFill>
                    <a:srgbClr val="008F00"/>
                  </a:solidFill>
                </a:uFill>
              </a:rPr>
              <a:t>X,Y)</a:t>
            </a:r>
            <a:r>
              <a:rPr lang="ja-JP" altLang="en-US">
                <a:solidFill>
                  <a:srgbClr val="008F00"/>
                </a:solidFill>
                <a:uFill>
                  <a:solidFill>
                    <a:srgbClr val="008F00"/>
                  </a:solidFill>
                </a:uFill>
              </a:rPr>
              <a:t>に大きさ</a:t>
            </a:r>
            <a:r>
              <a:rPr lang="en-US" altLang="ja-JP" dirty="0">
                <a:solidFill>
                  <a:srgbClr val="008F00"/>
                </a:solidFill>
                <a:uFill>
                  <a:solidFill>
                    <a:srgbClr val="008F00"/>
                  </a:solidFill>
                </a:uFill>
              </a:rPr>
              <a:t>(</a:t>
            </a:r>
            <a:r>
              <a:rPr lang="en-GB" altLang="ja-JP" dirty="0">
                <a:solidFill>
                  <a:srgbClr val="008F00"/>
                </a:solidFill>
                <a:uFill>
                  <a:solidFill>
                    <a:srgbClr val="008F00"/>
                  </a:solidFill>
                </a:uFill>
              </a:rPr>
              <a:t> </a:t>
            </a:r>
            <a:r>
              <a:rPr lang="en-GB" altLang="ja-JP" dirty="0" err="1">
                <a:solidFill>
                  <a:srgbClr val="008F00"/>
                </a:solidFill>
                <a:uFill>
                  <a:solidFill>
                    <a:srgbClr val="008F00"/>
                  </a:solidFill>
                </a:uFill>
              </a:rPr>
              <a:t>dxdt</a:t>
            </a:r>
            <a:r>
              <a:rPr lang="en-GB" altLang="ja-JP" dirty="0">
                <a:solidFill>
                  <a:srgbClr val="008F00"/>
                </a:solidFill>
                <a:uFill>
                  <a:solidFill>
                    <a:srgbClr val="008F00"/>
                  </a:solidFill>
                </a:uFill>
              </a:rPr>
              <a:t> ,</a:t>
            </a:r>
            <a:r>
              <a:rPr lang="en-GB" altLang="ja-JP" dirty="0" err="1">
                <a:solidFill>
                  <a:srgbClr val="008F00"/>
                </a:solidFill>
                <a:uFill>
                  <a:solidFill>
                    <a:srgbClr val="008F00"/>
                  </a:solidFill>
                </a:uFill>
              </a:rPr>
              <a:t>dydt</a:t>
            </a:r>
            <a:r>
              <a:rPr lang="en-GB" altLang="ja-JP" dirty="0">
                <a:solidFill>
                  <a:srgbClr val="008F00"/>
                </a:solidFill>
                <a:uFill>
                  <a:solidFill>
                    <a:srgbClr val="008F00"/>
                  </a:solidFill>
                </a:uFill>
              </a:rPr>
              <a:t> )</a:t>
            </a:r>
            <a:r>
              <a:rPr lang="ja-JP" altLang="en-US">
                <a:solidFill>
                  <a:srgbClr val="008F00"/>
                </a:solidFill>
                <a:uFill>
                  <a:solidFill>
                    <a:srgbClr val="008F00"/>
                  </a:solidFill>
                </a:uFill>
              </a:rPr>
              <a:t>の矢印を描く</a:t>
            </a:r>
            <a:endParaRPr lang="ja-JP" altLang="en-US"/>
          </a:p>
          <a:p>
            <a:r>
              <a:rPr lang="en-US" altLang="ja-JP" dirty="0"/>
              <a:t>#</a:t>
            </a:r>
            <a:r>
              <a:rPr lang="ja-JP" altLang="en-US"/>
              <a:t>plt.streamplot( </a:t>
            </a:r>
            <a:r>
              <a:rPr lang="en-US" altLang="ja-JP" dirty="0"/>
              <a:t>   </a:t>
            </a:r>
            <a:r>
              <a:rPr lang="ja-JP" altLang="en-US"/>
              <a:t>, </a:t>
            </a:r>
            <a:r>
              <a:rPr lang="en-US" altLang="ja-JP" dirty="0"/>
              <a:t>   </a:t>
            </a:r>
            <a:r>
              <a:rPr lang="ja-JP" altLang="en-US"/>
              <a:t>, </a:t>
            </a:r>
            <a:r>
              <a:rPr lang="en-US" altLang="ja-JP" dirty="0"/>
              <a:t>   </a:t>
            </a:r>
            <a:r>
              <a:rPr lang="ja-JP" altLang="en-US"/>
              <a:t>,</a:t>
            </a:r>
            <a:r>
              <a:rPr lang="en-US" altLang="ja-JP" dirty="0"/>
              <a:t>    </a:t>
            </a:r>
            <a:r>
              <a:rPr lang="ja-JP" altLang="en-US"/>
              <a:t>)</a:t>
            </a:r>
            <a:r>
              <a:rPr lang="en-US" altLang="ja-JP" dirty="0"/>
              <a:t> 	</a:t>
            </a:r>
            <a:r>
              <a:rPr lang="en-GB" altLang="ja-JP" dirty="0">
                <a:solidFill>
                  <a:srgbClr val="008F00"/>
                </a:solidFill>
                <a:uFill>
                  <a:solidFill>
                    <a:srgbClr val="008F00"/>
                  </a:solidFill>
                </a:uFill>
              </a:rPr>
              <a:t>#</a:t>
            </a:r>
            <a:r>
              <a:rPr lang="ja-JP" altLang="en-US">
                <a:solidFill>
                  <a:srgbClr val="008F00"/>
                </a:solidFill>
                <a:uFill>
                  <a:solidFill>
                    <a:srgbClr val="008F00"/>
                  </a:solidFill>
                </a:uFill>
              </a:rPr>
              <a:t>微分方程式が定める「流れ」を可視化する</a:t>
            </a:r>
            <a:endParaRPr lang="ja-JP" altLang="en-US"/>
          </a:p>
          <a:p>
            <a:r>
              <a:rPr lang="ja-JP" altLang="en-US"/>
              <a:t>plt.show()</a:t>
            </a:r>
          </a:p>
        </p:txBody>
      </p:sp>
      <p:sp>
        <p:nvSpPr>
          <p:cNvPr id="4" name="正方形/長方形 3">
            <a:extLst>
              <a:ext uri="{FF2B5EF4-FFF2-40B4-BE49-F238E27FC236}">
                <a16:creationId xmlns:a16="http://schemas.microsoft.com/office/drawing/2014/main" id="{4F23ECEC-2698-AA70-0F53-2E4E2AB1CD37}"/>
              </a:ext>
            </a:extLst>
          </p:cNvPr>
          <p:cNvSpPr/>
          <p:nvPr/>
        </p:nvSpPr>
        <p:spPr>
          <a:xfrm>
            <a:off x="1957752" y="3532911"/>
            <a:ext cx="2497667" cy="237175"/>
          </a:xfrm>
          <a:prstGeom prst="rect">
            <a:avLst/>
          </a:prstGeom>
          <a:solidFill>
            <a:schemeClr val="bg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 name="正方形/長方形 4">
            <a:extLst>
              <a:ext uri="{FF2B5EF4-FFF2-40B4-BE49-F238E27FC236}">
                <a16:creationId xmlns:a16="http://schemas.microsoft.com/office/drawing/2014/main" id="{67BD273C-6FB2-A762-F432-7932EB927324}"/>
              </a:ext>
            </a:extLst>
          </p:cNvPr>
          <p:cNvSpPr/>
          <p:nvPr/>
        </p:nvSpPr>
        <p:spPr>
          <a:xfrm>
            <a:off x="1957752" y="3811906"/>
            <a:ext cx="2497667" cy="237175"/>
          </a:xfrm>
          <a:prstGeom prst="rect">
            <a:avLst/>
          </a:prstGeom>
          <a:solidFill>
            <a:schemeClr val="bg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正方形/長方形 5">
            <a:extLst>
              <a:ext uri="{FF2B5EF4-FFF2-40B4-BE49-F238E27FC236}">
                <a16:creationId xmlns:a16="http://schemas.microsoft.com/office/drawing/2014/main" id="{9A28E01D-2B86-F3CC-1409-8B686B3663B4}"/>
              </a:ext>
            </a:extLst>
          </p:cNvPr>
          <p:cNvSpPr/>
          <p:nvPr/>
        </p:nvSpPr>
        <p:spPr>
          <a:xfrm>
            <a:off x="1957752" y="4090901"/>
            <a:ext cx="2497667" cy="237175"/>
          </a:xfrm>
          <a:prstGeom prst="rect">
            <a:avLst/>
          </a:prstGeom>
          <a:solidFill>
            <a:schemeClr val="bg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正方形/長方形 6">
            <a:extLst>
              <a:ext uri="{FF2B5EF4-FFF2-40B4-BE49-F238E27FC236}">
                <a16:creationId xmlns:a16="http://schemas.microsoft.com/office/drawing/2014/main" id="{C703D370-9938-BA35-5A25-64B9267D11D6}"/>
              </a:ext>
            </a:extLst>
          </p:cNvPr>
          <p:cNvSpPr/>
          <p:nvPr/>
        </p:nvSpPr>
        <p:spPr>
          <a:xfrm>
            <a:off x="2408017" y="5472074"/>
            <a:ext cx="186095" cy="237175"/>
          </a:xfrm>
          <a:prstGeom prst="rect">
            <a:avLst/>
          </a:prstGeom>
          <a:solidFill>
            <a:schemeClr val="bg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正方形/長方形 7">
            <a:extLst>
              <a:ext uri="{FF2B5EF4-FFF2-40B4-BE49-F238E27FC236}">
                <a16:creationId xmlns:a16="http://schemas.microsoft.com/office/drawing/2014/main" id="{FD759538-0568-6E29-65C9-0FA5D32CAB44}"/>
              </a:ext>
            </a:extLst>
          </p:cNvPr>
          <p:cNvSpPr/>
          <p:nvPr/>
        </p:nvSpPr>
        <p:spPr>
          <a:xfrm>
            <a:off x="2712817" y="5472074"/>
            <a:ext cx="186095" cy="237175"/>
          </a:xfrm>
          <a:prstGeom prst="rect">
            <a:avLst/>
          </a:prstGeom>
          <a:solidFill>
            <a:schemeClr val="bg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正方形/長方形 8">
            <a:extLst>
              <a:ext uri="{FF2B5EF4-FFF2-40B4-BE49-F238E27FC236}">
                <a16:creationId xmlns:a16="http://schemas.microsoft.com/office/drawing/2014/main" id="{0591C585-4142-D9FF-2964-9B194754863D}"/>
              </a:ext>
            </a:extLst>
          </p:cNvPr>
          <p:cNvSpPr/>
          <p:nvPr/>
        </p:nvSpPr>
        <p:spPr>
          <a:xfrm>
            <a:off x="3030869" y="5472073"/>
            <a:ext cx="186095" cy="237175"/>
          </a:xfrm>
          <a:prstGeom prst="rect">
            <a:avLst/>
          </a:prstGeom>
          <a:solidFill>
            <a:schemeClr val="bg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正方形/長方形 9">
            <a:extLst>
              <a:ext uri="{FF2B5EF4-FFF2-40B4-BE49-F238E27FC236}">
                <a16:creationId xmlns:a16="http://schemas.microsoft.com/office/drawing/2014/main" id="{7EC31FBE-9C4C-A5F5-BCD6-A2DD9369659D}"/>
              </a:ext>
            </a:extLst>
          </p:cNvPr>
          <p:cNvSpPr/>
          <p:nvPr/>
        </p:nvSpPr>
        <p:spPr>
          <a:xfrm>
            <a:off x="3335669" y="5472073"/>
            <a:ext cx="186095" cy="237175"/>
          </a:xfrm>
          <a:prstGeom prst="rect">
            <a:avLst/>
          </a:prstGeom>
          <a:solidFill>
            <a:schemeClr val="bg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正方形/長方形 10">
            <a:extLst>
              <a:ext uri="{FF2B5EF4-FFF2-40B4-BE49-F238E27FC236}">
                <a16:creationId xmlns:a16="http://schemas.microsoft.com/office/drawing/2014/main" id="{7D7F0A71-09D2-74C7-BB2D-B2AAB7813687}"/>
              </a:ext>
            </a:extLst>
          </p:cNvPr>
          <p:cNvSpPr/>
          <p:nvPr/>
        </p:nvSpPr>
        <p:spPr>
          <a:xfrm>
            <a:off x="2991113" y="5748943"/>
            <a:ext cx="186095" cy="237175"/>
          </a:xfrm>
          <a:prstGeom prst="rect">
            <a:avLst/>
          </a:prstGeom>
          <a:solidFill>
            <a:schemeClr val="bg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正方形/長方形 11">
            <a:extLst>
              <a:ext uri="{FF2B5EF4-FFF2-40B4-BE49-F238E27FC236}">
                <a16:creationId xmlns:a16="http://schemas.microsoft.com/office/drawing/2014/main" id="{57770E68-8226-DE7A-26AF-0F75ACCE40AC}"/>
              </a:ext>
            </a:extLst>
          </p:cNvPr>
          <p:cNvSpPr/>
          <p:nvPr/>
        </p:nvSpPr>
        <p:spPr>
          <a:xfrm>
            <a:off x="3295913" y="5748943"/>
            <a:ext cx="186095" cy="237175"/>
          </a:xfrm>
          <a:prstGeom prst="rect">
            <a:avLst/>
          </a:prstGeom>
          <a:solidFill>
            <a:schemeClr val="bg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正方形/長方形 12">
            <a:extLst>
              <a:ext uri="{FF2B5EF4-FFF2-40B4-BE49-F238E27FC236}">
                <a16:creationId xmlns:a16="http://schemas.microsoft.com/office/drawing/2014/main" id="{D39CEA80-C667-F986-BBBA-89A6B5243D5E}"/>
              </a:ext>
            </a:extLst>
          </p:cNvPr>
          <p:cNvSpPr/>
          <p:nvPr/>
        </p:nvSpPr>
        <p:spPr>
          <a:xfrm>
            <a:off x="3613965" y="5748942"/>
            <a:ext cx="186095" cy="237175"/>
          </a:xfrm>
          <a:prstGeom prst="rect">
            <a:avLst/>
          </a:prstGeom>
          <a:solidFill>
            <a:schemeClr val="bg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正方形/長方形 13">
            <a:extLst>
              <a:ext uri="{FF2B5EF4-FFF2-40B4-BE49-F238E27FC236}">
                <a16:creationId xmlns:a16="http://schemas.microsoft.com/office/drawing/2014/main" id="{560924AA-2318-CEDE-E94E-3006BFD3457C}"/>
              </a:ext>
            </a:extLst>
          </p:cNvPr>
          <p:cNvSpPr/>
          <p:nvPr/>
        </p:nvSpPr>
        <p:spPr>
          <a:xfrm>
            <a:off x="3918765" y="5748942"/>
            <a:ext cx="186095" cy="237175"/>
          </a:xfrm>
          <a:prstGeom prst="rect">
            <a:avLst/>
          </a:prstGeom>
          <a:solidFill>
            <a:schemeClr val="bg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5" name="テキスト ボックス 14">
            <a:extLst>
              <a:ext uri="{FF2B5EF4-FFF2-40B4-BE49-F238E27FC236}">
                <a16:creationId xmlns:a16="http://schemas.microsoft.com/office/drawing/2014/main" id="{AC8316FA-7D97-D42B-F03B-A97ADBF3CC17}"/>
              </a:ext>
            </a:extLst>
          </p:cNvPr>
          <p:cNvSpPr txBox="1"/>
          <p:nvPr/>
        </p:nvSpPr>
        <p:spPr>
          <a:xfrm>
            <a:off x="3088928" y="6390758"/>
            <a:ext cx="7704994" cy="369332"/>
          </a:xfrm>
          <a:prstGeom prst="rect">
            <a:avLst/>
          </a:prstGeom>
          <a:noFill/>
        </p:spPr>
        <p:txBody>
          <a:bodyPr wrap="none" rtlCol="0">
            <a:spAutoFit/>
          </a:bodyPr>
          <a:lstStyle/>
          <a:p>
            <a:r>
              <a:rPr lang="en-US" altLang="ja-JP" dirty="0"/>
              <a:t>※ q</a:t>
            </a:r>
            <a:r>
              <a:rPr kumimoji="1" lang="en-US" altLang="ja-JP" dirty="0"/>
              <a:t>uiver </a:t>
            </a:r>
            <a:r>
              <a:rPr kumimoji="1" lang="ja-JP" altLang="en-US"/>
              <a:t>と</a:t>
            </a:r>
            <a:r>
              <a:rPr kumimoji="1" lang="en-US" altLang="ja-JP" dirty="0"/>
              <a:t> </a:t>
            </a:r>
            <a:r>
              <a:rPr kumimoji="1" lang="en-US" altLang="ja-JP" dirty="0" err="1"/>
              <a:t>streamplot</a:t>
            </a:r>
            <a:r>
              <a:rPr kumimoji="1" lang="en-US" altLang="ja-JP" dirty="0"/>
              <a:t> </a:t>
            </a:r>
            <a:r>
              <a:rPr kumimoji="1" lang="ja-JP" altLang="en-US"/>
              <a:t>はどちらか一方をコメントアウトして実行すること</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図 7">
            <a:extLst>
              <a:ext uri="{FF2B5EF4-FFF2-40B4-BE49-F238E27FC236}">
                <a16:creationId xmlns:a16="http://schemas.microsoft.com/office/drawing/2014/main" id="{2022D7DE-5879-CF47-B951-8DF036D253BB}"/>
              </a:ext>
            </a:extLst>
          </p:cNvPr>
          <p:cNvPicPr>
            <a:picLocks noChangeAspect="1"/>
          </p:cNvPicPr>
          <p:nvPr/>
        </p:nvPicPr>
        <p:blipFill>
          <a:blip r:embed="rId2"/>
          <a:stretch>
            <a:fillRect/>
          </a:stretch>
        </p:blipFill>
        <p:spPr>
          <a:xfrm>
            <a:off x="0" y="1588167"/>
            <a:ext cx="6278496" cy="4708872"/>
          </a:xfrm>
          <a:prstGeom prst="rect">
            <a:avLst/>
          </a:prstGeom>
        </p:spPr>
      </p:pic>
      <p:pic>
        <p:nvPicPr>
          <p:cNvPr id="7" name="図 6">
            <a:extLst>
              <a:ext uri="{FF2B5EF4-FFF2-40B4-BE49-F238E27FC236}">
                <a16:creationId xmlns:a16="http://schemas.microsoft.com/office/drawing/2014/main" id="{1A32E936-3063-FC9E-6864-50AF56043907}"/>
              </a:ext>
            </a:extLst>
          </p:cNvPr>
          <p:cNvPicPr>
            <a:picLocks noChangeAspect="1"/>
          </p:cNvPicPr>
          <p:nvPr/>
        </p:nvPicPr>
        <p:blipFill>
          <a:blip r:embed="rId3"/>
          <a:stretch>
            <a:fillRect/>
          </a:stretch>
        </p:blipFill>
        <p:spPr>
          <a:xfrm>
            <a:off x="5913504" y="1588167"/>
            <a:ext cx="6278496" cy="4708872"/>
          </a:xfrm>
          <a:prstGeom prst="rect">
            <a:avLst/>
          </a:prstGeom>
        </p:spPr>
      </p:pic>
      <p:sp>
        <p:nvSpPr>
          <p:cNvPr id="2" name="タイトル 1">
            <a:extLst>
              <a:ext uri="{FF2B5EF4-FFF2-40B4-BE49-F238E27FC236}">
                <a16:creationId xmlns:a16="http://schemas.microsoft.com/office/drawing/2014/main" id="{D89DFEC7-7485-8E2A-5DFE-7ADCF5FD068D}"/>
              </a:ext>
            </a:extLst>
          </p:cNvPr>
          <p:cNvSpPr>
            <a:spLocks noGrp="1"/>
          </p:cNvSpPr>
          <p:nvPr>
            <p:ph type="title"/>
          </p:nvPr>
        </p:nvSpPr>
        <p:spPr/>
        <p:txBody>
          <a:bodyPr/>
          <a:lstStyle/>
          <a:p>
            <a:r>
              <a:rPr kumimoji="1" lang="ja-JP" altLang="en-US"/>
              <a:t>ベクトル場の描画例</a:t>
            </a:r>
          </a:p>
        </p:txBody>
      </p:sp>
      <p:sp>
        <p:nvSpPr>
          <p:cNvPr id="5" name="テキスト ボックス 4">
            <a:extLst>
              <a:ext uri="{FF2B5EF4-FFF2-40B4-BE49-F238E27FC236}">
                <a16:creationId xmlns:a16="http://schemas.microsoft.com/office/drawing/2014/main" id="{A7834B2B-D057-76C1-FC2C-04F6F9F260AC}"/>
              </a:ext>
            </a:extLst>
          </p:cNvPr>
          <p:cNvSpPr txBox="1"/>
          <p:nvPr/>
        </p:nvSpPr>
        <p:spPr>
          <a:xfrm>
            <a:off x="1807917" y="1435767"/>
            <a:ext cx="2480166" cy="584775"/>
          </a:xfrm>
          <a:prstGeom prst="rect">
            <a:avLst/>
          </a:prstGeom>
          <a:noFill/>
        </p:spPr>
        <p:txBody>
          <a:bodyPr wrap="none" rtlCol="0">
            <a:spAutoFit/>
          </a:bodyPr>
          <a:lstStyle/>
          <a:p>
            <a:r>
              <a:rPr lang="en-US" altLang="ja-JP" sz="3200" dirty="0"/>
              <a:t>q</a:t>
            </a:r>
            <a:r>
              <a:rPr kumimoji="1" lang="en-US" altLang="ja-JP" sz="3200" dirty="0"/>
              <a:t>uiver</a:t>
            </a:r>
            <a:r>
              <a:rPr kumimoji="1" lang="ja-JP" altLang="en-US" sz="3200"/>
              <a:t>を使用</a:t>
            </a:r>
          </a:p>
        </p:txBody>
      </p:sp>
      <p:sp>
        <p:nvSpPr>
          <p:cNvPr id="6" name="テキスト ボックス 5">
            <a:extLst>
              <a:ext uri="{FF2B5EF4-FFF2-40B4-BE49-F238E27FC236}">
                <a16:creationId xmlns:a16="http://schemas.microsoft.com/office/drawing/2014/main" id="{55F45098-2E8B-E51F-58E2-137C1D7BF3A8}"/>
              </a:ext>
            </a:extLst>
          </p:cNvPr>
          <p:cNvSpPr txBox="1"/>
          <p:nvPr/>
        </p:nvSpPr>
        <p:spPr>
          <a:xfrm>
            <a:off x="7589564" y="1435766"/>
            <a:ext cx="3285515" cy="584775"/>
          </a:xfrm>
          <a:prstGeom prst="rect">
            <a:avLst/>
          </a:prstGeom>
          <a:noFill/>
        </p:spPr>
        <p:txBody>
          <a:bodyPr wrap="none" rtlCol="0">
            <a:spAutoFit/>
          </a:bodyPr>
          <a:lstStyle/>
          <a:p>
            <a:r>
              <a:rPr kumimoji="1" lang="en-US" altLang="ja-JP" sz="3200" dirty="0" err="1"/>
              <a:t>streamplot</a:t>
            </a:r>
            <a:r>
              <a:rPr kumimoji="1" lang="ja-JP" altLang="en-US" sz="3200"/>
              <a:t>を使用</a:t>
            </a:r>
          </a:p>
        </p:txBody>
      </p:sp>
    </p:spTree>
    <p:extLst>
      <p:ext uri="{BB962C8B-B14F-4D97-AF65-F5344CB8AC3E}">
        <p14:creationId xmlns:p14="http://schemas.microsoft.com/office/powerpoint/2010/main" val="397355792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8" name="ベクトル場の出力例"/>
          <p:cNvSpPr txBox="1">
            <a:spLocks noGrp="1"/>
          </p:cNvSpPr>
          <p:nvPr>
            <p:ph type="title"/>
          </p:nvPr>
        </p:nvSpPr>
        <p:spPr>
          <a:prstGeom prst="rect">
            <a:avLst/>
          </a:prstGeom>
        </p:spPr>
        <p:txBody>
          <a:bodyPr/>
          <a:lstStyle/>
          <a:p>
            <a:r>
              <a:rPr lang="ja-JP" altLang="en-US"/>
              <a:t>解軌跡、ヌルクライン、ベクトル場</a:t>
            </a:r>
            <a:r>
              <a:rPr dirty="0" err="1"/>
              <a:t>の</a:t>
            </a:r>
            <a:r>
              <a:rPr lang="ja-JP" altLang="en-US"/>
              <a:t>描画</a:t>
            </a:r>
            <a:r>
              <a:rPr dirty="0" err="1"/>
              <a:t>例</a:t>
            </a:r>
            <a:endParaRPr dirty="0"/>
          </a:p>
        </p:txBody>
      </p:sp>
      <p:pic>
        <p:nvPicPr>
          <p:cNvPr id="2" name="図 1">
            <a:extLst>
              <a:ext uri="{FF2B5EF4-FFF2-40B4-BE49-F238E27FC236}">
                <a16:creationId xmlns:a16="http://schemas.microsoft.com/office/drawing/2014/main" id="{A0893B2E-9497-77E5-5C2E-18A487BBCC32}"/>
              </a:ext>
            </a:extLst>
          </p:cNvPr>
          <p:cNvPicPr>
            <a:picLocks noChangeAspect="1"/>
          </p:cNvPicPr>
          <p:nvPr/>
        </p:nvPicPr>
        <p:blipFill>
          <a:blip r:embed="rId2"/>
          <a:stretch>
            <a:fillRect/>
          </a:stretch>
        </p:blipFill>
        <p:spPr>
          <a:xfrm>
            <a:off x="2319337" y="1143000"/>
            <a:ext cx="7553326" cy="5664994"/>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8ABD78-9B4B-2649-C75C-2C6D49A7BBAF}"/>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ABB21D9D-A7FE-1BB0-EF91-CD5792D7EE02}"/>
              </a:ext>
            </a:extLst>
          </p:cNvPr>
          <p:cNvSpPr>
            <a:spLocks noGrp="1"/>
          </p:cNvSpPr>
          <p:nvPr>
            <p:ph type="title"/>
          </p:nvPr>
        </p:nvSpPr>
        <p:spPr/>
        <p:txBody>
          <a:bodyPr/>
          <a:lstStyle/>
          <a:p>
            <a:r>
              <a:rPr kumimoji="1" lang="ja-JP" altLang="en-US"/>
              <a:t>力学系の七つ道具</a:t>
            </a:r>
          </a:p>
        </p:txBody>
      </p:sp>
      <p:sp>
        <p:nvSpPr>
          <p:cNvPr id="4" name="テキスト ボックス 3">
            <a:extLst>
              <a:ext uri="{FF2B5EF4-FFF2-40B4-BE49-F238E27FC236}">
                <a16:creationId xmlns:a16="http://schemas.microsoft.com/office/drawing/2014/main" id="{6A7FB406-80A9-5CDD-FC0D-5B34E15B1EE1}"/>
              </a:ext>
            </a:extLst>
          </p:cNvPr>
          <p:cNvSpPr txBox="1"/>
          <p:nvPr/>
        </p:nvSpPr>
        <p:spPr>
          <a:xfrm>
            <a:off x="3036094" y="1898913"/>
            <a:ext cx="6129336" cy="4108817"/>
          </a:xfrm>
          <a:prstGeom prst="rect">
            <a:avLst/>
          </a:prstGeom>
          <a:noFill/>
        </p:spPr>
        <p:txBody>
          <a:bodyPr wrap="square">
            <a:spAutoFit/>
          </a:bodyPr>
          <a:lstStyle/>
          <a:p>
            <a:pPr>
              <a:spcAft>
                <a:spcPts val="1275"/>
              </a:spcAft>
              <a:buFont typeface="+mj-lt"/>
              <a:buAutoNum type="arabicPeriod"/>
            </a:pPr>
            <a:r>
              <a:rPr lang="ja-JP" altLang="en-US" sz="2800">
                <a:solidFill>
                  <a:srgbClr val="000000"/>
                </a:solidFill>
                <a:effectLst/>
                <a:latin typeface="Hiragino Sans" panose="020B0400000000000000" pitchFamily="34" charset="-128"/>
                <a:ea typeface="Hiragino Sans" panose="020B0400000000000000" pitchFamily="34" charset="-128"/>
                <a:cs typeface="Gill Sans" panose="020B0502020104020203" pitchFamily="34" charset="-79"/>
              </a:rPr>
              <a:t>相平面</a:t>
            </a:r>
            <a:endParaRPr lang="ja-JP" altLang="en-US" sz="2800">
              <a:solidFill>
                <a:srgbClr val="000000"/>
              </a:solidFill>
              <a:effectLst/>
              <a:latin typeface="Gill Sans" panose="020B0502020104020203" pitchFamily="34" charset="-79"/>
              <a:cs typeface="Gill Sans" panose="020B0502020104020203" pitchFamily="34" charset="-79"/>
            </a:endParaRPr>
          </a:p>
          <a:p>
            <a:pPr>
              <a:spcAft>
                <a:spcPts val="1275"/>
              </a:spcAft>
              <a:buFont typeface="+mj-lt"/>
              <a:buAutoNum type="arabicPeriod"/>
            </a:pPr>
            <a:r>
              <a:rPr lang="ja-JP" altLang="en-US" sz="2800">
                <a:solidFill>
                  <a:srgbClr val="000000"/>
                </a:solidFill>
                <a:effectLst/>
                <a:latin typeface="Hiragino Sans" panose="020B0400000000000000" pitchFamily="34" charset="-128"/>
                <a:ea typeface="Hiragino Sans" panose="020B0400000000000000" pitchFamily="34" charset="-128"/>
              </a:rPr>
              <a:t>ヌルクライン</a:t>
            </a:r>
            <a:endParaRPr lang="en-US" altLang="ja-JP" sz="2800" dirty="0">
              <a:solidFill>
                <a:srgbClr val="000000"/>
              </a:solidFill>
              <a:effectLst/>
              <a:latin typeface="Hiragino Sans" panose="020B0400000000000000" pitchFamily="34" charset="-128"/>
              <a:ea typeface="Hiragino Sans" panose="020B0400000000000000" pitchFamily="34" charset="-128"/>
            </a:endParaRPr>
          </a:p>
          <a:p>
            <a:pPr>
              <a:spcAft>
                <a:spcPts val="1275"/>
              </a:spcAft>
              <a:buFont typeface="+mj-lt"/>
              <a:buAutoNum type="arabicPeriod"/>
            </a:pPr>
            <a:r>
              <a:rPr lang="ja-JP" altLang="en-US" sz="2800">
                <a:solidFill>
                  <a:srgbClr val="000000"/>
                </a:solidFill>
                <a:effectLst/>
                <a:latin typeface="Hiragino Sans" panose="020B0400000000000000" pitchFamily="34" charset="-128"/>
                <a:ea typeface="Hiragino Sans" panose="020B0400000000000000" pitchFamily="34" charset="-128"/>
              </a:rPr>
              <a:t>ベクトル場</a:t>
            </a:r>
            <a:endParaRPr lang="en-US" altLang="ja-JP" sz="2800" dirty="0">
              <a:solidFill>
                <a:srgbClr val="000000"/>
              </a:solidFill>
              <a:effectLst/>
              <a:latin typeface="Hiragino Sans" panose="020B0400000000000000" pitchFamily="34" charset="-128"/>
              <a:ea typeface="Hiragino Sans" panose="020B0400000000000000" pitchFamily="34" charset="-128"/>
            </a:endParaRPr>
          </a:p>
          <a:p>
            <a:pPr>
              <a:spcAft>
                <a:spcPts val="1275"/>
              </a:spcAft>
              <a:buFont typeface="+mj-lt"/>
              <a:buAutoNum type="arabicPeriod"/>
            </a:pPr>
            <a:r>
              <a:rPr lang="ja-JP" altLang="en-US" sz="2800">
                <a:solidFill>
                  <a:srgbClr val="C00000"/>
                </a:solidFill>
                <a:latin typeface="Hiragino Sans" panose="020B0400000000000000" pitchFamily="34" charset="-128"/>
                <a:ea typeface="Hiragino Sans" panose="020B0400000000000000" pitchFamily="34" charset="-128"/>
              </a:rPr>
              <a:t>固定点</a:t>
            </a:r>
            <a:endParaRPr lang="ja-JP" altLang="en-US" sz="2800">
              <a:solidFill>
                <a:srgbClr val="C00000"/>
              </a:solidFill>
              <a:effectLst/>
              <a:latin typeface="Hiragino Sans" panose="020B0400000000000000" pitchFamily="34" charset="-128"/>
              <a:ea typeface="Hiragino Sans" panose="020B0400000000000000" pitchFamily="34" charset="-128"/>
            </a:endParaRPr>
          </a:p>
          <a:p>
            <a:pPr>
              <a:spcAft>
                <a:spcPts val="1275"/>
              </a:spcAft>
              <a:buFont typeface="+mj-lt"/>
              <a:buAutoNum type="arabicPeriod"/>
            </a:pPr>
            <a:r>
              <a:rPr lang="ja-JP" altLang="en-US" sz="2800">
                <a:solidFill>
                  <a:srgbClr val="000000"/>
                </a:solidFill>
                <a:effectLst/>
                <a:latin typeface="Hiragino Sans" panose="020B0400000000000000" pitchFamily="34" charset="-128"/>
                <a:ea typeface="Hiragino Sans" panose="020B0400000000000000" pitchFamily="34" charset="-128"/>
              </a:rPr>
              <a:t>ヤコビ行列</a:t>
            </a:r>
          </a:p>
          <a:p>
            <a:pPr>
              <a:spcAft>
                <a:spcPts val="1275"/>
              </a:spcAft>
              <a:buFont typeface="+mj-lt"/>
              <a:buAutoNum type="arabicPeriod"/>
            </a:pPr>
            <a:r>
              <a:rPr lang="ja-JP" altLang="en-US" sz="2800">
                <a:solidFill>
                  <a:srgbClr val="000000"/>
                </a:solidFill>
                <a:effectLst/>
                <a:latin typeface="Hiragino Sans" panose="020B0400000000000000" pitchFamily="34" charset="-128"/>
                <a:ea typeface="Hiragino Sans" panose="020B0400000000000000" pitchFamily="34" charset="-128"/>
              </a:rPr>
              <a:t>固有値による安定性解析</a:t>
            </a:r>
          </a:p>
          <a:p>
            <a:pPr>
              <a:spcAft>
                <a:spcPts val="1275"/>
              </a:spcAft>
              <a:buFont typeface="+mj-lt"/>
              <a:buAutoNum type="arabicPeriod"/>
            </a:pPr>
            <a:r>
              <a:rPr lang="ja-JP" altLang="en-US" sz="2800">
                <a:solidFill>
                  <a:srgbClr val="000000"/>
                </a:solidFill>
                <a:effectLst/>
                <a:latin typeface="Hiragino Sans" panose="020B0400000000000000" pitchFamily="34" charset="-128"/>
                <a:ea typeface="Hiragino Sans" panose="020B0400000000000000" pitchFamily="34" charset="-128"/>
                <a:cs typeface="Gill Sans" panose="020B0502020104020203" pitchFamily="34" charset="-79"/>
              </a:rPr>
              <a:t>分岐図</a:t>
            </a:r>
            <a:endParaRPr lang="ja-JP" altLang="en-US" sz="2800">
              <a:solidFill>
                <a:srgbClr val="000000"/>
              </a:solidFill>
              <a:effectLst/>
              <a:latin typeface="Gill Sans" panose="020B0502020104020203" pitchFamily="34" charset="-79"/>
              <a:cs typeface="Gill Sans" panose="020B0502020104020203" pitchFamily="34" charset="-79"/>
            </a:endParaRPr>
          </a:p>
        </p:txBody>
      </p:sp>
    </p:spTree>
    <p:extLst>
      <p:ext uri="{BB962C8B-B14F-4D97-AF65-F5344CB8AC3E}">
        <p14:creationId xmlns:p14="http://schemas.microsoft.com/office/powerpoint/2010/main" val="143033033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 name="ベクトル場で周期解と言えるか？"/>
          <p:cNvSpPr txBox="1">
            <a:spLocks noGrp="1"/>
          </p:cNvSpPr>
          <p:nvPr>
            <p:ph type="title"/>
          </p:nvPr>
        </p:nvSpPr>
        <p:spPr>
          <a:prstGeom prst="rect">
            <a:avLst/>
          </a:prstGeom>
        </p:spPr>
        <p:txBody>
          <a:bodyPr/>
          <a:lstStyle/>
          <a:p>
            <a:r>
              <a:t>ベクトル場で周期解と言えるか？</a:t>
            </a:r>
          </a:p>
        </p:txBody>
      </p:sp>
      <p:sp>
        <p:nvSpPr>
          <p:cNvPr id="459" name="固定点の周囲を回っているように見える"/>
          <p:cNvSpPr txBox="1">
            <a:spLocks noGrp="1"/>
          </p:cNvSpPr>
          <p:nvPr>
            <p:ph type="body" sz="quarter" idx="4294967295"/>
          </p:nvPr>
        </p:nvSpPr>
        <p:spPr>
          <a:xfrm>
            <a:off x="1543520" y="1488042"/>
            <a:ext cx="9670249" cy="2628900"/>
          </a:xfrm>
          <a:prstGeom prst="rect">
            <a:avLst/>
          </a:prstGeom>
        </p:spPr>
        <p:txBody>
          <a:bodyPr/>
          <a:lstStyle>
            <a:lvl1pPr marL="383540" indent="-342900">
              <a:buClr>
                <a:srgbClr val="000000"/>
              </a:buClr>
              <a:buSzPct val="100000"/>
              <a:buFont typeface="Arial"/>
            </a:lvl1pPr>
          </a:lstStyle>
          <a:p>
            <a:r>
              <a:rPr dirty="0" err="1"/>
              <a:t>固定点の周囲を回っているように見える</a:t>
            </a:r>
            <a:endParaRPr dirty="0"/>
          </a:p>
        </p:txBody>
      </p:sp>
      <p:sp>
        <p:nvSpPr>
          <p:cNvPr id="461" name="線"/>
          <p:cNvSpPr/>
          <p:nvPr/>
        </p:nvSpPr>
        <p:spPr>
          <a:xfrm>
            <a:off x="4764087" y="3060144"/>
            <a:ext cx="1589" cy="2592388"/>
          </a:xfrm>
          <a:prstGeom prst="line">
            <a:avLst/>
          </a:prstGeom>
          <a:ln w="38100">
            <a:solidFill>
              <a:srgbClr val="000000"/>
            </a:solidFill>
            <a:miter lim="400000"/>
          </a:ln>
        </p:spPr>
        <p:txBody>
          <a:bodyPr lIns="0" tIns="0" rIns="0" bIns="0"/>
          <a:lstStyle/>
          <a:p>
            <a:pPr defTabSz="457200">
              <a:defRPr sz="1200">
                <a:latin typeface="ヒラギノ角ゴ ProN W3"/>
                <a:ea typeface="ヒラギノ角ゴ ProN W3"/>
                <a:cs typeface="ヒラギノ角ゴ ProN W3"/>
                <a:sym typeface="ヒラギノ角ゴ ProN W3"/>
              </a:defRPr>
            </a:pPr>
            <a:endParaRPr sz="1200"/>
          </a:p>
        </p:txBody>
      </p:sp>
      <p:sp>
        <p:nvSpPr>
          <p:cNvPr id="462" name="線"/>
          <p:cNvSpPr/>
          <p:nvPr/>
        </p:nvSpPr>
        <p:spPr>
          <a:xfrm>
            <a:off x="4764086" y="5650944"/>
            <a:ext cx="3168650" cy="1588"/>
          </a:xfrm>
          <a:prstGeom prst="line">
            <a:avLst/>
          </a:prstGeom>
          <a:ln w="38100">
            <a:solidFill>
              <a:srgbClr val="000000"/>
            </a:solidFill>
            <a:miter lim="400000"/>
          </a:ln>
        </p:spPr>
        <p:txBody>
          <a:bodyPr lIns="0" tIns="0" rIns="0" bIns="0"/>
          <a:lstStyle/>
          <a:p>
            <a:pPr defTabSz="457200">
              <a:defRPr sz="1200">
                <a:latin typeface="ヒラギノ角ゴ ProN W3"/>
                <a:ea typeface="ヒラギノ角ゴ ProN W3"/>
                <a:cs typeface="ヒラギノ角ゴ ProN W3"/>
                <a:sym typeface="ヒラギノ角ゴ ProN W3"/>
              </a:defRPr>
            </a:pPr>
            <a:endParaRPr sz="1200"/>
          </a:p>
        </p:txBody>
      </p:sp>
      <p:sp>
        <p:nvSpPr>
          <p:cNvPr id="463" name="[ADP]"/>
          <p:cNvSpPr/>
          <p:nvPr/>
        </p:nvSpPr>
        <p:spPr>
          <a:xfrm>
            <a:off x="7151687" y="5886599"/>
            <a:ext cx="637995" cy="37959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lvl1pPr>
              <a:buClr>
                <a:srgbClr val="000000"/>
              </a:buClr>
              <a:buFont typeface="Calibri"/>
              <a:defRPr>
                <a:latin typeface="Calibri"/>
                <a:ea typeface="Calibri"/>
                <a:cs typeface="Calibri"/>
                <a:sym typeface="Calibri"/>
              </a:defRPr>
            </a:lvl1pPr>
          </a:lstStyle>
          <a:p>
            <a:r>
              <a:t>[ADP]</a:t>
            </a:r>
          </a:p>
        </p:txBody>
      </p:sp>
      <p:sp>
        <p:nvSpPr>
          <p:cNvPr id="464" name="[F6P]"/>
          <p:cNvSpPr/>
          <p:nvPr/>
        </p:nvSpPr>
        <p:spPr>
          <a:xfrm>
            <a:off x="4332287" y="2482999"/>
            <a:ext cx="585097" cy="37959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lvl1pPr>
              <a:buClr>
                <a:srgbClr val="000000"/>
              </a:buClr>
              <a:buFont typeface="Calibri"/>
              <a:defRPr>
                <a:latin typeface="Calibri"/>
                <a:ea typeface="Calibri"/>
                <a:cs typeface="Calibri"/>
                <a:sym typeface="Calibri"/>
              </a:defRPr>
            </a:lvl1pPr>
          </a:lstStyle>
          <a:p>
            <a:r>
              <a:t>[F6P]</a:t>
            </a:r>
          </a:p>
        </p:txBody>
      </p:sp>
      <p:sp>
        <p:nvSpPr>
          <p:cNvPr id="465" name="線"/>
          <p:cNvSpPr/>
          <p:nvPr/>
        </p:nvSpPr>
        <p:spPr>
          <a:xfrm>
            <a:off x="4764087" y="3352245"/>
            <a:ext cx="2663825" cy="2017713"/>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cubicBezTo>
                  <a:pt x="579" y="0"/>
                  <a:pt x="1171" y="17"/>
                  <a:pt x="1751" y="2328"/>
                </a:cubicBezTo>
                <a:cubicBezTo>
                  <a:pt x="2330" y="4639"/>
                  <a:pt x="2047" y="10927"/>
                  <a:pt x="3501" y="13885"/>
                </a:cubicBezTo>
                <a:cubicBezTo>
                  <a:pt x="4956" y="16842"/>
                  <a:pt x="7492" y="18762"/>
                  <a:pt x="10504" y="20054"/>
                </a:cubicBezTo>
                <a:cubicBezTo>
                  <a:pt x="13516" y="21345"/>
                  <a:pt x="17558" y="21464"/>
                  <a:pt x="21600" y="21600"/>
                </a:cubicBezTo>
              </a:path>
            </a:pathLst>
          </a:custGeom>
          <a:ln w="25400">
            <a:solidFill>
              <a:srgbClr val="000000"/>
            </a:solidFill>
            <a:miter lim="400000"/>
          </a:ln>
        </p:spPr>
        <p:txBody>
          <a:bodyPr lIns="50800" tIns="50800" rIns="50800" bIns="50800" anchor="ctr"/>
          <a:lstStyle/>
          <a:p>
            <a:pPr>
              <a:defRPr>
                <a:solidFill>
                  <a:srgbClr val="FFFFFF"/>
                </a:solidFill>
                <a:effectLst>
                  <a:outerShdw blurRad="38100" dist="12700" dir="5400000" rotWithShape="0">
                    <a:srgbClr val="000000">
                      <a:alpha val="50000"/>
                    </a:srgbClr>
                  </a:outerShdw>
                </a:effectLst>
              </a:defRPr>
            </a:pPr>
            <a:endParaRPr/>
          </a:p>
        </p:txBody>
      </p:sp>
      <p:sp>
        <p:nvSpPr>
          <p:cNvPr id="466" name="線"/>
          <p:cNvSpPr/>
          <p:nvPr/>
        </p:nvSpPr>
        <p:spPr>
          <a:xfrm>
            <a:off x="4764086" y="4457143"/>
            <a:ext cx="2736850" cy="1189510"/>
          </a:xfrm>
          <a:custGeom>
            <a:avLst/>
            <a:gdLst/>
            <a:ahLst/>
            <a:cxnLst>
              <a:cxn ang="0">
                <a:pos x="wd2" y="hd2"/>
              </a:cxn>
              <a:cxn ang="5400000">
                <a:pos x="wd2" y="hd2"/>
              </a:cxn>
              <a:cxn ang="10800000">
                <a:pos x="wd2" y="hd2"/>
              </a:cxn>
              <a:cxn ang="16200000">
                <a:pos x="wd2" y="hd2"/>
              </a:cxn>
            </a:cxnLst>
            <a:rect l="0" t="0" r="r" b="b"/>
            <a:pathLst>
              <a:path w="21600" h="20992" extrusionOk="0">
                <a:moveTo>
                  <a:pt x="0" y="20992"/>
                </a:moveTo>
                <a:cubicBezTo>
                  <a:pt x="276" y="13792"/>
                  <a:pt x="564" y="6592"/>
                  <a:pt x="1704" y="3202"/>
                </a:cubicBezTo>
                <a:cubicBezTo>
                  <a:pt x="2844" y="-188"/>
                  <a:pt x="4636" y="-608"/>
                  <a:pt x="6816" y="653"/>
                </a:cubicBezTo>
                <a:cubicBezTo>
                  <a:pt x="8996" y="1913"/>
                  <a:pt x="12303" y="8693"/>
                  <a:pt x="14772" y="10822"/>
                </a:cubicBezTo>
                <a:cubicBezTo>
                  <a:pt x="17240" y="12952"/>
                  <a:pt x="19420" y="13148"/>
                  <a:pt x="21600" y="13372"/>
                </a:cubicBezTo>
              </a:path>
            </a:pathLst>
          </a:custGeom>
          <a:ln>
            <a:solidFill>
              <a:srgbClr val="000000"/>
            </a:solidFill>
            <a:prstDash val="dash"/>
          </a:ln>
        </p:spPr>
        <p:txBody>
          <a:bodyPr lIns="50800" tIns="50800" rIns="50800" bIns="50800" anchor="ctr"/>
          <a:lstStyle/>
          <a:p>
            <a:pPr>
              <a:defRPr>
                <a:solidFill>
                  <a:srgbClr val="FFFFFF"/>
                </a:solidFill>
                <a:effectLst>
                  <a:outerShdw blurRad="38100" dist="12700" dir="5400000" rotWithShape="0">
                    <a:srgbClr val="000000">
                      <a:alpha val="50000"/>
                    </a:srgbClr>
                  </a:outerShdw>
                </a:effectLst>
              </a:defRPr>
            </a:pPr>
            <a:endParaRPr/>
          </a:p>
        </p:txBody>
      </p:sp>
      <p:sp>
        <p:nvSpPr>
          <p:cNvPr id="467" name="線"/>
          <p:cNvSpPr/>
          <p:nvPr/>
        </p:nvSpPr>
        <p:spPr>
          <a:xfrm>
            <a:off x="6415086" y="4952445"/>
            <a:ext cx="1588" cy="576263"/>
          </a:xfrm>
          <a:prstGeom prst="line">
            <a:avLst/>
          </a:prstGeom>
          <a:ln w="25400">
            <a:solidFill>
              <a:srgbClr val="FF2600"/>
            </a:solidFill>
            <a:tailEnd type="triangle"/>
          </a:ln>
        </p:spPr>
        <p:txBody>
          <a:bodyPr lIns="0" tIns="0" rIns="0" bIns="0"/>
          <a:lstStyle/>
          <a:p>
            <a:pPr defTabSz="457200">
              <a:defRPr sz="1200">
                <a:latin typeface="ヒラギノ角ゴ ProN W3"/>
                <a:ea typeface="ヒラギノ角ゴ ProN W3"/>
                <a:cs typeface="ヒラギノ角ゴ ProN W3"/>
                <a:sym typeface="ヒラギノ角ゴ ProN W3"/>
              </a:defRPr>
            </a:pPr>
            <a:endParaRPr sz="1200"/>
          </a:p>
        </p:txBody>
      </p:sp>
      <p:sp>
        <p:nvSpPr>
          <p:cNvPr id="468" name="線"/>
          <p:cNvSpPr/>
          <p:nvPr/>
        </p:nvSpPr>
        <p:spPr>
          <a:xfrm flipV="1">
            <a:off x="4916486" y="4076144"/>
            <a:ext cx="1588" cy="647700"/>
          </a:xfrm>
          <a:prstGeom prst="line">
            <a:avLst/>
          </a:prstGeom>
          <a:ln w="25400">
            <a:solidFill>
              <a:srgbClr val="FF2600"/>
            </a:solidFill>
            <a:tailEnd type="triangle"/>
          </a:ln>
        </p:spPr>
        <p:txBody>
          <a:bodyPr lIns="0" tIns="0" rIns="0" bIns="0"/>
          <a:lstStyle/>
          <a:p>
            <a:pPr defTabSz="457200">
              <a:defRPr sz="1200">
                <a:latin typeface="ヒラギノ角ゴ ProN W3"/>
                <a:ea typeface="ヒラギノ角ゴ ProN W3"/>
                <a:cs typeface="ヒラギノ角ゴ ProN W3"/>
                <a:sym typeface="ヒラギノ角ゴ ProN W3"/>
              </a:defRPr>
            </a:pPr>
            <a:endParaRPr sz="1200"/>
          </a:p>
        </p:txBody>
      </p:sp>
      <p:sp>
        <p:nvSpPr>
          <p:cNvPr id="471" name="線"/>
          <p:cNvSpPr/>
          <p:nvPr/>
        </p:nvSpPr>
        <p:spPr>
          <a:xfrm flipH="1">
            <a:off x="5426074" y="5206445"/>
            <a:ext cx="582613" cy="4765"/>
          </a:xfrm>
          <a:prstGeom prst="line">
            <a:avLst/>
          </a:prstGeom>
          <a:ln w="25400">
            <a:solidFill>
              <a:srgbClr val="FF2600"/>
            </a:solidFill>
            <a:tailEnd type="triangle"/>
          </a:ln>
        </p:spPr>
        <p:txBody>
          <a:bodyPr lIns="0" tIns="0" rIns="0" bIns="0"/>
          <a:lstStyle/>
          <a:p>
            <a:pPr defTabSz="457200">
              <a:defRPr sz="1200">
                <a:latin typeface="ヒラギノ角ゴ ProN W3"/>
                <a:ea typeface="ヒラギノ角ゴ ProN W3"/>
                <a:cs typeface="ヒラギノ角ゴ ProN W3"/>
                <a:sym typeface="ヒラギノ角ゴ ProN W3"/>
              </a:defRPr>
            </a:pPr>
            <a:endParaRPr sz="1200"/>
          </a:p>
        </p:txBody>
      </p:sp>
      <p:sp>
        <p:nvSpPr>
          <p:cNvPr id="472" name="線"/>
          <p:cNvSpPr/>
          <p:nvPr/>
        </p:nvSpPr>
        <p:spPr>
          <a:xfrm>
            <a:off x="5016498" y="3695145"/>
            <a:ext cx="573088" cy="12701"/>
          </a:xfrm>
          <a:prstGeom prst="line">
            <a:avLst/>
          </a:prstGeom>
          <a:ln w="25400">
            <a:solidFill>
              <a:srgbClr val="FF2600"/>
            </a:solidFill>
            <a:tailEnd type="triangle"/>
          </a:ln>
        </p:spPr>
        <p:txBody>
          <a:bodyPr lIns="0" tIns="0" rIns="0" bIns="0"/>
          <a:lstStyle/>
          <a:p>
            <a:pPr defTabSz="457200">
              <a:defRPr sz="1200">
                <a:latin typeface="ヒラギノ角ゴ ProN W3"/>
                <a:ea typeface="ヒラギノ角ゴ ProN W3"/>
                <a:cs typeface="ヒラギノ角ゴ ProN W3"/>
                <a:sym typeface="ヒラギノ角ゴ ProN W3"/>
              </a:defRPr>
            </a:pPr>
            <a:endParaRPr sz="1200"/>
          </a:p>
        </p:txBody>
      </p:sp>
      <p:sp>
        <p:nvSpPr>
          <p:cNvPr id="473" name="線"/>
          <p:cNvSpPr/>
          <p:nvPr/>
        </p:nvSpPr>
        <p:spPr>
          <a:xfrm flipH="1" flipV="1">
            <a:off x="4954586" y="4927045"/>
            <a:ext cx="304800" cy="266701"/>
          </a:xfrm>
          <a:prstGeom prst="line">
            <a:avLst/>
          </a:prstGeom>
          <a:ln w="25400">
            <a:solidFill>
              <a:srgbClr val="FF2600"/>
            </a:solidFill>
            <a:tailEnd type="triangle"/>
          </a:ln>
        </p:spPr>
        <p:txBody>
          <a:bodyPr lIns="0" tIns="0" rIns="0" bIns="0"/>
          <a:lstStyle/>
          <a:p>
            <a:pPr defTabSz="457200">
              <a:defRPr sz="1200">
                <a:latin typeface="ヒラギノ角ゴ ProN W3"/>
                <a:ea typeface="ヒラギノ角ゴ ProN W3"/>
                <a:cs typeface="ヒラギノ角ゴ ProN W3"/>
                <a:sym typeface="ヒラギノ角ゴ ProN W3"/>
              </a:defRPr>
            </a:pPr>
            <a:endParaRPr sz="1200"/>
          </a:p>
        </p:txBody>
      </p:sp>
      <p:sp>
        <p:nvSpPr>
          <p:cNvPr id="474" name="線"/>
          <p:cNvSpPr/>
          <p:nvPr/>
        </p:nvSpPr>
        <p:spPr>
          <a:xfrm>
            <a:off x="5818187" y="3809444"/>
            <a:ext cx="469901" cy="393700"/>
          </a:xfrm>
          <a:prstGeom prst="line">
            <a:avLst/>
          </a:prstGeom>
          <a:ln w="25400">
            <a:solidFill>
              <a:srgbClr val="FF2600"/>
            </a:solidFill>
            <a:tailEnd type="triangle"/>
          </a:ln>
        </p:spPr>
        <p:txBody>
          <a:bodyPr lIns="0" tIns="0" rIns="0" bIns="0"/>
          <a:lstStyle/>
          <a:p>
            <a:pPr defTabSz="457200">
              <a:defRPr sz="1200">
                <a:latin typeface="ヒラギノ角ゴ ProN W3"/>
                <a:ea typeface="ヒラギノ角ゴ ProN W3"/>
                <a:cs typeface="ヒラギノ角ゴ ProN W3"/>
                <a:sym typeface="ヒラギノ角ゴ ProN W3"/>
              </a:defRPr>
            </a:pPr>
            <a:endParaRPr sz="1200"/>
          </a:p>
        </p:txBody>
      </p:sp>
      <p:pic>
        <p:nvPicPr>
          <p:cNvPr id="2" name="図 1">
            <a:extLst>
              <a:ext uri="{FF2B5EF4-FFF2-40B4-BE49-F238E27FC236}">
                <a16:creationId xmlns:a16="http://schemas.microsoft.com/office/drawing/2014/main" id="{D85F26F9-2A6E-D4A3-DB37-FB4AF20342A1}"/>
              </a:ext>
            </a:extLst>
          </p:cNvPr>
          <p:cNvPicPr>
            <a:picLocks noChangeAspect="1"/>
          </p:cNvPicPr>
          <p:nvPr/>
        </p:nvPicPr>
        <p:blipFill>
          <a:blip r:embed="rId2"/>
          <a:stretch>
            <a:fillRect/>
          </a:stretch>
        </p:blipFill>
        <p:spPr>
          <a:xfrm>
            <a:off x="6955372" y="4203144"/>
            <a:ext cx="1028100" cy="713958"/>
          </a:xfrm>
          <a:prstGeom prst="rect">
            <a:avLst/>
          </a:prstGeom>
        </p:spPr>
      </p:pic>
      <p:pic>
        <p:nvPicPr>
          <p:cNvPr id="3" name="図 2">
            <a:extLst>
              <a:ext uri="{FF2B5EF4-FFF2-40B4-BE49-F238E27FC236}">
                <a16:creationId xmlns:a16="http://schemas.microsoft.com/office/drawing/2014/main" id="{9B1FF608-6BD0-2FBA-3A9F-8855C5EFF0E3}"/>
              </a:ext>
            </a:extLst>
          </p:cNvPr>
          <p:cNvPicPr>
            <a:picLocks noChangeAspect="1"/>
          </p:cNvPicPr>
          <p:nvPr/>
        </p:nvPicPr>
        <p:blipFill>
          <a:blip r:embed="rId3"/>
          <a:stretch>
            <a:fillRect/>
          </a:stretch>
        </p:blipFill>
        <p:spPr>
          <a:xfrm>
            <a:off x="5099218" y="2707952"/>
            <a:ext cx="1028100" cy="713958"/>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 name="ベクトル場だけで周期解と言えるか？"/>
          <p:cNvSpPr txBox="1">
            <a:spLocks noGrp="1"/>
          </p:cNvSpPr>
          <p:nvPr>
            <p:ph type="title"/>
          </p:nvPr>
        </p:nvSpPr>
        <p:spPr>
          <a:prstGeom prst="rect">
            <a:avLst/>
          </a:prstGeom>
        </p:spPr>
        <p:txBody>
          <a:bodyPr/>
          <a:lstStyle/>
          <a:p>
            <a:r>
              <a:t>ベクトル場だけで周期解と言えるか？</a:t>
            </a:r>
          </a:p>
        </p:txBody>
      </p:sp>
      <p:sp>
        <p:nvSpPr>
          <p:cNvPr id="476" name="ベクトル場だけでは上の2つを区別できない…"/>
          <p:cNvSpPr txBox="1">
            <a:spLocks noGrp="1"/>
          </p:cNvSpPr>
          <p:nvPr>
            <p:ph type="body" sz="half" idx="4294967295"/>
          </p:nvPr>
        </p:nvSpPr>
        <p:spPr>
          <a:xfrm>
            <a:off x="1823125" y="4329053"/>
            <a:ext cx="9965190" cy="2171700"/>
          </a:xfrm>
          <a:prstGeom prst="rect">
            <a:avLst/>
          </a:prstGeom>
        </p:spPr>
        <p:txBody>
          <a:bodyPr>
            <a:normAutofit/>
          </a:bodyPr>
          <a:lstStyle/>
          <a:p>
            <a:pPr marL="383540">
              <a:buClr>
                <a:srgbClr val="000000"/>
              </a:buClr>
              <a:buSzPct val="100000"/>
              <a:buFont typeface="Arial"/>
            </a:pPr>
            <a:r>
              <a:rPr dirty="0"/>
              <a:t>ベクトル場だけでは上の2つを区別できない</a:t>
            </a:r>
          </a:p>
          <a:p>
            <a:pPr marL="383540">
              <a:buClr>
                <a:srgbClr val="000000"/>
              </a:buClr>
              <a:buSzPct val="100000"/>
              <a:buFont typeface="Arial"/>
            </a:pPr>
            <a:endParaRPr dirty="0"/>
          </a:p>
          <a:p>
            <a:pPr marL="383540">
              <a:buClr>
                <a:srgbClr val="000000"/>
              </a:buClr>
              <a:buSzPct val="100000"/>
              <a:buFont typeface="Arial"/>
            </a:pPr>
            <a:r>
              <a:rPr dirty="0" err="1"/>
              <a:t>別の方法がある</a:t>
            </a:r>
            <a:r>
              <a:rPr lang="ja-JP" altLang="en-US"/>
              <a:t>（</a:t>
            </a:r>
            <a:r>
              <a:rPr lang="ja-JP" altLang="en-US">
                <a:solidFill>
                  <a:srgbClr val="C00000"/>
                </a:solidFill>
              </a:rPr>
              <a:t>固定点</a:t>
            </a:r>
            <a:r>
              <a:rPr lang="ja-JP" altLang="en-US"/>
              <a:t>、</a:t>
            </a:r>
            <a:r>
              <a:rPr dirty="0" err="1">
                <a:solidFill>
                  <a:srgbClr val="C00000"/>
                </a:solidFill>
              </a:rPr>
              <a:t>ヤコビ行列の固有値</a:t>
            </a:r>
            <a:r>
              <a:rPr lang="ja-JP" altLang="en-US"/>
              <a:t>）</a:t>
            </a:r>
            <a:endParaRPr dirty="0"/>
          </a:p>
        </p:txBody>
      </p:sp>
      <p:sp>
        <p:nvSpPr>
          <p:cNvPr id="477" name="楕円"/>
          <p:cNvSpPr/>
          <p:nvPr/>
        </p:nvSpPr>
        <p:spPr>
          <a:xfrm>
            <a:off x="2463800" y="2064626"/>
            <a:ext cx="1543050" cy="982663"/>
          </a:xfrm>
          <a:prstGeom prst="ellipse">
            <a:avLst/>
          </a:prstGeom>
          <a:ln w="25400">
            <a:solidFill>
              <a:srgbClr val="000000"/>
            </a:solidFill>
            <a:miter lim="400000"/>
          </a:ln>
        </p:spPr>
        <p:txBody>
          <a:bodyPr lIns="50800" tIns="50800" rIns="50800" bIns="50800" anchor="ctr"/>
          <a:lstStyle/>
          <a:p>
            <a:pPr>
              <a:defRPr>
                <a:solidFill>
                  <a:srgbClr val="FFFFFF"/>
                </a:solidFill>
                <a:effectLst>
                  <a:outerShdw blurRad="38100" dist="12700" dir="5400000" rotWithShape="0">
                    <a:srgbClr val="000000">
                      <a:alpha val="50000"/>
                    </a:srgbClr>
                  </a:outerShdw>
                </a:effectLst>
              </a:defRPr>
            </a:pPr>
            <a:endParaRPr/>
          </a:p>
        </p:txBody>
      </p:sp>
      <p:sp>
        <p:nvSpPr>
          <p:cNvPr id="478" name="三角形"/>
          <p:cNvSpPr/>
          <p:nvPr/>
        </p:nvSpPr>
        <p:spPr>
          <a:xfrm rot="16200000">
            <a:off x="3142708" y="2900246"/>
            <a:ext cx="144356" cy="289323"/>
          </a:xfrm>
          <a:prstGeom prst="triangle">
            <a:avLst/>
          </a:prstGeom>
          <a:solidFill>
            <a:srgbClr val="000000"/>
          </a:solidFill>
          <a:ln w="25400">
            <a:solidFill>
              <a:srgbClr val="000000"/>
            </a:solidFill>
            <a:miter lim="400000"/>
          </a:ln>
        </p:spPr>
        <p:txBody>
          <a:bodyPr lIns="50800" tIns="50800" rIns="50800" bIns="50800" anchor="ctr"/>
          <a:lstStyle/>
          <a:p>
            <a:pPr>
              <a:defRPr>
                <a:solidFill>
                  <a:srgbClr val="FFFFFF"/>
                </a:solidFill>
                <a:effectLst>
                  <a:outerShdw blurRad="38100" dist="12700" dir="5400000" rotWithShape="0">
                    <a:srgbClr val="000000">
                      <a:alpha val="50000"/>
                    </a:srgbClr>
                  </a:outerShdw>
                </a:effectLst>
              </a:defRPr>
            </a:pPr>
            <a:endParaRPr/>
          </a:p>
        </p:txBody>
      </p:sp>
      <p:sp>
        <p:nvSpPr>
          <p:cNvPr id="479" name="円形"/>
          <p:cNvSpPr/>
          <p:nvPr/>
        </p:nvSpPr>
        <p:spPr>
          <a:xfrm>
            <a:off x="3143251" y="2471026"/>
            <a:ext cx="144463" cy="144463"/>
          </a:xfrm>
          <a:prstGeom prst="ellipse">
            <a:avLst/>
          </a:prstGeom>
          <a:ln w="25400">
            <a:solidFill>
              <a:srgbClr val="000000"/>
            </a:solidFill>
            <a:miter lim="400000"/>
          </a:ln>
        </p:spPr>
        <p:txBody>
          <a:bodyPr lIns="50800" tIns="50800" rIns="50800" bIns="50800" anchor="ctr"/>
          <a:lstStyle/>
          <a:p>
            <a:pPr>
              <a:defRPr>
                <a:solidFill>
                  <a:srgbClr val="FFFFFF"/>
                </a:solidFill>
                <a:effectLst>
                  <a:outerShdw blurRad="38100" dist="12700" dir="5400000" rotWithShape="0">
                    <a:srgbClr val="000000">
                      <a:alpha val="50000"/>
                    </a:srgbClr>
                  </a:outerShdw>
                </a:effectLst>
              </a:defRPr>
            </a:pPr>
            <a:endParaRPr/>
          </a:p>
        </p:txBody>
      </p:sp>
      <p:sp>
        <p:nvSpPr>
          <p:cNvPr id="480" name="線"/>
          <p:cNvSpPr/>
          <p:nvPr/>
        </p:nvSpPr>
        <p:spPr>
          <a:xfrm flipH="1">
            <a:off x="6545263" y="2037638"/>
            <a:ext cx="1079551" cy="576263"/>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cubicBezTo>
                  <a:pt x="11929" y="0"/>
                  <a:pt x="21600" y="9670"/>
                  <a:pt x="21600" y="21600"/>
                </a:cubicBezTo>
              </a:path>
            </a:pathLst>
          </a:custGeom>
          <a:ln w="25400">
            <a:solidFill>
              <a:srgbClr val="000000"/>
            </a:solidFill>
            <a:miter lim="400000"/>
          </a:ln>
        </p:spPr>
        <p:txBody>
          <a:bodyPr lIns="50800" tIns="50800" rIns="50800" bIns="50800" anchor="ctr"/>
          <a:lstStyle/>
          <a:p>
            <a:pPr>
              <a:defRPr>
                <a:solidFill>
                  <a:srgbClr val="FFFFFF"/>
                </a:solidFill>
                <a:effectLst>
                  <a:outerShdw blurRad="38100" dist="12700" dir="5400000" rotWithShape="0">
                    <a:srgbClr val="000000">
                      <a:alpha val="50000"/>
                    </a:srgbClr>
                  </a:outerShdw>
                </a:effectLst>
              </a:defRPr>
            </a:pPr>
            <a:endParaRPr/>
          </a:p>
        </p:txBody>
      </p:sp>
      <p:sp>
        <p:nvSpPr>
          <p:cNvPr id="481" name="線"/>
          <p:cNvSpPr/>
          <p:nvPr/>
        </p:nvSpPr>
        <p:spPr>
          <a:xfrm>
            <a:off x="7624723" y="2037638"/>
            <a:ext cx="863641" cy="576263"/>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cubicBezTo>
                  <a:pt x="11929" y="0"/>
                  <a:pt x="21600" y="9670"/>
                  <a:pt x="21600" y="21600"/>
                </a:cubicBezTo>
              </a:path>
            </a:pathLst>
          </a:custGeom>
          <a:ln w="25400">
            <a:solidFill>
              <a:srgbClr val="000000"/>
            </a:solidFill>
            <a:miter lim="400000"/>
          </a:ln>
        </p:spPr>
        <p:txBody>
          <a:bodyPr lIns="50800" tIns="50800" rIns="50800" bIns="50800" anchor="ctr"/>
          <a:lstStyle/>
          <a:p>
            <a:pPr>
              <a:defRPr>
                <a:solidFill>
                  <a:srgbClr val="FFFFFF"/>
                </a:solidFill>
                <a:effectLst>
                  <a:outerShdw blurRad="38100" dist="12700" dir="5400000" rotWithShape="0">
                    <a:srgbClr val="000000">
                      <a:alpha val="50000"/>
                    </a:srgbClr>
                  </a:outerShdw>
                </a:effectLst>
              </a:defRPr>
            </a:pPr>
            <a:endParaRPr/>
          </a:p>
        </p:txBody>
      </p:sp>
      <p:sp>
        <p:nvSpPr>
          <p:cNvPr id="482" name="線"/>
          <p:cNvSpPr/>
          <p:nvPr/>
        </p:nvSpPr>
        <p:spPr>
          <a:xfrm rot="10800000" flipH="1">
            <a:off x="7697751" y="2613900"/>
            <a:ext cx="790612" cy="503238"/>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cubicBezTo>
                  <a:pt x="11929" y="0"/>
                  <a:pt x="21600" y="9670"/>
                  <a:pt x="21600" y="21600"/>
                </a:cubicBezTo>
              </a:path>
            </a:pathLst>
          </a:custGeom>
          <a:ln w="25400">
            <a:solidFill>
              <a:srgbClr val="000000"/>
            </a:solidFill>
            <a:miter lim="400000"/>
          </a:ln>
        </p:spPr>
        <p:txBody>
          <a:bodyPr lIns="50800" tIns="50800" rIns="50800" bIns="50800" anchor="ctr"/>
          <a:lstStyle/>
          <a:p>
            <a:pPr>
              <a:defRPr>
                <a:solidFill>
                  <a:srgbClr val="FFFFFF"/>
                </a:solidFill>
                <a:effectLst>
                  <a:outerShdw blurRad="38100" dist="12700" dir="5400000" rotWithShape="0">
                    <a:srgbClr val="000000">
                      <a:alpha val="50000"/>
                    </a:srgbClr>
                  </a:outerShdw>
                </a:effectLst>
              </a:defRPr>
            </a:pPr>
            <a:endParaRPr/>
          </a:p>
        </p:txBody>
      </p:sp>
      <p:sp>
        <p:nvSpPr>
          <p:cNvPr id="483" name="線"/>
          <p:cNvSpPr/>
          <p:nvPr/>
        </p:nvSpPr>
        <p:spPr>
          <a:xfrm rot="10800000">
            <a:off x="6977063" y="2613901"/>
            <a:ext cx="720759" cy="504825"/>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cubicBezTo>
                  <a:pt x="11929" y="0"/>
                  <a:pt x="21600" y="9670"/>
                  <a:pt x="21600" y="21600"/>
                </a:cubicBezTo>
              </a:path>
            </a:pathLst>
          </a:custGeom>
          <a:ln w="25400">
            <a:solidFill>
              <a:srgbClr val="000000"/>
            </a:solidFill>
            <a:miter lim="400000"/>
          </a:ln>
        </p:spPr>
        <p:txBody>
          <a:bodyPr lIns="50800" tIns="50800" rIns="50800" bIns="50800" anchor="ctr"/>
          <a:lstStyle/>
          <a:p>
            <a:pPr>
              <a:defRPr>
                <a:solidFill>
                  <a:srgbClr val="FFFFFF"/>
                </a:solidFill>
                <a:effectLst>
                  <a:outerShdw blurRad="38100" dist="12700" dir="5400000" rotWithShape="0">
                    <a:srgbClr val="000000">
                      <a:alpha val="50000"/>
                    </a:srgbClr>
                  </a:outerShdw>
                </a:effectLst>
              </a:defRPr>
            </a:pPr>
            <a:endParaRPr/>
          </a:p>
        </p:txBody>
      </p:sp>
      <p:sp>
        <p:nvSpPr>
          <p:cNvPr id="484" name="線"/>
          <p:cNvSpPr/>
          <p:nvPr/>
        </p:nvSpPr>
        <p:spPr>
          <a:xfrm flipH="1">
            <a:off x="6977062" y="2326563"/>
            <a:ext cx="635024" cy="287339"/>
          </a:xfrm>
          <a:custGeom>
            <a:avLst/>
            <a:gdLst/>
            <a:ahLst/>
            <a:cxnLst>
              <a:cxn ang="0">
                <a:pos x="wd2" y="hd2"/>
              </a:cxn>
              <a:cxn ang="5400000">
                <a:pos x="wd2" y="hd2"/>
              </a:cxn>
              <a:cxn ang="10800000">
                <a:pos x="wd2" y="hd2"/>
              </a:cxn>
              <a:cxn ang="16200000">
                <a:pos x="wd2" y="hd2"/>
              </a:cxn>
            </a:cxnLst>
            <a:rect l="0" t="0" r="r" b="b"/>
            <a:pathLst>
              <a:path w="21600" h="21599" extrusionOk="0">
                <a:moveTo>
                  <a:pt x="0" y="728"/>
                </a:moveTo>
                <a:cubicBezTo>
                  <a:pt x="1443" y="244"/>
                  <a:pt x="2930" y="-1"/>
                  <a:pt x="4424" y="0"/>
                </a:cubicBezTo>
                <a:cubicBezTo>
                  <a:pt x="13910" y="0"/>
                  <a:pt x="21600" y="9670"/>
                  <a:pt x="21600" y="21599"/>
                </a:cubicBezTo>
              </a:path>
            </a:pathLst>
          </a:custGeom>
          <a:ln w="25400">
            <a:solidFill>
              <a:srgbClr val="000000"/>
            </a:solidFill>
            <a:miter lim="400000"/>
          </a:ln>
        </p:spPr>
        <p:txBody>
          <a:bodyPr lIns="50800" tIns="50800" rIns="50800" bIns="50800" anchor="ctr"/>
          <a:lstStyle/>
          <a:p>
            <a:pPr>
              <a:defRPr>
                <a:solidFill>
                  <a:srgbClr val="FFFFFF"/>
                </a:solidFill>
                <a:effectLst>
                  <a:outerShdw blurRad="38100" dist="12700" dir="5400000" rotWithShape="0">
                    <a:srgbClr val="000000">
                      <a:alpha val="50000"/>
                    </a:srgbClr>
                  </a:outerShdw>
                </a:effectLst>
              </a:defRPr>
            </a:pPr>
            <a:endParaRPr/>
          </a:p>
        </p:txBody>
      </p:sp>
      <p:sp>
        <p:nvSpPr>
          <p:cNvPr id="485" name="線"/>
          <p:cNvSpPr/>
          <p:nvPr/>
        </p:nvSpPr>
        <p:spPr>
          <a:xfrm>
            <a:off x="7551715" y="2326563"/>
            <a:ext cx="504849" cy="215901"/>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cubicBezTo>
                  <a:pt x="11929" y="0"/>
                  <a:pt x="21600" y="9670"/>
                  <a:pt x="21600" y="21600"/>
                </a:cubicBezTo>
              </a:path>
            </a:pathLst>
          </a:custGeom>
          <a:ln w="25400">
            <a:solidFill>
              <a:srgbClr val="000000"/>
            </a:solidFill>
            <a:miter lim="400000"/>
          </a:ln>
        </p:spPr>
        <p:txBody>
          <a:bodyPr lIns="50800" tIns="50800" rIns="50800" bIns="50800" anchor="ctr"/>
          <a:lstStyle/>
          <a:p>
            <a:pPr>
              <a:defRPr>
                <a:solidFill>
                  <a:srgbClr val="FFFFFF"/>
                </a:solidFill>
                <a:effectLst>
                  <a:outerShdw blurRad="38100" dist="12700" dir="5400000" rotWithShape="0">
                    <a:srgbClr val="000000">
                      <a:alpha val="50000"/>
                    </a:srgbClr>
                  </a:outerShdw>
                </a:effectLst>
              </a:defRPr>
            </a:pPr>
            <a:endParaRPr/>
          </a:p>
        </p:txBody>
      </p:sp>
      <p:sp>
        <p:nvSpPr>
          <p:cNvPr id="486" name="線"/>
          <p:cNvSpPr/>
          <p:nvPr/>
        </p:nvSpPr>
        <p:spPr>
          <a:xfrm rot="10800000" flipH="1">
            <a:off x="7539017" y="2544051"/>
            <a:ext cx="517546" cy="215901"/>
          </a:xfrm>
          <a:custGeom>
            <a:avLst/>
            <a:gdLst/>
            <a:ahLst/>
            <a:cxnLst>
              <a:cxn ang="0">
                <a:pos x="wd2" y="hd2"/>
              </a:cxn>
              <a:cxn ang="5400000">
                <a:pos x="wd2" y="hd2"/>
              </a:cxn>
              <a:cxn ang="10800000">
                <a:pos x="wd2" y="hd2"/>
              </a:cxn>
              <a:cxn ang="16200000">
                <a:pos x="wd2" y="hd2"/>
              </a:cxn>
            </a:cxnLst>
            <a:rect l="0" t="0" r="r" b="b"/>
            <a:pathLst>
              <a:path w="21600" h="21599" extrusionOk="0">
                <a:moveTo>
                  <a:pt x="0" y="436"/>
                </a:moveTo>
                <a:cubicBezTo>
                  <a:pt x="1186" y="146"/>
                  <a:pt x="2392" y="-1"/>
                  <a:pt x="3602" y="0"/>
                </a:cubicBezTo>
                <a:cubicBezTo>
                  <a:pt x="13542" y="0"/>
                  <a:pt x="21600" y="9670"/>
                  <a:pt x="21600" y="21599"/>
                </a:cubicBezTo>
              </a:path>
            </a:pathLst>
          </a:custGeom>
          <a:ln w="25400">
            <a:solidFill>
              <a:srgbClr val="000000"/>
            </a:solidFill>
            <a:miter lim="400000"/>
          </a:ln>
        </p:spPr>
        <p:txBody>
          <a:bodyPr lIns="50800" tIns="50800" rIns="50800" bIns="50800" anchor="ctr"/>
          <a:lstStyle/>
          <a:p>
            <a:pPr>
              <a:defRPr>
                <a:solidFill>
                  <a:srgbClr val="FFFFFF"/>
                </a:solidFill>
                <a:effectLst>
                  <a:outerShdw blurRad="38100" dist="12700" dir="5400000" rotWithShape="0">
                    <a:srgbClr val="000000">
                      <a:alpha val="50000"/>
                    </a:srgbClr>
                  </a:outerShdw>
                </a:effectLst>
              </a:defRPr>
            </a:pPr>
            <a:endParaRPr/>
          </a:p>
        </p:txBody>
      </p:sp>
      <p:sp>
        <p:nvSpPr>
          <p:cNvPr id="487" name="三角形"/>
          <p:cNvSpPr/>
          <p:nvPr/>
        </p:nvSpPr>
        <p:spPr>
          <a:xfrm rot="16200000">
            <a:off x="7622633" y="2612908"/>
            <a:ext cx="144356" cy="289323"/>
          </a:xfrm>
          <a:prstGeom prst="triangle">
            <a:avLst/>
          </a:prstGeom>
          <a:solidFill>
            <a:srgbClr val="000000"/>
          </a:solidFill>
          <a:ln w="25400">
            <a:solidFill>
              <a:srgbClr val="000000"/>
            </a:solidFill>
            <a:miter lim="400000"/>
          </a:ln>
        </p:spPr>
        <p:txBody>
          <a:bodyPr lIns="50800" tIns="50800" rIns="50800" bIns="50800" anchor="ctr"/>
          <a:lstStyle/>
          <a:p>
            <a:pPr>
              <a:defRPr>
                <a:solidFill>
                  <a:srgbClr val="FFFFFF"/>
                </a:solidFill>
                <a:effectLst>
                  <a:outerShdw blurRad="38100" dist="12700" dir="5400000" rotWithShape="0">
                    <a:srgbClr val="000000">
                      <a:alpha val="50000"/>
                    </a:srgbClr>
                  </a:outerShdw>
                </a:effectLst>
              </a:defRPr>
            </a:pPr>
            <a:endParaRPr/>
          </a:p>
        </p:txBody>
      </p:sp>
      <p:sp>
        <p:nvSpPr>
          <p:cNvPr id="488" name="楕円"/>
          <p:cNvSpPr/>
          <p:nvPr/>
        </p:nvSpPr>
        <p:spPr>
          <a:xfrm>
            <a:off x="7408863" y="2686926"/>
            <a:ext cx="146051" cy="144463"/>
          </a:xfrm>
          <a:prstGeom prst="ellipse">
            <a:avLst/>
          </a:prstGeom>
          <a:ln w="25400">
            <a:solidFill>
              <a:srgbClr val="000000"/>
            </a:solidFill>
            <a:miter lim="400000"/>
          </a:ln>
        </p:spPr>
        <p:txBody>
          <a:bodyPr lIns="50800" tIns="50800" rIns="50800" bIns="50800" anchor="ctr"/>
          <a:lstStyle/>
          <a:p>
            <a:pPr>
              <a:defRPr>
                <a:solidFill>
                  <a:srgbClr val="FFFFFF"/>
                </a:solidFill>
                <a:effectLst>
                  <a:outerShdw blurRad="38100" dist="12700" dir="5400000" rotWithShape="0">
                    <a:srgbClr val="000000">
                      <a:alpha val="50000"/>
                    </a:srgbClr>
                  </a:outerShdw>
                </a:effectLst>
              </a:defRPr>
            </a:pPr>
            <a:endParaRPr/>
          </a:p>
        </p:txBody>
      </p:sp>
      <p:sp>
        <p:nvSpPr>
          <p:cNvPr id="489" name="なら良いが"/>
          <p:cNvSpPr/>
          <p:nvPr/>
        </p:nvSpPr>
        <p:spPr>
          <a:xfrm>
            <a:off x="4296450" y="2527163"/>
            <a:ext cx="1641475" cy="47192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lvl1pPr>
              <a:buClr>
                <a:srgbClr val="000000"/>
              </a:buClr>
              <a:buFont typeface="Arial"/>
              <a:defRPr sz="2400"/>
            </a:lvl1pPr>
          </a:lstStyle>
          <a:p>
            <a:r>
              <a:t>なら良いが</a:t>
            </a:r>
          </a:p>
        </p:txBody>
      </p:sp>
      <p:sp>
        <p:nvSpPr>
          <p:cNvPr id="490" name="かもしれない。"/>
          <p:cNvSpPr/>
          <p:nvPr/>
        </p:nvSpPr>
        <p:spPr>
          <a:xfrm>
            <a:off x="8627546" y="2527163"/>
            <a:ext cx="2257028" cy="47192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lvl1pPr>
              <a:buClr>
                <a:srgbClr val="000000"/>
              </a:buClr>
              <a:buFont typeface="Arial"/>
              <a:defRPr sz="2400"/>
            </a:lvl1pPr>
          </a:lstStyle>
          <a:p>
            <a:r>
              <a:t>かもしれない。</a:t>
            </a:r>
          </a:p>
        </p:txBody>
      </p:sp>
      <p:sp>
        <p:nvSpPr>
          <p:cNvPr id="492" name="線"/>
          <p:cNvSpPr/>
          <p:nvPr/>
        </p:nvSpPr>
        <p:spPr>
          <a:xfrm flipH="1">
            <a:off x="2039141" y="1742342"/>
            <a:ext cx="6" cy="1551028"/>
          </a:xfrm>
          <a:prstGeom prst="line">
            <a:avLst/>
          </a:prstGeom>
          <a:ln w="25400">
            <a:solidFill>
              <a:srgbClr val="000000"/>
            </a:solidFill>
            <a:miter lim="400000"/>
          </a:ln>
        </p:spPr>
        <p:txBody>
          <a:bodyPr lIns="0" tIns="0" rIns="0" bIns="0"/>
          <a:lstStyle/>
          <a:p>
            <a:pPr defTabSz="457200">
              <a:defRPr sz="1200">
                <a:latin typeface="ヒラギノ角ゴ ProN W3"/>
                <a:ea typeface="ヒラギノ角ゴ ProN W3"/>
                <a:cs typeface="ヒラギノ角ゴ ProN W3"/>
                <a:sym typeface="ヒラギノ角ゴ ProN W3"/>
              </a:defRPr>
            </a:pPr>
            <a:endParaRPr sz="1200"/>
          </a:p>
        </p:txBody>
      </p:sp>
      <p:sp>
        <p:nvSpPr>
          <p:cNvPr id="493" name="線"/>
          <p:cNvSpPr/>
          <p:nvPr/>
        </p:nvSpPr>
        <p:spPr>
          <a:xfrm flipV="1">
            <a:off x="2046288" y="3267951"/>
            <a:ext cx="2309813" cy="1"/>
          </a:xfrm>
          <a:prstGeom prst="line">
            <a:avLst/>
          </a:prstGeom>
          <a:ln w="25400">
            <a:solidFill>
              <a:srgbClr val="000000"/>
            </a:solidFill>
            <a:miter lim="400000"/>
          </a:ln>
        </p:spPr>
        <p:txBody>
          <a:bodyPr lIns="0" tIns="0" rIns="0" bIns="0"/>
          <a:lstStyle/>
          <a:p>
            <a:pPr defTabSz="457200">
              <a:defRPr sz="1200">
                <a:latin typeface="ヒラギノ角ゴ ProN W3"/>
                <a:ea typeface="ヒラギノ角ゴ ProN W3"/>
                <a:cs typeface="ヒラギノ角ゴ ProN W3"/>
                <a:sym typeface="ヒラギノ角ゴ ProN W3"/>
              </a:defRPr>
            </a:pPr>
            <a:endParaRPr sz="1200"/>
          </a:p>
        </p:txBody>
      </p:sp>
      <p:sp>
        <p:nvSpPr>
          <p:cNvPr id="494" name="[ADP]"/>
          <p:cNvSpPr/>
          <p:nvPr/>
        </p:nvSpPr>
        <p:spPr>
          <a:xfrm>
            <a:off x="3715890" y="3365493"/>
            <a:ext cx="665247" cy="37959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lvl1pPr>
              <a:buClr>
                <a:srgbClr val="000000"/>
              </a:buClr>
              <a:buFont typeface="Calibri"/>
            </a:lvl1pPr>
          </a:lstStyle>
          <a:p>
            <a:r>
              <a:t>[ADP]</a:t>
            </a:r>
          </a:p>
        </p:txBody>
      </p:sp>
      <p:sp>
        <p:nvSpPr>
          <p:cNvPr id="495" name="[F6P]"/>
          <p:cNvSpPr/>
          <p:nvPr/>
        </p:nvSpPr>
        <p:spPr>
          <a:xfrm>
            <a:off x="1723206" y="1382705"/>
            <a:ext cx="612347" cy="37959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lvl1pPr>
              <a:buClr>
                <a:srgbClr val="000000"/>
              </a:buClr>
              <a:buFont typeface="Calibri"/>
            </a:lvl1pPr>
          </a:lstStyle>
          <a:p>
            <a:r>
              <a:t>[F6P]</a:t>
            </a:r>
          </a:p>
        </p:txBody>
      </p:sp>
      <p:sp>
        <p:nvSpPr>
          <p:cNvPr id="496" name="線"/>
          <p:cNvSpPr/>
          <p:nvPr/>
        </p:nvSpPr>
        <p:spPr>
          <a:xfrm flipH="1">
            <a:off x="6234112" y="1756650"/>
            <a:ext cx="6" cy="1551028"/>
          </a:xfrm>
          <a:prstGeom prst="line">
            <a:avLst/>
          </a:prstGeom>
          <a:ln w="25400">
            <a:solidFill>
              <a:srgbClr val="000000"/>
            </a:solidFill>
            <a:miter lim="400000"/>
          </a:ln>
        </p:spPr>
        <p:txBody>
          <a:bodyPr lIns="0" tIns="0" rIns="0" bIns="0"/>
          <a:lstStyle/>
          <a:p>
            <a:pPr defTabSz="457200">
              <a:defRPr sz="1200">
                <a:latin typeface="ヒラギノ角ゴ ProN W3"/>
                <a:ea typeface="ヒラギノ角ゴ ProN W3"/>
                <a:cs typeface="ヒラギノ角ゴ ProN W3"/>
                <a:sym typeface="ヒラギノ角ゴ ProN W3"/>
              </a:defRPr>
            </a:pPr>
            <a:endParaRPr sz="1200"/>
          </a:p>
        </p:txBody>
      </p:sp>
      <p:sp>
        <p:nvSpPr>
          <p:cNvPr id="497" name="線"/>
          <p:cNvSpPr/>
          <p:nvPr/>
        </p:nvSpPr>
        <p:spPr>
          <a:xfrm flipV="1">
            <a:off x="6210301" y="3280651"/>
            <a:ext cx="2309813" cy="1"/>
          </a:xfrm>
          <a:prstGeom prst="line">
            <a:avLst/>
          </a:prstGeom>
          <a:ln w="25400">
            <a:solidFill>
              <a:srgbClr val="000000"/>
            </a:solidFill>
            <a:miter lim="400000"/>
          </a:ln>
        </p:spPr>
        <p:txBody>
          <a:bodyPr lIns="0" tIns="0" rIns="0" bIns="0"/>
          <a:lstStyle/>
          <a:p>
            <a:pPr defTabSz="457200">
              <a:defRPr sz="1200">
                <a:latin typeface="ヒラギノ角ゴ ProN W3"/>
                <a:ea typeface="ヒラギノ角ゴ ProN W3"/>
                <a:cs typeface="ヒラギノ角ゴ ProN W3"/>
                <a:sym typeface="ヒラギノ角ゴ ProN W3"/>
              </a:defRPr>
            </a:pPr>
            <a:endParaRPr sz="1200"/>
          </a:p>
        </p:txBody>
      </p:sp>
      <p:sp>
        <p:nvSpPr>
          <p:cNvPr id="498" name="[ADP]"/>
          <p:cNvSpPr/>
          <p:nvPr/>
        </p:nvSpPr>
        <p:spPr>
          <a:xfrm>
            <a:off x="7823201" y="3382955"/>
            <a:ext cx="665247" cy="37959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lvl1pPr>
              <a:buClr>
                <a:srgbClr val="000000"/>
              </a:buClr>
              <a:buFont typeface="Calibri"/>
            </a:lvl1pPr>
          </a:lstStyle>
          <a:p>
            <a:r>
              <a:t>[ADP]</a:t>
            </a:r>
          </a:p>
        </p:txBody>
      </p:sp>
      <p:sp>
        <p:nvSpPr>
          <p:cNvPr id="499" name="[F6P]"/>
          <p:cNvSpPr/>
          <p:nvPr/>
        </p:nvSpPr>
        <p:spPr>
          <a:xfrm>
            <a:off x="5829301" y="1401755"/>
            <a:ext cx="612347" cy="37959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lvl1pPr>
              <a:buClr>
                <a:srgbClr val="000000"/>
              </a:buClr>
              <a:buFont typeface="Calibri"/>
            </a:lvl1pPr>
          </a:lstStyle>
          <a:p>
            <a:r>
              <a:t>[F6P]</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8" name="前回の復習：固定点の求め方"/>
          <p:cNvSpPr txBox="1">
            <a:spLocks noGrp="1"/>
          </p:cNvSpPr>
          <p:nvPr>
            <p:ph type="title"/>
          </p:nvPr>
        </p:nvSpPr>
        <p:spPr>
          <a:prstGeom prst="rect">
            <a:avLst/>
          </a:prstGeom>
        </p:spPr>
        <p:txBody>
          <a:bodyPr/>
          <a:lstStyle/>
          <a:p>
            <a:r>
              <a:rPr lang="ja-JP" altLang="en-US"/>
              <a:t>固定点の座標を求める準備</a:t>
            </a:r>
            <a:endParaRPr dirty="0"/>
          </a:p>
        </p:txBody>
      </p:sp>
      <p:sp>
        <p:nvSpPr>
          <p:cNvPr id="2" name="テキスト ボックス 1">
            <a:extLst>
              <a:ext uri="{FF2B5EF4-FFF2-40B4-BE49-F238E27FC236}">
                <a16:creationId xmlns:a16="http://schemas.microsoft.com/office/drawing/2014/main" id="{82AB7E5A-C429-69F6-A78F-5A65D56B8599}"/>
              </a:ext>
            </a:extLst>
          </p:cNvPr>
          <p:cNvSpPr txBox="1"/>
          <p:nvPr/>
        </p:nvSpPr>
        <p:spPr>
          <a:xfrm>
            <a:off x="718781" y="1498147"/>
            <a:ext cx="10754437" cy="5047536"/>
          </a:xfrm>
          <a:prstGeom prst="rect">
            <a:avLst/>
          </a:prstGeom>
          <a:noFill/>
        </p:spPr>
        <p:txBody>
          <a:bodyPr wrap="square" rtlCol="0">
            <a:spAutoFit/>
          </a:bodyPr>
          <a:lstStyle/>
          <a:p>
            <a:pPr marL="285750" indent="-285750">
              <a:buFont typeface="Arial" panose="020B0604020202020204" pitchFamily="34" charset="0"/>
              <a:buChar char="•"/>
            </a:pPr>
            <a:r>
              <a:rPr kumimoji="1" lang="en-US" altLang="ja-JP" sz="2400" dirty="0" err="1">
                <a:solidFill>
                  <a:srgbClr val="0070C0"/>
                </a:solidFill>
              </a:rPr>
              <a:t>SymPy</a:t>
            </a:r>
            <a:r>
              <a:rPr kumimoji="1" lang="en-US" altLang="ja-JP" sz="2400" dirty="0"/>
              <a:t> </a:t>
            </a:r>
            <a:r>
              <a:rPr kumimoji="1" lang="ja-JP" altLang="en-US" sz="2400"/>
              <a:t>の機能を使う</a:t>
            </a:r>
            <a:endParaRPr kumimoji="1" lang="en-US" altLang="ja-JP" sz="2400" dirty="0"/>
          </a:p>
          <a:p>
            <a:pPr marL="742950" lvl="1" indent="-285750">
              <a:buFont typeface="Arial" panose="020B0604020202020204" pitchFamily="34" charset="0"/>
              <a:buChar char="•"/>
            </a:pPr>
            <a:r>
              <a:rPr lang="ja-JP" altLang="en-US" sz="2000"/>
              <a:t>文字式を数値ではなく記号として処理するための</a:t>
            </a:r>
            <a:r>
              <a:rPr lang="en-US" altLang="ja-JP" sz="2000" dirty="0"/>
              <a:t> python </a:t>
            </a:r>
            <a:r>
              <a:rPr lang="ja-JP" altLang="en-US" sz="2000"/>
              <a:t>ライブラリ</a:t>
            </a:r>
            <a:endParaRPr lang="en-US" altLang="ja-JP" sz="2000" dirty="0"/>
          </a:p>
          <a:p>
            <a:pPr lvl="1"/>
            <a:r>
              <a:rPr lang="en-GB" altLang="ja-JP" sz="2000" dirty="0">
                <a:latin typeface="Courier New" panose="02070309020205020404" pitchFamily="49" charset="0"/>
                <a:cs typeface="Courier New" panose="02070309020205020404" pitchFamily="49" charset="0"/>
              </a:rPr>
              <a:t>import </a:t>
            </a:r>
            <a:r>
              <a:rPr lang="en-GB" altLang="ja-JP" sz="2000" dirty="0" err="1">
                <a:solidFill>
                  <a:srgbClr val="0070C0"/>
                </a:solidFill>
                <a:latin typeface="Courier New" panose="02070309020205020404" pitchFamily="49" charset="0"/>
                <a:cs typeface="Courier New" panose="02070309020205020404" pitchFamily="49" charset="0"/>
              </a:rPr>
              <a:t>sympy</a:t>
            </a:r>
            <a:r>
              <a:rPr lang="en-GB" altLang="ja-JP" sz="2000" dirty="0">
                <a:latin typeface="Courier New" panose="02070309020205020404" pitchFamily="49" charset="0"/>
                <a:cs typeface="Courier New" panose="02070309020205020404" pitchFamily="49" charset="0"/>
              </a:rPr>
              <a:t> as </a:t>
            </a:r>
            <a:r>
              <a:rPr lang="en-GB" altLang="ja-JP" sz="2000" dirty="0" err="1">
                <a:latin typeface="Courier New" panose="02070309020205020404" pitchFamily="49" charset="0"/>
                <a:cs typeface="Courier New" panose="02070309020205020404" pitchFamily="49" charset="0"/>
              </a:rPr>
              <a:t>sp</a:t>
            </a:r>
            <a:endParaRPr lang="en-US" altLang="ja-JP" sz="2000" dirty="0"/>
          </a:p>
          <a:p>
            <a:pPr marL="285750" indent="-285750">
              <a:buFont typeface="Arial" panose="020B0604020202020204" pitchFamily="34" charset="0"/>
              <a:buChar char="•"/>
            </a:pPr>
            <a:endParaRPr lang="en-US" altLang="ja-JP" sz="2000" dirty="0"/>
          </a:p>
          <a:p>
            <a:pPr marL="285750" indent="-285750">
              <a:buFont typeface="Arial" panose="020B0604020202020204" pitchFamily="34" charset="0"/>
              <a:buChar char="•"/>
            </a:pPr>
            <a:r>
              <a:rPr lang="ja-JP" altLang="en-US" sz="2400"/>
              <a:t>変数の宣言</a:t>
            </a:r>
            <a:r>
              <a:rPr lang="en-US" altLang="ja-JP" sz="2400" dirty="0"/>
              <a:t>: </a:t>
            </a:r>
            <a:r>
              <a:rPr lang="en-US" altLang="ja-JP" sz="2400" dirty="0">
                <a:solidFill>
                  <a:srgbClr val="0070C0"/>
                </a:solidFill>
              </a:rPr>
              <a:t>Symbol</a:t>
            </a:r>
            <a:r>
              <a:rPr lang="en-US" altLang="ja-JP" sz="2400" dirty="0"/>
              <a:t> </a:t>
            </a:r>
            <a:r>
              <a:rPr lang="ja-JP" altLang="en-US" sz="2400"/>
              <a:t>関数または</a:t>
            </a:r>
            <a:r>
              <a:rPr lang="en-US" altLang="ja-JP" sz="2400" dirty="0"/>
              <a:t> </a:t>
            </a:r>
            <a:r>
              <a:rPr lang="en-US" altLang="ja-JP" sz="2400" dirty="0">
                <a:solidFill>
                  <a:srgbClr val="0070C0"/>
                </a:solidFill>
              </a:rPr>
              <a:t>symbols</a:t>
            </a:r>
            <a:r>
              <a:rPr lang="en-US" altLang="ja-JP" sz="2400" dirty="0"/>
              <a:t> </a:t>
            </a:r>
            <a:r>
              <a:rPr lang="ja-JP" altLang="en-US" sz="2400"/>
              <a:t>関数</a:t>
            </a:r>
          </a:p>
          <a:p>
            <a:pPr lvl="1"/>
            <a:r>
              <a:rPr lang="en-GB" altLang="ja-JP" sz="2000" dirty="0">
                <a:latin typeface="Courier New" panose="02070309020205020404" pitchFamily="49" charset="0"/>
                <a:cs typeface="Courier New" panose="02070309020205020404" pitchFamily="49" charset="0"/>
              </a:rPr>
              <a:t>x = </a:t>
            </a:r>
            <a:r>
              <a:rPr lang="en-GB" altLang="ja-JP" sz="2000" dirty="0" err="1">
                <a:latin typeface="Courier New" panose="02070309020205020404" pitchFamily="49" charset="0"/>
                <a:cs typeface="Courier New" panose="02070309020205020404" pitchFamily="49" charset="0"/>
              </a:rPr>
              <a:t>sp.</a:t>
            </a:r>
            <a:r>
              <a:rPr lang="en-GB" altLang="ja-JP" sz="2000" dirty="0" err="1">
                <a:solidFill>
                  <a:srgbClr val="0070C0"/>
                </a:solidFill>
                <a:latin typeface="Courier New" panose="02070309020205020404" pitchFamily="49" charset="0"/>
                <a:cs typeface="Courier New" panose="02070309020205020404" pitchFamily="49" charset="0"/>
              </a:rPr>
              <a:t>Symbol</a:t>
            </a:r>
            <a:r>
              <a:rPr lang="en-GB" altLang="ja-JP" sz="2000" dirty="0">
                <a:latin typeface="Courier New" panose="02070309020205020404" pitchFamily="49" charset="0"/>
                <a:cs typeface="Courier New" panose="02070309020205020404" pitchFamily="49" charset="0"/>
              </a:rPr>
              <a:t>(‘x’) </a:t>
            </a:r>
            <a:r>
              <a:rPr lang="en-GB" altLang="ja-JP" sz="2000" dirty="0"/>
              <a:t># </a:t>
            </a:r>
            <a:r>
              <a:rPr lang="ja-JP" altLang="en-US" sz="2000"/>
              <a:t>式中の</a:t>
            </a:r>
            <a:r>
              <a:rPr lang="en-US" altLang="ja-JP" sz="2000" dirty="0"/>
              <a:t> </a:t>
            </a:r>
            <a:r>
              <a:rPr lang="en-GB" altLang="ja-JP" sz="2000" dirty="0"/>
              <a:t>x </a:t>
            </a:r>
            <a:r>
              <a:rPr lang="ja-JP" altLang="en-US" sz="2000"/>
              <a:t>は数値ではなく記号として扱われる</a:t>
            </a:r>
            <a:endParaRPr lang="en-GB" altLang="ja-JP" sz="2000" dirty="0"/>
          </a:p>
          <a:p>
            <a:pPr lvl="1"/>
            <a:r>
              <a:rPr lang="en-GB" altLang="ja-JP" sz="2000" dirty="0">
                <a:latin typeface="Courier New" panose="02070309020205020404" pitchFamily="49" charset="0"/>
                <a:cs typeface="Courier New" panose="02070309020205020404" pitchFamily="49" charset="0"/>
              </a:rPr>
              <a:t>x, y, a, b = </a:t>
            </a:r>
            <a:r>
              <a:rPr lang="en-GB" altLang="ja-JP" sz="2000" dirty="0" err="1">
                <a:latin typeface="Courier New" panose="02070309020205020404" pitchFamily="49" charset="0"/>
                <a:cs typeface="Courier New" panose="02070309020205020404" pitchFamily="49" charset="0"/>
              </a:rPr>
              <a:t>sp.</a:t>
            </a:r>
            <a:r>
              <a:rPr lang="en-GB" altLang="ja-JP" sz="2000" dirty="0" err="1">
                <a:solidFill>
                  <a:srgbClr val="0070C0"/>
                </a:solidFill>
                <a:latin typeface="Courier New" panose="02070309020205020404" pitchFamily="49" charset="0"/>
                <a:cs typeface="Courier New" panose="02070309020205020404" pitchFamily="49" charset="0"/>
              </a:rPr>
              <a:t>symbols</a:t>
            </a:r>
            <a:r>
              <a:rPr lang="en-GB" altLang="ja-JP" sz="2000" dirty="0">
                <a:latin typeface="Courier New" panose="02070309020205020404" pitchFamily="49" charset="0"/>
                <a:cs typeface="Courier New" panose="02070309020205020404" pitchFamily="49" charset="0"/>
              </a:rPr>
              <a:t>("x y a b") </a:t>
            </a:r>
            <a:r>
              <a:rPr lang="en-GB" altLang="ja-JP" sz="2000" dirty="0"/>
              <a:t># x, y, a, b </a:t>
            </a:r>
            <a:r>
              <a:rPr lang="ja-JP" altLang="en-US" sz="2000"/>
              <a:t>は記号として扱われる</a:t>
            </a:r>
            <a:endParaRPr lang="en-US" altLang="ja-JP" sz="2000" dirty="0"/>
          </a:p>
          <a:p>
            <a:pPr marL="285750" indent="-285750">
              <a:buFont typeface="Arial" panose="020B0604020202020204" pitchFamily="34" charset="0"/>
              <a:buChar char="•"/>
            </a:pPr>
            <a:endParaRPr lang="en-US" altLang="ja-JP" sz="2400" dirty="0"/>
          </a:p>
          <a:p>
            <a:pPr marL="285750" indent="-285750">
              <a:buFont typeface="Arial" panose="020B0604020202020204" pitchFamily="34" charset="0"/>
              <a:buChar char="•"/>
            </a:pPr>
            <a:r>
              <a:rPr lang="ja-JP" altLang="en-US" sz="2400"/>
              <a:t>代数方程式を解く</a:t>
            </a:r>
            <a:r>
              <a:rPr lang="en-US" altLang="ja-JP" sz="2400" dirty="0"/>
              <a:t>: </a:t>
            </a:r>
            <a:r>
              <a:rPr lang="en-US" altLang="ja-JP" sz="2400" dirty="0">
                <a:solidFill>
                  <a:srgbClr val="0070C0"/>
                </a:solidFill>
              </a:rPr>
              <a:t>solve </a:t>
            </a:r>
            <a:r>
              <a:rPr lang="ja-JP" altLang="en-US" sz="2400"/>
              <a:t>関数</a:t>
            </a:r>
            <a:endParaRPr lang="en-US" altLang="ja-JP" sz="2000" dirty="0"/>
          </a:p>
          <a:p>
            <a:pPr lvl="1"/>
            <a:r>
              <a:rPr lang="en-GB" altLang="ja-JP" sz="2000" dirty="0" err="1">
                <a:latin typeface="Courier New" panose="02070309020205020404" pitchFamily="49" charset="0"/>
                <a:cs typeface="Courier New" panose="02070309020205020404" pitchFamily="49" charset="0"/>
              </a:rPr>
              <a:t>sp.</a:t>
            </a:r>
            <a:r>
              <a:rPr lang="en-GB" altLang="ja-JP" sz="2000" dirty="0" err="1">
                <a:solidFill>
                  <a:srgbClr val="0070C0"/>
                </a:solidFill>
                <a:latin typeface="Courier New" panose="02070309020205020404" pitchFamily="49" charset="0"/>
                <a:cs typeface="Courier New" panose="02070309020205020404" pitchFamily="49" charset="0"/>
              </a:rPr>
              <a:t>solve</a:t>
            </a:r>
            <a:r>
              <a:rPr lang="en-GB" altLang="ja-JP" sz="2000" dirty="0">
                <a:latin typeface="Courier New" panose="02070309020205020404" pitchFamily="49" charset="0"/>
                <a:cs typeface="Courier New" panose="02070309020205020404" pitchFamily="49" charset="0"/>
              </a:rPr>
              <a:t>( [ - y + x / ( a + x ) , - y + b * x / a ] , ( x , y ) )</a:t>
            </a:r>
          </a:p>
          <a:p>
            <a:pPr lvl="1"/>
            <a:r>
              <a:rPr lang="en-US" altLang="ja-JP" sz="2000" dirty="0"/>
              <a:t># </a:t>
            </a:r>
            <a:r>
              <a:rPr lang="ja-JP" altLang="en-US" sz="2000"/>
              <a:t>方程式は</a:t>
            </a:r>
            <a:r>
              <a:rPr lang="en-US" altLang="ja-JP" sz="2000" dirty="0"/>
              <a:t> </a:t>
            </a:r>
            <a:r>
              <a:rPr lang="en-US" altLang="ja-JP" sz="2000" dirty="0" err="1"/>
              <a:t>eqn</a:t>
            </a:r>
            <a:r>
              <a:rPr lang="en-US" altLang="ja-JP" sz="2000" dirty="0"/>
              <a:t> = 0 </a:t>
            </a:r>
            <a:r>
              <a:rPr lang="ja-JP" altLang="en-US" sz="2000"/>
              <a:t>の形で与える。</a:t>
            </a:r>
            <a:endParaRPr lang="en-US" altLang="ja-JP" sz="2000" dirty="0"/>
          </a:p>
          <a:p>
            <a:pPr lvl="1"/>
            <a:r>
              <a:rPr lang="en-US" altLang="ja-JP" sz="2000" dirty="0"/>
              <a:t># </a:t>
            </a:r>
            <a:r>
              <a:rPr lang="ja-JP" altLang="en-US" sz="2000"/>
              <a:t>上式は</a:t>
            </a:r>
            <a:r>
              <a:rPr lang="en-US" altLang="ja-JP" sz="2000" dirty="0"/>
              <a:t> – y + x / ( a + x ) = 0 </a:t>
            </a:r>
            <a:r>
              <a:rPr lang="ja-JP" altLang="en-US" sz="2000"/>
              <a:t>と</a:t>
            </a:r>
            <a:r>
              <a:rPr lang="en-US" altLang="ja-JP" sz="2000" dirty="0"/>
              <a:t> – y + b x /a = 0 </a:t>
            </a:r>
            <a:r>
              <a:rPr lang="ja-JP" altLang="en-US" sz="2000"/>
              <a:t>の連立方程式。</a:t>
            </a:r>
            <a:r>
              <a:rPr lang="en-US" altLang="ja-JP" sz="2000" dirty="0"/>
              <a:t> </a:t>
            </a:r>
            <a:endParaRPr lang="en-GB" altLang="ja-JP" sz="2000" dirty="0">
              <a:latin typeface="Courier New" panose="02070309020205020404" pitchFamily="49" charset="0"/>
              <a:cs typeface="Courier New" panose="02070309020205020404" pitchFamily="49" charset="0"/>
            </a:endParaRPr>
          </a:p>
          <a:p>
            <a:pPr marL="285750" indent="-285750">
              <a:buFont typeface="Arial" panose="020B0604020202020204" pitchFamily="34" charset="0"/>
              <a:buChar char="•"/>
            </a:pPr>
            <a:endParaRPr lang="en-GB" altLang="ja-JP" sz="2400" dirty="0"/>
          </a:p>
          <a:p>
            <a:pPr marL="285750" indent="-285750">
              <a:buFont typeface="Arial" panose="020B0604020202020204" pitchFamily="34" charset="0"/>
              <a:buChar char="•"/>
            </a:pPr>
            <a:endParaRPr lang="ja-JP" altLang="en-US" sz="2400"/>
          </a:p>
          <a:p>
            <a:pPr marL="742950" lvl="1" indent="-285750">
              <a:buFont typeface="Arial" panose="020B0604020202020204" pitchFamily="34" charset="0"/>
              <a:buChar char="•"/>
            </a:pPr>
            <a:endParaRPr kumimoji="1" lang="ja-JP" altLang="en-US"/>
          </a:p>
        </p:txBody>
      </p:sp>
    </p:spTree>
    <p:extLst>
      <p:ext uri="{BB962C8B-B14F-4D97-AF65-F5344CB8AC3E}">
        <p14:creationId xmlns:p14="http://schemas.microsoft.com/office/powerpoint/2010/main" val="54271607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9A2D924-F14F-BECD-442A-24F04CABD20F}"/>
              </a:ext>
            </a:extLst>
          </p:cNvPr>
          <p:cNvSpPr>
            <a:spLocks noGrp="1"/>
          </p:cNvSpPr>
          <p:nvPr>
            <p:ph type="title"/>
          </p:nvPr>
        </p:nvSpPr>
        <p:spPr/>
        <p:txBody>
          <a:bodyPr/>
          <a:lstStyle/>
          <a:p>
            <a:r>
              <a:rPr kumimoji="1" lang="ja-JP" altLang="en-US"/>
              <a:t>演習</a:t>
            </a:r>
            <a:r>
              <a:rPr kumimoji="1" lang="en-US" altLang="ja-JP" dirty="0"/>
              <a:t>4: </a:t>
            </a:r>
            <a:r>
              <a:rPr kumimoji="1" lang="ja-JP" altLang="en-US"/>
              <a:t>空欄を埋めて固定点の座標を求めなさい</a:t>
            </a:r>
          </a:p>
        </p:txBody>
      </p:sp>
      <p:sp>
        <p:nvSpPr>
          <p:cNvPr id="4" name="テキスト ボックス 3">
            <a:extLst>
              <a:ext uri="{FF2B5EF4-FFF2-40B4-BE49-F238E27FC236}">
                <a16:creationId xmlns:a16="http://schemas.microsoft.com/office/drawing/2014/main" id="{0C220E6A-FB0F-FA58-1CD4-8D56C9E0B687}"/>
              </a:ext>
            </a:extLst>
          </p:cNvPr>
          <p:cNvSpPr txBox="1"/>
          <p:nvPr/>
        </p:nvSpPr>
        <p:spPr>
          <a:xfrm>
            <a:off x="1616852" y="1271592"/>
            <a:ext cx="9213050" cy="4801314"/>
          </a:xfrm>
          <a:prstGeom prst="rect">
            <a:avLst/>
          </a:prstGeom>
          <a:noFill/>
          <a:ln>
            <a:solidFill>
              <a:schemeClr val="accent1">
                <a:shade val="15000"/>
              </a:schemeClr>
            </a:solidFill>
          </a:ln>
        </p:spPr>
        <p:txBody>
          <a:bodyPr wrap="square">
            <a:spAutoFit/>
          </a:bodyPr>
          <a:lstStyle/>
          <a:p>
            <a:r>
              <a:rPr lang="ja-JP" altLang="en-US" b="1">
                <a:solidFill>
                  <a:srgbClr val="000000"/>
                </a:solidFill>
                <a:latin typeface="Hiragino Kaku Gothic ProN W6" panose="020B0300000000000000" pitchFamily="34" charset="-128"/>
                <a:ea typeface="Hiragino Kaku Gothic ProN W6" panose="020B0300000000000000" pitchFamily="34" charset="-128"/>
              </a:rPr>
              <a:t>コード</a:t>
            </a:r>
            <a:r>
              <a:rPr lang="en-GB" altLang="ja-JP" dirty="0">
                <a:latin typeface="Courier New" panose="02070309020205020404" pitchFamily="49" charset="0"/>
                <a:cs typeface="Courier New" panose="02070309020205020404" pitchFamily="49" charset="0"/>
              </a:rPr>
              <a:t>(</a:t>
            </a:r>
            <a:r>
              <a:rPr lang="en-GB" altLang="ja-JP" dirty="0" err="1">
                <a:latin typeface="Courier New" panose="02070309020205020404" pitchFamily="49" charset="0"/>
                <a:cs typeface="Courier New" panose="02070309020205020404" pitchFamily="49" charset="0"/>
              </a:rPr>
              <a:t>selkov_fixed_point.py</a:t>
            </a:r>
            <a:r>
              <a:rPr lang="en-GB" altLang="ja-JP" dirty="0">
                <a:latin typeface="Courier New" panose="02070309020205020404" pitchFamily="49" charset="0"/>
                <a:cs typeface="Courier New" panose="02070309020205020404" pitchFamily="49" charset="0"/>
              </a:rPr>
              <a:t>)</a:t>
            </a:r>
            <a:endParaRPr lang="en-US" altLang="ja-JP" dirty="0"/>
          </a:p>
          <a:p>
            <a:endParaRPr lang="en-US" altLang="ja-JP" dirty="0"/>
          </a:p>
          <a:p>
            <a:r>
              <a:rPr lang="ja-JP" altLang="en-US"/>
              <a:t>import sympy as sp</a:t>
            </a:r>
            <a:r>
              <a:rPr lang="en-US" altLang="ja-JP" dirty="0"/>
              <a:t> </a:t>
            </a:r>
            <a:r>
              <a:rPr lang="en-US" altLang="ja-JP" dirty="0">
                <a:solidFill>
                  <a:srgbClr val="008F00"/>
                </a:solidFill>
              </a:rPr>
              <a:t># </a:t>
            </a:r>
            <a:r>
              <a:rPr lang="en-US" altLang="ja-JP" dirty="0" err="1">
                <a:solidFill>
                  <a:srgbClr val="008F00"/>
                </a:solidFill>
              </a:rPr>
              <a:t>SymPy</a:t>
            </a:r>
            <a:r>
              <a:rPr lang="en-US" altLang="ja-JP" dirty="0">
                <a:solidFill>
                  <a:srgbClr val="008F00"/>
                </a:solidFill>
              </a:rPr>
              <a:t> </a:t>
            </a:r>
            <a:r>
              <a:rPr lang="ja-JP" altLang="en-US">
                <a:solidFill>
                  <a:srgbClr val="008F00"/>
                </a:solidFill>
              </a:rPr>
              <a:t>は文字式を数値ではなく記号として解くためのライブラリ</a:t>
            </a:r>
          </a:p>
          <a:p>
            <a:endParaRPr lang="en-GB" altLang="ja-JP" dirty="0"/>
          </a:p>
          <a:p>
            <a:r>
              <a:rPr lang="en-GB" altLang="ja-JP" dirty="0"/>
              <a:t># </a:t>
            </a:r>
            <a:r>
              <a:rPr lang="ja-JP" altLang="en-US"/>
              <a:t>変数と定数</a:t>
            </a:r>
          </a:p>
          <a:p>
            <a:r>
              <a:rPr lang="en-GB" altLang="ja-JP" dirty="0"/>
              <a:t>x = </a:t>
            </a:r>
            <a:r>
              <a:rPr lang="en-GB" altLang="ja-JP" dirty="0" err="1"/>
              <a:t>sp.Symbol</a:t>
            </a:r>
            <a:r>
              <a:rPr lang="en-GB" altLang="ja-JP" dirty="0"/>
              <a:t>('x')</a:t>
            </a:r>
          </a:p>
          <a:p>
            <a:r>
              <a:rPr lang="en-GB" altLang="ja-JP" dirty="0"/>
              <a:t>y = </a:t>
            </a:r>
            <a:r>
              <a:rPr lang="en-GB" altLang="ja-JP" dirty="0" err="1"/>
              <a:t>sp.Symbol</a:t>
            </a:r>
            <a:r>
              <a:rPr lang="en-GB" altLang="ja-JP" dirty="0"/>
              <a:t>('y')</a:t>
            </a:r>
          </a:p>
          <a:p>
            <a:endParaRPr lang="en-GB" altLang="ja-JP" dirty="0"/>
          </a:p>
          <a:p>
            <a:r>
              <a:rPr lang="en-GB" altLang="ja-JP" dirty="0"/>
              <a:t>a = 0.06</a:t>
            </a:r>
          </a:p>
          <a:p>
            <a:r>
              <a:rPr lang="en-GB" altLang="ja-JP" dirty="0"/>
              <a:t>b = 0.6</a:t>
            </a:r>
          </a:p>
          <a:p>
            <a:endParaRPr lang="en-GB" altLang="ja-JP" dirty="0"/>
          </a:p>
          <a:p>
            <a:r>
              <a:rPr lang="en-GB" altLang="ja-JP" dirty="0"/>
              <a:t># </a:t>
            </a:r>
            <a:r>
              <a:rPr lang="ja-JP" altLang="en-US"/>
              <a:t>交点の座標を求める</a:t>
            </a:r>
          </a:p>
          <a:p>
            <a:r>
              <a:rPr lang="en-GB" altLang="ja-JP" dirty="0"/>
              <a:t>solutions = </a:t>
            </a:r>
            <a:r>
              <a:rPr lang="en-GB" altLang="ja-JP" dirty="0" err="1"/>
              <a:t>sp.solve</a:t>
            </a:r>
            <a:r>
              <a:rPr lang="en-GB" altLang="ja-JP" dirty="0"/>
              <a:t>( [         ,         ]  , ( x , y ) )</a:t>
            </a:r>
          </a:p>
          <a:p>
            <a:endParaRPr lang="en-GB" altLang="ja-JP" dirty="0"/>
          </a:p>
          <a:p>
            <a:r>
              <a:rPr lang="en-GB" altLang="ja-JP" dirty="0"/>
              <a:t>print(solutions)</a:t>
            </a:r>
          </a:p>
          <a:p>
            <a:endParaRPr lang="en-GB" altLang="ja-JP" dirty="0"/>
          </a:p>
          <a:p>
            <a:endParaRPr lang="ja-JP" altLang="en-US"/>
          </a:p>
        </p:txBody>
      </p:sp>
      <p:sp>
        <p:nvSpPr>
          <p:cNvPr id="3" name="正方形/長方形 2">
            <a:extLst>
              <a:ext uri="{FF2B5EF4-FFF2-40B4-BE49-F238E27FC236}">
                <a16:creationId xmlns:a16="http://schemas.microsoft.com/office/drawing/2014/main" id="{34CD6A49-F050-B218-4F71-7E715DE085A4}"/>
              </a:ext>
            </a:extLst>
          </p:cNvPr>
          <p:cNvSpPr/>
          <p:nvPr/>
        </p:nvSpPr>
        <p:spPr>
          <a:xfrm>
            <a:off x="3882086" y="4644420"/>
            <a:ext cx="465856" cy="237175"/>
          </a:xfrm>
          <a:prstGeom prst="rect">
            <a:avLst/>
          </a:prstGeom>
          <a:solidFill>
            <a:schemeClr val="bg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 name="正方形/長方形 4">
            <a:extLst>
              <a:ext uri="{FF2B5EF4-FFF2-40B4-BE49-F238E27FC236}">
                <a16:creationId xmlns:a16="http://schemas.microsoft.com/office/drawing/2014/main" id="{86DDD929-5C88-7A4E-6DFF-217596E2BDA6}"/>
              </a:ext>
            </a:extLst>
          </p:cNvPr>
          <p:cNvSpPr/>
          <p:nvPr/>
        </p:nvSpPr>
        <p:spPr>
          <a:xfrm>
            <a:off x="4518936" y="4644420"/>
            <a:ext cx="465856" cy="237175"/>
          </a:xfrm>
          <a:prstGeom prst="rect">
            <a:avLst/>
          </a:prstGeom>
          <a:solidFill>
            <a:schemeClr val="bg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407341140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0043BB-D713-A28C-CFEF-1FEDAC52C52F}"/>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3AFA82C3-1324-14E6-E8CC-F6C6E0528DE6}"/>
              </a:ext>
            </a:extLst>
          </p:cNvPr>
          <p:cNvSpPr>
            <a:spLocks noGrp="1"/>
          </p:cNvSpPr>
          <p:nvPr>
            <p:ph type="title"/>
          </p:nvPr>
        </p:nvSpPr>
        <p:spPr/>
        <p:txBody>
          <a:bodyPr/>
          <a:lstStyle/>
          <a:p>
            <a:r>
              <a:rPr kumimoji="1" lang="ja-JP" altLang="en-US"/>
              <a:t>力学系の七つ道具</a:t>
            </a:r>
          </a:p>
        </p:txBody>
      </p:sp>
      <p:sp>
        <p:nvSpPr>
          <p:cNvPr id="4" name="テキスト ボックス 3">
            <a:extLst>
              <a:ext uri="{FF2B5EF4-FFF2-40B4-BE49-F238E27FC236}">
                <a16:creationId xmlns:a16="http://schemas.microsoft.com/office/drawing/2014/main" id="{7C729D1D-2370-F4B4-4AEE-AADEDCBEBCFA}"/>
              </a:ext>
            </a:extLst>
          </p:cNvPr>
          <p:cNvSpPr txBox="1"/>
          <p:nvPr/>
        </p:nvSpPr>
        <p:spPr>
          <a:xfrm>
            <a:off x="3036094" y="1898913"/>
            <a:ext cx="6129336" cy="4108817"/>
          </a:xfrm>
          <a:prstGeom prst="rect">
            <a:avLst/>
          </a:prstGeom>
          <a:noFill/>
        </p:spPr>
        <p:txBody>
          <a:bodyPr wrap="square">
            <a:spAutoFit/>
          </a:bodyPr>
          <a:lstStyle/>
          <a:p>
            <a:pPr>
              <a:spcAft>
                <a:spcPts val="1275"/>
              </a:spcAft>
              <a:buFont typeface="+mj-lt"/>
              <a:buAutoNum type="arabicPeriod"/>
            </a:pPr>
            <a:r>
              <a:rPr lang="ja-JP" altLang="en-US" sz="2800">
                <a:solidFill>
                  <a:srgbClr val="000000"/>
                </a:solidFill>
                <a:effectLst/>
                <a:latin typeface="Hiragino Sans" panose="020B0400000000000000" pitchFamily="34" charset="-128"/>
                <a:ea typeface="Hiragino Sans" panose="020B0400000000000000" pitchFamily="34" charset="-128"/>
                <a:cs typeface="Gill Sans" panose="020B0502020104020203" pitchFamily="34" charset="-79"/>
              </a:rPr>
              <a:t>相平面</a:t>
            </a:r>
            <a:endParaRPr lang="ja-JP" altLang="en-US" sz="2800">
              <a:solidFill>
                <a:srgbClr val="000000"/>
              </a:solidFill>
              <a:effectLst/>
              <a:latin typeface="Gill Sans" panose="020B0502020104020203" pitchFamily="34" charset="-79"/>
              <a:cs typeface="Gill Sans" panose="020B0502020104020203" pitchFamily="34" charset="-79"/>
            </a:endParaRPr>
          </a:p>
          <a:p>
            <a:pPr>
              <a:spcAft>
                <a:spcPts val="1275"/>
              </a:spcAft>
              <a:buFont typeface="+mj-lt"/>
              <a:buAutoNum type="arabicPeriod"/>
            </a:pPr>
            <a:r>
              <a:rPr lang="ja-JP" altLang="en-US" sz="2800">
                <a:solidFill>
                  <a:srgbClr val="000000"/>
                </a:solidFill>
                <a:effectLst/>
                <a:latin typeface="Hiragino Sans" panose="020B0400000000000000" pitchFamily="34" charset="-128"/>
                <a:ea typeface="Hiragino Sans" panose="020B0400000000000000" pitchFamily="34" charset="-128"/>
              </a:rPr>
              <a:t>ヌルクライン</a:t>
            </a:r>
            <a:endParaRPr lang="en-US" altLang="ja-JP" sz="2800" dirty="0">
              <a:solidFill>
                <a:srgbClr val="000000"/>
              </a:solidFill>
              <a:effectLst/>
              <a:latin typeface="Hiragino Sans" panose="020B0400000000000000" pitchFamily="34" charset="-128"/>
              <a:ea typeface="Hiragino Sans" panose="020B0400000000000000" pitchFamily="34" charset="-128"/>
            </a:endParaRPr>
          </a:p>
          <a:p>
            <a:pPr>
              <a:spcAft>
                <a:spcPts val="1275"/>
              </a:spcAft>
              <a:buFont typeface="+mj-lt"/>
              <a:buAutoNum type="arabicPeriod"/>
            </a:pPr>
            <a:r>
              <a:rPr lang="ja-JP" altLang="en-US" sz="2800">
                <a:solidFill>
                  <a:srgbClr val="000000"/>
                </a:solidFill>
                <a:effectLst/>
                <a:latin typeface="Hiragino Sans" panose="020B0400000000000000" pitchFamily="34" charset="-128"/>
                <a:ea typeface="Hiragino Sans" panose="020B0400000000000000" pitchFamily="34" charset="-128"/>
              </a:rPr>
              <a:t>ベクトル場</a:t>
            </a:r>
            <a:endParaRPr lang="en-US" altLang="ja-JP" sz="2800" dirty="0">
              <a:solidFill>
                <a:srgbClr val="000000"/>
              </a:solidFill>
              <a:effectLst/>
              <a:latin typeface="Hiragino Sans" panose="020B0400000000000000" pitchFamily="34" charset="-128"/>
              <a:ea typeface="Hiragino Sans" panose="020B0400000000000000" pitchFamily="34" charset="-128"/>
            </a:endParaRPr>
          </a:p>
          <a:p>
            <a:pPr>
              <a:spcAft>
                <a:spcPts val="1275"/>
              </a:spcAft>
              <a:buFont typeface="+mj-lt"/>
              <a:buAutoNum type="arabicPeriod"/>
            </a:pPr>
            <a:r>
              <a:rPr lang="ja-JP" altLang="en-US" sz="2800">
                <a:solidFill>
                  <a:srgbClr val="000000"/>
                </a:solidFill>
                <a:latin typeface="Hiragino Sans" panose="020B0400000000000000" pitchFamily="34" charset="-128"/>
                <a:ea typeface="Hiragino Sans" panose="020B0400000000000000" pitchFamily="34" charset="-128"/>
              </a:rPr>
              <a:t>固定点</a:t>
            </a:r>
            <a:endParaRPr lang="ja-JP" altLang="en-US" sz="2800">
              <a:solidFill>
                <a:srgbClr val="000000"/>
              </a:solidFill>
              <a:effectLst/>
              <a:latin typeface="Hiragino Sans" panose="020B0400000000000000" pitchFamily="34" charset="-128"/>
              <a:ea typeface="Hiragino Sans" panose="020B0400000000000000" pitchFamily="34" charset="-128"/>
            </a:endParaRPr>
          </a:p>
          <a:p>
            <a:pPr>
              <a:spcAft>
                <a:spcPts val="1275"/>
              </a:spcAft>
              <a:buFont typeface="+mj-lt"/>
              <a:buAutoNum type="arabicPeriod"/>
            </a:pPr>
            <a:r>
              <a:rPr lang="ja-JP" altLang="en-US" sz="2800">
                <a:solidFill>
                  <a:srgbClr val="C00000"/>
                </a:solidFill>
                <a:effectLst/>
                <a:latin typeface="Hiragino Sans" panose="020B0400000000000000" pitchFamily="34" charset="-128"/>
                <a:ea typeface="Hiragino Sans" panose="020B0400000000000000" pitchFamily="34" charset="-128"/>
              </a:rPr>
              <a:t>ヤコビ行列</a:t>
            </a:r>
          </a:p>
          <a:p>
            <a:pPr>
              <a:spcAft>
                <a:spcPts val="1275"/>
              </a:spcAft>
              <a:buFont typeface="+mj-lt"/>
              <a:buAutoNum type="arabicPeriod"/>
            </a:pPr>
            <a:r>
              <a:rPr lang="ja-JP" altLang="en-US" sz="2800">
                <a:solidFill>
                  <a:srgbClr val="000000"/>
                </a:solidFill>
                <a:effectLst/>
                <a:latin typeface="Hiragino Sans" panose="020B0400000000000000" pitchFamily="34" charset="-128"/>
                <a:ea typeface="Hiragino Sans" panose="020B0400000000000000" pitchFamily="34" charset="-128"/>
              </a:rPr>
              <a:t>固有値による安定性解析</a:t>
            </a:r>
          </a:p>
          <a:p>
            <a:pPr>
              <a:spcAft>
                <a:spcPts val="1275"/>
              </a:spcAft>
              <a:buFont typeface="+mj-lt"/>
              <a:buAutoNum type="arabicPeriod"/>
            </a:pPr>
            <a:r>
              <a:rPr lang="ja-JP" altLang="en-US" sz="2800">
                <a:solidFill>
                  <a:srgbClr val="000000"/>
                </a:solidFill>
                <a:effectLst/>
                <a:latin typeface="Hiragino Sans" panose="020B0400000000000000" pitchFamily="34" charset="-128"/>
                <a:ea typeface="Hiragino Sans" panose="020B0400000000000000" pitchFamily="34" charset="-128"/>
                <a:cs typeface="Gill Sans" panose="020B0502020104020203" pitchFamily="34" charset="-79"/>
              </a:rPr>
              <a:t>分岐図</a:t>
            </a:r>
            <a:endParaRPr lang="ja-JP" altLang="en-US" sz="2800">
              <a:solidFill>
                <a:srgbClr val="000000"/>
              </a:solidFill>
              <a:effectLst/>
              <a:latin typeface="Gill Sans" panose="020B0502020104020203" pitchFamily="34" charset="-79"/>
              <a:cs typeface="Gill Sans" panose="020B0502020104020203" pitchFamily="34" charset="-79"/>
            </a:endParaRPr>
          </a:p>
        </p:txBody>
      </p:sp>
    </p:spTree>
    <p:extLst>
      <p:ext uri="{BB962C8B-B14F-4D97-AF65-F5344CB8AC3E}">
        <p14:creationId xmlns:p14="http://schemas.microsoft.com/office/powerpoint/2010/main" val="92897538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9" name="微分方程式の線形化"/>
          <p:cNvSpPr txBox="1">
            <a:spLocks noGrp="1"/>
          </p:cNvSpPr>
          <p:nvPr>
            <p:ph type="title"/>
          </p:nvPr>
        </p:nvSpPr>
        <p:spPr>
          <a:prstGeom prst="rect">
            <a:avLst/>
          </a:prstGeom>
        </p:spPr>
        <p:txBody>
          <a:bodyPr/>
          <a:lstStyle/>
          <a:p>
            <a:r>
              <a:rPr dirty="0" err="1"/>
              <a:t>微分方程式の線形化</a:t>
            </a:r>
            <a:endParaRPr dirty="0"/>
          </a:p>
        </p:txBody>
      </p:sp>
      <p:sp>
        <p:nvSpPr>
          <p:cNvPr id="501" name="線形化とは…"/>
          <p:cNvSpPr txBox="1">
            <a:spLocks noGrp="1"/>
          </p:cNvSpPr>
          <p:nvPr>
            <p:ph type="body" sz="half" idx="4294967295"/>
          </p:nvPr>
        </p:nvSpPr>
        <p:spPr>
          <a:xfrm>
            <a:off x="152492" y="1521497"/>
            <a:ext cx="6860537" cy="4940300"/>
          </a:xfrm>
          <a:prstGeom prst="rect">
            <a:avLst/>
          </a:prstGeom>
        </p:spPr>
        <p:txBody>
          <a:bodyPr>
            <a:normAutofit/>
          </a:bodyPr>
          <a:lstStyle/>
          <a:p>
            <a:pPr marL="383540">
              <a:buClr>
                <a:srgbClr val="000000"/>
              </a:buClr>
              <a:buSzPct val="100000"/>
              <a:buFont typeface="Arial"/>
            </a:pPr>
            <a:r>
              <a:rPr dirty="0" err="1"/>
              <a:t>線形化とは</a:t>
            </a:r>
            <a:endParaRPr dirty="0"/>
          </a:p>
          <a:p>
            <a:pPr marL="783590" lvl="1">
              <a:buClr>
                <a:srgbClr val="000000"/>
              </a:buClr>
              <a:buSzPct val="100000"/>
              <a:buFont typeface="Arial"/>
            </a:pPr>
            <a:r>
              <a:rPr dirty="0" err="1"/>
              <a:t>偏微分すること</a:t>
            </a:r>
            <a:endParaRPr dirty="0"/>
          </a:p>
          <a:p>
            <a:pPr marL="783590" lvl="1">
              <a:buClr>
                <a:srgbClr val="000000"/>
              </a:buClr>
              <a:buSzPct val="100000"/>
              <a:buFont typeface="Arial"/>
            </a:pPr>
            <a:r>
              <a:rPr dirty="0" err="1"/>
              <a:t>すべての変数で偏微分</a:t>
            </a:r>
            <a:endParaRPr dirty="0"/>
          </a:p>
          <a:p>
            <a:pPr marL="783590" lvl="1">
              <a:buClr>
                <a:srgbClr val="000000"/>
              </a:buClr>
              <a:buSzPct val="100000"/>
              <a:buFont typeface="Arial"/>
            </a:pPr>
            <a:r>
              <a:rPr dirty="0" err="1"/>
              <a:t>すべての微分方程式について行う</a:t>
            </a:r>
            <a:endParaRPr dirty="0"/>
          </a:p>
          <a:p>
            <a:pPr marL="383540">
              <a:buClr>
                <a:srgbClr val="000000"/>
              </a:buClr>
              <a:buSzPct val="100000"/>
              <a:buFont typeface="Arial"/>
            </a:pPr>
            <a:endParaRPr dirty="0"/>
          </a:p>
          <a:p>
            <a:pPr marL="383540">
              <a:buClr>
                <a:srgbClr val="000000"/>
              </a:buClr>
              <a:buSzPct val="100000"/>
              <a:buFont typeface="Arial"/>
            </a:pPr>
            <a:r>
              <a:rPr dirty="0" err="1"/>
              <a:t>ヤコビ行列</a:t>
            </a:r>
            <a:endParaRPr dirty="0"/>
          </a:p>
          <a:p>
            <a:pPr marL="783590" lvl="1">
              <a:buClr>
                <a:srgbClr val="000000"/>
              </a:buClr>
              <a:buSzPct val="100000"/>
              <a:buFont typeface="Arial"/>
            </a:pPr>
            <a:r>
              <a:rPr dirty="0"/>
              <a:t>微分方程式の１次近似</a:t>
            </a:r>
          </a:p>
          <a:p>
            <a:pPr marL="783590" lvl="1">
              <a:buClr>
                <a:srgbClr val="000000"/>
              </a:buClr>
              <a:buSzPct val="100000"/>
              <a:buFont typeface="Arial"/>
              <a:defRPr b="1" u="sng"/>
            </a:pPr>
            <a:r>
              <a:rPr dirty="0" err="1"/>
              <a:t>固定点近傍のダイナミクスに関する情報を含む</a:t>
            </a:r>
            <a:endParaRPr dirty="0"/>
          </a:p>
        </p:txBody>
      </p:sp>
      <p:sp>
        <p:nvSpPr>
          <p:cNvPr id="506" name="矢印"/>
          <p:cNvSpPr/>
          <p:nvPr/>
        </p:nvSpPr>
        <p:spPr>
          <a:xfrm>
            <a:off x="9187855" y="1546492"/>
            <a:ext cx="936626" cy="360363"/>
          </a:xfrm>
          <a:prstGeom prst="rightArrow">
            <a:avLst>
              <a:gd name="adj1" fmla="val 50000"/>
              <a:gd name="adj2" fmla="val 49997"/>
            </a:avLst>
          </a:prstGeom>
          <a:solidFill>
            <a:srgbClr val="011893"/>
          </a:solidFill>
          <a:ln w="25400">
            <a:noFill/>
            <a:miter lim="400000"/>
          </a:ln>
        </p:spPr>
        <p:txBody>
          <a:bodyPr lIns="50800" tIns="50800" rIns="50800" bIns="50800" anchor="ctr"/>
          <a:lstStyle/>
          <a:p>
            <a:pPr>
              <a:defRPr>
                <a:solidFill>
                  <a:srgbClr val="FFFFFF"/>
                </a:solidFill>
                <a:effectLst>
                  <a:outerShdw blurRad="38100" dist="12700" dir="5400000" rotWithShape="0">
                    <a:srgbClr val="000000">
                      <a:alpha val="50000"/>
                    </a:srgbClr>
                  </a:outerShdw>
                </a:effectLst>
              </a:defRPr>
            </a:pPr>
            <a:endParaRPr/>
          </a:p>
        </p:txBody>
      </p:sp>
      <p:sp>
        <p:nvSpPr>
          <p:cNvPr id="507" name="矢印"/>
          <p:cNvSpPr/>
          <p:nvPr/>
        </p:nvSpPr>
        <p:spPr>
          <a:xfrm>
            <a:off x="9203730" y="2297380"/>
            <a:ext cx="935038" cy="358775"/>
          </a:xfrm>
          <a:prstGeom prst="rightArrow">
            <a:avLst>
              <a:gd name="adj1" fmla="val 50000"/>
              <a:gd name="adj2" fmla="val 50000"/>
            </a:avLst>
          </a:prstGeom>
          <a:solidFill>
            <a:srgbClr val="011893"/>
          </a:solidFill>
          <a:ln w="25400">
            <a:noFill/>
            <a:miter lim="400000"/>
          </a:ln>
        </p:spPr>
        <p:txBody>
          <a:bodyPr lIns="50800" tIns="50800" rIns="50800" bIns="50800" anchor="ctr"/>
          <a:lstStyle/>
          <a:p>
            <a:pPr>
              <a:defRPr>
                <a:solidFill>
                  <a:srgbClr val="FFFFFF"/>
                </a:solidFill>
                <a:effectLst>
                  <a:outerShdw blurRad="38100" dist="12700" dir="5400000" rotWithShape="0">
                    <a:srgbClr val="000000">
                      <a:alpha val="50000"/>
                    </a:srgbClr>
                  </a:outerShdw>
                </a:effectLst>
              </a:defRPr>
            </a:pPr>
            <a:endParaRPr/>
          </a:p>
        </p:txBody>
      </p:sp>
      <p:pic>
        <p:nvPicPr>
          <p:cNvPr id="510" name="droppedImage.pdf" descr="droppedImage.pdf"/>
          <p:cNvPicPr>
            <a:picLocks noChangeAspect="1"/>
          </p:cNvPicPr>
          <p:nvPr/>
        </p:nvPicPr>
        <p:blipFill>
          <a:blip r:embed="rId3"/>
          <a:stretch>
            <a:fillRect/>
          </a:stretch>
        </p:blipFill>
        <p:spPr>
          <a:xfrm>
            <a:off x="7993117" y="3127702"/>
            <a:ext cx="3468821" cy="1658006"/>
          </a:xfrm>
          <a:prstGeom prst="rect">
            <a:avLst/>
          </a:prstGeom>
          <a:ln w="12700">
            <a:miter lim="400000"/>
          </a:ln>
        </p:spPr>
      </p:pic>
      <p:grpSp>
        <p:nvGrpSpPr>
          <p:cNvPr id="2" name="グループ化 1">
            <a:extLst>
              <a:ext uri="{FF2B5EF4-FFF2-40B4-BE49-F238E27FC236}">
                <a16:creationId xmlns:a16="http://schemas.microsoft.com/office/drawing/2014/main" id="{B68CBD5D-989F-DDED-98DA-35469273F05E}"/>
              </a:ext>
            </a:extLst>
          </p:cNvPr>
          <p:cNvGrpSpPr>
            <a:grpSpLocks noChangeAspect="1"/>
          </p:cNvGrpSpPr>
          <p:nvPr/>
        </p:nvGrpSpPr>
        <p:grpSpPr>
          <a:xfrm>
            <a:off x="7114786" y="5073433"/>
            <a:ext cx="4853960" cy="1546678"/>
            <a:chOff x="7668618" y="5016827"/>
            <a:chExt cx="3985658" cy="1270000"/>
          </a:xfrm>
        </p:grpSpPr>
        <p:sp>
          <p:nvSpPr>
            <p:cNvPr id="508" name="四角形"/>
            <p:cNvSpPr/>
            <p:nvPr/>
          </p:nvSpPr>
          <p:spPr>
            <a:xfrm>
              <a:off x="8978306" y="5016827"/>
              <a:ext cx="1879601" cy="1270000"/>
            </a:xfrm>
            <a:prstGeom prst="rect">
              <a:avLst/>
            </a:prstGeom>
            <a:ln w="76200">
              <a:solidFill>
                <a:srgbClr val="FF9292"/>
              </a:solidFill>
              <a:miter lim="400000"/>
            </a:ln>
          </p:spPr>
          <p:txBody>
            <a:bodyPr lIns="50800" tIns="50800" rIns="50800" bIns="50800" anchor="ctr"/>
            <a:lstStyle/>
            <a:p>
              <a:pPr>
                <a:defRPr>
                  <a:solidFill>
                    <a:srgbClr val="FFFFFF"/>
                  </a:solidFill>
                  <a:effectLst>
                    <a:outerShdw blurRad="38100" dist="12700" dir="5400000" rotWithShape="0">
                      <a:srgbClr val="000000">
                        <a:alpha val="50000"/>
                      </a:srgbClr>
                    </a:outerShdw>
                  </a:effectLst>
                </a:defRPr>
              </a:pPr>
              <a:endParaRPr/>
            </a:p>
          </p:txBody>
        </p:sp>
        <p:pic>
          <p:nvPicPr>
            <p:cNvPr id="511" name="droppedImage.pdf" descr="droppedImage.pdf"/>
            <p:cNvPicPr>
              <a:picLocks noChangeAspect="1"/>
            </p:cNvPicPr>
            <p:nvPr/>
          </p:nvPicPr>
          <p:blipFill>
            <a:blip r:embed="rId4"/>
            <a:stretch>
              <a:fillRect/>
            </a:stretch>
          </p:blipFill>
          <p:spPr>
            <a:xfrm>
              <a:off x="7668618" y="5210503"/>
              <a:ext cx="3985658" cy="939801"/>
            </a:xfrm>
            <a:prstGeom prst="rect">
              <a:avLst/>
            </a:prstGeom>
            <a:ln w="12700">
              <a:miter lim="400000"/>
            </a:ln>
          </p:spPr>
        </p:pic>
      </p:grpSp>
      <p:pic>
        <p:nvPicPr>
          <p:cNvPr id="512" name="droppedImage.pdf" descr="droppedImage.pdf"/>
          <p:cNvPicPr>
            <a:picLocks noChangeAspect="1"/>
          </p:cNvPicPr>
          <p:nvPr/>
        </p:nvPicPr>
        <p:blipFill>
          <a:blip r:embed="rId5"/>
          <a:stretch>
            <a:fillRect/>
          </a:stretch>
        </p:blipFill>
        <p:spPr>
          <a:xfrm>
            <a:off x="10297519" y="1427950"/>
            <a:ext cx="425141" cy="571501"/>
          </a:xfrm>
          <a:prstGeom prst="rect">
            <a:avLst/>
          </a:prstGeom>
          <a:ln w="12700">
            <a:miter lim="400000"/>
          </a:ln>
        </p:spPr>
      </p:pic>
      <p:pic>
        <p:nvPicPr>
          <p:cNvPr id="513" name="droppedImage.pdf" descr="droppedImage.pdf"/>
          <p:cNvPicPr>
            <a:picLocks noChangeAspect="1"/>
          </p:cNvPicPr>
          <p:nvPr/>
        </p:nvPicPr>
        <p:blipFill>
          <a:blip r:embed="rId6"/>
          <a:stretch>
            <a:fillRect/>
          </a:stretch>
        </p:blipFill>
        <p:spPr>
          <a:xfrm>
            <a:off x="10310218" y="2195779"/>
            <a:ext cx="1339386" cy="596900"/>
          </a:xfrm>
          <a:prstGeom prst="rect">
            <a:avLst/>
          </a:prstGeom>
          <a:ln w="12700">
            <a:miter lim="400000"/>
          </a:ln>
        </p:spPr>
      </p:pic>
      <p:pic>
        <p:nvPicPr>
          <p:cNvPr id="514" name="droppedImage.pdf" descr="droppedImage.pdf"/>
          <p:cNvPicPr>
            <a:picLocks noChangeAspect="1"/>
          </p:cNvPicPr>
          <p:nvPr/>
        </p:nvPicPr>
        <p:blipFill>
          <a:blip r:embed="rId7"/>
          <a:stretch>
            <a:fillRect/>
          </a:stretch>
        </p:blipFill>
        <p:spPr>
          <a:xfrm>
            <a:off x="6843119" y="1496138"/>
            <a:ext cx="2070101" cy="471042"/>
          </a:xfrm>
          <a:prstGeom prst="rect">
            <a:avLst/>
          </a:prstGeom>
          <a:ln w="12700">
            <a:miter lim="400000"/>
          </a:ln>
        </p:spPr>
      </p:pic>
      <p:pic>
        <p:nvPicPr>
          <p:cNvPr id="515" name="droppedImage.pdf" descr="droppedImage.pdf"/>
          <p:cNvPicPr>
            <a:picLocks noChangeAspect="1"/>
          </p:cNvPicPr>
          <p:nvPr/>
        </p:nvPicPr>
        <p:blipFill>
          <a:blip r:embed="rId7"/>
          <a:stretch>
            <a:fillRect/>
          </a:stretch>
        </p:blipFill>
        <p:spPr>
          <a:xfrm>
            <a:off x="6855819" y="2246579"/>
            <a:ext cx="2065087" cy="469900"/>
          </a:xfrm>
          <a:prstGeom prst="rect">
            <a:avLst/>
          </a:prstGeom>
          <a:ln w="12700">
            <a:miter lim="400000"/>
          </a:ln>
        </p:spPr>
      </p:pic>
      <p:sp>
        <p:nvSpPr>
          <p:cNvPr id="5" name="屈折矢印 4">
            <a:extLst>
              <a:ext uri="{FF2B5EF4-FFF2-40B4-BE49-F238E27FC236}">
                <a16:creationId xmlns:a16="http://schemas.microsoft.com/office/drawing/2014/main" id="{A0B6F538-541A-193F-B6A7-829959C3B622}"/>
              </a:ext>
            </a:extLst>
          </p:cNvPr>
          <p:cNvSpPr/>
          <p:nvPr/>
        </p:nvSpPr>
        <p:spPr>
          <a:xfrm rot="10800000">
            <a:off x="7492752" y="3855383"/>
            <a:ext cx="434678" cy="1287654"/>
          </a:xfrm>
          <a:prstGeom prst="bentUpArrow">
            <a:avLst>
              <a:gd name="adj1" fmla="val 25000"/>
              <a:gd name="adj2" fmla="val 30941"/>
              <a:gd name="adj3" fmla="val 50000"/>
            </a:avLst>
          </a:prstGeom>
          <a:solidFill>
            <a:srgbClr val="0118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4240686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514"/>
                                        </p:tgtEl>
                                        <p:attrNameLst>
                                          <p:attrName>style.visibility</p:attrName>
                                        </p:attrNameLst>
                                      </p:cBhvr>
                                      <p:to>
                                        <p:strVal val="visible"/>
                                      </p:to>
                                    </p:set>
                                    <p:animEffect transition="in" filter="dissolve">
                                      <p:cBhvr>
                                        <p:cTn id="7" dur="500"/>
                                        <p:tgtEl>
                                          <p:spTgt spid="514"/>
                                        </p:tgtEl>
                                      </p:cBhvr>
                                    </p:animEffect>
                                  </p:childTnLst>
                                </p:cTn>
                              </p:par>
                              <p:par>
                                <p:cTn id="8" presetID="9" presetClass="entr" presetSubtype="0" fill="hold" grpId="0" nodeType="withEffect">
                                  <p:stCondLst>
                                    <p:cond delay="0"/>
                                  </p:stCondLst>
                                  <p:childTnLst>
                                    <p:set>
                                      <p:cBhvr>
                                        <p:cTn id="9" dur="1" fill="hold">
                                          <p:stCondLst>
                                            <p:cond delay="0"/>
                                          </p:stCondLst>
                                        </p:cTn>
                                        <p:tgtEl>
                                          <p:spTgt spid="506"/>
                                        </p:tgtEl>
                                        <p:attrNameLst>
                                          <p:attrName>style.visibility</p:attrName>
                                        </p:attrNameLst>
                                      </p:cBhvr>
                                      <p:to>
                                        <p:strVal val="visible"/>
                                      </p:to>
                                    </p:set>
                                    <p:animEffect transition="in" filter="dissolve">
                                      <p:cBhvr>
                                        <p:cTn id="10" dur="500"/>
                                        <p:tgtEl>
                                          <p:spTgt spid="506"/>
                                        </p:tgtEl>
                                      </p:cBhvr>
                                    </p:animEffect>
                                  </p:childTnLst>
                                </p:cTn>
                              </p:par>
                              <p:par>
                                <p:cTn id="11" presetID="9" presetClass="entr" presetSubtype="0" fill="hold" nodeType="withEffect">
                                  <p:stCondLst>
                                    <p:cond delay="0"/>
                                  </p:stCondLst>
                                  <p:childTnLst>
                                    <p:set>
                                      <p:cBhvr>
                                        <p:cTn id="12" dur="1" fill="hold">
                                          <p:stCondLst>
                                            <p:cond delay="0"/>
                                          </p:stCondLst>
                                        </p:cTn>
                                        <p:tgtEl>
                                          <p:spTgt spid="512"/>
                                        </p:tgtEl>
                                        <p:attrNameLst>
                                          <p:attrName>style.visibility</p:attrName>
                                        </p:attrNameLst>
                                      </p:cBhvr>
                                      <p:to>
                                        <p:strVal val="visible"/>
                                      </p:to>
                                    </p:set>
                                    <p:animEffect transition="in" filter="dissolve">
                                      <p:cBhvr>
                                        <p:cTn id="13" dur="500"/>
                                        <p:tgtEl>
                                          <p:spTgt spid="512"/>
                                        </p:tgtEl>
                                      </p:cBhvr>
                                    </p:animEffect>
                                  </p:childTnLst>
                                </p:cTn>
                              </p:par>
                            </p:childTnLst>
                          </p:cTn>
                        </p:par>
                      </p:childTnLst>
                    </p:cTn>
                  </p:par>
                  <p:par>
                    <p:cTn id="14" fill="hold">
                      <p:stCondLst>
                        <p:cond delay="indefinite"/>
                      </p:stCondLst>
                      <p:childTnLst>
                        <p:par>
                          <p:cTn id="15" fill="hold">
                            <p:stCondLst>
                              <p:cond delay="0"/>
                            </p:stCondLst>
                            <p:childTnLst>
                              <p:par>
                                <p:cTn id="16" presetID="9" presetClass="entr" presetSubtype="0" fill="hold" nodeType="clickEffect">
                                  <p:stCondLst>
                                    <p:cond delay="0"/>
                                  </p:stCondLst>
                                  <p:childTnLst>
                                    <p:set>
                                      <p:cBhvr>
                                        <p:cTn id="17" dur="1" fill="hold">
                                          <p:stCondLst>
                                            <p:cond delay="0"/>
                                          </p:stCondLst>
                                        </p:cTn>
                                        <p:tgtEl>
                                          <p:spTgt spid="515"/>
                                        </p:tgtEl>
                                        <p:attrNameLst>
                                          <p:attrName>style.visibility</p:attrName>
                                        </p:attrNameLst>
                                      </p:cBhvr>
                                      <p:to>
                                        <p:strVal val="visible"/>
                                      </p:to>
                                    </p:set>
                                    <p:animEffect transition="in" filter="dissolve">
                                      <p:cBhvr>
                                        <p:cTn id="18" dur="500"/>
                                        <p:tgtEl>
                                          <p:spTgt spid="515"/>
                                        </p:tgtEl>
                                      </p:cBhvr>
                                    </p:animEffect>
                                  </p:childTnLst>
                                </p:cTn>
                              </p:par>
                              <p:par>
                                <p:cTn id="19" presetID="9" presetClass="entr" presetSubtype="0" fill="hold" grpId="0" nodeType="withEffect">
                                  <p:stCondLst>
                                    <p:cond delay="0"/>
                                  </p:stCondLst>
                                  <p:childTnLst>
                                    <p:set>
                                      <p:cBhvr>
                                        <p:cTn id="20" dur="1" fill="hold">
                                          <p:stCondLst>
                                            <p:cond delay="0"/>
                                          </p:stCondLst>
                                        </p:cTn>
                                        <p:tgtEl>
                                          <p:spTgt spid="507"/>
                                        </p:tgtEl>
                                        <p:attrNameLst>
                                          <p:attrName>style.visibility</p:attrName>
                                        </p:attrNameLst>
                                      </p:cBhvr>
                                      <p:to>
                                        <p:strVal val="visible"/>
                                      </p:to>
                                    </p:set>
                                    <p:animEffect transition="in" filter="dissolve">
                                      <p:cBhvr>
                                        <p:cTn id="21" dur="500"/>
                                        <p:tgtEl>
                                          <p:spTgt spid="507"/>
                                        </p:tgtEl>
                                      </p:cBhvr>
                                    </p:animEffect>
                                  </p:childTnLst>
                                </p:cTn>
                              </p:par>
                              <p:par>
                                <p:cTn id="22" presetID="9" presetClass="entr" presetSubtype="0" fill="hold" nodeType="withEffect">
                                  <p:stCondLst>
                                    <p:cond delay="0"/>
                                  </p:stCondLst>
                                  <p:childTnLst>
                                    <p:set>
                                      <p:cBhvr>
                                        <p:cTn id="23" dur="1" fill="hold">
                                          <p:stCondLst>
                                            <p:cond delay="0"/>
                                          </p:stCondLst>
                                        </p:cTn>
                                        <p:tgtEl>
                                          <p:spTgt spid="513"/>
                                        </p:tgtEl>
                                        <p:attrNameLst>
                                          <p:attrName>style.visibility</p:attrName>
                                        </p:attrNameLst>
                                      </p:cBhvr>
                                      <p:to>
                                        <p:strVal val="visible"/>
                                      </p:to>
                                    </p:set>
                                    <p:animEffect transition="in" filter="dissolve">
                                      <p:cBhvr>
                                        <p:cTn id="24" dur="500"/>
                                        <p:tgtEl>
                                          <p:spTgt spid="513"/>
                                        </p:tgtEl>
                                      </p:cBhvr>
                                    </p:animEffect>
                                  </p:childTnLst>
                                </p:cTn>
                              </p:par>
                            </p:childTnLst>
                          </p:cTn>
                        </p:par>
                      </p:childTnLst>
                    </p:cTn>
                  </p:par>
                  <p:par>
                    <p:cTn id="25" fill="hold">
                      <p:stCondLst>
                        <p:cond delay="indefinite"/>
                      </p:stCondLst>
                      <p:childTnLst>
                        <p:par>
                          <p:cTn id="26" fill="hold">
                            <p:stCondLst>
                              <p:cond delay="0"/>
                            </p:stCondLst>
                            <p:childTnLst>
                              <p:par>
                                <p:cTn id="27" presetID="9" presetClass="entr" presetSubtype="0" fill="hold" nodeType="clickEffect">
                                  <p:stCondLst>
                                    <p:cond delay="0"/>
                                  </p:stCondLst>
                                  <p:childTnLst>
                                    <p:set>
                                      <p:cBhvr>
                                        <p:cTn id="28" dur="1" fill="hold">
                                          <p:stCondLst>
                                            <p:cond delay="0"/>
                                          </p:stCondLst>
                                        </p:cTn>
                                        <p:tgtEl>
                                          <p:spTgt spid="510"/>
                                        </p:tgtEl>
                                        <p:attrNameLst>
                                          <p:attrName>style.visibility</p:attrName>
                                        </p:attrNameLst>
                                      </p:cBhvr>
                                      <p:to>
                                        <p:strVal val="visible"/>
                                      </p:to>
                                    </p:set>
                                    <p:animEffect transition="in" filter="dissolve">
                                      <p:cBhvr>
                                        <p:cTn id="29" dur="500"/>
                                        <p:tgtEl>
                                          <p:spTgt spid="510"/>
                                        </p:tgtEl>
                                      </p:cBhvr>
                                    </p:animEffect>
                                  </p:childTnLst>
                                </p:cTn>
                              </p:par>
                            </p:childTnLst>
                          </p:cTn>
                        </p:par>
                      </p:childTnLst>
                    </p:cTn>
                  </p:par>
                  <p:par>
                    <p:cTn id="30" fill="hold">
                      <p:stCondLst>
                        <p:cond delay="indefinite"/>
                      </p:stCondLst>
                      <p:childTnLst>
                        <p:par>
                          <p:cTn id="31" fill="hold">
                            <p:stCondLst>
                              <p:cond delay="0"/>
                            </p:stCondLst>
                            <p:childTnLst>
                              <p:par>
                                <p:cTn id="32" presetID="9" presetClass="entr" presetSubtype="0" fill="hold" grpId="0" nodeType="clickEffect">
                                  <p:stCondLst>
                                    <p:cond delay="0"/>
                                  </p:stCondLst>
                                  <p:childTnLst>
                                    <p:set>
                                      <p:cBhvr>
                                        <p:cTn id="33" dur="1" fill="hold">
                                          <p:stCondLst>
                                            <p:cond delay="0"/>
                                          </p:stCondLst>
                                        </p:cTn>
                                        <p:tgtEl>
                                          <p:spTgt spid="5"/>
                                        </p:tgtEl>
                                        <p:attrNameLst>
                                          <p:attrName>style.visibility</p:attrName>
                                        </p:attrNameLst>
                                      </p:cBhvr>
                                      <p:to>
                                        <p:strVal val="visible"/>
                                      </p:to>
                                    </p:set>
                                    <p:animEffect transition="in" filter="dissolve">
                                      <p:cBhvr>
                                        <p:cTn id="34" dur="500"/>
                                        <p:tgtEl>
                                          <p:spTgt spid="5"/>
                                        </p:tgtEl>
                                      </p:cBhvr>
                                    </p:animEffect>
                                  </p:childTnLst>
                                </p:cTn>
                              </p:par>
                              <p:par>
                                <p:cTn id="35" presetID="9" presetClass="entr" presetSubtype="0" fill="hold" nodeType="withEffect">
                                  <p:stCondLst>
                                    <p:cond delay="0"/>
                                  </p:stCondLst>
                                  <p:childTnLst>
                                    <p:set>
                                      <p:cBhvr>
                                        <p:cTn id="36" dur="1" fill="hold">
                                          <p:stCondLst>
                                            <p:cond delay="0"/>
                                          </p:stCondLst>
                                        </p:cTn>
                                        <p:tgtEl>
                                          <p:spTgt spid="2"/>
                                        </p:tgtEl>
                                        <p:attrNameLst>
                                          <p:attrName>style.visibility</p:attrName>
                                        </p:attrNameLst>
                                      </p:cBhvr>
                                      <p:to>
                                        <p:strVal val="visible"/>
                                      </p:to>
                                    </p:set>
                                    <p:animEffect transition="in" filter="dissolve">
                                      <p:cBhvr>
                                        <p:cTn id="3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6" grpId="0" animBg="1"/>
      <p:bldP spid="507" grpId="0" animBg="1"/>
      <p:bldP spid="5"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9" name="道具その５：ODEsの線形化とヤコビ行列"/>
          <p:cNvSpPr txBox="1">
            <a:spLocks noGrp="1"/>
          </p:cNvSpPr>
          <p:nvPr>
            <p:ph type="title"/>
          </p:nvPr>
        </p:nvSpPr>
        <p:spPr>
          <a:prstGeom prst="rect">
            <a:avLst/>
          </a:prstGeom>
        </p:spPr>
        <p:txBody>
          <a:bodyPr/>
          <a:lstStyle>
            <a:lvl1pPr>
              <a:defRPr sz="3000"/>
            </a:lvl1pPr>
          </a:lstStyle>
          <a:p>
            <a:r>
              <a:rPr lang="ja-JP" altLang="en-US"/>
              <a:t>もう少し詳しく</a:t>
            </a:r>
            <a:r>
              <a:rPr dirty="0"/>
              <a:t>：</a:t>
            </a:r>
            <a:r>
              <a:rPr dirty="0" err="1"/>
              <a:t>ODEの線形化とヤコビ行列</a:t>
            </a:r>
            <a:endParaRPr dirty="0"/>
          </a:p>
        </p:txBody>
      </p:sp>
      <p:sp>
        <p:nvSpPr>
          <p:cNvPr id="605" name="ヤコビ行列…"/>
          <p:cNvSpPr txBox="1">
            <a:spLocks noGrp="1"/>
          </p:cNvSpPr>
          <p:nvPr>
            <p:ph type="body" sz="quarter" idx="4294967295"/>
          </p:nvPr>
        </p:nvSpPr>
        <p:spPr>
          <a:xfrm>
            <a:off x="0" y="1600200"/>
            <a:ext cx="6829407" cy="1511300"/>
          </a:xfrm>
          <a:prstGeom prst="rect">
            <a:avLst/>
          </a:prstGeom>
        </p:spPr>
        <p:txBody>
          <a:bodyPr>
            <a:normAutofit/>
          </a:bodyPr>
          <a:lstStyle>
            <a:lvl1pPr marL="989330" indent="-728979" defTabSz="333247">
              <a:spcBef>
                <a:spcPts val="1300"/>
              </a:spcBef>
              <a:defRPr sz="2296"/>
            </a:lvl1pPr>
            <a:lvl2pPr marL="1327784" indent="-702944" defTabSz="333247">
              <a:spcBef>
                <a:spcPts val="1300"/>
              </a:spcBef>
              <a:defRPr sz="1968"/>
            </a:lvl2pPr>
          </a:lstStyle>
          <a:p>
            <a:r>
              <a:rPr dirty="0" err="1"/>
              <a:t>ヤコビ行列</a:t>
            </a:r>
            <a:endParaRPr dirty="0"/>
          </a:p>
          <a:p>
            <a:pPr lvl="1"/>
            <a:r>
              <a:rPr dirty="0"/>
              <a:t>固定点近傍で展開したテイラー級数の1次の項</a:t>
            </a:r>
            <a:r>
              <a:rPr lang="ja-JP" altLang="en-US"/>
              <a:t>とも言える</a:t>
            </a:r>
            <a:endParaRPr dirty="0"/>
          </a:p>
        </p:txBody>
      </p:sp>
      <p:pic>
        <p:nvPicPr>
          <p:cNvPr id="606" name="droppedImage.pdf" descr="droppedImage.pdf"/>
          <p:cNvPicPr>
            <a:picLocks noChangeAspect="1"/>
          </p:cNvPicPr>
          <p:nvPr/>
        </p:nvPicPr>
        <p:blipFill>
          <a:blip r:embed="rId2"/>
          <a:stretch>
            <a:fillRect/>
          </a:stretch>
        </p:blipFill>
        <p:spPr>
          <a:xfrm>
            <a:off x="7886602" y="1433074"/>
            <a:ext cx="3100822" cy="1482112"/>
          </a:xfrm>
          <a:prstGeom prst="rect">
            <a:avLst/>
          </a:prstGeom>
          <a:ln w="12700">
            <a:miter lim="400000"/>
          </a:ln>
        </p:spPr>
      </p:pic>
      <p:pic>
        <p:nvPicPr>
          <p:cNvPr id="607" name="droppedImage.pdf" descr="droppedImage.pdf"/>
          <p:cNvPicPr>
            <a:picLocks noChangeAspect="1"/>
          </p:cNvPicPr>
          <p:nvPr/>
        </p:nvPicPr>
        <p:blipFill>
          <a:blip r:embed="rId3"/>
          <a:stretch>
            <a:fillRect/>
          </a:stretch>
        </p:blipFill>
        <p:spPr>
          <a:xfrm>
            <a:off x="7124700" y="3314700"/>
            <a:ext cx="3395456" cy="685800"/>
          </a:xfrm>
          <a:prstGeom prst="rect">
            <a:avLst/>
          </a:prstGeom>
          <a:ln w="12700">
            <a:miter lim="400000"/>
          </a:ln>
        </p:spPr>
      </p:pic>
      <p:pic>
        <p:nvPicPr>
          <p:cNvPr id="608" name="droppedImage.pdf" descr="droppedImage.pdf"/>
          <p:cNvPicPr>
            <a:picLocks noChangeAspect="1"/>
          </p:cNvPicPr>
          <p:nvPr/>
        </p:nvPicPr>
        <p:blipFill>
          <a:blip r:embed="rId4"/>
          <a:stretch>
            <a:fillRect/>
          </a:stretch>
        </p:blipFill>
        <p:spPr>
          <a:xfrm>
            <a:off x="1727201" y="3327401"/>
            <a:ext cx="5283201" cy="660401"/>
          </a:xfrm>
          <a:prstGeom prst="rect">
            <a:avLst/>
          </a:prstGeom>
          <a:ln w="12700">
            <a:miter lim="400000"/>
          </a:ln>
        </p:spPr>
      </p:pic>
      <p:pic>
        <p:nvPicPr>
          <p:cNvPr id="610" name="droppedImage.pdf" descr="droppedImage.pdf"/>
          <p:cNvPicPr>
            <a:picLocks noChangeAspect="1"/>
          </p:cNvPicPr>
          <p:nvPr/>
        </p:nvPicPr>
        <p:blipFill>
          <a:blip r:embed="rId5"/>
          <a:stretch>
            <a:fillRect/>
          </a:stretch>
        </p:blipFill>
        <p:spPr>
          <a:xfrm>
            <a:off x="1739900" y="5422900"/>
            <a:ext cx="2646948" cy="558800"/>
          </a:xfrm>
          <a:prstGeom prst="rect">
            <a:avLst/>
          </a:prstGeom>
          <a:ln w="12700">
            <a:miter lim="400000"/>
          </a:ln>
        </p:spPr>
      </p:pic>
      <p:sp>
        <p:nvSpPr>
          <p:cNvPr id="611" name="線"/>
          <p:cNvSpPr/>
          <p:nvPr/>
        </p:nvSpPr>
        <p:spPr>
          <a:xfrm flipV="1">
            <a:off x="1752600" y="4102098"/>
            <a:ext cx="1358900" cy="2"/>
          </a:xfrm>
          <a:prstGeom prst="line">
            <a:avLst/>
          </a:prstGeom>
          <a:ln w="19050">
            <a:solidFill>
              <a:srgbClr val="000000"/>
            </a:solidFill>
            <a:miter lim="400000"/>
          </a:ln>
        </p:spPr>
        <p:txBody>
          <a:bodyPr lIns="0" tIns="0" rIns="0" bIns="0"/>
          <a:lstStyle/>
          <a:p>
            <a:pPr defTabSz="457200">
              <a:defRPr sz="1200">
                <a:latin typeface="ヒラギノ角ゴ ProN W3"/>
                <a:ea typeface="ヒラギノ角ゴ ProN W3"/>
                <a:cs typeface="ヒラギノ角ゴ ProN W3"/>
                <a:sym typeface="ヒラギノ角ゴ ProN W3"/>
              </a:defRPr>
            </a:pPr>
            <a:endParaRPr sz="1200"/>
          </a:p>
        </p:txBody>
      </p:sp>
      <p:sp>
        <p:nvSpPr>
          <p:cNvPr id="612" name="線"/>
          <p:cNvSpPr/>
          <p:nvPr/>
        </p:nvSpPr>
        <p:spPr>
          <a:xfrm flipV="1">
            <a:off x="2400300" y="4102100"/>
            <a:ext cx="0" cy="1244600"/>
          </a:xfrm>
          <a:prstGeom prst="line">
            <a:avLst/>
          </a:prstGeom>
          <a:ln w="19050">
            <a:solidFill>
              <a:srgbClr val="000000"/>
            </a:solidFill>
            <a:miter lim="400000"/>
            <a:headEnd type="stealth"/>
          </a:ln>
        </p:spPr>
        <p:txBody>
          <a:bodyPr lIns="0" tIns="0" rIns="0" bIns="0"/>
          <a:lstStyle/>
          <a:p>
            <a:pPr defTabSz="457200">
              <a:defRPr sz="1200">
                <a:latin typeface="ヒラギノ角ゴ ProN W3"/>
                <a:ea typeface="ヒラギノ角ゴ ProN W3"/>
                <a:cs typeface="ヒラギノ角ゴ ProN W3"/>
                <a:sym typeface="ヒラギノ角ゴ ProN W3"/>
              </a:defRPr>
            </a:pPr>
            <a:endParaRPr sz="1200"/>
          </a:p>
        </p:txBody>
      </p:sp>
      <p:sp>
        <p:nvSpPr>
          <p:cNvPr id="613" name="線"/>
          <p:cNvSpPr/>
          <p:nvPr/>
        </p:nvSpPr>
        <p:spPr>
          <a:xfrm flipV="1">
            <a:off x="3416300" y="4102100"/>
            <a:ext cx="1358900" cy="2"/>
          </a:xfrm>
          <a:prstGeom prst="line">
            <a:avLst/>
          </a:prstGeom>
          <a:ln w="19050">
            <a:solidFill>
              <a:srgbClr val="000000"/>
            </a:solidFill>
            <a:miter lim="400000"/>
          </a:ln>
        </p:spPr>
        <p:txBody>
          <a:bodyPr lIns="0" tIns="0" rIns="0" bIns="0"/>
          <a:lstStyle/>
          <a:p>
            <a:pPr defTabSz="457200">
              <a:defRPr sz="1200">
                <a:latin typeface="ヒラギノ角ゴ ProN W3"/>
                <a:ea typeface="ヒラギノ角ゴ ProN W3"/>
                <a:cs typeface="ヒラギノ角ゴ ProN W3"/>
                <a:sym typeface="ヒラギノ角ゴ ProN W3"/>
              </a:defRPr>
            </a:pPr>
            <a:endParaRPr sz="1200"/>
          </a:p>
        </p:txBody>
      </p:sp>
      <p:sp>
        <p:nvSpPr>
          <p:cNvPr id="614" name="線"/>
          <p:cNvSpPr/>
          <p:nvPr/>
        </p:nvSpPr>
        <p:spPr>
          <a:xfrm flipV="1">
            <a:off x="4610100" y="4089400"/>
            <a:ext cx="0" cy="736600"/>
          </a:xfrm>
          <a:prstGeom prst="line">
            <a:avLst/>
          </a:prstGeom>
          <a:ln w="19050">
            <a:solidFill>
              <a:srgbClr val="000000"/>
            </a:solidFill>
            <a:miter lim="400000"/>
            <a:headEnd type="stealth"/>
          </a:ln>
        </p:spPr>
        <p:txBody>
          <a:bodyPr lIns="0" tIns="0" rIns="0" bIns="0"/>
          <a:lstStyle/>
          <a:p>
            <a:pPr defTabSz="457200">
              <a:defRPr sz="1200">
                <a:latin typeface="ヒラギノ角ゴ ProN W3"/>
                <a:ea typeface="ヒラギノ角ゴ ProN W3"/>
                <a:cs typeface="ヒラギノ角ゴ ProN W3"/>
                <a:sym typeface="ヒラギノ角ゴ ProN W3"/>
              </a:defRPr>
            </a:pPr>
            <a:endParaRPr sz="1200"/>
          </a:p>
        </p:txBody>
      </p:sp>
      <p:sp>
        <p:nvSpPr>
          <p:cNvPr id="615" name="線"/>
          <p:cNvSpPr/>
          <p:nvPr/>
        </p:nvSpPr>
        <p:spPr>
          <a:xfrm>
            <a:off x="5067300" y="4102101"/>
            <a:ext cx="1219200" cy="8"/>
          </a:xfrm>
          <a:prstGeom prst="line">
            <a:avLst/>
          </a:prstGeom>
          <a:ln w="19050">
            <a:solidFill>
              <a:srgbClr val="000000"/>
            </a:solidFill>
            <a:miter lim="400000"/>
          </a:ln>
        </p:spPr>
        <p:txBody>
          <a:bodyPr lIns="0" tIns="0" rIns="0" bIns="0"/>
          <a:lstStyle/>
          <a:p>
            <a:pPr defTabSz="457200">
              <a:defRPr sz="1200">
                <a:latin typeface="ヒラギノ角ゴ ProN W3"/>
                <a:ea typeface="ヒラギノ角ゴ ProN W3"/>
                <a:cs typeface="ヒラギノ角ゴ ProN W3"/>
                <a:sym typeface="ヒラギノ角ゴ ProN W3"/>
              </a:defRPr>
            </a:pPr>
            <a:endParaRPr sz="1200"/>
          </a:p>
        </p:txBody>
      </p:sp>
      <p:sp>
        <p:nvSpPr>
          <p:cNvPr id="616" name="線"/>
          <p:cNvSpPr/>
          <p:nvPr/>
        </p:nvSpPr>
        <p:spPr>
          <a:xfrm flipV="1">
            <a:off x="5715000" y="4102100"/>
            <a:ext cx="0" cy="736600"/>
          </a:xfrm>
          <a:prstGeom prst="line">
            <a:avLst/>
          </a:prstGeom>
          <a:ln w="19050">
            <a:solidFill>
              <a:srgbClr val="000000"/>
            </a:solidFill>
            <a:miter lim="400000"/>
            <a:headEnd type="stealth"/>
          </a:ln>
        </p:spPr>
        <p:txBody>
          <a:bodyPr lIns="0" tIns="0" rIns="0" bIns="0"/>
          <a:lstStyle/>
          <a:p>
            <a:pPr defTabSz="457200">
              <a:defRPr sz="1200">
                <a:latin typeface="ヒラギノ角ゴ ProN W3"/>
                <a:ea typeface="ヒラギノ角ゴ ProN W3"/>
                <a:cs typeface="ヒラギノ角ゴ ProN W3"/>
                <a:sym typeface="ヒラギノ角ゴ ProN W3"/>
              </a:defRPr>
            </a:pPr>
            <a:endParaRPr sz="1200"/>
          </a:p>
        </p:txBody>
      </p:sp>
      <p:sp>
        <p:nvSpPr>
          <p:cNvPr id="617" name="線"/>
          <p:cNvSpPr/>
          <p:nvPr/>
        </p:nvSpPr>
        <p:spPr>
          <a:xfrm flipV="1">
            <a:off x="6426200" y="4102098"/>
            <a:ext cx="558800" cy="2"/>
          </a:xfrm>
          <a:prstGeom prst="line">
            <a:avLst/>
          </a:prstGeom>
          <a:ln w="19050">
            <a:solidFill>
              <a:srgbClr val="000000"/>
            </a:solidFill>
            <a:miter lim="400000"/>
          </a:ln>
        </p:spPr>
        <p:txBody>
          <a:bodyPr lIns="0" tIns="0" rIns="0" bIns="0"/>
          <a:lstStyle/>
          <a:p>
            <a:pPr defTabSz="457200">
              <a:defRPr sz="1200">
                <a:latin typeface="ヒラギノ角ゴ ProN W3"/>
                <a:ea typeface="ヒラギノ角ゴ ProN W3"/>
                <a:cs typeface="ヒラギノ角ゴ ProN W3"/>
                <a:sym typeface="ヒラギノ角ゴ ProN W3"/>
              </a:defRPr>
            </a:pPr>
            <a:endParaRPr sz="1200"/>
          </a:p>
        </p:txBody>
      </p:sp>
      <p:sp>
        <p:nvSpPr>
          <p:cNvPr id="618" name="線"/>
          <p:cNvSpPr/>
          <p:nvPr/>
        </p:nvSpPr>
        <p:spPr>
          <a:xfrm flipV="1">
            <a:off x="6718300" y="4102100"/>
            <a:ext cx="0" cy="736600"/>
          </a:xfrm>
          <a:prstGeom prst="line">
            <a:avLst/>
          </a:prstGeom>
          <a:ln w="19050">
            <a:solidFill>
              <a:srgbClr val="000000"/>
            </a:solidFill>
            <a:miter lim="400000"/>
            <a:headEnd type="stealth"/>
          </a:ln>
        </p:spPr>
        <p:txBody>
          <a:bodyPr lIns="0" tIns="0" rIns="0" bIns="0"/>
          <a:lstStyle/>
          <a:p>
            <a:pPr defTabSz="457200">
              <a:defRPr sz="1200">
                <a:latin typeface="ヒラギノ角ゴ ProN W3"/>
                <a:ea typeface="ヒラギノ角ゴ ProN W3"/>
                <a:cs typeface="ヒラギノ角ゴ ProN W3"/>
                <a:sym typeface="ヒラギノ角ゴ ProN W3"/>
              </a:defRPr>
            </a:pPr>
            <a:endParaRPr sz="1200"/>
          </a:p>
        </p:txBody>
      </p:sp>
      <p:sp>
        <p:nvSpPr>
          <p:cNvPr id="619" name="線"/>
          <p:cNvSpPr/>
          <p:nvPr/>
        </p:nvSpPr>
        <p:spPr>
          <a:xfrm flipV="1">
            <a:off x="7315200" y="4114785"/>
            <a:ext cx="3263900" cy="17"/>
          </a:xfrm>
          <a:prstGeom prst="line">
            <a:avLst/>
          </a:prstGeom>
          <a:ln w="19050">
            <a:solidFill>
              <a:srgbClr val="000000"/>
            </a:solidFill>
            <a:miter lim="400000"/>
          </a:ln>
        </p:spPr>
        <p:txBody>
          <a:bodyPr lIns="0" tIns="0" rIns="0" bIns="0"/>
          <a:lstStyle/>
          <a:p>
            <a:pPr defTabSz="457200">
              <a:defRPr sz="1200">
                <a:latin typeface="ヒラギノ角ゴ ProN W3"/>
                <a:ea typeface="ヒラギノ角ゴ ProN W3"/>
                <a:cs typeface="ヒラギノ角ゴ ProN W3"/>
                <a:sym typeface="ヒラギノ角ゴ ProN W3"/>
              </a:defRPr>
            </a:pPr>
            <a:endParaRPr sz="1200"/>
          </a:p>
        </p:txBody>
      </p:sp>
      <p:sp>
        <p:nvSpPr>
          <p:cNvPr id="620" name="線"/>
          <p:cNvSpPr/>
          <p:nvPr/>
        </p:nvSpPr>
        <p:spPr>
          <a:xfrm flipV="1">
            <a:off x="8991600" y="4114800"/>
            <a:ext cx="0" cy="736600"/>
          </a:xfrm>
          <a:prstGeom prst="line">
            <a:avLst/>
          </a:prstGeom>
          <a:ln w="19050">
            <a:solidFill>
              <a:srgbClr val="000000"/>
            </a:solidFill>
            <a:miter lim="400000"/>
            <a:headEnd type="stealth"/>
          </a:ln>
        </p:spPr>
        <p:txBody>
          <a:bodyPr lIns="0" tIns="0" rIns="0" bIns="0"/>
          <a:lstStyle/>
          <a:p>
            <a:pPr defTabSz="457200">
              <a:defRPr sz="1200">
                <a:latin typeface="ヒラギノ角ゴ ProN W3"/>
                <a:ea typeface="ヒラギノ角ゴ ProN W3"/>
                <a:cs typeface="ヒラギノ角ゴ ProN W3"/>
                <a:sym typeface="ヒラギノ角ゴ ProN W3"/>
              </a:defRPr>
            </a:pPr>
            <a:endParaRPr sz="1200"/>
          </a:p>
        </p:txBody>
      </p:sp>
      <p:sp>
        <p:nvSpPr>
          <p:cNvPr id="621" name="= 0"/>
          <p:cNvSpPr/>
          <p:nvPr/>
        </p:nvSpPr>
        <p:spPr>
          <a:xfrm>
            <a:off x="4442009" y="4902905"/>
            <a:ext cx="405560" cy="37959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lvl1pPr>
              <a:defRPr>
                <a:latin typeface="Times New Roman"/>
                <a:ea typeface="Times New Roman"/>
                <a:cs typeface="Times New Roman"/>
                <a:sym typeface="Times New Roman"/>
              </a:defRPr>
            </a:lvl1pPr>
          </a:lstStyle>
          <a:p>
            <a:r>
              <a:t>= 0</a:t>
            </a:r>
          </a:p>
        </p:txBody>
      </p:sp>
      <p:sp>
        <p:nvSpPr>
          <p:cNvPr id="622" name="J"/>
          <p:cNvSpPr/>
          <p:nvPr/>
        </p:nvSpPr>
        <p:spPr>
          <a:xfrm>
            <a:off x="5567622" y="4921955"/>
            <a:ext cx="218008" cy="37959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lvl1pPr>
              <a:defRPr b="1">
                <a:latin typeface="Times New Roman"/>
                <a:ea typeface="Times New Roman"/>
                <a:cs typeface="Times New Roman"/>
                <a:sym typeface="Times New Roman"/>
              </a:defRPr>
            </a:lvl1pPr>
          </a:lstStyle>
          <a:p>
            <a:r>
              <a:t>J</a:t>
            </a:r>
          </a:p>
        </p:txBody>
      </p:sp>
      <p:sp>
        <p:nvSpPr>
          <p:cNvPr id="623" name="Δx"/>
          <p:cNvSpPr/>
          <p:nvPr/>
        </p:nvSpPr>
        <p:spPr>
          <a:xfrm>
            <a:off x="6467128" y="4921955"/>
            <a:ext cx="362279" cy="37959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lvl1pPr>
              <a:defRPr b="1">
                <a:latin typeface="Times New Roman"/>
                <a:ea typeface="Times New Roman"/>
                <a:cs typeface="Times New Roman"/>
                <a:sym typeface="Times New Roman"/>
              </a:defRPr>
            </a:lvl1pPr>
          </a:lstStyle>
          <a:p>
            <a:r>
              <a:t>Δx</a:t>
            </a:r>
          </a:p>
        </p:txBody>
      </p:sp>
      <p:sp>
        <p:nvSpPr>
          <p:cNvPr id="624" name="(very small qty)2 = 0"/>
          <p:cNvSpPr/>
          <p:nvPr/>
        </p:nvSpPr>
        <p:spPr>
          <a:xfrm>
            <a:off x="7422038" y="4909255"/>
            <a:ext cx="2014975" cy="37959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p>
            <a:pPr>
              <a:defRPr>
                <a:latin typeface="Times New Roman"/>
                <a:ea typeface="Times New Roman"/>
                <a:cs typeface="Times New Roman"/>
                <a:sym typeface="Times New Roman"/>
              </a:defRPr>
            </a:pPr>
            <a:r>
              <a:t>(very small qty)</a:t>
            </a:r>
            <a:r>
              <a:rPr baseline="31999"/>
              <a:t>2</a:t>
            </a:r>
            <a:r>
              <a:t> = 0</a:t>
            </a:r>
          </a:p>
        </p:txBody>
      </p:sp>
      <p:pic>
        <p:nvPicPr>
          <p:cNvPr id="625" name="droppedImage.pdf" descr="droppedImage.pdf"/>
          <p:cNvPicPr>
            <a:picLocks noChangeAspect="1"/>
          </p:cNvPicPr>
          <p:nvPr/>
        </p:nvPicPr>
        <p:blipFill>
          <a:blip r:embed="rId6"/>
          <a:stretch>
            <a:fillRect/>
          </a:stretch>
        </p:blipFill>
        <p:spPr>
          <a:xfrm>
            <a:off x="4991100" y="5688360"/>
            <a:ext cx="2552700" cy="788640"/>
          </a:xfrm>
          <a:prstGeom prst="rect">
            <a:avLst/>
          </a:prstGeom>
          <a:ln w="12700">
            <a:miter lim="400000"/>
          </a:ln>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27" name="droppedImage.pdf" descr="droppedImage.pdf"/>
          <p:cNvPicPr>
            <a:picLocks noChangeAspect="1"/>
          </p:cNvPicPr>
          <p:nvPr/>
        </p:nvPicPr>
        <p:blipFill>
          <a:blip r:embed="rId2"/>
          <a:stretch>
            <a:fillRect/>
          </a:stretch>
        </p:blipFill>
        <p:spPr>
          <a:xfrm>
            <a:off x="7102824" y="5023672"/>
            <a:ext cx="4891953" cy="1003301"/>
          </a:xfrm>
          <a:prstGeom prst="rect">
            <a:avLst/>
          </a:prstGeom>
          <a:ln w="12700">
            <a:miter lim="400000"/>
          </a:ln>
        </p:spPr>
      </p:pic>
      <p:pic>
        <p:nvPicPr>
          <p:cNvPr id="628" name="droppedImage.pdf" descr="droppedImage.pdf"/>
          <p:cNvPicPr>
            <a:picLocks noChangeAspect="1"/>
          </p:cNvPicPr>
          <p:nvPr/>
        </p:nvPicPr>
        <p:blipFill>
          <a:blip r:embed="rId3"/>
          <a:stretch>
            <a:fillRect/>
          </a:stretch>
        </p:blipFill>
        <p:spPr>
          <a:xfrm>
            <a:off x="1528022" y="5116010"/>
            <a:ext cx="4333363" cy="1275142"/>
          </a:xfrm>
          <a:prstGeom prst="rect">
            <a:avLst/>
          </a:prstGeom>
          <a:ln w="12700">
            <a:miter lim="400000"/>
          </a:ln>
        </p:spPr>
      </p:pic>
      <p:sp>
        <p:nvSpPr>
          <p:cNvPr id="632" name="ODEsの線形化"/>
          <p:cNvSpPr txBox="1">
            <a:spLocks noGrp="1"/>
          </p:cNvSpPr>
          <p:nvPr>
            <p:ph type="title"/>
          </p:nvPr>
        </p:nvSpPr>
        <p:spPr>
          <a:prstGeom prst="rect">
            <a:avLst/>
          </a:prstGeom>
        </p:spPr>
        <p:txBody>
          <a:bodyPr/>
          <a:lstStyle/>
          <a:p>
            <a:r>
              <a:rPr lang="ja-JP" altLang="en-US"/>
              <a:t>線形化した</a:t>
            </a:r>
            <a:r>
              <a:rPr lang="en-US" altLang="ja-JP" dirty="0"/>
              <a:t>ODE</a:t>
            </a:r>
            <a:r>
              <a:rPr lang="ja-JP" altLang="en-US"/>
              <a:t>の解は行列指数関数になる</a:t>
            </a:r>
            <a:endParaRPr dirty="0"/>
          </a:p>
        </p:txBody>
      </p:sp>
      <p:sp>
        <p:nvSpPr>
          <p:cNvPr id="629" name="ヤコビ行列…"/>
          <p:cNvSpPr txBox="1">
            <a:spLocks noGrp="1"/>
          </p:cNvSpPr>
          <p:nvPr>
            <p:ph type="body" sz="half" idx="4294967295"/>
          </p:nvPr>
        </p:nvSpPr>
        <p:spPr>
          <a:xfrm>
            <a:off x="1143001" y="1435406"/>
            <a:ext cx="5359400" cy="3505200"/>
          </a:xfrm>
          <a:prstGeom prst="rect">
            <a:avLst/>
          </a:prstGeom>
        </p:spPr>
        <p:txBody>
          <a:bodyPr>
            <a:noAutofit/>
          </a:bodyPr>
          <a:lstStyle/>
          <a:p>
            <a:pPr marL="820419" indent="-604520" defTabSz="276352">
              <a:spcBef>
                <a:spcPts val="1100"/>
              </a:spcBef>
              <a:defRPr sz="1904"/>
            </a:pPr>
            <a:r>
              <a:rPr sz="2400" dirty="0" err="1"/>
              <a:t>ヤコビ行列</a:t>
            </a:r>
            <a:endParaRPr sz="2400" dirty="0"/>
          </a:p>
          <a:p>
            <a:pPr marL="1101090" lvl="1" indent="-582930" defTabSz="276352">
              <a:spcBef>
                <a:spcPts val="1100"/>
              </a:spcBef>
              <a:defRPr sz="1632"/>
            </a:pPr>
            <a:r>
              <a:rPr sz="2400" dirty="0" err="1"/>
              <a:t>テイラー展開</a:t>
            </a:r>
            <a:endParaRPr sz="2400" dirty="0"/>
          </a:p>
          <a:p>
            <a:pPr marL="1101090" lvl="1" indent="-582930" defTabSz="276352">
              <a:spcBef>
                <a:spcPts val="1100"/>
              </a:spcBef>
              <a:defRPr sz="1632"/>
            </a:pPr>
            <a:r>
              <a:rPr sz="2400" dirty="0"/>
              <a:t>ODEの１次近似</a:t>
            </a:r>
          </a:p>
          <a:p>
            <a:pPr marL="1101090" lvl="1" indent="-582930" defTabSz="276352">
              <a:spcBef>
                <a:spcPts val="1100"/>
              </a:spcBef>
              <a:defRPr sz="1632"/>
            </a:pPr>
            <a:endParaRPr sz="2400" dirty="0"/>
          </a:p>
          <a:p>
            <a:pPr marL="820419" indent="-604520" defTabSz="276352">
              <a:spcBef>
                <a:spcPts val="1100"/>
              </a:spcBef>
              <a:defRPr sz="1904"/>
            </a:pPr>
            <a:r>
              <a:rPr sz="2400" dirty="0" err="1"/>
              <a:t>行列指数関数</a:t>
            </a:r>
            <a:endParaRPr sz="2400" dirty="0"/>
          </a:p>
          <a:p>
            <a:pPr marL="1101090" lvl="1" indent="-582930" defTabSz="276352">
              <a:spcBef>
                <a:spcPts val="1100"/>
              </a:spcBef>
              <a:defRPr sz="1632"/>
            </a:pPr>
            <a:r>
              <a:rPr sz="2400" dirty="0"/>
              <a:t>１次近似したODEの解</a:t>
            </a:r>
            <a:endParaRPr lang="en-US" sz="2400" dirty="0"/>
          </a:p>
          <a:p>
            <a:pPr marL="1101090" lvl="1" indent="-582930" defTabSz="276352">
              <a:spcBef>
                <a:spcPts val="1100"/>
              </a:spcBef>
              <a:defRPr sz="1632"/>
            </a:pPr>
            <a:r>
              <a:rPr lang="ja-JP" altLang="en-US" sz="2400"/>
              <a:t>固定点の近くならよい近似</a:t>
            </a:r>
            <a:endParaRPr sz="2400" dirty="0"/>
          </a:p>
        </p:txBody>
      </p:sp>
      <p:pic>
        <p:nvPicPr>
          <p:cNvPr id="630" name="droppedImage.pdf" descr="droppedImage.pdf"/>
          <p:cNvPicPr>
            <a:picLocks noChangeAspect="1"/>
          </p:cNvPicPr>
          <p:nvPr/>
        </p:nvPicPr>
        <p:blipFill>
          <a:blip r:embed="rId4"/>
          <a:stretch>
            <a:fillRect/>
          </a:stretch>
        </p:blipFill>
        <p:spPr>
          <a:xfrm>
            <a:off x="7367029" y="1476109"/>
            <a:ext cx="3214833" cy="1536606"/>
          </a:xfrm>
          <a:prstGeom prst="rect">
            <a:avLst/>
          </a:prstGeom>
          <a:ln w="12700">
            <a:miter lim="400000"/>
          </a:ln>
        </p:spPr>
      </p:pic>
      <p:pic>
        <p:nvPicPr>
          <p:cNvPr id="631" name="droppedImage.pdf" descr="droppedImage.pdf"/>
          <p:cNvPicPr>
            <a:picLocks noChangeAspect="1"/>
          </p:cNvPicPr>
          <p:nvPr/>
        </p:nvPicPr>
        <p:blipFill>
          <a:blip r:embed="rId5"/>
          <a:stretch>
            <a:fillRect/>
          </a:stretch>
        </p:blipFill>
        <p:spPr>
          <a:xfrm>
            <a:off x="8179595" y="3621172"/>
            <a:ext cx="1460501" cy="533646"/>
          </a:xfrm>
          <a:prstGeom prst="rect">
            <a:avLst/>
          </a:prstGeom>
          <a:ln w="12700">
            <a:miter lim="400000"/>
          </a:ln>
        </p:spPr>
      </p:pic>
      <p:sp>
        <p:nvSpPr>
          <p:cNvPr id="2" name="三角形 1">
            <a:extLst>
              <a:ext uri="{FF2B5EF4-FFF2-40B4-BE49-F238E27FC236}">
                <a16:creationId xmlns:a16="http://schemas.microsoft.com/office/drawing/2014/main" id="{C28F5851-F92C-FCDB-AAAD-EDDF7FB9DDF7}"/>
              </a:ext>
            </a:extLst>
          </p:cNvPr>
          <p:cNvSpPr/>
          <p:nvPr/>
        </p:nvSpPr>
        <p:spPr>
          <a:xfrm rot="10800000">
            <a:off x="8664167" y="3231956"/>
            <a:ext cx="620560" cy="232086"/>
          </a:xfrm>
          <a:prstGeom prst="triangle">
            <a:avLst/>
          </a:prstGeom>
          <a:solidFill>
            <a:srgbClr val="0118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ja-JP" altLang="en-US"/>
          </a:p>
        </p:txBody>
      </p:sp>
      <p:sp>
        <p:nvSpPr>
          <p:cNvPr id="3" name="三角形 2">
            <a:extLst>
              <a:ext uri="{FF2B5EF4-FFF2-40B4-BE49-F238E27FC236}">
                <a16:creationId xmlns:a16="http://schemas.microsoft.com/office/drawing/2014/main" id="{F3F5F9B5-53A5-09BD-C8AC-658DE3A38D13}"/>
              </a:ext>
            </a:extLst>
          </p:cNvPr>
          <p:cNvSpPr/>
          <p:nvPr/>
        </p:nvSpPr>
        <p:spPr>
          <a:xfrm rot="10800000">
            <a:off x="8664166" y="4394008"/>
            <a:ext cx="620560" cy="232086"/>
          </a:xfrm>
          <a:prstGeom prst="triangle">
            <a:avLst/>
          </a:prstGeom>
          <a:solidFill>
            <a:srgbClr val="0118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ja-JP" altLang="en-US"/>
          </a:p>
        </p:txBody>
      </p:sp>
      <p:sp>
        <p:nvSpPr>
          <p:cNvPr id="4" name="x(TMG)">
            <a:extLst>
              <a:ext uri="{FF2B5EF4-FFF2-40B4-BE49-F238E27FC236}">
                <a16:creationId xmlns:a16="http://schemas.microsoft.com/office/drawing/2014/main" id="{2ECA5663-732E-C30B-B708-76E8F5938646}"/>
              </a:ext>
            </a:extLst>
          </p:cNvPr>
          <p:cNvSpPr/>
          <p:nvPr/>
        </p:nvSpPr>
        <p:spPr>
          <a:xfrm>
            <a:off x="6237779" y="6188588"/>
            <a:ext cx="6152607" cy="47192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anchor="ctr">
            <a:spAutoFit/>
          </a:bodyPr>
          <a:lstStyle/>
          <a:p>
            <a:pPr>
              <a:spcBef>
                <a:spcPts val="1700"/>
              </a:spcBef>
              <a:defRPr sz="2400"/>
            </a:pPr>
            <a:r>
              <a:rPr lang="en-US" altLang="ja-JP" sz="2400" dirty="0">
                <a:latin typeface="Times New Roman"/>
                <a:cs typeface="Times New Roman"/>
                <a:sym typeface="Times New Roman"/>
              </a:rPr>
              <a:t>v</a:t>
            </a:r>
            <a:r>
              <a:rPr lang="en-US" altLang="ja-JP" sz="2400" baseline="-25000" dirty="0">
                <a:latin typeface="Times New Roman"/>
                <a:cs typeface="Times New Roman"/>
                <a:sym typeface="Times New Roman"/>
              </a:rPr>
              <a:t>1</a:t>
            </a:r>
            <a:r>
              <a:rPr lang="ja-JP" altLang="en-US" sz="2400">
                <a:latin typeface="Times New Roman"/>
                <a:cs typeface="Times New Roman"/>
                <a:sym typeface="Times New Roman"/>
              </a:rPr>
              <a:t>･･･</a:t>
            </a:r>
            <a:r>
              <a:rPr lang="en-US" altLang="ja-JP" sz="2400" dirty="0" err="1">
                <a:latin typeface="Times New Roman"/>
                <a:cs typeface="Times New Roman"/>
                <a:sym typeface="Times New Roman"/>
              </a:rPr>
              <a:t>v</a:t>
            </a:r>
            <a:r>
              <a:rPr lang="en-US" altLang="ja-JP" sz="2400" baseline="-25000" dirty="0" err="1">
                <a:latin typeface="Times New Roman"/>
                <a:cs typeface="Times New Roman"/>
                <a:sym typeface="Times New Roman"/>
              </a:rPr>
              <a:t>n</a:t>
            </a:r>
            <a:r>
              <a:rPr lang="en-US" altLang="ja-JP" sz="2400" baseline="-25000" dirty="0">
                <a:latin typeface="Times New Roman"/>
                <a:cs typeface="Times New Roman"/>
                <a:sym typeface="Times New Roman"/>
              </a:rPr>
              <a:t> </a:t>
            </a:r>
            <a:r>
              <a:rPr lang="ja-JP" altLang="en-US" sz="2400">
                <a:latin typeface="Times New Roman"/>
                <a:cs typeface="Times New Roman"/>
                <a:sym typeface="Times New Roman"/>
              </a:rPr>
              <a:t>は</a:t>
            </a:r>
            <a:r>
              <a:rPr lang="en-US" altLang="ja-JP" sz="2400" dirty="0">
                <a:latin typeface="Times New Roman"/>
                <a:cs typeface="Times New Roman"/>
                <a:sym typeface="Times New Roman"/>
              </a:rPr>
              <a:t> λ</a:t>
            </a:r>
            <a:r>
              <a:rPr lang="en-US" altLang="ja-JP" sz="2400" baseline="-25000" dirty="0">
                <a:latin typeface="Times New Roman"/>
                <a:cs typeface="Times New Roman"/>
                <a:sym typeface="Times New Roman"/>
              </a:rPr>
              <a:t>1</a:t>
            </a:r>
            <a:r>
              <a:rPr lang="ja-JP" altLang="en-US" sz="2400">
                <a:latin typeface="Times New Roman"/>
                <a:cs typeface="Times New Roman"/>
                <a:sym typeface="Times New Roman"/>
              </a:rPr>
              <a:t>･･･</a:t>
            </a:r>
            <a:r>
              <a:rPr lang="en-US" altLang="ja-JP" sz="2400" dirty="0" err="1">
                <a:latin typeface="Times New Roman"/>
                <a:cs typeface="Times New Roman"/>
                <a:sym typeface="Times New Roman"/>
              </a:rPr>
              <a:t>λ</a:t>
            </a:r>
            <a:r>
              <a:rPr lang="en-US" altLang="ja-JP" sz="2400" baseline="-25000" dirty="0" err="1">
                <a:latin typeface="Times New Roman"/>
                <a:cs typeface="Times New Roman"/>
                <a:sym typeface="Times New Roman"/>
              </a:rPr>
              <a:t>n</a:t>
            </a:r>
            <a:r>
              <a:rPr lang="en-US" altLang="ja-JP" sz="2400" baseline="-25000" dirty="0">
                <a:latin typeface="Times New Roman"/>
                <a:cs typeface="Times New Roman"/>
                <a:sym typeface="Times New Roman"/>
              </a:rPr>
              <a:t> </a:t>
            </a:r>
            <a:r>
              <a:rPr lang="ja-JP" altLang="en-US" sz="2400">
                <a:latin typeface="Times New Roman"/>
                <a:cs typeface="Times New Roman"/>
                <a:sym typeface="Times New Roman"/>
              </a:rPr>
              <a:t>に対応する固有ベクトル</a:t>
            </a:r>
            <a:endParaRPr lang="en-US" altLang="ja-JP" sz="24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4" name="前回の復習：MATLABで線形化"/>
          <p:cNvSpPr txBox="1">
            <a:spLocks noGrp="1"/>
          </p:cNvSpPr>
          <p:nvPr>
            <p:ph type="title"/>
          </p:nvPr>
        </p:nvSpPr>
        <p:spPr>
          <a:prstGeom prst="rect">
            <a:avLst/>
          </a:prstGeom>
        </p:spPr>
        <p:txBody>
          <a:bodyPr/>
          <a:lstStyle/>
          <a:p>
            <a:r>
              <a:rPr lang="en-US" dirty="0" err="1"/>
              <a:t>SymPyを用いて線</a:t>
            </a:r>
            <a:r>
              <a:rPr dirty="0" err="1"/>
              <a:t>形化</a:t>
            </a:r>
            <a:endParaRPr dirty="0"/>
          </a:p>
        </p:txBody>
      </p:sp>
      <p:sp>
        <p:nvSpPr>
          <p:cNvPr id="523" name="関数fをｘで偏微分…"/>
          <p:cNvSpPr txBox="1">
            <a:spLocks noGrp="1"/>
          </p:cNvSpPr>
          <p:nvPr>
            <p:ph type="body" idx="4294967295"/>
          </p:nvPr>
        </p:nvSpPr>
        <p:spPr>
          <a:xfrm>
            <a:off x="700088" y="1585913"/>
            <a:ext cx="11122944" cy="4013200"/>
          </a:xfrm>
          <a:prstGeom prst="rect">
            <a:avLst/>
          </a:prstGeom>
        </p:spPr>
        <p:txBody>
          <a:bodyPr>
            <a:normAutofit/>
          </a:bodyPr>
          <a:lstStyle/>
          <a:p>
            <a:pPr marL="383540">
              <a:buClr>
                <a:srgbClr val="000000"/>
              </a:buClr>
              <a:buSzPct val="100000"/>
              <a:buFont typeface="Arial"/>
            </a:pPr>
            <a:r>
              <a:rPr dirty="0" err="1"/>
              <a:t>関数fをｘで偏微分</a:t>
            </a:r>
            <a:r>
              <a:rPr lang="en-US" dirty="0"/>
              <a:t> (</a:t>
            </a:r>
            <a:r>
              <a:rPr lang="en-US" dirty="0" err="1">
                <a:solidFill>
                  <a:srgbClr val="0070C0"/>
                </a:solidFill>
              </a:rPr>
              <a:t>diff</a:t>
            </a:r>
            <a:r>
              <a:rPr lang="en-US" dirty="0" err="1"/>
              <a:t>関数</a:t>
            </a:r>
            <a:r>
              <a:rPr lang="en-US" dirty="0"/>
              <a:t>)</a:t>
            </a:r>
            <a:endParaRPr dirty="0"/>
          </a:p>
          <a:p>
            <a:pPr marL="783590" lvl="1">
              <a:buClr>
                <a:srgbClr val="0085CC"/>
              </a:buClr>
              <a:buNone/>
            </a:pPr>
            <a:r>
              <a:rPr lang="en-US" dirty="0">
                <a:uFill>
                  <a:solidFill>
                    <a:srgbClr val="0085CC"/>
                  </a:solidFill>
                </a:uFill>
                <a:latin typeface="Courier New" panose="02070309020205020404" pitchFamily="49" charset="0"/>
                <a:cs typeface="Courier New" panose="02070309020205020404" pitchFamily="49" charset="0"/>
              </a:rPr>
              <a:t>f = </a:t>
            </a:r>
            <a:r>
              <a:rPr lang="en-GB" altLang="ja-JP" dirty="0">
                <a:latin typeface="Courier New" panose="02070309020205020404" pitchFamily="49" charset="0"/>
                <a:cs typeface="Courier New" panose="02070309020205020404" pitchFamily="49" charset="0"/>
              </a:rPr>
              <a:t>x + a * y + x ** 2 * y</a:t>
            </a:r>
            <a:endParaRPr lang="en-US" dirty="0">
              <a:uFill>
                <a:solidFill>
                  <a:srgbClr val="0085CC"/>
                </a:solidFill>
              </a:uFill>
              <a:latin typeface="Courier New" panose="02070309020205020404" pitchFamily="49" charset="0"/>
              <a:cs typeface="Courier New" panose="02070309020205020404" pitchFamily="49" charset="0"/>
            </a:endParaRPr>
          </a:p>
          <a:p>
            <a:pPr marL="783590" lvl="1">
              <a:buClr>
                <a:srgbClr val="0085CC"/>
              </a:buClr>
              <a:buNone/>
            </a:pPr>
            <a:r>
              <a:rPr lang="en-US" dirty="0" err="1">
                <a:uFill>
                  <a:solidFill>
                    <a:srgbClr val="0085CC"/>
                  </a:solidFill>
                </a:uFill>
                <a:latin typeface="Courier New" panose="02070309020205020404" pitchFamily="49" charset="0"/>
                <a:cs typeface="Courier New" panose="02070309020205020404" pitchFamily="49" charset="0"/>
              </a:rPr>
              <a:t>f.</a:t>
            </a:r>
            <a:r>
              <a:rPr dirty="0" err="1">
                <a:solidFill>
                  <a:srgbClr val="0085CC"/>
                </a:solidFill>
                <a:uFill>
                  <a:solidFill>
                    <a:srgbClr val="0085CC"/>
                  </a:solidFill>
                </a:uFill>
                <a:latin typeface="Courier New" panose="02070309020205020404" pitchFamily="49" charset="0"/>
                <a:cs typeface="Courier New" panose="02070309020205020404" pitchFamily="49" charset="0"/>
              </a:rPr>
              <a:t>diff</a:t>
            </a:r>
            <a:r>
              <a:rPr dirty="0">
                <a:latin typeface="Courier New" panose="02070309020205020404" pitchFamily="49" charset="0"/>
                <a:cs typeface="Courier New" panose="02070309020205020404" pitchFamily="49" charset="0"/>
              </a:rPr>
              <a:t>(</a:t>
            </a:r>
            <a:r>
              <a:rPr lang="en-US" dirty="0">
                <a:latin typeface="Courier New" panose="02070309020205020404" pitchFamily="49" charset="0"/>
                <a:cs typeface="Courier New" panose="02070309020205020404" pitchFamily="49" charset="0"/>
              </a:rPr>
              <a:t> </a:t>
            </a:r>
            <a:r>
              <a:rPr dirty="0">
                <a:latin typeface="Courier New" panose="02070309020205020404" pitchFamily="49" charset="0"/>
                <a:cs typeface="Courier New" panose="02070309020205020404" pitchFamily="49" charset="0"/>
              </a:rPr>
              <a:t>x</a:t>
            </a:r>
            <a:r>
              <a:rPr lang="en-US" dirty="0">
                <a:latin typeface="Courier New" panose="02070309020205020404" pitchFamily="49" charset="0"/>
                <a:cs typeface="Courier New" panose="02070309020205020404" pitchFamily="49" charset="0"/>
              </a:rPr>
              <a:t> </a:t>
            </a:r>
            <a:r>
              <a:rPr dirty="0">
                <a:latin typeface="Courier New" panose="02070309020205020404" pitchFamily="49" charset="0"/>
                <a:cs typeface="Courier New" panose="02070309020205020404" pitchFamily="49" charset="0"/>
              </a:rPr>
              <a:t>)</a:t>
            </a:r>
          </a:p>
          <a:p>
            <a:pPr marL="783590" lvl="1">
              <a:buClr>
                <a:srgbClr val="000000"/>
              </a:buClr>
              <a:buNone/>
            </a:pPr>
            <a:endParaRPr dirty="0"/>
          </a:p>
          <a:p>
            <a:pPr marL="383540">
              <a:buClr>
                <a:srgbClr val="000000"/>
              </a:buClr>
              <a:buSzPct val="100000"/>
              <a:buFont typeface="Arial"/>
            </a:pPr>
            <a:r>
              <a:rPr dirty="0" err="1"/>
              <a:t>計算結果を行列に格納</a:t>
            </a:r>
            <a:r>
              <a:rPr lang="en-US" dirty="0"/>
              <a:t> → </a:t>
            </a:r>
            <a:r>
              <a:rPr lang="en-US" dirty="0" err="1"/>
              <a:t>これが</a:t>
            </a:r>
            <a:r>
              <a:rPr lang="en-US" dirty="0" err="1">
                <a:solidFill>
                  <a:srgbClr val="C00000"/>
                </a:solidFill>
              </a:rPr>
              <a:t>ヤコビ行列</a:t>
            </a:r>
            <a:endParaRPr lang="en-GB" dirty="0">
              <a:solidFill>
                <a:srgbClr val="C00000"/>
              </a:solidFill>
            </a:endParaRPr>
          </a:p>
          <a:p>
            <a:pPr marL="783590" lvl="1">
              <a:buClr>
                <a:srgbClr val="000000"/>
              </a:buClr>
              <a:buNone/>
            </a:pPr>
            <a:r>
              <a:rPr lang="en-GB" sz="2400" dirty="0" err="1">
                <a:latin typeface="Courier New" panose="02070309020205020404" pitchFamily="49" charset="0"/>
                <a:cs typeface="Courier New" panose="02070309020205020404" pitchFamily="49" charset="0"/>
              </a:rPr>
              <a:t>J_sym</a:t>
            </a:r>
            <a:r>
              <a:rPr lang="en-GB" sz="2400" dirty="0">
                <a:latin typeface="Courier New" panose="02070309020205020404" pitchFamily="49" charset="0"/>
                <a:cs typeface="Courier New" panose="02070309020205020404" pitchFamily="49" charset="0"/>
              </a:rPr>
              <a:t> = </a:t>
            </a:r>
            <a:r>
              <a:rPr lang="en-GB" sz="2400" dirty="0" err="1">
                <a:latin typeface="Courier New" panose="02070309020205020404" pitchFamily="49" charset="0"/>
                <a:cs typeface="Courier New" panose="02070309020205020404" pitchFamily="49" charset="0"/>
              </a:rPr>
              <a:t>sp.Matrix</a:t>
            </a:r>
            <a:r>
              <a:rPr lang="en-GB" sz="2400" dirty="0">
                <a:latin typeface="Courier New" panose="02070309020205020404" pitchFamily="49" charset="0"/>
                <a:cs typeface="Courier New" panose="02070309020205020404" pitchFamily="49" charset="0"/>
              </a:rPr>
              <a:t>( [ [ </a:t>
            </a:r>
            <a:r>
              <a:rPr lang="en-GB" sz="2400" dirty="0" err="1">
                <a:latin typeface="Courier New" panose="02070309020205020404" pitchFamily="49" charset="0"/>
                <a:cs typeface="Courier New" panose="02070309020205020404" pitchFamily="49" charset="0"/>
              </a:rPr>
              <a:t>f.diff</a:t>
            </a:r>
            <a:r>
              <a:rPr lang="en-GB" sz="2400" dirty="0">
                <a:latin typeface="Courier New" panose="02070309020205020404" pitchFamily="49" charset="0"/>
                <a:cs typeface="Courier New" panose="02070309020205020404" pitchFamily="49" charset="0"/>
              </a:rPr>
              <a:t>( x ) , </a:t>
            </a:r>
            <a:r>
              <a:rPr lang="en-GB" sz="2400" dirty="0" err="1">
                <a:latin typeface="Courier New" panose="02070309020205020404" pitchFamily="49" charset="0"/>
                <a:cs typeface="Courier New" panose="02070309020205020404" pitchFamily="49" charset="0"/>
              </a:rPr>
              <a:t>f.diff</a:t>
            </a:r>
            <a:r>
              <a:rPr lang="en-GB" sz="2400" dirty="0">
                <a:latin typeface="Courier New" panose="02070309020205020404" pitchFamily="49" charset="0"/>
                <a:cs typeface="Courier New" panose="02070309020205020404" pitchFamily="49" charset="0"/>
              </a:rPr>
              <a:t>( y ) ] , </a:t>
            </a:r>
          </a:p>
          <a:p>
            <a:pPr marL="783590" lvl="1">
              <a:buClr>
                <a:srgbClr val="000000"/>
              </a:buClr>
              <a:buNone/>
            </a:pPr>
            <a:r>
              <a:rPr lang="en-GB" sz="2400" dirty="0">
                <a:latin typeface="Courier New" panose="02070309020205020404" pitchFamily="49" charset="0"/>
                <a:cs typeface="Courier New" panose="02070309020205020404" pitchFamily="49" charset="0"/>
              </a:rPr>
              <a:t>                     [ </a:t>
            </a:r>
            <a:r>
              <a:rPr lang="en-GB" sz="2400" dirty="0" err="1">
                <a:latin typeface="Courier New" panose="02070309020205020404" pitchFamily="49" charset="0"/>
                <a:cs typeface="Courier New" panose="02070309020205020404" pitchFamily="49" charset="0"/>
              </a:rPr>
              <a:t>g.diff</a:t>
            </a:r>
            <a:r>
              <a:rPr lang="en-GB" sz="2400" dirty="0">
                <a:latin typeface="Courier New" panose="02070309020205020404" pitchFamily="49" charset="0"/>
                <a:cs typeface="Courier New" panose="02070309020205020404" pitchFamily="49" charset="0"/>
              </a:rPr>
              <a:t>( x ) , </a:t>
            </a:r>
            <a:r>
              <a:rPr lang="en-GB" sz="2400" dirty="0" err="1">
                <a:latin typeface="Courier New" panose="02070309020205020404" pitchFamily="49" charset="0"/>
                <a:cs typeface="Courier New" panose="02070309020205020404" pitchFamily="49" charset="0"/>
              </a:rPr>
              <a:t>g.diff</a:t>
            </a:r>
            <a:r>
              <a:rPr lang="en-GB" sz="2400" dirty="0">
                <a:latin typeface="Courier New" panose="02070309020205020404" pitchFamily="49" charset="0"/>
                <a:cs typeface="Courier New" panose="02070309020205020404" pitchFamily="49" charset="0"/>
              </a:rPr>
              <a:t>( y ) ] ] )</a:t>
            </a:r>
            <a:endParaRPr sz="2400" dirty="0">
              <a:latin typeface="Courier New" panose="02070309020205020404" pitchFamily="49" charset="0"/>
              <a:cs typeface="Courier New" panose="02070309020205020404" pitchFamily="49" charset="0"/>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1" name="前回の復習：ヤコビ行列の求め方"/>
          <p:cNvSpPr txBox="1">
            <a:spLocks noGrp="1"/>
          </p:cNvSpPr>
          <p:nvPr>
            <p:ph type="title"/>
          </p:nvPr>
        </p:nvSpPr>
        <p:spPr>
          <a:prstGeom prst="rect">
            <a:avLst/>
          </a:prstGeom>
        </p:spPr>
        <p:txBody>
          <a:bodyPr/>
          <a:lstStyle/>
          <a:p>
            <a:r>
              <a:rPr lang="ja-JP" altLang="en-US"/>
              <a:t>文字式に数値を代入する</a:t>
            </a:r>
            <a:endParaRPr dirty="0"/>
          </a:p>
        </p:txBody>
      </p:sp>
      <p:sp>
        <p:nvSpPr>
          <p:cNvPr id="530" name="線形化のコードに付け足す…"/>
          <p:cNvSpPr txBox="1">
            <a:spLocks noGrp="1"/>
          </p:cNvSpPr>
          <p:nvPr>
            <p:ph type="body" idx="4294967295"/>
          </p:nvPr>
        </p:nvSpPr>
        <p:spPr>
          <a:xfrm>
            <a:off x="1085849" y="1657350"/>
            <a:ext cx="10592803" cy="4013200"/>
          </a:xfrm>
          <a:prstGeom prst="rect">
            <a:avLst/>
          </a:prstGeom>
        </p:spPr>
        <p:txBody>
          <a:bodyPr>
            <a:noAutofit/>
          </a:bodyPr>
          <a:lstStyle/>
          <a:p>
            <a:pPr marL="264642" indent="-236600" defTabSz="280415">
              <a:spcBef>
                <a:spcPts val="1100"/>
              </a:spcBef>
              <a:buClr>
                <a:srgbClr val="000000"/>
              </a:buClr>
              <a:buSzPct val="100000"/>
              <a:buFont typeface="Arial"/>
              <a:defRPr sz="1656"/>
            </a:pPr>
            <a:r>
              <a:rPr sz="2400" dirty="0" err="1"/>
              <a:t>式中の記号に数値を代入</a:t>
            </a:r>
            <a:endParaRPr lang="en-US" sz="2400" dirty="0"/>
          </a:p>
          <a:p>
            <a:pPr marL="428092" lvl="1" indent="0" defTabSz="280415">
              <a:spcBef>
                <a:spcPts val="1100"/>
              </a:spcBef>
              <a:buClr>
                <a:srgbClr val="000000"/>
              </a:buClr>
              <a:buSzPct val="100000"/>
              <a:buNone/>
              <a:defRPr sz="1656"/>
            </a:pPr>
            <a:r>
              <a:rPr lang="en-GB" sz="2400" dirty="0" err="1">
                <a:latin typeface="Courier New" panose="02070309020205020404" pitchFamily="49" charset="0"/>
                <a:cs typeface="Courier New" panose="02070309020205020404" pitchFamily="49" charset="0"/>
              </a:rPr>
              <a:t>J_sym</a:t>
            </a:r>
            <a:r>
              <a:rPr lang="en-GB" sz="2400" dirty="0">
                <a:latin typeface="Courier New" panose="02070309020205020404" pitchFamily="49" charset="0"/>
                <a:cs typeface="Courier New" panose="02070309020205020404" pitchFamily="49" charset="0"/>
              </a:rPr>
              <a:t> = </a:t>
            </a:r>
            <a:r>
              <a:rPr lang="en-GB" sz="2400" dirty="0" err="1">
                <a:latin typeface="Courier New" panose="02070309020205020404" pitchFamily="49" charset="0"/>
                <a:cs typeface="Courier New" panose="02070309020205020404" pitchFamily="49" charset="0"/>
              </a:rPr>
              <a:t>sp.Matrix</a:t>
            </a:r>
            <a:r>
              <a:rPr lang="en-GB" sz="2400" dirty="0">
                <a:latin typeface="Courier New" panose="02070309020205020404" pitchFamily="49" charset="0"/>
                <a:cs typeface="Courier New" panose="02070309020205020404" pitchFamily="49" charset="0"/>
              </a:rPr>
              <a:t>( [ [ </a:t>
            </a:r>
            <a:r>
              <a:rPr lang="en-GB" sz="2400" dirty="0" err="1">
                <a:latin typeface="Courier New" panose="02070309020205020404" pitchFamily="49" charset="0"/>
                <a:cs typeface="Courier New" panose="02070309020205020404" pitchFamily="49" charset="0"/>
              </a:rPr>
              <a:t>f.diff</a:t>
            </a:r>
            <a:r>
              <a:rPr lang="en-GB" sz="2400" dirty="0">
                <a:latin typeface="Courier New" panose="02070309020205020404" pitchFamily="49" charset="0"/>
                <a:cs typeface="Courier New" panose="02070309020205020404" pitchFamily="49" charset="0"/>
              </a:rPr>
              <a:t>( x ) , </a:t>
            </a:r>
            <a:r>
              <a:rPr lang="en-GB" sz="2400" dirty="0" err="1">
                <a:latin typeface="Courier New" panose="02070309020205020404" pitchFamily="49" charset="0"/>
                <a:cs typeface="Courier New" panose="02070309020205020404" pitchFamily="49" charset="0"/>
              </a:rPr>
              <a:t>f.diff</a:t>
            </a:r>
            <a:r>
              <a:rPr lang="en-GB" sz="2400" dirty="0">
                <a:latin typeface="Courier New" panose="02070309020205020404" pitchFamily="49" charset="0"/>
                <a:cs typeface="Courier New" panose="02070309020205020404" pitchFamily="49" charset="0"/>
              </a:rPr>
              <a:t>( y ) ] ,    </a:t>
            </a:r>
          </a:p>
          <a:p>
            <a:pPr marL="428092" lvl="1" indent="0" defTabSz="280415">
              <a:spcBef>
                <a:spcPts val="1100"/>
              </a:spcBef>
              <a:buClr>
                <a:srgbClr val="000000"/>
              </a:buClr>
              <a:buSzPct val="100000"/>
              <a:buNone/>
              <a:defRPr sz="1656"/>
            </a:pPr>
            <a:r>
              <a:rPr lang="en-GB" sz="2400" dirty="0">
                <a:latin typeface="Courier New" panose="02070309020205020404" pitchFamily="49" charset="0"/>
                <a:cs typeface="Courier New" panose="02070309020205020404" pitchFamily="49" charset="0"/>
              </a:rPr>
              <a:t>                     [ </a:t>
            </a:r>
            <a:r>
              <a:rPr lang="en-GB" sz="2400" dirty="0" err="1">
                <a:latin typeface="Courier New" panose="02070309020205020404" pitchFamily="49" charset="0"/>
                <a:cs typeface="Courier New" panose="02070309020205020404" pitchFamily="49" charset="0"/>
              </a:rPr>
              <a:t>g.diff</a:t>
            </a:r>
            <a:r>
              <a:rPr lang="en-GB" sz="2400" dirty="0">
                <a:latin typeface="Courier New" panose="02070309020205020404" pitchFamily="49" charset="0"/>
                <a:cs typeface="Courier New" panose="02070309020205020404" pitchFamily="49" charset="0"/>
              </a:rPr>
              <a:t>( x ) , </a:t>
            </a:r>
            <a:r>
              <a:rPr lang="en-GB" sz="2400" dirty="0" err="1">
                <a:latin typeface="Courier New" panose="02070309020205020404" pitchFamily="49" charset="0"/>
                <a:cs typeface="Courier New" panose="02070309020205020404" pitchFamily="49" charset="0"/>
              </a:rPr>
              <a:t>g.diff</a:t>
            </a:r>
            <a:r>
              <a:rPr lang="en-GB" sz="2400" dirty="0">
                <a:latin typeface="Courier New" panose="02070309020205020404" pitchFamily="49" charset="0"/>
                <a:cs typeface="Courier New" panose="02070309020205020404" pitchFamily="49" charset="0"/>
              </a:rPr>
              <a:t>( y ) ] ] )</a:t>
            </a:r>
          </a:p>
          <a:p>
            <a:pPr marL="428092" lvl="1" indent="0" defTabSz="280415">
              <a:spcBef>
                <a:spcPts val="1100"/>
              </a:spcBef>
              <a:buClr>
                <a:srgbClr val="000000"/>
              </a:buClr>
              <a:buSzPct val="100000"/>
              <a:buNone/>
              <a:defRPr sz="1656"/>
            </a:pPr>
            <a:r>
              <a:rPr lang="en-GB" sz="2400" dirty="0" err="1">
                <a:latin typeface="Courier New" panose="02070309020205020404" pitchFamily="49" charset="0"/>
                <a:cs typeface="Courier New" panose="02070309020205020404" pitchFamily="49" charset="0"/>
              </a:rPr>
              <a:t>J_num</a:t>
            </a:r>
            <a:r>
              <a:rPr lang="en-GB" sz="2400" dirty="0">
                <a:latin typeface="Courier New" panose="02070309020205020404" pitchFamily="49" charset="0"/>
                <a:cs typeface="Courier New" panose="02070309020205020404" pitchFamily="49" charset="0"/>
              </a:rPr>
              <a:t> = </a:t>
            </a:r>
            <a:r>
              <a:rPr lang="en-GB" sz="2400" dirty="0" err="1">
                <a:latin typeface="Courier New" panose="02070309020205020404" pitchFamily="49" charset="0"/>
                <a:cs typeface="Courier New" panose="02070309020205020404" pitchFamily="49" charset="0"/>
              </a:rPr>
              <a:t>J_sym.</a:t>
            </a:r>
            <a:r>
              <a:rPr lang="en-GB" sz="2400" dirty="0" err="1">
                <a:solidFill>
                  <a:srgbClr val="0070C0"/>
                </a:solidFill>
                <a:latin typeface="Courier New" panose="02070309020205020404" pitchFamily="49" charset="0"/>
                <a:cs typeface="Courier New" panose="02070309020205020404" pitchFamily="49" charset="0"/>
              </a:rPr>
              <a:t>subs</a:t>
            </a:r>
            <a:r>
              <a:rPr lang="en-GB" sz="2400" dirty="0">
                <a:latin typeface="Courier New" panose="02070309020205020404" pitchFamily="49" charset="0"/>
                <a:cs typeface="Courier New" panose="02070309020205020404" pitchFamily="49" charset="0"/>
              </a:rPr>
              <a:t>( [ ( a , 0.06 ), ( b , 0.6 ) ] ) </a:t>
            </a:r>
            <a:endParaRPr sz="2400" dirty="0">
              <a:latin typeface="Courier New" panose="02070309020205020404" pitchFamily="49" charset="0"/>
              <a:cs typeface="Courier New" panose="02070309020205020404" pitchFamily="49" charset="0"/>
            </a:endParaRPr>
          </a:p>
          <a:p>
            <a:pPr marL="264642" indent="-236600" defTabSz="280415">
              <a:spcBef>
                <a:spcPts val="1100"/>
              </a:spcBef>
              <a:buClr>
                <a:srgbClr val="000000"/>
              </a:buClr>
              <a:buNone/>
              <a:defRPr sz="1656"/>
            </a:pPr>
            <a:r>
              <a:rPr sz="2400" dirty="0"/>
              <a:t>　</a:t>
            </a:r>
            <a:r>
              <a:rPr lang="en-US" sz="2400" dirty="0"/>
              <a:t> </a:t>
            </a:r>
            <a:r>
              <a:rPr lang="en-US" sz="2400" dirty="0">
                <a:uFill>
                  <a:solidFill>
                    <a:srgbClr val="0085CC"/>
                  </a:solidFill>
                </a:uFill>
              </a:rPr>
              <a:t>#</a:t>
            </a:r>
            <a:r>
              <a:rPr sz="2400" dirty="0">
                <a:uFill>
                  <a:solidFill>
                    <a:srgbClr val="0085CC"/>
                  </a:solidFill>
                </a:uFill>
              </a:rPr>
              <a:t> </a:t>
            </a:r>
            <a:r>
              <a:rPr lang="ja-JP" altLang="en-US" sz="2400">
                <a:uFill>
                  <a:solidFill>
                    <a:srgbClr val="0085CC"/>
                  </a:solidFill>
                </a:uFill>
              </a:rPr>
              <a:t>行列</a:t>
            </a:r>
            <a:r>
              <a:rPr lang="en-US" altLang="ja-JP" sz="2400" dirty="0">
                <a:uFill>
                  <a:solidFill>
                    <a:srgbClr val="0085CC"/>
                  </a:solidFill>
                </a:uFill>
              </a:rPr>
              <a:t> </a:t>
            </a:r>
            <a:r>
              <a:rPr sz="2400" dirty="0" err="1">
                <a:uFill>
                  <a:solidFill>
                    <a:srgbClr val="0085CC"/>
                  </a:solidFill>
                </a:uFill>
              </a:rPr>
              <a:t>J</a:t>
            </a:r>
            <a:r>
              <a:rPr lang="en-US" sz="2400" dirty="0" err="1">
                <a:uFill>
                  <a:solidFill>
                    <a:srgbClr val="0085CC"/>
                  </a:solidFill>
                </a:uFill>
              </a:rPr>
              <a:t>_sym</a:t>
            </a:r>
            <a:r>
              <a:rPr lang="en-US" sz="2400" dirty="0">
                <a:uFill>
                  <a:solidFill>
                    <a:srgbClr val="0085CC"/>
                  </a:solidFill>
                </a:uFill>
              </a:rPr>
              <a:t> </a:t>
            </a:r>
            <a:r>
              <a:rPr sz="2400" dirty="0" err="1">
                <a:uFill>
                  <a:solidFill>
                    <a:srgbClr val="0085CC"/>
                  </a:solidFill>
                </a:uFill>
              </a:rPr>
              <a:t>の中の</a:t>
            </a:r>
            <a:r>
              <a:rPr lang="en-US" sz="2400" dirty="0">
                <a:uFill>
                  <a:solidFill>
                    <a:srgbClr val="0085CC"/>
                  </a:solidFill>
                </a:uFill>
              </a:rPr>
              <a:t> </a:t>
            </a:r>
            <a:r>
              <a:rPr sz="2400" dirty="0">
                <a:uFill>
                  <a:solidFill>
                    <a:srgbClr val="0085CC"/>
                  </a:solidFill>
                </a:uFill>
              </a:rPr>
              <a:t>a</a:t>
            </a:r>
            <a:r>
              <a:rPr lang="en-US" sz="2400" dirty="0">
                <a:uFill>
                  <a:solidFill>
                    <a:srgbClr val="0085CC"/>
                  </a:solidFill>
                </a:uFill>
              </a:rPr>
              <a:t> </a:t>
            </a:r>
            <a:r>
              <a:rPr sz="2400" dirty="0">
                <a:uFill>
                  <a:solidFill>
                    <a:srgbClr val="0085CC"/>
                  </a:solidFill>
                </a:uFill>
              </a:rPr>
              <a:t>,</a:t>
            </a:r>
            <a:r>
              <a:rPr lang="en-US" sz="2400" dirty="0">
                <a:uFill>
                  <a:solidFill>
                    <a:srgbClr val="0085CC"/>
                  </a:solidFill>
                </a:uFill>
              </a:rPr>
              <a:t> </a:t>
            </a:r>
            <a:r>
              <a:rPr sz="2400" dirty="0">
                <a:uFill>
                  <a:solidFill>
                    <a:srgbClr val="0085CC"/>
                  </a:solidFill>
                </a:uFill>
              </a:rPr>
              <a:t>b</a:t>
            </a:r>
            <a:r>
              <a:rPr lang="en-US" sz="2400" dirty="0">
                <a:uFill>
                  <a:solidFill>
                    <a:srgbClr val="0085CC"/>
                  </a:solidFill>
                </a:uFill>
              </a:rPr>
              <a:t> </a:t>
            </a:r>
            <a:r>
              <a:rPr sz="2400" dirty="0" err="1">
                <a:uFill>
                  <a:solidFill>
                    <a:srgbClr val="0085CC"/>
                  </a:solidFill>
                </a:uFill>
              </a:rPr>
              <a:t>に</a:t>
            </a:r>
            <a:r>
              <a:rPr lang="en-US" sz="2400" dirty="0">
                <a:uFill>
                  <a:solidFill>
                    <a:srgbClr val="0085CC"/>
                  </a:solidFill>
                </a:uFill>
              </a:rPr>
              <a:t> </a:t>
            </a:r>
            <a:r>
              <a:rPr sz="2400" dirty="0">
                <a:uFill>
                  <a:solidFill>
                    <a:srgbClr val="0085CC"/>
                  </a:solidFill>
                </a:uFill>
              </a:rPr>
              <a:t>0.06</a:t>
            </a:r>
            <a:r>
              <a:rPr lang="en-US" sz="2400" dirty="0">
                <a:uFill>
                  <a:solidFill>
                    <a:srgbClr val="0085CC"/>
                  </a:solidFill>
                </a:uFill>
              </a:rPr>
              <a:t> </a:t>
            </a:r>
            <a:r>
              <a:rPr sz="2400" dirty="0">
                <a:uFill>
                  <a:solidFill>
                    <a:srgbClr val="0085CC"/>
                  </a:solidFill>
                </a:uFill>
              </a:rPr>
              <a:t>,</a:t>
            </a:r>
            <a:r>
              <a:rPr lang="en-US" sz="2400" dirty="0">
                <a:uFill>
                  <a:solidFill>
                    <a:srgbClr val="0085CC"/>
                  </a:solidFill>
                </a:uFill>
              </a:rPr>
              <a:t> </a:t>
            </a:r>
            <a:r>
              <a:rPr sz="2400" dirty="0">
                <a:uFill>
                  <a:solidFill>
                    <a:srgbClr val="0085CC"/>
                  </a:solidFill>
                </a:uFill>
              </a:rPr>
              <a:t>0.6</a:t>
            </a:r>
            <a:r>
              <a:rPr lang="en-US" sz="2400" dirty="0">
                <a:uFill>
                  <a:solidFill>
                    <a:srgbClr val="0085CC"/>
                  </a:solidFill>
                </a:uFill>
              </a:rPr>
              <a:t> </a:t>
            </a:r>
            <a:r>
              <a:rPr lang="en-US" sz="2400" dirty="0" err="1">
                <a:uFill>
                  <a:solidFill>
                    <a:srgbClr val="0085CC"/>
                  </a:solidFill>
                </a:uFill>
              </a:rPr>
              <a:t>を</a:t>
            </a:r>
            <a:r>
              <a:rPr sz="2400" dirty="0" err="1">
                <a:solidFill>
                  <a:srgbClr val="0070C0"/>
                </a:solidFill>
                <a:uFill>
                  <a:solidFill>
                    <a:srgbClr val="0085CC"/>
                  </a:solidFill>
                </a:uFill>
              </a:rPr>
              <a:t>それぞれ代入</a:t>
            </a:r>
            <a:endParaRPr sz="2400" dirty="0">
              <a:solidFill>
                <a:srgbClr val="0070C0"/>
              </a:solidFill>
              <a:uFill>
                <a:solidFill>
                  <a:srgbClr val="0085CC"/>
                </a:solidFill>
              </a:uFill>
            </a:endParaRPr>
          </a:p>
          <a:p>
            <a:pPr marL="264642" indent="-236600" defTabSz="280415">
              <a:spcBef>
                <a:spcPts val="1100"/>
              </a:spcBef>
              <a:buSzPct val="100000"/>
              <a:buFont typeface="Arial"/>
              <a:defRPr sz="1656"/>
            </a:pPr>
            <a:endParaRPr lang="en-US" sz="2400" dirty="0"/>
          </a:p>
          <a:p>
            <a:pPr marL="264642" indent="-236600" defTabSz="280415">
              <a:spcBef>
                <a:spcPts val="1100"/>
              </a:spcBef>
              <a:buSzPct val="100000"/>
              <a:buFont typeface="Arial"/>
              <a:defRPr sz="1656"/>
            </a:pPr>
            <a:r>
              <a:rPr sz="2400" dirty="0" err="1"/>
              <a:t>行列</a:t>
            </a:r>
            <a:r>
              <a:rPr lang="en-US" sz="2400" dirty="0"/>
              <a:t> </a:t>
            </a:r>
            <a:r>
              <a:rPr lang="en-US" sz="2400" dirty="0" err="1"/>
              <a:t>J_num</a:t>
            </a:r>
            <a:r>
              <a:rPr lang="en-US" sz="2400" dirty="0"/>
              <a:t> </a:t>
            </a:r>
            <a:r>
              <a:rPr sz="2400" dirty="0" err="1"/>
              <a:t>の固有値を求める関数</a:t>
            </a:r>
            <a:endParaRPr sz="2400" dirty="0"/>
          </a:p>
          <a:p>
            <a:pPr marL="540677" lvl="1" indent="-197167" defTabSz="280415">
              <a:spcBef>
                <a:spcPts val="1100"/>
              </a:spcBef>
              <a:buNone/>
              <a:defRPr sz="1656"/>
            </a:pPr>
            <a:r>
              <a:rPr lang="en-US" sz="2400" dirty="0" err="1">
                <a:latin typeface="Courier New" panose="02070309020205020404" pitchFamily="49" charset="0"/>
                <a:cs typeface="Courier New" panose="02070309020205020404" pitchFamily="49" charset="0"/>
              </a:rPr>
              <a:t>J_num.</a:t>
            </a:r>
            <a:r>
              <a:rPr sz="2400" dirty="0" err="1">
                <a:solidFill>
                  <a:srgbClr val="0085CC"/>
                </a:solidFill>
                <a:uFill>
                  <a:solidFill>
                    <a:srgbClr val="0085CC"/>
                  </a:solidFill>
                </a:uFill>
                <a:latin typeface="Courier New" panose="02070309020205020404" pitchFamily="49" charset="0"/>
                <a:cs typeface="Courier New" panose="02070309020205020404" pitchFamily="49" charset="0"/>
              </a:rPr>
              <a:t>eig</a:t>
            </a:r>
            <a:r>
              <a:rPr lang="en-US" sz="2400" dirty="0" err="1">
                <a:solidFill>
                  <a:srgbClr val="0085CC"/>
                </a:solidFill>
                <a:uFill>
                  <a:solidFill>
                    <a:srgbClr val="0085CC"/>
                  </a:solidFill>
                </a:uFill>
                <a:latin typeface="Courier New" panose="02070309020205020404" pitchFamily="49" charset="0"/>
                <a:cs typeface="Courier New" panose="02070309020205020404" pitchFamily="49" charset="0"/>
              </a:rPr>
              <a:t>envals</a:t>
            </a:r>
            <a:r>
              <a:rPr sz="2400" dirty="0">
                <a:latin typeface="Courier New" panose="02070309020205020404" pitchFamily="49" charset="0"/>
                <a:cs typeface="Courier New" panose="02070309020205020404" pitchFamily="49" charset="0"/>
              </a:rPr>
              <a:t>()</a:t>
            </a:r>
          </a:p>
        </p:txBody>
      </p:sp>
    </p:spTree>
    <p:extLst>
      <p:ext uri="{BB962C8B-B14F-4D97-AF65-F5344CB8AC3E}">
        <p14:creationId xmlns:p14="http://schemas.microsoft.com/office/powerpoint/2010/main" val="208643457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8" name="演習4: Sel’kovモデルの線形化"/>
          <p:cNvSpPr txBox="1">
            <a:spLocks noGrp="1"/>
          </p:cNvSpPr>
          <p:nvPr>
            <p:ph type="title"/>
          </p:nvPr>
        </p:nvSpPr>
        <p:spPr>
          <a:prstGeom prst="rect">
            <a:avLst/>
          </a:prstGeom>
        </p:spPr>
        <p:txBody>
          <a:bodyPr/>
          <a:lstStyle/>
          <a:p>
            <a:r>
              <a:t>演習4: Sel’kovモデルの線形化</a:t>
            </a:r>
          </a:p>
        </p:txBody>
      </p:sp>
      <p:sp>
        <p:nvSpPr>
          <p:cNvPr id="517" name="Sel’kov モデルを線形化しなさい(紙と鉛筆、MATLAB)…"/>
          <p:cNvSpPr txBox="1">
            <a:spLocks noGrp="1"/>
          </p:cNvSpPr>
          <p:nvPr>
            <p:ph type="body" idx="4294967295"/>
          </p:nvPr>
        </p:nvSpPr>
        <p:spPr>
          <a:xfrm>
            <a:off x="436245" y="1754002"/>
            <a:ext cx="11101388" cy="3517900"/>
          </a:xfrm>
          <a:prstGeom prst="rect">
            <a:avLst/>
          </a:prstGeom>
        </p:spPr>
        <p:txBody>
          <a:bodyPr>
            <a:noAutofit/>
          </a:bodyPr>
          <a:lstStyle/>
          <a:p>
            <a:pPr marL="554990" indent="-514350">
              <a:lnSpc>
                <a:spcPct val="80000"/>
              </a:lnSpc>
              <a:buClr>
                <a:srgbClr val="000000"/>
              </a:buClr>
              <a:buSzPct val="100000"/>
              <a:buFont typeface="+mj-lt"/>
              <a:buAutoNum type="arabicPeriod"/>
            </a:pPr>
            <a:r>
              <a:rPr dirty="0" err="1"/>
              <a:t>Sel’kov</a:t>
            </a:r>
            <a:r>
              <a:rPr dirty="0"/>
              <a:t> </a:t>
            </a:r>
            <a:r>
              <a:rPr dirty="0" err="1"/>
              <a:t>モデルを線形化しなさい</a:t>
            </a:r>
            <a:endParaRPr lang="en-US" dirty="0"/>
          </a:p>
          <a:p>
            <a:pPr marL="955040" lvl="1" indent="-514350">
              <a:lnSpc>
                <a:spcPct val="80000"/>
              </a:lnSpc>
              <a:buClr>
                <a:srgbClr val="000000"/>
              </a:buClr>
              <a:buSzPct val="100000"/>
            </a:pPr>
            <a:r>
              <a:rPr lang="en-US" dirty="0" err="1"/>
              <a:t>ヒント</a:t>
            </a:r>
            <a:r>
              <a:rPr lang="en-US" dirty="0"/>
              <a:t>:       </a:t>
            </a:r>
            <a:r>
              <a:rPr lang="en-US" dirty="0" err="1"/>
              <a:t>を</a:t>
            </a:r>
            <a:r>
              <a:rPr lang="en-US" dirty="0"/>
              <a:t> x </a:t>
            </a:r>
            <a:r>
              <a:rPr lang="en-US" dirty="0" err="1"/>
              <a:t>について偏微分するときは</a:t>
            </a:r>
            <a:r>
              <a:rPr lang="ja-JP" altLang="en-US"/>
              <a:t>　　　　　　　　　　　　　　　　　　　　　　　　　　　　　</a:t>
            </a:r>
            <a:r>
              <a:rPr lang="en-US" altLang="ja-JP" dirty="0"/>
              <a:t>         </a:t>
            </a:r>
          </a:p>
          <a:p>
            <a:pPr marL="440690" lvl="1" indent="0">
              <a:lnSpc>
                <a:spcPct val="80000"/>
              </a:lnSpc>
              <a:buClr>
                <a:srgbClr val="000000"/>
              </a:buClr>
              <a:buSzPct val="100000"/>
              <a:buNone/>
            </a:pPr>
            <a:r>
              <a:rPr lang="en-US" altLang="ja-JP" dirty="0"/>
              <a:t>                                               </a:t>
            </a:r>
          </a:p>
          <a:p>
            <a:pPr marL="440690" lvl="1" indent="0">
              <a:lnSpc>
                <a:spcPct val="80000"/>
              </a:lnSpc>
              <a:buClr>
                <a:srgbClr val="000000"/>
              </a:buClr>
              <a:buSzPct val="100000"/>
              <a:buNone/>
            </a:pPr>
            <a:r>
              <a:rPr lang="en-US" altLang="ja-JP" dirty="0"/>
              <a:t>                                               </a:t>
            </a:r>
            <a:r>
              <a:rPr lang="ja-JP" altLang="en-US"/>
              <a:t>のように</a:t>
            </a:r>
            <a:r>
              <a:rPr lang="en-US" dirty="0" err="1"/>
              <a:t>計算する</a:t>
            </a:r>
            <a:r>
              <a:rPr lang="en-US" dirty="0"/>
              <a:t>。</a:t>
            </a:r>
          </a:p>
          <a:p>
            <a:pPr marL="955040" lvl="1" indent="-514350">
              <a:lnSpc>
                <a:spcPct val="80000"/>
              </a:lnSpc>
              <a:buClr>
                <a:srgbClr val="000000"/>
              </a:buClr>
              <a:buSzPct val="100000"/>
            </a:pPr>
            <a:endParaRPr lang="en-US" dirty="0"/>
          </a:p>
          <a:p>
            <a:pPr marL="554990" indent="-514350">
              <a:lnSpc>
                <a:spcPct val="120000"/>
              </a:lnSpc>
              <a:buClr>
                <a:srgbClr val="000000"/>
              </a:buClr>
              <a:buSzPct val="100000"/>
              <a:buFont typeface="+mj-lt"/>
              <a:buAutoNum type="arabicPeriod"/>
            </a:pPr>
            <a:r>
              <a:rPr lang="ja-JP" altLang="en-US"/>
              <a:t>線形化したモデルに固定点の座標を代入しヤコビ行列を求めなさい</a:t>
            </a:r>
            <a:endParaRPr lang="en-US" dirty="0"/>
          </a:p>
          <a:p>
            <a:pPr marL="554990" indent="-514350">
              <a:lnSpc>
                <a:spcPct val="120000"/>
              </a:lnSpc>
              <a:buClr>
                <a:srgbClr val="000000"/>
              </a:buClr>
              <a:buSzPct val="100000"/>
              <a:buFont typeface="+mj-lt"/>
              <a:buAutoNum type="arabicPeriod"/>
            </a:pPr>
            <a:endParaRPr lang="en-US" dirty="0"/>
          </a:p>
          <a:p>
            <a:pPr marL="554990" indent="-514350">
              <a:lnSpc>
                <a:spcPct val="80000"/>
              </a:lnSpc>
              <a:buClr>
                <a:srgbClr val="000000"/>
              </a:buClr>
              <a:buSzPct val="100000"/>
              <a:buFont typeface="+mj-lt"/>
              <a:buAutoNum type="arabicPeriod"/>
            </a:pPr>
            <a:r>
              <a:rPr dirty="0" err="1"/>
              <a:t>ヤコビ行列の固有値を求めなさい</a:t>
            </a:r>
            <a:endParaRPr dirty="0"/>
          </a:p>
        </p:txBody>
      </p:sp>
      <p:pic>
        <p:nvPicPr>
          <p:cNvPr id="2" name="図 1">
            <a:extLst>
              <a:ext uri="{FF2B5EF4-FFF2-40B4-BE49-F238E27FC236}">
                <a16:creationId xmlns:a16="http://schemas.microsoft.com/office/drawing/2014/main" id="{174360B3-8500-2B4C-D789-81F30D803A5E}"/>
              </a:ext>
            </a:extLst>
          </p:cNvPr>
          <p:cNvPicPr>
            <a:picLocks noChangeAspect="1"/>
          </p:cNvPicPr>
          <p:nvPr/>
        </p:nvPicPr>
        <p:blipFill>
          <a:blip r:embed="rId2"/>
          <a:stretch>
            <a:fillRect/>
          </a:stretch>
        </p:blipFill>
        <p:spPr>
          <a:xfrm>
            <a:off x="1578730" y="2949108"/>
            <a:ext cx="3908425" cy="729789"/>
          </a:xfrm>
          <a:prstGeom prst="rect">
            <a:avLst/>
          </a:prstGeom>
        </p:spPr>
      </p:pic>
      <p:pic>
        <p:nvPicPr>
          <p:cNvPr id="3" name="図 2">
            <a:extLst>
              <a:ext uri="{FF2B5EF4-FFF2-40B4-BE49-F238E27FC236}">
                <a16:creationId xmlns:a16="http://schemas.microsoft.com/office/drawing/2014/main" id="{F3D51AAF-A904-1D1D-5B0D-C2F12FC6BA19}"/>
              </a:ext>
            </a:extLst>
          </p:cNvPr>
          <p:cNvPicPr>
            <a:picLocks noChangeAspect="1"/>
          </p:cNvPicPr>
          <p:nvPr/>
        </p:nvPicPr>
        <p:blipFill>
          <a:blip r:embed="rId3"/>
          <a:stretch>
            <a:fillRect/>
          </a:stretch>
        </p:blipFill>
        <p:spPr>
          <a:xfrm>
            <a:off x="2813972" y="2175093"/>
            <a:ext cx="397227" cy="729789"/>
          </a:xfrm>
          <a:prstGeom prst="rect">
            <a:avLst/>
          </a:prstGeom>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E306C3D-365A-1C9D-1877-15953317AADD}"/>
              </a:ext>
            </a:extLst>
          </p:cNvPr>
          <p:cNvSpPr>
            <a:spLocks noGrp="1"/>
          </p:cNvSpPr>
          <p:nvPr>
            <p:ph type="title"/>
          </p:nvPr>
        </p:nvSpPr>
        <p:spPr/>
        <p:txBody>
          <a:bodyPr/>
          <a:lstStyle/>
          <a:p>
            <a:r>
              <a:rPr kumimoji="1" lang="ja-JP" altLang="en-US"/>
              <a:t>空欄を埋めなさい</a:t>
            </a:r>
          </a:p>
        </p:txBody>
      </p:sp>
      <p:sp>
        <p:nvSpPr>
          <p:cNvPr id="6" name="テキスト ボックス 5">
            <a:extLst>
              <a:ext uri="{FF2B5EF4-FFF2-40B4-BE49-F238E27FC236}">
                <a16:creationId xmlns:a16="http://schemas.microsoft.com/office/drawing/2014/main" id="{2C81950C-BCE5-65C0-DA66-BCF25CE03202}"/>
              </a:ext>
            </a:extLst>
          </p:cNvPr>
          <p:cNvSpPr txBox="1"/>
          <p:nvPr/>
        </p:nvSpPr>
        <p:spPr>
          <a:xfrm>
            <a:off x="1089205" y="1185840"/>
            <a:ext cx="10079751" cy="5632311"/>
          </a:xfrm>
          <a:prstGeom prst="rect">
            <a:avLst/>
          </a:prstGeom>
          <a:noFill/>
          <a:ln>
            <a:solidFill>
              <a:schemeClr val="accent1">
                <a:shade val="15000"/>
              </a:schemeClr>
            </a:solidFill>
          </a:ln>
        </p:spPr>
        <p:txBody>
          <a:bodyPr wrap="square">
            <a:spAutoFit/>
          </a:bodyPr>
          <a:lstStyle/>
          <a:p>
            <a:r>
              <a:rPr lang="ja-JP" altLang="en-US" b="1">
                <a:solidFill>
                  <a:srgbClr val="000000"/>
                </a:solidFill>
                <a:latin typeface="Hiragino Kaku Gothic ProN W6" panose="020B0300000000000000" pitchFamily="34" charset="-128"/>
                <a:ea typeface="Hiragino Kaku Gothic ProN W6" panose="020B0300000000000000" pitchFamily="34" charset="-128"/>
              </a:rPr>
              <a:t>コード</a:t>
            </a:r>
            <a:r>
              <a:rPr lang="en-GB" altLang="ja-JP" dirty="0">
                <a:latin typeface="Courier New" panose="02070309020205020404" pitchFamily="49" charset="0"/>
                <a:cs typeface="Courier New" panose="02070309020205020404" pitchFamily="49" charset="0"/>
              </a:rPr>
              <a:t>(</a:t>
            </a:r>
            <a:r>
              <a:rPr lang="en-GB" altLang="ja-JP" dirty="0" err="1">
                <a:latin typeface="Courier New" panose="02070309020205020404" pitchFamily="49" charset="0"/>
                <a:cs typeface="Courier New" panose="02070309020205020404" pitchFamily="49" charset="0"/>
              </a:rPr>
              <a:t>selkov_jacobian.py</a:t>
            </a:r>
            <a:r>
              <a:rPr lang="en-GB" altLang="ja-JP" dirty="0">
                <a:latin typeface="Courier New" panose="02070309020205020404" pitchFamily="49" charset="0"/>
                <a:cs typeface="Courier New" panose="02070309020205020404" pitchFamily="49" charset="0"/>
              </a:rPr>
              <a:t>)</a:t>
            </a:r>
            <a:endParaRPr lang="en-US" altLang="ja-JP" dirty="0"/>
          </a:p>
          <a:p>
            <a:r>
              <a:rPr lang="en-US" altLang="ja-JP" dirty="0"/>
              <a:t>(</a:t>
            </a:r>
            <a:r>
              <a:rPr lang="ja-JP" altLang="en-US"/>
              <a:t>略</a:t>
            </a:r>
            <a:r>
              <a:rPr lang="en-US" altLang="ja-JP" dirty="0"/>
              <a:t>)</a:t>
            </a:r>
          </a:p>
          <a:p>
            <a:r>
              <a:rPr lang="en-GB" altLang="ja-JP" dirty="0"/>
              <a:t>x, y, a, b = </a:t>
            </a:r>
            <a:r>
              <a:rPr lang="en-GB" altLang="ja-JP" dirty="0" err="1"/>
              <a:t>sp.symbols</a:t>
            </a:r>
            <a:r>
              <a:rPr lang="en-GB" altLang="ja-JP" dirty="0"/>
              <a:t>("x y a b", real=True, positive=True)</a:t>
            </a:r>
            <a:endParaRPr lang="ja-JP" altLang="en-US"/>
          </a:p>
          <a:p>
            <a:r>
              <a:rPr lang="ja-JP" altLang="en-US"/>
              <a:t>a_val = 0.06</a:t>
            </a:r>
          </a:p>
          <a:p>
            <a:r>
              <a:rPr lang="ja-JP" altLang="en-US"/>
              <a:t>b_val = 0.6</a:t>
            </a:r>
          </a:p>
          <a:p>
            <a:endParaRPr lang="ja-JP" altLang="en-US"/>
          </a:p>
          <a:p>
            <a:r>
              <a:rPr lang="ja-JP" altLang="en-US"/>
              <a:t>f = -x + a * y + x**2 * y</a:t>
            </a:r>
            <a:r>
              <a:rPr lang="en-US" altLang="ja-JP" dirty="0"/>
              <a:t>  # </a:t>
            </a:r>
            <a:r>
              <a:rPr lang="en-US" altLang="ja-JP" dirty="0" err="1"/>
              <a:t>dxdt</a:t>
            </a:r>
            <a:endParaRPr lang="ja-JP" altLang="en-US"/>
          </a:p>
          <a:p>
            <a:r>
              <a:rPr lang="ja-JP" altLang="en-US"/>
              <a:t>g =  　　　　　　　　</a:t>
            </a:r>
            <a:r>
              <a:rPr lang="en-US" altLang="ja-JP" dirty="0"/>
              <a:t> </a:t>
            </a:r>
            <a:r>
              <a:rPr lang="en-US" altLang="ja-JP" dirty="0">
                <a:solidFill>
                  <a:srgbClr val="008F00"/>
                </a:solidFill>
              </a:rPr>
              <a:t># </a:t>
            </a:r>
            <a:r>
              <a:rPr lang="en-US" altLang="ja-JP" dirty="0" err="1">
                <a:solidFill>
                  <a:srgbClr val="008F00"/>
                </a:solidFill>
              </a:rPr>
              <a:t>dydt</a:t>
            </a:r>
            <a:r>
              <a:rPr lang="en-US" altLang="ja-JP" dirty="0">
                <a:solidFill>
                  <a:srgbClr val="008F00"/>
                </a:solidFill>
              </a:rPr>
              <a:t> </a:t>
            </a:r>
            <a:r>
              <a:rPr lang="ja-JP" altLang="en-US">
                <a:solidFill>
                  <a:srgbClr val="008F00"/>
                </a:solidFill>
              </a:rPr>
              <a:t>を</a:t>
            </a:r>
            <a:r>
              <a:rPr lang="en-US" altLang="ja-JP" dirty="0">
                <a:solidFill>
                  <a:srgbClr val="008F00"/>
                </a:solidFill>
              </a:rPr>
              <a:t> x, y, a, b </a:t>
            </a:r>
            <a:r>
              <a:rPr lang="ja-JP" altLang="en-US">
                <a:solidFill>
                  <a:srgbClr val="008F00"/>
                </a:solidFill>
              </a:rPr>
              <a:t>で書く</a:t>
            </a:r>
          </a:p>
          <a:p>
            <a:endParaRPr lang="ja-JP" altLang="en-US"/>
          </a:p>
          <a:p>
            <a:r>
              <a:rPr lang="ja-JP" altLang="en-US"/>
              <a:t># ヌルクラインと固定点</a:t>
            </a:r>
          </a:p>
          <a:p>
            <a:r>
              <a:rPr lang="ja-JP" altLang="en-US"/>
              <a:t>solutions = sp.solve( [       ,       ]  , ( x , y ) )</a:t>
            </a:r>
            <a:r>
              <a:rPr lang="en-US" altLang="ja-JP" dirty="0"/>
              <a:t>  </a:t>
            </a:r>
            <a:r>
              <a:rPr lang="en-US" altLang="ja-JP" dirty="0">
                <a:solidFill>
                  <a:srgbClr val="008F00"/>
                </a:solidFill>
              </a:rPr>
              <a:t># </a:t>
            </a:r>
            <a:r>
              <a:rPr lang="ja-JP" altLang="en-US">
                <a:solidFill>
                  <a:srgbClr val="008F00"/>
                </a:solidFill>
              </a:rPr>
              <a:t>演習</a:t>
            </a:r>
            <a:r>
              <a:rPr lang="en-US" altLang="ja-JP" dirty="0">
                <a:solidFill>
                  <a:srgbClr val="008F00"/>
                </a:solidFill>
              </a:rPr>
              <a:t>4</a:t>
            </a:r>
            <a:r>
              <a:rPr lang="ja-JP" altLang="en-US">
                <a:solidFill>
                  <a:srgbClr val="008F00"/>
                </a:solidFill>
              </a:rPr>
              <a:t>を参考に固定点の座標を計算</a:t>
            </a:r>
          </a:p>
          <a:p>
            <a:r>
              <a:rPr lang="ja-JP" altLang="en-US"/>
              <a:t>fix_x , fix_y = solutions[0]</a:t>
            </a:r>
          </a:p>
          <a:p>
            <a:endParaRPr lang="ja-JP" altLang="en-US"/>
          </a:p>
          <a:p>
            <a:r>
              <a:rPr lang="ja-JP" altLang="en-US"/>
              <a:t># ヤコビ行列</a:t>
            </a:r>
          </a:p>
          <a:p>
            <a:r>
              <a:rPr lang="ja-JP" altLang="en-US"/>
              <a:t>J_sym = sp.Matrix( [ [ f.diff( x ) ,         ] , [         , g.diff( y ) ] ] )</a:t>
            </a:r>
            <a:r>
              <a:rPr lang="en-US" altLang="ja-JP" dirty="0"/>
              <a:t> </a:t>
            </a:r>
            <a:r>
              <a:rPr lang="en-US" altLang="ja-JP" dirty="0">
                <a:solidFill>
                  <a:srgbClr val="008F00"/>
                </a:solidFill>
              </a:rPr>
              <a:t># </a:t>
            </a:r>
            <a:r>
              <a:rPr lang="ja-JP" altLang="en-US">
                <a:solidFill>
                  <a:srgbClr val="008F00"/>
                </a:solidFill>
              </a:rPr>
              <a:t>線形化</a:t>
            </a:r>
            <a:endParaRPr lang="ja-JP" altLang="en-US"/>
          </a:p>
          <a:p>
            <a:r>
              <a:rPr lang="ja-JP" altLang="en-US"/>
              <a:t>J_num = J_sym.subs( [ ( x ,     ) , ( y ,     ) , ( a , a_val ), ( b , b_val ) ] ) </a:t>
            </a:r>
            <a:r>
              <a:rPr lang="en-US" altLang="ja-JP" dirty="0">
                <a:solidFill>
                  <a:srgbClr val="008F00"/>
                </a:solidFill>
              </a:rPr>
              <a:t># </a:t>
            </a:r>
            <a:r>
              <a:rPr lang="ja-JP" altLang="en-US">
                <a:solidFill>
                  <a:srgbClr val="008F00"/>
                </a:solidFill>
              </a:rPr>
              <a:t>固定点の座標を</a:t>
            </a:r>
            <a:r>
              <a:rPr lang="en-US" altLang="ja-JP" dirty="0">
                <a:solidFill>
                  <a:srgbClr val="008F00"/>
                </a:solidFill>
              </a:rPr>
              <a:t> x, y </a:t>
            </a:r>
            <a:r>
              <a:rPr lang="ja-JP" altLang="en-US">
                <a:solidFill>
                  <a:srgbClr val="008F00"/>
                </a:solidFill>
              </a:rPr>
              <a:t>に代入</a:t>
            </a:r>
            <a:endParaRPr lang="ja-JP" altLang="en-US"/>
          </a:p>
          <a:p>
            <a:endParaRPr lang="ja-JP" altLang="en-US"/>
          </a:p>
          <a:p>
            <a:r>
              <a:rPr lang="ja-JP" altLang="en-US"/>
              <a:t>print( J_sym )</a:t>
            </a:r>
          </a:p>
          <a:p>
            <a:r>
              <a:rPr lang="ja-JP" altLang="en-US"/>
              <a:t>print( J_num )</a:t>
            </a:r>
          </a:p>
          <a:p>
            <a:r>
              <a:rPr lang="ja-JP" altLang="en-US"/>
              <a:t>print( J_num.       )</a:t>
            </a:r>
            <a:r>
              <a:rPr lang="en-US" altLang="ja-JP" dirty="0"/>
              <a:t> </a:t>
            </a:r>
            <a:r>
              <a:rPr lang="en-US" altLang="ja-JP" dirty="0">
                <a:solidFill>
                  <a:srgbClr val="008F00"/>
                </a:solidFill>
              </a:rPr>
              <a:t># </a:t>
            </a:r>
            <a:r>
              <a:rPr lang="ja-JP" altLang="en-US">
                <a:solidFill>
                  <a:srgbClr val="008F00"/>
                </a:solidFill>
              </a:rPr>
              <a:t>ヤコビ行列の固有値を求める</a:t>
            </a:r>
            <a:endParaRPr lang="ja-JP" altLang="en-US"/>
          </a:p>
        </p:txBody>
      </p:sp>
      <p:sp>
        <p:nvSpPr>
          <p:cNvPr id="7" name="正方形/長方形 6">
            <a:extLst>
              <a:ext uri="{FF2B5EF4-FFF2-40B4-BE49-F238E27FC236}">
                <a16:creationId xmlns:a16="http://schemas.microsoft.com/office/drawing/2014/main" id="{1BBEDA7E-B88F-2F2F-BA98-5CF3537BA6DC}"/>
              </a:ext>
            </a:extLst>
          </p:cNvPr>
          <p:cNvSpPr/>
          <p:nvPr/>
        </p:nvSpPr>
        <p:spPr>
          <a:xfrm>
            <a:off x="3332796" y="3999936"/>
            <a:ext cx="365992" cy="237175"/>
          </a:xfrm>
          <a:prstGeom prst="rect">
            <a:avLst/>
          </a:prstGeom>
          <a:solidFill>
            <a:schemeClr val="bg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正方形/長方形 7">
            <a:extLst>
              <a:ext uri="{FF2B5EF4-FFF2-40B4-BE49-F238E27FC236}">
                <a16:creationId xmlns:a16="http://schemas.microsoft.com/office/drawing/2014/main" id="{280E4C6B-0F2A-F583-2C7C-C9F035586034}"/>
              </a:ext>
            </a:extLst>
          </p:cNvPr>
          <p:cNvSpPr/>
          <p:nvPr/>
        </p:nvSpPr>
        <p:spPr>
          <a:xfrm>
            <a:off x="3835534" y="3999936"/>
            <a:ext cx="365992" cy="237175"/>
          </a:xfrm>
          <a:prstGeom prst="rect">
            <a:avLst/>
          </a:prstGeom>
          <a:solidFill>
            <a:schemeClr val="bg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正方形/長方形 8">
            <a:extLst>
              <a:ext uri="{FF2B5EF4-FFF2-40B4-BE49-F238E27FC236}">
                <a16:creationId xmlns:a16="http://schemas.microsoft.com/office/drawing/2014/main" id="{96814ACD-673D-1E0A-0DC7-FA097A4D870B}"/>
              </a:ext>
            </a:extLst>
          </p:cNvPr>
          <p:cNvSpPr/>
          <p:nvPr/>
        </p:nvSpPr>
        <p:spPr>
          <a:xfrm>
            <a:off x="4283772" y="5113597"/>
            <a:ext cx="463528" cy="237175"/>
          </a:xfrm>
          <a:prstGeom prst="rect">
            <a:avLst/>
          </a:prstGeom>
          <a:solidFill>
            <a:schemeClr val="bg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正方形/長方形 9">
            <a:extLst>
              <a:ext uri="{FF2B5EF4-FFF2-40B4-BE49-F238E27FC236}">
                <a16:creationId xmlns:a16="http://schemas.microsoft.com/office/drawing/2014/main" id="{409D2CCC-5A92-A9AD-79BE-17FCCE8FB3AA}"/>
              </a:ext>
            </a:extLst>
          </p:cNvPr>
          <p:cNvSpPr/>
          <p:nvPr/>
        </p:nvSpPr>
        <p:spPr>
          <a:xfrm>
            <a:off x="5158366" y="5113597"/>
            <a:ext cx="463528" cy="237175"/>
          </a:xfrm>
          <a:prstGeom prst="rect">
            <a:avLst/>
          </a:prstGeom>
          <a:solidFill>
            <a:schemeClr val="bg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正方形/長方形 10">
            <a:extLst>
              <a:ext uri="{FF2B5EF4-FFF2-40B4-BE49-F238E27FC236}">
                <a16:creationId xmlns:a16="http://schemas.microsoft.com/office/drawing/2014/main" id="{2FBAE76D-501D-E5BC-6503-E269CB90B40E}"/>
              </a:ext>
            </a:extLst>
          </p:cNvPr>
          <p:cNvSpPr/>
          <p:nvPr/>
        </p:nvSpPr>
        <p:spPr>
          <a:xfrm>
            <a:off x="3910290" y="5386351"/>
            <a:ext cx="228106" cy="237175"/>
          </a:xfrm>
          <a:prstGeom prst="rect">
            <a:avLst/>
          </a:prstGeom>
          <a:solidFill>
            <a:schemeClr val="bg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正方形/長方形 11">
            <a:extLst>
              <a:ext uri="{FF2B5EF4-FFF2-40B4-BE49-F238E27FC236}">
                <a16:creationId xmlns:a16="http://schemas.microsoft.com/office/drawing/2014/main" id="{5155971E-AF8E-6C1A-0CF8-39D318DADF28}"/>
              </a:ext>
            </a:extLst>
          </p:cNvPr>
          <p:cNvSpPr/>
          <p:nvPr/>
        </p:nvSpPr>
        <p:spPr>
          <a:xfrm>
            <a:off x="4831378" y="5386351"/>
            <a:ext cx="228106" cy="237175"/>
          </a:xfrm>
          <a:prstGeom prst="rect">
            <a:avLst/>
          </a:prstGeom>
          <a:solidFill>
            <a:schemeClr val="bg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正方形/長方形 12">
            <a:extLst>
              <a:ext uri="{FF2B5EF4-FFF2-40B4-BE49-F238E27FC236}">
                <a16:creationId xmlns:a16="http://schemas.microsoft.com/office/drawing/2014/main" id="{CA64A973-27A4-F290-D5AC-786972F74097}"/>
              </a:ext>
            </a:extLst>
          </p:cNvPr>
          <p:cNvSpPr/>
          <p:nvPr/>
        </p:nvSpPr>
        <p:spPr>
          <a:xfrm>
            <a:off x="2498884" y="6474865"/>
            <a:ext cx="360902" cy="237175"/>
          </a:xfrm>
          <a:prstGeom prst="rect">
            <a:avLst/>
          </a:prstGeom>
          <a:solidFill>
            <a:schemeClr val="bg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正方形/長方形 13">
            <a:extLst>
              <a:ext uri="{FF2B5EF4-FFF2-40B4-BE49-F238E27FC236}">
                <a16:creationId xmlns:a16="http://schemas.microsoft.com/office/drawing/2014/main" id="{68A2831E-7606-8A52-F36C-7BCCBD47D0AE}"/>
              </a:ext>
            </a:extLst>
          </p:cNvPr>
          <p:cNvSpPr/>
          <p:nvPr/>
        </p:nvSpPr>
        <p:spPr>
          <a:xfrm>
            <a:off x="1564616" y="3196290"/>
            <a:ext cx="1869818" cy="237175"/>
          </a:xfrm>
          <a:prstGeom prst="rect">
            <a:avLst/>
          </a:prstGeom>
          <a:solidFill>
            <a:schemeClr val="bg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326678050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9" name="解答"/>
          <p:cNvSpPr txBox="1">
            <a:spLocks noGrp="1"/>
          </p:cNvSpPr>
          <p:nvPr>
            <p:ph type="title"/>
          </p:nvPr>
        </p:nvSpPr>
        <p:spPr>
          <a:prstGeom prst="rect">
            <a:avLst/>
          </a:prstGeom>
        </p:spPr>
        <p:txBody>
          <a:bodyPr/>
          <a:lstStyle/>
          <a:p>
            <a:r>
              <a:t>解答</a:t>
            </a:r>
          </a:p>
        </p:txBody>
      </p:sp>
      <p:sp>
        <p:nvSpPr>
          <p:cNvPr id="558" name="線形化…"/>
          <p:cNvSpPr txBox="1">
            <a:spLocks noGrp="1"/>
          </p:cNvSpPr>
          <p:nvPr>
            <p:ph type="body" idx="4294967295"/>
          </p:nvPr>
        </p:nvSpPr>
        <p:spPr>
          <a:xfrm>
            <a:off x="187522" y="1339851"/>
            <a:ext cx="7353300" cy="4483100"/>
          </a:xfrm>
          <a:prstGeom prst="rect">
            <a:avLst/>
          </a:prstGeom>
        </p:spPr>
        <p:txBody>
          <a:bodyPr>
            <a:normAutofit/>
          </a:bodyPr>
          <a:lstStyle/>
          <a:p>
            <a:pPr marL="383540">
              <a:buClr>
                <a:srgbClr val="000000"/>
              </a:buClr>
              <a:buSzPct val="100000"/>
              <a:buFont typeface="Arial"/>
            </a:pPr>
            <a:r>
              <a:rPr dirty="0" err="1"/>
              <a:t>線形化</a:t>
            </a:r>
            <a:endParaRPr dirty="0"/>
          </a:p>
          <a:p>
            <a:pPr marL="383540">
              <a:buClr>
                <a:srgbClr val="000000"/>
              </a:buClr>
              <a:buSzPct val="100000"/>
              <a:buFont typeface="Arial"/>
            </a:pPr>
            <a:endParaRPr dirty="0"/>
          </a:p>
          <a:p>
            <a:pPr marL="40640" indent="0">
              <a:buClr>
                <a:srgbClr val="000000"/>
              </a:buClr>
              <a:buSzPct val="100000"/>
              <a:buNone/>
            </a:pPr>
            <a:endParaRPr dirty="0"/>
          </a:p>
          <a:p>
            <a:pPr marL="383540">
              <a:buClr>
                <a:srgbClr val="000000"/>
              </a:buClr>
              <a:buSzPct val="100000"/>
              <a:buFont typeface="Arial"/>
            </a:pPr>
            <a:r>
              <a:rPr dirty="0" err="1"/>
              <a:t>固定点</a:t>
            </a:r>
            <a:endParaRPr dirty="0"/>
          </a:p>
          <a:p>
            <a:pPr marL="40640" indent="0">
              <a:buClr>
                <a:srgbClr val="000000"/>
              </a:buClr>
              <a:buSzPct val="100000"/>
              <a:buNone/>
            </a:pPr>
            <a:endParaRPr lang="en-US" dirty="0"/>
          </a:p>
          <a:p>
            <a:pPr marL="40640" indent="0">
              <a:buClr>
                <a:srgbClr val="000000"/>
              </a:buClr>
              <a:buSzPct val="100000"/>
              <a:buNone/>
            </a:pPr>
            <a:endParaRPr dirty="0"/>
          </a:p>
          <a:p>
            <a:pPr marL="383540">
              <a:buClr>
                <a:srgbClr val="000000"/>
              </a:buClr>
              <a:buSzPct val="100000"/>
              <a:buFont typeface="Arial"/>
            </a:pPr>
            <a:r>
              <a:rPr dirty="0" err="1"/>
              <a:t>ヤコビ行列</a:t>
            </a:r>
            <a:endParaRPr dirty="0"/>
          </a:p>
        </p:txBody>
      </p:sp>
      <p:pic>
        <p:nvPicPr>
          <p:cNvPr id="560" name="droppedImage.pdf" descr="droppedImage.pdf"/>
          <p:cNvPicPr>
            <a:picLocks noChangeAspect="1"/>
          </p:cNvPicPr>
          <p:nvPr/>
        </p:nvPicPr>
        <p:blipFill>
          <a:blip r:embed="rId2"/>
          <a:stretch>
            <a:fillRect/>
          </a:stretch>
        </p:blipFill>
        <p:spPr>
          <a:xfrm>
            <a:off x="6859211" y="1659324"/>
            <a:ext cx="3263901" cy="486977"/>
          </a:xfrm>
          <a:prstGeom prst="rect">
            <a:avLst/>
          </a:prstGeom>
          <a:ln w="12700">
            <a:miter lim="400000"/>
          </a:ln>
        </p:spPr>
      </p:pic>
      <p:pic>
        <p:nvPicPr>
          <p:cNvPr id="561" name="droppedImage.pdf" descr="droppedImage.pdf"/>
          <p:cNvPicPr>
            <a:picLocks noChangeAspect="1"/>
          </p:cNvPicPr>
          <p:nvPr/>
        </p:nvPicPr>
        <p:blipFill>
          <a:blip r:embed="rId3"/>
          <a:stretch>
            <a:fillRect/>
          </a:stretch>
        </p:blipFill>
        <p:spPr>
          <a:xfrm>
            <a:off x="2032000" y="1701800"/>
            <a:ext cx="3911600" cy="495300"/>
          </a:xfrm>
          <a:prstGeom prst="rect">
            <a:avLst/>
          </a:prstGeom>
          <a:ln w="12700">
            <a:miter lim="400000"/>
          </a:ln>
        </p:spPr>
      </p:pic>
      <p:pic>
        <p:nvPicPr>
          <p:cNvPr id="562" name="droppedImage.pdf" descr="droppedImage.pdf"/>
          <p:cNvPicPr>
            <a:picLocks noChangeAspect="1"/>
          </p:cNvPicPr>
          <p:nvPr/>
        </p:nvPicPr>
        <p:blipFill>
          <a:blip r:embed="rId4"/>
          <a:stretch>
            <a:fillRect/>
          </a:stretch>
        </p:blipFill>
        <p:spPr>
          <a:xfrm>
            <a:off x="2070100" y="2527300"/>
            <a:ext cx="3295650" cy="495300"/>
          </a:xfrm>
          <a:prstGeom prst="rect">
            <a:avLst/>
          </a:prstGeom>
          <a:ln w="12700">
            <a:miter lim="400000"/>
          </a:ln>
        </p:spPr>
      </p:pic>
      <p:pic>
        <p:nvPicPr>
          <p:cNvPr id="563" name="droppedImage.pdf" descr="droppedImage.pdf"/>
          <p:cNvPicPr>
            <a:picLocks noChangeAspect="1"/>
          </p:cNvPicPr>
          <p:nvPr/>
        </p:nvPicPr>
        <p:blipFill>
          <a:blip r:embed="rId5"/>
          <a:stretch>
            <a:fillRect/>
          </a:stretch>
        </p:blipFill>
        <p:spPr>
          <a:xfrm>
            <a:off x="6883400" y="2523737"/>
            <a:ext cx="3302000" cy="498865"/>
          </a:xfrm>
          <a:prstGeom prst="rect">
            <a:avLst/>
          </a:prstGeom>
          <a:ln w="12700">
            <a:miter lim="400000"/>
          </a:ln>
        </p:spPr>
      </p:pic>
      <p:pic>
        <p:nvPicPr>
          <p:cNvPr id="564" name="droppedImage.pdf" descr="droppedImage.pdf"/>
          <p:cNvPicPr>
            <a:picLocks noChangeAspect="1"/>
          </p:cNvPicPr>
          <p:nvPr/>
        </p:nvPicPr>
        <p:blipFill>
          <a:blip r:embed="rId6"/>
          <a:stretch>
            <a:fillRect/>
          </a:stretch>
        </p:blipFill>
        <p:spPr>
          <a:xfrm>
            <a:off x="2019301" y="5485217"/>
            <a:ext cx="3797301" cy="1042585"/>
          </a:xfrm>
          <a:prstGeom prst="rect">
            <a:avLst/>
          </a:prstGeom>
          <a:ln w="12700">
            <a:miter lim="400000"/>
          </a:ln>
        </p:spPr>
      </p:pic>
      <p:pic>
        <p:nvPicPr>
          <p:cNvPr id="565" name="droppedImage.pdf" descr="droppedImage.pdf"/>
          <p:cNvPicPr>
            <a:picLocks noChangeAspect="1"/>
          </p:cNvPicPr>
          <p:nvPr/>
        </p:nvPicPr>
        <p:blipFill>
          <a:blip r:embed="rId7"/>
          <a:stretch>
            <a:fillRect/>
          </a:stretch>
        </p:blipFill>
        <p:spPr>
          <a:xfrm>
            <a:off x="7740650" y="3403600"/>
            <a:ext cx="2444750" cy="558800"/>
          </a:xfrm>
          <a:prstGeom prst="rect">
            <a:avLst/>
          </a:prstGeom>
          <a:ln w="12700">
            <a:miter lim="400000"/>
          </a:ln>
        </p:spPr>
      </p:pic>
      <p:pic>
        <p:nvPicPr>
          <p:cNvPr id="566" name="droppedImage.pdf" descr="droppedImage.pdf"/>
          <p:cNvPicPr>
            <a:picLocks noChangeAspect="1"/>
          </p:cNvPicPr>
          <p:nvPr/>
        </p:nvPicPr>
        <p:blipFill>
          <a:blip r:embed="rId8"/>
          <a:stretch>
            <a:fillRect/>
          </a:stretch>
        </p:blipFill>
        <p:spPr>
          <a:xfrm>
            <a:off x="2057400" y="3758170"/>
            <a:ext cx="1524000" cy="724930"/>
          </a:xfrm>
          <a:prstGeom prst="rect">
            <a:avLst/>
          </a:prstGeom>
          <a:ln w="12700">
            <a:miter lim="400000"/>
          </a:ln>
        </p:spPr>
      </p:pic>
      <p:sp>
        <p:nvSpPr>
          <p:cNvPr id="567" name="または"/>
          <p:cNvSpPr/>
          <p:nvPr/>
        </p:nvSpPr>
        <p:spPr>
          <a:xfrm>
            <a:off x="6745733" y="3391606"/>
            <a:ext cx="795089" cy="37959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lvl1pPr>
              <a:defRPr sz="1800"/>
            </a:lvl1pPr>
          </a:lstStyle>
          <a:p>
            <a:r>
              <a:t>または</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BD51FB-49C9-53B6-F20A-C74106620FEA}"/>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F5F49E60-4CE5-33C5-C3EC-A63F6C7B95EE}"/>
              </a:ext>
            </a:extLst>
          </p:cNvPr>
          <p:cNvSpPr>
            <a:spLocks noGrp="1"/>
          </p:cNvSpPr>
          <p:nvPr>
            <p:ph type="title"/>
          </p:nvPr>
        </p:nvSpPr>
        <p:spPr/>
        <p:txBody>
          <a:bodyPr/>
          <a:lstStyle/>
          <a:p>
            <a:r>
              <a:rPr kumimoji="1" lang="ja-JP" altLang="en-US"/>
              <a:t>力学系の七つ道具</a:t>
            </a:r>
          </a:p>
        </p:txBody>
      </p:sp>
      <p:sp>
        <p:nvSpPr>
          <p:cNvPr id="4" name="テキスト ボックス 3">
            <a:extLst>
              <a:ext uri="{FF2B5EF4-FFF2-40B4-BE49-F238E27FC236}">
                <a16:creationId xmlns:a16="http://schemas.microsoft.com/office/drawing/2014/main" id="{1A18ACDA-E0C1-2AF4-AB98-5D38E429CFFF}"/>
              </a:ext>
            </a:extLst>
          </p:cNvPr>
          <p:cNvSpPr txBox="1"/>
          <p:nvPr/>
        </p:nvSpPr>
        <p:spPr>
          <a:xfrm>
            <a:off x="3036094" y="1898913"/>
            <a:ext cx="6129336" cy="4108817"/>
          </a:xfrm>
          <a:prstGeom prst="rect">
            <a:avLst/>
          </a:prstGeom>
          <a:noFill/>
        </p:spPr>
        <p:txBody>
          <a:bodyPr wrap="square">
            <a:spAutoFit/>
          </a:bodyPr>
          <a:lstStyle/>
          <a:p>
            <a:pPr>
              <a:spcAft>
                <a:spcPts val="1275"/>
              </a:spcAft>
              <a:buFont typeface="+mj-lt"/>
              <a:buAutoNum type="arabicPeriod"/>
            </a:pPr>
            <a:r>
              <a:rPr lang="ja-JP" altLang="en-US" sz="2800">
                <a:solidFill>
                  <a:srgbClr val="000000"/>
                </a:solidFill>
                <a:effectLst/>
                <a:latin typeface="Hiragino Sans" panose="020B0400000000000000" pitchFamily="34" charset="-128"/>
                <a:ea typeface="Hiragino Sans" panose="020B0400000000000000" pitchFamily="34" charset="-128"/>
                <a:cs typeface="Gill Sans" panose="020B0502020104020203" pitchFamily="34" charset="-79"/>
              </a:rPr>
              <a:t>相平面</a:t>
            </a:r>
            <a:endParaRPr lang="ja-JP" altLang="en-US" sz="2800">
              <a:solidFill>
                <a:srgbClr val="000000"/>
              </a:solidFill>
              <a:effectLst/>
              <a:latin typeface="Gill Sans" panose="020B0502020104020203" pitchFamily="34" charset="-79"/>
              <a:cs typeface="Gill Sans" panose="020B0502020104020203" pitchFamily="34" charset="-79"/>
            </a:endParaRPr>
          </a:p>
          <a:p>
            <a:pPr>
              <a:spcAft>
                <a:spcPts val="1275"/>
              </a:spcAft>
              <a:buFont typeface="+mj-lt"/>
              <a:buAutoNum type="arabicPeriod"/>
            </a:pPr>
            <a:r>
              <a:rPr lang="ja-JP" altLang="en-US" sz="2800">
                <a:solidFill>
                  <a:srgbClr val="000000"/>
                </a:solidFill>
                <a:effectLst/>
                <a:latin typeface="Hiragino Sans" panose="020B0400000000000000" pitchFamily="34" charset="-128"/>
                <a:ea typeface="Hiragino Sans" panose="020B0400000000000000" pitchFamily="34" charset="-128"/>
              </a:rPr>
              <a:t>ヌルクライン</a:t>
            </a:r>
            <a:endParaRPr lang="en-US" altLang="ja-JP" sz="2800" dirty="0">
              <a:solidFill>
                <a:srgbClr val="000000"/>
              </a:solidFill>
              <a:effectLst/>
              <a:latin typeface="Hiragino Sans" panose="020B0400000000000000" pitchFamily="34" charset="-128"/>
              <a:ea typeface="Hiragino Sans" panose="020B0400000000000000" pitchFamily="34" charset="-128"/>
            </a:endParaRPr>
          </a:p>
          <a:p>
            <a:pPr>
              <a:spcAft>
                <a:spcPts val="1275"/>
              </a:spcAft>
              <a:buFont typeface="+mj-lt"/>
              <a:buAutoNum type="arabicPeriod"/>
            </a:pPr>
            <a:r>
              <a:rPr lang="ja-JP" altLang="en-US" sz="2800">
                <a:solidFill>
                  <a:srgbClr val="000000"/>
                </a:solidFill>
                <a:effectLst/>
                <a:latin typeface="Hiragino Sans" panose="020B0400000000000000" pitchFamily="34" charset="-128"/>
                <a:ea typeface="Hiragino Sans" panose="020B0400000000000000" pitchFamily="34" charset="-128"/>
              </a:rPr>
              <a:t>ベクトル場</a:t>
            </a:r>
            <a:endParaRPr lang="en-US" altLang="ja-JP" sz="2800" dirty="0">
              <a:solidFill>
                <a:srgbClr val="000000"/>
              </a:solidFill>
              <a:effectLst/>
              <a:latin typeface="Hiragino Sans" panose="020B0400000000000000" pitchFamily="34" charset="-128"/>
              <a:ea typeface="Hiragino Sans" panose="020B0400000000000000" pitchFamily="34" charset="-128"/>
            </a:endParaRPr>
          </a:p>
          <a:p>
            <a:pPr>
              <a:spcAft>
                <a:spcPts val="1275"/>
              </a:spcAft>
              <a:buFont typeface="+mj-lt"/>
              <a:buAutoNum type="arabicPeriod"/>
            </a:pPr>
            <a:r>
              <a:rPr lang="ja-JP" altLang="en-US" sz="2800">
                <a:solidFill>
                  <a:srgbClr val="000000"/>
                </a:solidFill>
                <a:latin typeface="Hiragino Sans" panose="020B0400000000000000" pitchFamily="34" charset="-128"/>
                <a:ea typeface="Hiragino Sans" panose="020B0400000000000000" pitchFamily="34" charset="-128"/>
              </a:rPr>
              <a:t>固定点</a:t>
            </a:r>
            <a:endParaRPr lang="ja-JP" altLang="en-US" sz="2800">
              <a:solidFill>
                <a:srgbClr val="000000"/>
              </a:solidFill>
              <a:effectLst/>
              <a:latin typeface="Hiragino Sans" panose="020B0400000000000000" pitchFamily="34" charset="-128"/>
              <a:ea typeface="Hiragino Sans" panose="020B0400000000000000" pitchFamily="34" charset="-128"/>
            </a:endParaRPr>
          </a:p>
          <a:p>
            <a:pPr>
              <a:spcAft>
                <a:spcPts val="1275"/>
              </a:spcAft>
              <a:buFont typeface="+mj-lt"/>
              <a:buAutoNum type="arabicPeriod"/>
            </a:pPr>
            <a:r>
              <a:rPr lang="ja-JP" altLang="en-US" sz="2800">
                <a:solidFill>
                  <a:srgbClr val="000000"/>
                </a:solidFill>
                <a:effectLst/>
                <a:latin typeface="Hiragino Sans" panose="020B0400000000000000" pitchFamily="34" charset="-128"/>
                <a:ea typeface="Hiragino Sans" panose="020B0400000000000000" pitchFamily="34" charset="-128"/>
              </a:rPr>
              <a:t>ヤコビ行列</a:t>
            </a:r>
          </a:p>
          <a:p>
            <a:pPr>
              <a:spcAft>
                <a:spcPts val="1275"/>
              </a:spcAft>
              <a:buFont typeface="+mj-lt"/>
              <a:buAutoNum type="arabicPeriod"/>
            </a:pPr>
            <a:r>
              <a:rPr lang="ja-JP" altLang="en-US" sz="2800">
                <a:solidFill>
                  <a:srgbClr val="C00000"/>
                </a:solidFill>
                <a:effectLst/>
                <a:latin typeface="Hiragino Sans" panose="020B0400000000000000" pitchFamily="34" charset="-128"/>
                <a:ea typeface="Hiragino Sans" panose="020B0400000000000000" pitchFamily="34" charset="-128"/>
              </a:rPr>
              <a:t>固有値による安定性解析</a:t>
            </a:r>
          </a:p>
          <a:p>
            <a:pPr>
              <a:spcAft>
                <a:spcPts val="1275"/>
              </a:spcAft>
              <a:buFont typeface="+mj-lt"/>
              <a:buAutoNum type="arabicPeriod"/>
            </a:pPr>
            <a:r>
              <a:rPr lang="ja-JP" altLang="en-US" sz="2800">
                <a:solidFill>
                  <a:srgbClr val="000000"/>
                </a:solidFill>
                <a:effectLst/>
                <a:latin typeface="Hiragino Sans" panose="020B0400000000000000" pitchFamily="34" charset="-128"/>
                <a:ea typeface="Hiragino Sans" panose="020B0400000000000000" pitchFamily="34" charset="-128"/>
                <a:cs typeface="Gill Sans" panose="020B0502020104020203" pitchFamily="34" charset="-79"/>
              </a:rPr>
              <a:t>分岐図</a:t>
            </a:r>
            <a:endParaRPr lang="ja-JP" altLang="en-US" sz="2800">
              <a:solidFill>
                <a:srgbClr val="000000"/>
              </a:solidFill>
              <a:effectLst/>
              <a:latin typeface="Gill Sans" panose="020B0502020104020203" pitchFamily="34" charset="-79"/>
              <a:cs typeface="Gill Sans" panose="020B0502020104020203" pitchFamily="34" charset="-79"/>
            </a:endParaRPr>
          </a:p>
        </p:txBody>
      </p:sp>
    </p:spTree>
    <p:extLst>
      <p:ext uri="{BB962C8B-B14F-4D97-AF65-F5344CB8AC3E}">
        <p14:creationId xmlns:p14="http://schemas.microsoft.com/office/powerpoint/2010/main" val="319900200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5" name="すべての固有値が実数である固定点"/>
          <p:cNvSpPr txBox="1">
            <a:spLocks noGrp="1"/>
          </p:cNvSpPr>
          <p:nvPr>
            <p:ph type="title"/>
          </p:nvPr>
        </p:nvSpPr>
        <p:spPr>
          <a:prstGeom prst="rect">
            <a:avLst/>
          </a:prstGeom>
        </p:spPr>
        <p:txBody>
          <a:bodyPr/>
          <a:lstStyle/>
          <a:p>
            <a:r>
              <a:t>すべての固有値が実数である固定点</a:t>
            </a:r>
          </a:p>
        </p:txBody>
      </p:sp>
      <p:sp>
        <p:nvSpPr>
          <p:cNvPr id="572" name="ノード (Node)…"/>
          <p:cNvSpPr txBox="1">
            <a:spLocks noGrp="1"/>
          </p:cNvSpPr>
          <p:nvPr>
            <p:ph type="body" idx="4294967295"/>
          </p:nvPr>
        </p:nvSpPr>
        <p:spPr>
          <a:xfrm>
            <a:off x="287384" y="1600200"/>
            <a:ext cx="6032501" cy="5257800"/>
          </a:xfrm>
          <a:prstGeom prst="rect">
            <a:avLst/>
          </a:prstGeom>
        </p:spPr>
        <p:txBody>
          <a:bodyPr/>
          <a:lstStyle/>
          <a:p>
            <a:pPr marL="383540">
              <a:buClr>
                <a:srgbClr val="000000"/>
              </a:buClr>
              <a:buSzPct val="100000"/>
              <a:buFont typeface="Arial"/>
            </a:pPr>
            <a:r>
              <a:rPr dirty="0" err="1"/>
              <a:t>ノード</a:t>
            </a:r>
            <a:r>
              <a:rPr dirty="0"/>
              <a:t> (Node)</a:t>
            </a:r>
          </a:p>
          <a:p>
            <a:pPr marL="783590" lvl="1">
              <a:buClr>
                <a:srgbClr val="000000"/>
              </a:buClr>
              <a:buSzPct val="100000"/>
              <a:buFont typeface="Arial"/>
            </a:pPr>
            <a:r>
              <a:rPr dirty="0" err="1"/>
              <a:t>すべての固有値の符号が同じ</a:t>
            </a:r>
            <a:endParaRPr dirty="0"/>
          </a:p>
          <a:p>
            <a:pPr marL="1183639" lvl="2">
              <a:buClr>
                <a:srgbClr val="000000"/>
              </a:buClr>
              <a:buSzPct val="100000"/>
              <a:buFont typeface="Arial"/>
            </a:pPr>
            <a:r>
              <a:rPr dirty="0" err="1"/>
              <a:t>負</a:t>
            </a:r>
            <a:r>
              <a:rPr dirty="0"/>
              <a:t>: </a:t>
            </a:r>
            <a:r>
              <a:rPr dirty="0" err="1"/>
              <a:t>安定ノード</a:t>
            </a:r>
            <a:r>
              <a:rPr dirty="0"/>
              <a:t>     (attractor)</a:t>
            </a:r>
          </a:p>
          <a:p>
            <a:pPr marL="1183639" lvl="2">
              <a:buClr>
                <a:srgbClr val="000000"/>
              </a:buClr>
              <a:buSzPct val="100000"/>
              <a:buFont typeface="Arial"/>
            </a:pPr>
            <a:r>
              <a:rPr dirty="0" err="1"/>
              <a:t>正</a:t>
            </a:r>
            <a:r>
              <a:rPr dirty="0"/>
              <a:t>: </a:t>
            </a:r>
            <a:r>
              <a:rPr dirty="0" err="1"/>
              <a:t>不安定ノード</a:t>
            </a:r>
            <a:r>
              <a:rPr dirty="0"/>
              <a:t> (</a:t>
            </a:r>
            <a:r>
              <a:rPr dirty="0" err="1"/>
              <a:t>repellor</a:t>
            </a:r>
            <a:r>
              <a:rPr dirty="0"/>
              <a:t>)</a:t>
            </a:r>
          </a:p>
          <a:p>
            <a:pPr marL="1183639" lvl="2">
              <a:buClr>
                <a:srgbClr val="000000"/>
              </a:buClr>
              <a:buSzPct val="100000"/>
              <a:buFont typeface="Arial"/>
            </a:pPr>
            <a:endParaRPr dirty="0"/>
          </a:p>
          <a:p>
            <a:pPr marL="383540">
              <a:buClr>
                <a:srgbClr val="000000"/>
              </a:buClr>
              <a:buSzPct val="100000"/>
              <a:buFont typeface="Arial"/>
            </a:pPr>
            <a:r>
              <a:rPr dirty="0" err="1"/>
              <a:t>サドル</a:t>
            </a:r>
            <a:r>
              <a:rPr dirty="0"/>
              <a:t> (Saddle)</a:t>
            </a:r>
          </a:p>
          <a:p>
            <a:pPr marL="783590" lvl="1">
              <a:buClr>
                <a:srgbClr val="000000"/>
              </a:buClr>
              <a:buSzPct val="100000"/>
              <a:buFont typeface="Arial"/>
            </a:pPr>
            <a:r>
              <a:rPr dirty="0" err="1"/>
              <a:t>固有値の符号がまちまち</a:t>
            </a:r>
            <a:endParaRPr dirty="0"/>
          </a:p>
          <a:p>
            <a:pPr marL="783590" lvl="1">
              <a:buClr>
                <a:srgbClr val="000000"/>
              </a:buClr>
              <a:buSzPct val="100000"/>
              <a:buFont typeface="Arial"/>
            </a:pPr>
            <a:r>
              <a:rPr dirty="0" err="1"/>
              <a:t>収束方向</a:t>
            </a:r>
            <a:r>
              <a:rPr dirty="0"/>
              <a:t>: </a:t>
            </a:r>
            <a:r>
              <a:rPr dirty="0" err="1"/>
              <a:t>安定多様体</a:t>
            </a:r>
            <a:endParaRPr dirty="0"/>
          </a:p>
          <a:p>
            <a:pPr marL="783590" lvl="1">
              <a:buClr>
                <a:srgbClr val="000000"/>
              </a:buClr>
              <a:buSzPct val="100000"/>
              <a:buFont typeface="Arial"/>
            </a:pPr>
            <a:r>
              <a:rPr dirty="0" err="1"/>
              <a:t>発散方向</a:t>
            </a:r>
            <a:r>
              <a:rPr dirty="0"/>
              <a:t>: </a:t>
            </a:r>
            <a:r>
              <a:rPr dirty="0" err="1"/>
              <a:t>不安定多様体</a:t>
            </a:r>
            <a:endParaRPr dirty="0"/>
          </a:p>
        </p:txBody>
      </p:sp>
      <p:sp>
        <p:nvSpPr>
          <p:cNvPr id="573" name="線"/>
          <p:cNvSpPr/>
          <p:nvPr/>
        </p:nvSpPr>
        <p:spPr>
          <a:xfrm>
            <a:off x="7158037" y="4652963"/>
            <a:ext cx="1588" cy="576263"/>
          </a:xfrm>
          <a:prstGeom prst="line">
            <a:avLst/>
          </a:prstGeom>
          <a:ln w="38100">
            <a:solidFill>
              <a:srgbClr val="000000"/>
            </a:solidFill>
            <a:miter lim="400000"/>
            <a:tailEnd type="triangle"/>
          </a:ln>
        </p:spPr>
        <p:txBody>
          <a:bodyPr lIns="0" tIns="0" rIns="0" bIns="0"/>
          <a:lstStyle/>
          <a:p>
            <a:pPr defTabSz="457200">
              <a:defRPr sz="1200">
                <a:latin typeface="ヒラギノ角ゴ ProN W3"/>
                <a:ea typeface="ヒラギノ角ゴ ProN W3"/>
                <a:cs typeface="ヒラギノ角ゴ ProN W3"/>
                <a:sym typeface="ヒラギノ角ゴ ProN W3"/>
              </a:defRPr>
            </a:pPr>
            <a:endParaRPr sz="1200"/>
          </a:p>
        </p:txBody>
      </p:sp>
      <p:sp>
        <p:nvSpPr>
          <p:cNvPr id="574" name="線"/>
          <p:cNvSpPr/>
          <p:nvPr/>
        </p:nvSpPr>
        <p:spPr>
          <a:xfrm flipV="1">
            <a:off x="7158037" y="5372100"/>
            <a:ext cx="1588" cy="649288"/>
          </a:xfrm>
          <a:prstGeom prst="line">
            <a:avLst/>
          </a:prstGeom>
          <a:ln w="38100">
            <a:solidFill>
              <a:srgbClr val="000000"/>
            </a:solidFill>
            <a:miter lim="400000"/>
            <a:tailEnd type="triangle"/>
          </a:ln>
        </p:spPr>
        <p:txBody>
          <a:bodyPr lIns="0" tIns="0" rIns="0" bIns="0"/>
          <a:lstStyle/>
          <a:p>
            <a:pPr defTabSz="457200">
              <a:defRPr sz="1200">
                <a:latin typeface="ヒラギノ角ゴ ProN W3"/>
                <a:ea typeface="ヒラギノ角ゴ ProN W3"/>
                <a:cs typeface="ヒラギノ角ゴ ProN W3"/>
                <a:sym typeface="ヒラギノ角ゴ ProN W3"/>
              </a:defRPr>
            </a:pPr>
            <a:endParaRPr sz="1200"/>
          </a:p>
        </p:txBody>
      </p:sp>
      <p:sp>
        <p:nvSpPr>
          <p:cNvPr id="575" name="線"/>
          <p:cNvSpPr/>
          <p:nvPr/>
        </p:nvSpPr>
        <p:spPr>
          <a:xfrm>
            <a:off x="6510338" y="5300662"/>
            <a:ext cx="576263" cy="1588"/>
          </a:xfrm>
          <a:prstGeom prst="line">
            <a:avLst/>
          </a:prstGeom>
          <a:ln w="38100">
            <a:solidFill>
              <a:srgbClr val="000000"/>
            </a:solidFill>
            <a:miter lim="400000"/>
            <a:tailEnd type="triangle"/>
          </a:ln>
        </p:spPr>
        <p:txBody>
          <a:bodyPr lIns="0" tIns="0" rIns="0" bIns="0"/>
          <a:lstStyle/>
          <a:p>
            <a:pPr defTabSz="457200">
              <a:defRPr sz="1200">
                <a:latin typeface="ヒラギノ角ゴ ProN W3"/>
                <a:ea typeface="ヒラギノ角ゴ ProN W3"/>
                <a:cs typeface="ヒラギノ角ゴ ProN W3"/>
                <a:sym typeface="ヒラギノ角ゴ ProN W3"/>
              </a:defRPr>
            </a:pPr>
            <a:endParaRPr sz="1200"/>
          </a:p>
        </p:txBody>
      </p:sp>
      <p:sp>
        <p:nvSpPr>
          <p:cNvPr id="576" name="線"/>
          <p:cNvSpPr/>
          <p:nvPr/>
        </p:nvSpPr>
        <p:spPr>
          <a:xfrm flipH="1">
            <a:off x="7231063" y="5300662"/>
            <a:ext cx="576263" cy="1588"/>
          </a:xfrm>
          <a:prstGeom prst="line">
            <a:avLst/>
          </a:prstGeom>
          <a:ln w="38100">
            <a:solidFill>
              <a:srgbClr val="000000"/>
            </a:solidFill>
            <a:miter lim="400000"/>
            <a:tailEnd type="triangle"/>
          </a:ln>
        </p:spPr>
        <p:txBody>
          <a:bodyPr lIns="0" tIns="0" rIns="0" bIns="0"/>
          <a:lstStyle/>
          <a:p>
            <a:pPr defTabSz="457200">
              <a:defRPr sz="1200">
                <a:latin typeface="ヒラギノ角ゴ ProN W3"/>
                <a:ea typeface="ヒラギノ角ゴ ProN W3"/>
                <a:cs typeface="ヒラギノ角ゴ ProN W3"/>
                <a:sym typeface="ヒラギノ角ゴ ProN W3"/>
              </a:defRPr>
            </a:pPr>
            <a:endParaRPr sz="1200"/>
          </a:p>
        </p:txBody>
      </p:sp>
      <p:sp>
        <p:nvSpPr>
          <p:cNvPr id="577" name="円形"/>
          <p:cNvSpPr/>
          <p:nvPr/>
        </p:nvSpPr>
        <p:spPr>
          <a:xfrm>
            <a:off x="7086601" y="5229226"/>
            <a:ext cx="144463" cy="144463"/>
          </a:xfrm>
          <a:prstGeom prst="ellipse">
            <a:avLst/>
          </a:prstGeom>
          <a:solidFill>
            <a:srgbClr val="000000"/>
          </a:solidFill>
          <a:ln w="25400">
            <a:solidFill>
              <a:srgbClr val="000000"/>
            </a:solidFill>
            <a:miter lim="400000"/>
          </a:ln>
        </p:spPr>
        <p:txBody>
          <a:bodyPr lIns="50800" tIns="50800" rIns="50800" bIns="50800" anchor="ctr"/>
          <a:lstStyle/>
          <a:p>
            <a:pPr>
              <a:defRPr>
                <a:solidFill>
                  <a:srgbClr val="FFFFFF"/>
                </a:solidFill>
                <a:effectLst>
                  <a:outerShdw blurRad="38100" dist="12700" dir="5400000" rotWithShape="0">
                    <a:srgbClr val="000000">
                      <a:alpha val="50000"/>
                    </a:srgbClr>
                  </a:outerShdw>
                </a:effectLst>
              </a:defRPr>
            </a:pPr>
            <a:endParaRPr/>
          </a:p>
        </p:txBody>
      </p:sp>
      <p:sp>
        <p:nvSpPr>
          <p:cNvPr id="578" name="線"/>
          <p:cNvSpPr/>
          <p:nvPr/>
        </p:nvSpPr>
        <p:spPr>
          <a:xfrm>
            <a:off x="9390062" y="4652963"/>
            <a:ext cx="1588" cy="576263"/>
          </a:xfrm>
          <a:prstGeom prst="line">
            <a:avLst/>
          </a:prstGeom>
          <a:ln w="38100">
            <a:solidFill>
              <a:srgbClr val="000000"/>
            </a:solidFill>
            <a:miter lim="400000"/>
            <a:tailEnd type="triangle"/>
          </a:ln>
        </p:spPr>
        <p:txBody>
          <a:bodyPr lIns="0" tIns="0" rIns="0" bIns="0"/>
          <a:lstStyle/>
          <a:p>
            <a:pPr defTabSz="457200">
              <a:defRPr sz="1200">
                <a:latin typeface="ヒラギノ角ゴ ProN W3"/>
                <a:ea typeface="ヒラギノ角ゴ ProN W3"/>
                <a:cs typeface="ヒラギノ角ゴ ProN W3"/>
                <a:sym typeface="ヒラギノ角ゴ ProN W3"/>
              </a:defRPr>
            </a:pPr>
            <a:endParaRPr sz="1200"/>
          </a:p>
        </p:txBody>
      </p:sp>
      <p:sp>
        <p:nvSpPr>
          <p:cNvPr id="579" name="線"/>
          <p:cNvSpPr/>
          <p:nvPr/>
        </p:nvSpPr>
        <p:spPr>
          <a:xfrm flipV="1">
            <a:off x="9390062" y="5372100"/>
            <a:ext cx="1588" cy="649288"/>
          </a:xfrm>
          <a:prstGeom prst="line">
            <a:avLst/>
          </a:prstGeom>
          <a:ln w="38100">
            <a:solidFill>
              <a:srgbClr val="000000"/>
            </a:solidFill>
            <a:miter lim="400000"/>
            <a:tailEnd type="triangle"/>
          </a:ln>
        </p:spPr>
        <p:txBody>
          <a:bodyPr lIns="0" tIns="0" rIns="0" bIns="0"/>
          <a:lstStyle/>
          <a:p>
            <a:pPr defTabSz="457200">
              <a:defRPr sz="1200">
                <a:latin typeface="ヒラギノ角ゴ ProN W3"/>
                <a:ea typeface="ヒラギノ角ゴ ProN W3"/>
                <a:cs typeface="ヒラギノ角ゴ ProN W3"/>
                <a:sym typeface="ヒラギノ角ゴ ProN W3"/>
              </a:defRPr>
            </a:pPr>
            <a:endParaRPr sz="1200"/>
          </a:p>
        </p:txBody>
      </p:sp>
      <p:sp>
        <p:nvSpPr>
          <p:cNvPr id="580" name="線"/>
          <p:cNvSpPr/>
          <p:nvPr/>
        </p:nvSpPr>
        <p:spPr>
          <a:xfrm>
            <a:off x="9463088" y="5300662"/>
            <a:ext cx="576263" cy="1588"/>
          </a:xfrm>
          <a:prstGeom prst="line">
            <a:avLst/>
          </a:prstGeom>
          <a:ln w="38100">
            <a:solidFill>
              <a:srgbClr val="000000"/>
            </a:solidFill>
            <a:miter lim="400000"/>
            <a:tailEnd type="triangle"/>
          </a:ln>
        </p:spPr>
        <p:txBody>
          <a:bodyPr lIns="0" tIns="0" rIns="0" bIns="0"/>
          <a:lstStyle/>
          <a:p>
            <a:pPr defTabSz="457200">
              <a:defRPr sz="1200">
                <a:latin typeface="ヒラギノ角ゴ ProN W3"/>
                <a:ea typeface="ヒラギノ角ゴ ProN W3"/>
                <a:cs typeface="ヒラギノ角ゴ ProN W3"/>
                <a:sym typeface="ヒラギノ角ゴ ProN W3"/>
              </a:defRPr>
            </a:pPr>
            <a:endParaRPr sz="1200"/>
          </a:p>
        </p:txBody>
      </p:sp>
      <p:sp>
        <p:nvSpPr>
          <p:cNvPr id="581" name="線"/>
          <p:cNvSpPr/>
          <p:nvPr/>
        </p:nvSpPr>
        <p:spPr>
          <a:xfrm flipH="1">
            <a:off x="8742363" y="5300662"/>
            <a:ext cx="576263" cy="1588"/>
          </a:xfrm>
          <a:prstGeom prst="line">
            <a:avLst/>
          </a:prstGeom>
          <a:ln w="38100">
            <a:solidFill>
              <a:srgbClr val="000000"/>
            </a:solidFill>
            <a:miter lim="400000"/>
            <a:tailEnd type="triangle"/>
          </a:ln>
        </p:spPr>
        <p:txBody>
          <a:bodyPr lIns="0" tIns="0" rIns="0" bIns="0"/>
          <a:lstStyle/>
          <a:p>
            <a:pPr defTabSz="457200">
              <a:defRPr sz="1200">
                <a:latin typeface="ヒラギノ角ゴ ProN W3"/>
                <a:ea typeface="ヒラギノ角ゴ ProN W3"/>
                <a:cs typeface="ヒラギノ角ゴ ProN W3"/>
                <a:sym typeface="ヒラギノ角ゴ ProN W3"/>
              </a:defRPr>
            </a:pPr>
            <a:endParaRPr sz="1200"/>
          </a:p>
        </p:txBody>
      </p:sp>
      <p:sp>
        <p:nvSpPr>
          <p:cNvPr id="582" name="円形"/>
          <p:cNvSpPr/>
          <p:nvPr/>
        </p:nvSpPr>
        <p:spPr>
          <a:xfrm>
            <a:off x="9318626" y="5229226"/>
            <a:ext cx="144463" cy="144463"/>
          </a:xfrm>
          <a:prstGeom prst="ellipse">
            <a:avLst/>
          </a:prstGeom>
          <a:ln w="25400">
            <a:solidFill>
              <a:srgbClr val="000000"/>
            </a:solidFill>
            <a:miter lim="400000"/>
          </a:ln>
        </p:spPr>
        <p:txBody>
          <a:bodyPr lIns="50800" tIns="50800" rIns="50800" bIns="50800" anchor="ctr"/>
          <a:lstStyle/>
          <a:p>
            <a:pPr>
              <a:defRPr>
                <a:solidFill>
                  <a:srgbClr val="FFFFFF"/>
                </a:solidFill>
                <a:effectLst>
                  <a:outerShdw blurRad="38100" dist="12700" dir="5400000" rotWithShape="0">
                    <a:srgbClr val="000000">
                      <a:alpha val="50000"/>
                    </a:srgbClr>
                  </a:outerShdw>
                </a:effectLst>
              </a:defRPr>
            </a:pPr>
            <a:endParaRPr/>
          </a:p>
        </p:txBody>
      </p:sp>
      <p:sp>
        <p:nvSpPr>
          <p:cNvPr id="583" name="Stable Node"/>
          <p:cNvSpPr/>
          <p:nvPr/>
        </p:nvSpPr>
        <p:spPr>
          <a:xfrm>
            <a:off x="6438582" y="6105525"/>
            <a:ext cx="1367930" cy="4064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lvl1pPr>
              <a:buClr>
                <a:srgbClr val="000000"/>
              </a:buClr>
              <a:buFont typeface="Calibri"/>
              <a:defRPr sz="2000">
                <a:latin typeface="Calibri"/>
                <a:ea typeface="Calibri"/>
                <a:cs typeface="Calibri"/>
                <a:sym typeface="Calibri"/>
              </a:defRPr>
            </a:lvl1pPr>
          </a:lstStyle>
          <a:p>
            <a:r>
              <a:t>Stable Node</a:t>
            </a:r>
          </a:p>
        </p:txBody>
      </p:sp>
      <p:sp>
        <p:nvSpPr>
          <p:cNvPr id="584" name="Saddle"/>
          <p:cNvSpPr/>
          <p:nvPr/>
        </p:nvSpPr>
        <p:spPr>
          <a:xfrm>
            <a:off x="8907144" y="6118225"/>
            <a:ext cx="804244" cy="4064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lvl1pPr>
              <a:buClr>
                <a:srgbClr val="000000"/>
              </a:buClr>
              <a:buFont typeface="Calibri"/>
              <a:defRPr sz="2000">
                <a:latin typeface="Calibri"/>
                <a:ea typeface="Calibri"/>
                <a:cs typeface="Calibri"/>
                <a:sym typeface="Calibri"/>
              </a:defRPr>
            </a:lvl1pPr>
          </a:lstStyle>
          <a:p>
            <a:r>
              <a:t>Saddle</a:t>
            </a:r>
          </a:p>
        </p:txBody>
      </p:sp>
      <p:pic>
        <p:nvPicPr>
          <p:cNvPr id="586" name="droppedImage.pdf" descr="droppedImage.pdf"/>
          <p:cNvPicPr>
            <a:picLocks noChangeAspect="1"/>
          </p:cNvPicPr>
          <p:nvPr/>
        </p:nvPicPr>
        <p:blipFill>
          <a:blip r:embed="rId2"/>
          <a:stretch>
            <a:fillRect/>
          </a:stretch>
        </p:blipFill>
        <p:spPr>
          <a:xfrm>
            <a:off x="6282130" y="2034669"/>
            <a:ext cx="1514518" cy="546100"/>
          </a:xfrm>
          <a:prstGeom prst="rect">
            <a:avLst/>
          </a:prstGeom>
          <a:ln w="12700">
            <a:miter lim="400000"/>
          </a:ln>
        </p:spPr>
      </p:pic>
      <p:pic>
        <p:nvPicPr>
          <p:cNvPr id="587" name="droppedImage.pdf" descr="droppedImage.pdf"/>
          <p:cNvPicPr>
            <a:picLocks noChangeAspect="1"/>
          </p:cNvPicPr>
          <p:nvPr/>
        </p:nvPicPr>
        <p:blipFill>
          <a:blip r:embed="rId3"/>
          <a:stretch>
            <a:fillRect/>
          </a:stretch>
        </p:blipFill>
        <p:spPr>
          <a:xfrm>
            <a:off x="6285517" y="3187701"/>
            <a:ext cx="4242785" cy="546102"/>
          </a:xfrm>
          <a:prstGeom prst="rect">
            <a:avLst/>
          </a:prstGeom>
          <a:ln w="12700">
            <a:miter lim="400000"/>
          </a:ln>
        </p:spPr>
      </p:pic>
      <p:sp>
        <p:nvSpPr>
          <p:cNvPr id="588" name="線"/>
          <p:cNvSpPr/>
          <p:nvPr/>
        </p:nvSpPr>
        <p:spPr>
          <a:xfrm>
            <a:off x="6292850" y="4625975"/>
            <a:ext cx="1588" cy="1512888"/>
          </a:xfrm>
          <a:prstGeom prst="line">
            <a:avLst/>
          </a:prstGeom>
          <a:ln w="38100">
            <a:solidFill>
              <a:srgbClr val="000000"/>
            </a:solidFill>
            <a:miter lim="400000"/>
          </a:ln>
        </p:spPr>
        <p:txBody>
          <a:bodyPr lIns="0" tIns="0" rIns="0" bIns="0"/>
          <a:lstStyle/>
          <a:p>
            <a:pPr defTabSz="457200">
              <a:defRPr sz="1200">
                <a:latin typeface="ヒラギノ角ゴ ProN W3"/>
                <a:ea typeface="ヒラギノ角ゴ ProN W3"/>
                <a:cs typeface="ヒラギノ角ゴ ProN W3"/>
                <a:sym typeface="ヒラギノ角ゴ ProN W3"/>
              </a:defRPr>
            </a:pPr>
            <a:endParaRPr sz="1200"/>
          </a:p>
        </p:txBody>
      </p:sp>
      <p:sp>
        <p:nvSpPr>
          <p:cNvPr id="589" name="線"/>
          <p:cNvSpPr/>
          <p:nvPr/>
        </p:nvSpPr>
        <p:spPr>
          <a:xfrm>
            <a:off x="6292846" y="6136477"/>
            <a:ext cx="1606558" cy="2"/>
          </a:xfrm>
          <a:prstGeom prst="line">
            <a:avLst/>
          </a:prstGeom>
          <a:ln w="38100">
            <a:solidFill>
              <a:srgbClr val="000000"/>
            </a:solidFill>
            <a:miter lim="400000"/>
          </a:ln>
        </p:spPr>
        <p:txBody>
          <a:bodyPr lIns="0" tIns="0" rIns="0" bIns="0"/>
          <a:lstStyle/>
          <a:p>
            <a:pPr defTabSz="457200">
              <a:defRPr sz="1200">
                <a:latin typeface="ヒラギノ角ゴ ProN W3"/>
                <a:ea typeface="ヒラギノ角ゴ ProN W3"/>
                <a:cs typeface="ヒラギノ角ゴ ProN W3"/>
                <a:sym typeface="ヒラギノ角ゴ ProN W3"/>
              </a:defRPr>
            </a:pPr>
            <a:endParaRPr sz="1200"/>
          </a:p>
        </p:txBody>
      </p:sp>
      <p:sp>
        <p:nvSpPr>
          <p:cNvPr id="590" name="x"/>
          <p:cNvSpPr/>
          <p:nvPr/>
        </p:nvSpPr>
        <p:spPr>
          <a:xfrm>
            <a:off x="7965107" y="5910838"/>
            <a:ext cx="250068" cy="47192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lvl1pPr>
              <a:spcBef>
                <a:spcPts val="1700"/>
              </a:spcBef>
              <a:defRPr sz="2400" i="1">
                <a:latin typeface="Times New Roman"/>
                <a:ea typeface="Times New Roman"/>
                <a:cs typeface="Times New Roman"/>
                <a:sym typeface="Times New Roman"/>
              </a:defRPr>
            </a:lvl1pPr>
          </a:lstStyle>
          <a:p>
            <a:pPr>
              <a:defRPr i="0">
                <a:latin typeface="+mn-lt"/>
                <a:ea typeface="+mn-ea"/>
                <a:cs typeface="+mn-cs"/>
                <a:sym typeface="Gill Sans"/>
              </a:defRPr>
            </a:pPr>
            <a:r>
              <a:t>x</a:t>
            </a:r>
          </a:p>
        </p:txBody>
      </p:sp>
      <p:sp>
        <p:nvSpPr>
          <p:cNvPr id="591" name="y"/>
          <p:cNvSpPr/>
          <p:nvPr/>
        </p:nvSpPr>
        <p:spPr>
          <a:xfrm>
            <a:off x="6159500" y="4107438"/>
            <a:ext cx="245260" cy="47192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lvl1pPr>
              <a:spcBef>
                <a:spcPts val="1700"/>
              </a:spcBef>
              <a:defRPr sz="2400" i="1">
                <a:latin typeface="Times New Roman"/>
                <a:ea typeface="Times New Roman"/>
                <a:cs typeface="Times New Roman"/>
                <a:sym typeface="Times New Roman"/>
              </a:defRPr>
            </a:lvl1pPr>
          </a:lstStyle>
          <a:p>
            <a:pPr>
              <a:defRPr i="0">
                <a:latin typeface="+mn-lt"/>
                <a:ea typeface="+mn-ea"/>
                <a:cs typeface="+mn-cs"/>
                <a:sym typeface="Gill Sans"/>
              </a:defRPr>
            </a:pPr>
            <a:r>
              <a:t>y</a:t>
            </a:r>
          </a:p>
        </p:txBody>
      </p:sp>
      <p:sp>
        <p:nvSpPr>
          <p:cNvPr id="592" name="線"/>
          <p:cNvSpPr/>
          <p:nvPr/>
        </p:nvSpPr>
        <p:spPr>
          <a:xfrm>
            <a:off x="8521700" y="4622800"/>
            <a:ext cx="1588" cy="1512888"/>
          </a:xfrm>
          <a:prstGeom prst="line">
            <a:avLst/>
          </a:prstGeom>
          <a:ln w="38100">
            <a:solidFill>
              <a:srgbClr val="000000"/>
            </a:solidFill>
            <a:miter lim="400000"/>
          </a:ln>
        </p:spPr>
        <p:txBody>
          <a:bodyPr lIns="0" tIns="0" rIns="0" bIns="0"/>
          <a:lstStyle/>
          <a:p>
            <a:pPr defTabSz="457200">
              <a:defRPr sz="1200">
                <a:latin typeface="ヒラギノ角ゴ ProN W3"/>
                <a:ea typeface="ヒラギノ角ゴ ProN W3"/>
                <a:cs typeface="ヒラギノ角ゴ ProN W3"/>
                <a:sym typeface="ヒラギノ角ゴ ProN W3"/>
              </a:defRPr>
            </a:pPr>
            <a:endParaRPr sz="1200"/>
          </a:p>
        </p:txBody>
      </p:sp>
      <p:sp>
        <p:nvSpPr>
          <p:cNvPr id="593" name="線"/>
          <p:cNvSpPr/>
          <p:nvPr/>
        </p:nvSpPr>
        <p:spPr>
          <a:xfrm>
            <a:off x="8509000" y="6138870"/>
            <a:ext cx="1606559" cy="1"/>
          </a:xfrm>
          <a:prstGeom prst="line">
            <a:avLst/>
          </a:prstGeom>
          <a:ln w="38100">
            <a:solidFill>
              <a:srgbClr val="000000"/>
            </a:solidFill>
            <a:miter lim="400000"/>
          </a:ln>
        </p:spPr>
        <p:txBody>
          <a:bodyPr lIns="0" tIns="0" rIns="0" bIns="0"/>
          <a:lstStyle/>
          <a:p>
            <a:pPr defTabSz="457200">
              <a:defRPr sz="1200">
                <a:latin typeface="ヒラギノ角ゴ ProN W3"/>
                <a:ea typeface="ヒラギノ角ゴ ProN W3"/>
                <a:cs typeface="ヒラギノ角ゴ ProN W3"/>
                <a:sym typeface="ヒラギノ角ゴ ProN W3"/>
              </a:defRPr>
            </a:pPr>
            <a:endParaRPr sz="1200"/>
          </a:p>
        </p:txBody>
      </p:sp>
      <p:sp>
        <p:nvSpPr>
          <p:cNvPr id="594" name="x"/>
          <p:cNvSpPr/>
          <p:nvPr/>
        </p:nvSpPr>
        <p:spPr>
          <a:xfrm>
            <a:off x="10185400" y="5910838"/>
            <a:ext cx="250068" cy="47192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lvl1pPr>
              <a:spcBef>
                <a:spcPts val="1700"/>
              </a:spcBef>
              <a:defRPr sz="2400" i="1">
                <a:latin typeface="Times New Roman"/>
                <a:ea typeface="Times New Roman"/>
                <a:cs typeface="Times New Roman"/>
                <a:sym typeface="Times New Roman"/>
              </a:defRPr>
            </a:lvl1pPr>
          </a:lstStyle>
          <a:p>
            <a:pPr>
              <a:defRPr i="0">
                <a:latin typeface="+mn-lt"/>
                <a:ea typeface="+mn-ea"/>
                <a:cs typeface="+mn-cs"/>
                <a:sym typeface="Gill Sans"/>
              </a:defRPr>
            </a:pPr>
            <a:r>
              <a:t>x</a:t>
            </a:r>
          </a:p>
        </p:txBody>
      </p:sp>
      <p:sp>
        <p:nvSpPr>
          <p:cNvPr id="595" name="y"/>
          <p:cNvSpPr/>
          <p:nvPr/>
        </p:nvSpPr>
        <p:spPr>
          <a:xfrm>
            <a:off x="8382000" y="4107438"/>
            <a:ext cx="245260" cy="47192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lvl1pPr>
              <a:spcBef>
                <a:spcPts val="1700"/>
              </a:spcBef>
              <a:defRPr sz="2400" i="1">
                <a:latin typeface="Times New Roman"/>
                <a:ea typeface="Times New Roman"/>
                <a:cs typeface="Times New Roman"/>
                <a:sym typeface="Times New Roman"/>
              </a:defRPr>
            </a:lvl1pPr>
          </a:lstStyle>
          <a:p>
            <a:pPr>
              <a:defRPr i="0">
                <a:latin typeface="+mn-lt"/>
                <a:ea typeface="+mn-ea"/>
                <a:cs typeface="+mn-cs"/>
                <a:sym typeface="Gill Sans"/>
              </a:defRPr>
            </a:pPr>
            <a:r>
              <a:t>y</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6" name="線"/>
          <p:cNvSpPr/>
          <p:nvPr/>
        </p:nvSpPr>
        <p:spPr>
          <a:xfrm flipV="1">
            <a:off x="2406650" y="3865563"/>
            <a:ext cx="1588" cy="2233613"/>
          </a:xfrm>
          <a:prstGeom prst="line">
            <a:avLst/>
          </a:prstGeom>
          <a:ln w="25400">
            <a:solidFill>
              <a:srgbClr val="000000"/>
            </a:solidFill>
          </a:ln>
        </p:spPr>
        <p:txBody>
          <a:bodyPr lIns="0" tIns="0" rIns="0" bIns="0"/>
          <a:lstStyle/>
          <a:p>
            <a:pPr defTabSz="457200">
              <a:defRPr sz="1200">
                <a:latin typeface="ヒラギノ角ゴ ProN W3"/>
                <a:ea typeface="ヒラギノ角ゴ ProN W3"/>
                <a:cs typeface="ヒラギノ角ゴ ProN W3"/>
                <a:sym typeface="ヒラギノ角ゴ ProN W3"/>
              </a:defRPr>
            </a:pPr>
            <a:endParaRPr sz="1200"/>
          </a:p>
        </p:txBody>
      </p:sp>
      <p:sp>
        <p:nvSpPr>
          <p:cNvPr id="677" name="線"/>
          <p:cNvSpPr/>
          <p:nvPr/>
        </p:nvSpPr>
        <p:spPr>
          <a:xfrm>
            <a:off x="2406651" y="6099175"/>
            <a:ext cx="2663825" cy="1588"/>
          </a:xfrm>
          <a:prstGeom prst="line">
            <a:avLst/>
          </a:prstGeom>
          <a:ln w="25400">
            <a:solidFill>
              <a:srgbClr val="000000"/>
            </a:solidFill>
          </a:ln>
        </p:spPr>
        <p:txBody>
          <a:bodyPr lIns="0" tIns="0" rIns="0" bIns="0"/>
          <a:lstStyle/>
          <a:p>
            <a:pPr defTabSz="457200">
              <a:defRPr sz="1200">
                <a:latin typeface="ヒラギノ角ゴ ProN W3"/>
                <a:ea typeface="ヒラギノ角ゴ ProN W3"/>
                <a:cs typeface="ヒラギノ角ゴ ProN W3"/>
                <a:sym typeface="ヒラギノ角ゴ ProN W3"/>
              </a:defRPr>
            </a:pPr>
            <a:endParaRPr sz="1200"/>
          </a:p>
        </p:txBody>
      </p:sp>
      <p:sp>
        <p:nvSpPr>
          <p:cNvPr id="678" name="線"/>
          <p:cNvSpPr/>
          <p:nvPr/>
        </p:nvSpPr>
        <p:spPr>
          <a:xfrm flipV="1">
            <a:off x="7496175" y="3852863"/>
            <a:ext cx="1588" cy="2233613"/>
          </a:xfrm>
          <a:prstGeom prst="line">
            <a:avLst/>
          </a:prstGeom>
          <a:ln w="25400">
            <a:solidFill>
              <a:srgbClr val="000000"/>
            </a:solidFill>
          </a:ln>
        </p:spPr>
        <p:txBody>
          <a:bodyPr lIns="0" tIns="0" rIns="0" bIns="0"/>
          <a:lstStyle/>
          <a:p>
            <a:pPr defTabSz="457200">
              <a:defRPr sz="1200">
                <a:latin typeface="ヒラギノ角ゴ ProN W3"/>
                <a:ea typeface="ヒラギノ角ゴ ProN W3"/>
                <a:cs typeface="ヒラギノ角ゴ ProN W3"/>
                <a:sym typeface="ヒラギノ角ゴ ProN W3"/>
              </a:defRPr>
            </a:pPr>
            <a:endParaRPr sz="1200"/>
          </a:p>
        </p:txBody>
      </p:sp>
      <p:sp>
        <p:nvSpPr>
          <p:cNvPr id="679" name="線"/>
          <p:cNvSpPr/>
          <p:nvPr/>
        </p:nvSpPr>
        <p:spPr>
          <a:xfrm>
            <a:off x="7496176" y="6086475"/>
            <a:ext cx="2663825" cy="1588"/>
          </a:xfrm>
          <a:prstGeom prst="line">
            <a:avLst/>
          </a:prstGeom>
          <a:ln w="25400">
            <a:solidFill>
              <a:srgbClr val="000000"/>
            </a:solidFill>
          </a:ln>
        </p:spPr>
        <p:txBody>
          <a:bodyPr lIns="0" tIns="0" rIns="0" bIns="0"/>
          <a:lstStyle/>
          <a:p>
            <a:pPr defTabSz="457200">
              <a:defRPr sz="1200">
                <a:latin typeface="ヒラギノ角ゴ ProN W3"/>
                <a:ea typeface="ヒラギノ角ゴ ProN W3"/>
                <a:cs typeface="ヒラギノ角ゴ ProN W3"/>
                <a:sym typeface="ヒラギノ角ゴ ProN W3"/>
              </a:defRPr>
            </a:pPr>
            <a:endParaRPr sz="1200"/>
          </a:p>
        </p:txBody>
      </p:sp>
      <p:sp>
        <p:nvSpPr>
          <p:cNvPr id="680" name="v1"/>
          <p:cNvSpPr/>
          <p:nvPr/>
        </p:nvSpPr>
        <p:spPr>
          <a:xfrm>
            <a:off x="2734468" y="3602613"/>
            <a:ext cx="370294" cy="47192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p>
            <a:pPr>
              <a:buClr>
                <a:srgbClr val="000000"/>
              </a:buClr>
              <a:buFont typeface="Arial"/>
              <a:defRPr sz="2400"/>
            </a:pPr>
            <a:r>
              <a:rPr sz="2400" b="1">
                <a:latin typeface="Times New Roman"/>
                <a:ea typeface="Times New Roman"/>
                <a:cs typeface="Times New Roman"/>
                <a:sym typeface="Times New Roman"/>
              </a:rPr>
              <a:t>v</a:t>
            </a:r>
            <a:r>
              <a:rPr sz="2400" baseline="-5999"/>
              <a:t>1</a:t>
            </a:r>
          </a:p>
        </p:txBody>
      </p:sp>
      <p:sp>
        <p:nvSpPr>
          <p:cNvPr id="681" name="円形"/>
          <p:cNvSpPr/>
          <p:nvPr/>
        </p:nvSpPr>
        <p:spPr>
          <a:xfrm>
            <a:off x="3317875" y="5359401"/>
            <a:ext cx="142876" cy="144463"/>
          </a:xfrm>
          <a:prstGeom prst="ellipse">
            <a:avLst/>
          </a:prstGeom>
          <a:solidFill>
            <a:srgbClr val="000000"/>
          </a:solidFill>
          <a:ln w="12700">
            <a:solidFill>
              <a:srgbClr val="000000"/>
            </a:solidFill>
          </a:ln>
        </p:spPr>
        <p:txBody>
          <a:bodyPr lIns="50800" tIns="50800" rIns="50800" bIns="50800" anchor="ctr"/>
          <a:lstStyle/>
          <a:p>
            <a:pPr>
              <a:defRPr>
                <a:solidFill>
                  <a:srgbClr val="FFFFFF"/>
                </a:solidFill>
                <a:effectLst>
                  <a:outerShdw blurRad="38100" dist="12700" dir="5400000" rotWithShape="0">
                    <a:srgbClr val="000000">
                      <a:alpha val="50000"/>
                    </a:srgbClr>
                  </a:outerShdw>
                </a:effectLst>
              </a:defRPr>
            </a:pPr>
            <a:endParaRPr/>
          </a:p>
        </p:txBody>
      </p:sp>
      <p:sp>
        <p:nvSpPr>
          <p:cNvPr id="682" name="線"/>
          <p:cNvSpPr/>
          <p:nvPr/>
        </p:nvSpPr>
        <p:spPr>
          <a:xfrm>
            <a:off x="3459162" y="5451476"/>
            <a:ext cx="1152526" cy="360363"/>
          </a:xfrm>
          <a:prstGeom prst="line">
            <a:avLst/>
          </a:prstGeom>
          <a:ln w="12700">
            <a:solidFill>
              <a:srgbClr val="000000"/>
            </a:solidFill>
            <a:tailEnd type="triangle"/>
          </a:ln>
        </p:spPr>
        <p:txBody>
          <a:bodyPr lIns="0" tIns="0" rIns="0" bIns="0"/>
          <a:lstStyle/>
          <a:p>
            <a:pPr defTabSz="457200">
              <a:defRPr sz="1200">
                <a:latin typeface="ヒラギノ角ゴ ProN W3"/>
                <a:ea typeface="ヒラギノ角ゴ ProN W3"/>
                <a:cs typeface="ヒラギノ角ゴ ProN W3"/>
                <a:sym typeface="ヒラギノ角ゴ ProN W3"/>
              </a:defRPr>
            </a:pPr>
            <a:endParaRPr sz="1200"/>
          </a:p>
        </p:txBody>
      </p:sp>
      <p:sp>
        <p:nvSpPr>
          <p:cNvPr id="683" name="線"/>
          <p:cNvSpPr/>
          <p:nvPr/>
        </p:nvSpPr>
        <p:spPr>
          <a:xfrm flipV="1">
            <a:off x="3459163" y="4948238"/>
            <a:ext cx="576263" cy="431801"/>
          </a:xfrm>
          <a:prstGeom prst="line">
            <a:avLst/>
          </a:prstGeom>
          <a:ln w="25400">
            <a:solidFill>
              <a:srgbClr val="0433FF"/>
            </a:solidFill>
            <a:tailEnd type="triangle"/>
          </a:ln>
        </p:spPr>
        <p:txBody>
          <a:bodyPr lIns="0" tIns="0" rIns="0" bIns="0"/>
          <a:lstStyle/>
          <a:p>
            <a:pPr defTabSz="457200">
              <a:defRPr sz="1200">
                <a:latin typeface="ヒラギノ角ゴ ProN W3"/>
                <a:ea typeface="ヒラギノ角ゴ ProN W3"/>
                <a:cs typeface="ヒラギノ角ゴ ProN W3"/>
                <a:sym typeface="ヒラギノ角ゴ ProN W3"/>
              </a:defRPr>
            </a:pPr>
            <a:endParaRPr sz="1200"/>
          </a:p>
        </p:txBody>
      </p:sp>
      <p:sp>
        <p:nvSpPr>
          <p:cNvPr id="684" name="xss+Δx0"/>
          <p:cNvSpPr/>
          <p:nvPr/>
        </p:nvSpPr>
        <p:spPr>
          <a:xfrm>
            <a:off x="4105738" y="4136371"/>
            <a:ext cx="1298432" cy="59503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p>
            <a:pPr>
              <a:buClr>
                <a:srgbClr val="000000"/>
              </a:buClr>
              <a:buFont typeface="Times New Roman"/>
            </a:pPr>
            <a:r>
              <a:rPr sz="3200" i="1">
                <a:latin typeface="Times New Roman"/>
                <a:ea typeface="Times New Roman"/>
                <a:cs typeface="Times New Roman"/>
                <a:sym typeface="Times New Roman"/>
              </a:rPr>
              <a:t>x</a:t>
            </a:r>
            <a:r>
              <a:rPr sz="3200" i="1" baseline="-25000">
                <a:latin typeface="Times New Roman"/>
                <a:ea typeface="Times New Roman"/>
                <a:cs typeface="Times New Roman"/>
                <a:sym typeface="Times New Roman"/>
              </a:rPr>
              <a:t>ss</a:t>
            </a:r>
            <a:r>
              <a:rPr sz="3200">
                <a:latin typeface="Times New Roman"/>
                <a:ea typeface="Times New Roman"/>
                <a:cs typeface="Times New Roman"/>
                <a:sym typeface="Times New Roman"/>
              </a:rPr>
              <a:t>+</a:t>
            </a:r>
            <a:r>
              <a:rPr sz="3200">
                <a:latin typeface="Symbol"/>
                <a:ea typeface="Symbol"/>
                <a:cs typeface="Symbol"/>
                <a:sym typeface="Symbol"/>
              </a:rPr>
              <a:t>D</a:t>
            </a:r>
            <a:r>
              <a:rPr sz="3200" i="1">
                <a:latin typeface="Times New Roman"/>
                <a:ea typeface="Times New Roman"/>
                <a:cs typeface="Times New Roman"/>
                <a:sym typeface="Times New Roman"/>
              </a:rPr>
              <a:t>x</a:t>
            </a:r>
            <a:r>
              <a:rPr sz="3200" i="1" baseline="-25000">
                <a:latin typeface="Times New Roman"/>
                <a:ea typeface="Times New Roman"/>
                <a:cs typeface="Times New Roman"/>
                <a:sym typeface="Times New Roman"/>
              </a:rPr>
              <a:t>0</a:t>
            </a:r>
          </a:p>
        </p:txBody>
      </p:sp>
      <p:sp>
        <p:nvSpPr>
          <p:cNvPr id="685" name="線"/>
          <p:cNvSpPr/>
          <p:nvPr/>
        </p:nvSpPr>
        <p:spPr>
          <a:xfrm flipH="1" flipV="1">
            <a:off x="2982912" y="4083050"/>
            <a:ext cx="358776" cy="1296988"/>
          </a:xfrm>
          <a:prstGeom prst="line">
            <a:avLst/>
          </a:prstGeom>
          <a:ln w="12700">
            <a:solidFill>
              <a:srgbClr val="000000"/>
            </a:solidFill>
            <a:tailEnd type="triangle"/>
          </a:ln>
        </p:spPr>
        <p:txBody>
          <a:bodyPr lIns="0" tIns="0" rIns="0" bIns="0"/>
          <a:lstStyle/>
          <a:p>
            <a:pPr defTabSz="457200">
              <a:defRPr sz="1200">
                <a:latin typeface="ヒラギノ角ゴ ProN W3"/>
                <a:ea typeface="ヒラギノ角ゴ ProN W3"/>
                <a:cs typeface="ヒラギノ角ゴ ProN W3"/>
                <a:sym typeface="ヒラギノ角ゴ ProN W3"/>
              </a:defRPr>
            </a:pPr>
            <a:endParaRPr sz="1200"/>
          </a:p>
        </p:txBody>
      </p:sp>
      <p:sp>
        <p:nvSpPr>
          <p:cNvPr id="686" name="円形"/>
          <p:cNvSpPr/>
          <p:nvPr/>
        </p:nvSpPr>
        <p:spPr>
          <a:xfrm>
            <a:off x="8331200" y="5348287"/>
            <a:ext cx="142876" cy="144464"/>
          </a:xfrm>
          <a:prstGeom prst="ellipse">
            <a:avLst/>
          </a:prstGeom>
          <a:solidFill>
            <a:srgbClr val="000000"/>
          </a:solidFill>
          <a:ln w="25400">
            <a:solidFill>
              <a:srgbClr val="000000"/>
            </a:solidFill>
            <a:miter lim="400000"/>
          </a:ln>
        </p:spPr>
        <p:txBody>
          <a:bodyPr lIns="50800" tIns="50800" rIns="50800" bIns="50800" anchor="ctr"/>
          <a:lstStyle/>
          <a:p>
            <a:pPr>
              <a:defRPr>
                <a:solidFill>
                  <a:srgbClr val="FFFFFF"/>
                </a:solidFill>
                <a:effectLst>
                  <a:outerShdw blurRad="38100" dist="12700" dir="5400000" rotWithShape="0">
                    <a:srgbClr val="000000">
                      <a:alpha val="50000"/>
                    </a:srgbClr>
                  </a:outerShdw>
                </a:effectLst>
              </a:defRPr>
            </a:pPr>
            <a:endParaRPr/>
          </a:p>
        </p:txBody>
      </p:sp>
      <p:sp>
        <p:nvSpPr>
          <p:cNvPr id="687" name="線"/>
          <p:cNvSpPr/>
          <p:nvPr/>
        </p:nvSpPr>
        <p:spPr>
          <a:xfrm>
            <a:off x="8472487" y="5440363"/>
            <a:ext cx="1152526" cy="360363"/>
          </a:xfrm>
          <a:prstGeom prst="line">
            <a:avLst/>
          </a:prstGeom>
          <a:ln w="12700">
            <a:solidFill>
              <a:srgbClr val="000000"/>
            </a:solidFill>
            <a:tailEnd type="triangle"/>
          </a:ln>
        </p:spPr>
        <p:txBody>
          <a:bodyPr lIns="0" tIns="0" rIns="0" bIns="0"/>
          <a:lstStyle/>
          <a:p>
            <a:pPr defTabSz="457200">
              <a:defRPr sz="1200">
                <a:latin typeface="ヒラギノ角ゴ ProN W3"/>
                <a:ea typeface="ヒラギノ角ゴ ProN W3"/>
                <a:cs typeface="ヒラギノ角ゴ ProN W3"/>
                <a:sym typeface="ヒラギノ角ゴ ProN W3"/>
              </a:defRPr>
            </a:pPr>
            <a:endParaRPr sz="1200"/>
          </a:p>
        </p:txBody>
      </p:sp>
      <p:sp>
        <p:nvSpPr>
          <p:cNvPr id="688" name="線"/>
          <p:cNvSpPr/>
          <p:nvPr/>
        </p:nvSpPr>
        <p:spPr>
          <a:xfrm flipH="1" flipV="1">
            <a:off x="8040687" y="4071937"/>
            <a:ext cx="358776" cy="1296988"/>
          </a:xfrm>
          <a:prstGeom prst="line">
            <a:avLst/>
          </a:prstGeom>
          <a:ln w="12700">
            <a:solidFill>
              <a:srgbClr val="000000"/>
            </a:solidFill>
            <a:tailEnd type="triangle"/>
          </a:ln>
        </p:spPr>
        <p:txBody>
          <a:bodyPr lIns="0" tIns="0" rIns="0" bIns="0"/>
          <a:lstStyle/>
          <a:p>
            <a:pPr defTabSz="457200">
              <a:defRPr sz="1200">
                <a:latin typeface="ヒラギノ角ゴ ProN W3"/>
                <a:ea typeface="ヒラギノ角ゴ ProN W3"/>
                <a:cs typeface="ヒラギノ角ゴ ProN W3"/>
                <a:sym typeface="ヒラギノ角ゴ ProN W3"/>
              </a:defRPr>
            </a:pPr>
            <a:endParaRPr sz="1200"/>
          </a:p>
        </p:txBody>
      </p:sp>
      <p:sp>
        <p:nvSpPr>
          <p:cNvPr id="689" name="円形"/>
          <p:cNvSpPr/>
          <p:nvPr/>
        </p:nvSpPr>
        <p:spPr>
          <a:xfrm>
            <a:off x="4035426" y="4875212"/>
            <a:ext cx="144463" cy="144464"/>
          </a:xfrm>
          <a:prstGeom prst="ellipse">
            <a:avLst/>
          </a:prstGeom>
          <a:solidFill>
            <a:srgbClr val="FFFDA9"/>
          </a:solidFill>
          <a:ln w="25400">
            <a:solidFill>
              <a:srgbClr val="000000"/>
            </a:solidFill>
            <a:miter lim="400000"/>
          </a:ln>
        </p:spPr>
        <p:txBody>
          <a:bodyPr lIns="50800" tIns="50800" rIns="50800" bIns="50800" anchor="ctr"/>
          <a:lstStyle/>
          <a:p>
            <a:pPr>
              <a:defRPr>
                <a:solidFill>
                  <a:srgbClr val="FFFFFF"/>
                </a:solidFill>
                <a:effectLst>
                  <a:outerShdw blurRad="38100" dist="12700" dir="5400000" rotWithShape="0">
                    <a:srgbClr val="000000">
                      <a:alpha val="50000"/>
                    </a:srgbClr>
                  </a:outerShdw>
                </a:effectLst>
              </a:defRPr>
            </a:pPr>
            <a:endParaRPr/>
          </a:p>
        </p:txBody>
      </p:sp>
      <p:sp>
        <p:nvSpPr>
          <p:cNvPr id="690" name="円形"/>
          <p:cNvSpPr/>
          <p:nvPr/>
        </p:nvSpPr>
        <p:spPr>
          <a:xfrm>
            <a:off x="9009062" y="4862512"/>
            <a:ext cx="144464" cy="144464"/>
          </a:xfrm>
          <a:prstGeom prst="ellipse">
            <a:avLst/>
          </a:prstGeom>
          <a:solidFill>
            <a:srgbClr val="FFFDA9"/>
          </a:solidFill>
          <a:ln w="25400">
            <a:solidFill>
              <a:srgbClr val="000000"/>
            </a:solidFill>
            <a:miter lim="400000"/>
          </a:ln>
        </p:spPr>
        <p:txBody>
          <a:bodyPr lIns="50800" tIns="50800" rIns="50800" bIns="50800" anchor="ctr"/>
          <a:lstStyle/>
          <a:p>
            <a:pPr>
              <a:defRPr>
                <a:solidFill>
                  <a:srgbClr val="FFFFFF"/>
                </a:solidFill>
                <a:effectLst>
                  <a:outerShdw blurRad="38100" dist="12700" dir="5400000" rotWithShape="0">
                    <a:srgbClr val="000000">
                      <a:alpha val="50000"/>
                    </a:srgbClr>
                  </a:outerShdw>
                </a:effectLst>
              </a:defRPr>
            </a:pPr>
            <a:endParaRPr/>
          </a:p>
        </p:txBody>
      </p:sp>
      <p:sp>
        <p:nvSpPr>
          <p:cNvPr id="691" name="線"/>
          <p:cNvSpPr/>
          <p:nvPr/>
        </p:nvSpPr>
        <p:spPr>
          <a:xfrm>
            <a:off x="8577263" y="4935537"/>
            <a:ext cx="431801" cy="287338"/>
          </a:xfrm>
          <a:custGeom>
            <a:avLst/>
            <a:gdLst/>
            <a:ahLst/>
            <a:cxnLst>
              <a:cxn ang="0">
                <a:pos x="wd2" y="hd2"/>
              </a:cxn>
              <a:cxn ang="5400000">
                <a:pos x="wd2" y="hd2"/>
              </a:cxn>
              <a:cxn ang="10800000">
                <a:pos x="wd2" y="hd2"/>
              </a:cxn>
              <a:cxn ang="16200000">
                <a:pos x="wd2" y="hd2"/>
              </a:cxn>
            </a:cxnLst>
            <a:rect l="0" t="0" r="r" b="b"/>
            <a:pathLst>
              <a:path w="21600" h="21600" extrusionOk="0">
                <a:moveTo>
                  <a:pt x="21600" y="0"/>
                </a:moveTo>
                <a:cubicBezTo>
                  <a:pt x="14374" y="835"/>
                  <a:pt x="7147" y="1790"/>
                  <a:pt x="3574" y="5370"/>
                </a:cubicBezTo>
                <a:cubicBezTo>
                  <a:pt x="0" y="8950"/>
                  <a:pt x="0" y="15275"/>
                  <a:pt x="0" y="21600"/>
                </a:cubicBezTo>
              </a:path>
            </a:pathLst>
          </a:custGeom>
          <a:ln w="25400">
            <a:solidFill>
              <a:srgbClr val="000000"/>
            </a:solidFill>
            <a:tailEnd type="triangle"/>
          </a:ln>
        </p:spPr>
        <p:txBody>
          <a:bodyPr lIns="50800" tIns="50800" rIns="50800" bIns="50800" anchor="ctr"/>
          <a:lstStyle/>
          <a:p>
            <a:pPr>
              <a:defRPr>
                <a:solidFill>
                  <a:srgbClr val="FFFFFF"/>
                </a:solidFill>
                <a:effectLst>
                  <a:outerShdw blurRad="38100" dist="12700" dir="5400000" rotWithShape="0">
                    <a:srgbClr val="000000">
                      <a:alpha val="50000"/>
                    </a:srgbClr>
                  </a:outerShdw>
                </a:effectLst>
              </a:defRPr>
            </a:pPr>
            <a:endParaRPr/>
          </a:p>
        </p:txBody>
      </p:sp>
      <p:sp>
        <p:nvSpPr>
          <p:cNvPr id="692" name="λ1&lt;0, λ2&lt;0"/>
          <p:cNvSpPr/>
          <p:nvPr/>
        </p:nvSpPr>
        <p:spPr>
          <a:xfrm>
            <a:off x="8527091" y="3944055"/>
            <a:ext cx="1086836" cy="37959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p>
            <a:pPr>
              <a:buClr>
                <a:srgbClr val="000000"/>
              </a:buClr>
              <a:buFont typeface="Symbol"/>
              <a:defRPr>
                <a:latin typeface="Times New Roman"/>
                <a:ea typeface="Times New Roman"/>
                <a:cs typeface="Times New Roman"/>
                <a:sym typeface="Times New Roman"/>
              </a:defRPr>
            </a:pPr>
            <a:r>
              <a:t>λ</a:t>
            </a:r>
            <a:r>
              <a:rPr baseline="-25000"/>
              <a:t>1</a:t>
            </a:r>
            <a:r>
              <a:t>&lt;0, λ</a:t>
            </a:r>
            <a:r>
              <a:rPr baseline="-25000"/>
              <a:t>2</a:t>
            </a:r>
            <a:r>
              <a:t>&lt;0</a:t>
            </a:r>
          </a:p>
        </p:txBody>
      </p:sp>
      <p:sp>
        <p:nvSpPr>
          <p:cNvPr id="693" name="固定点に収束する"/>
          <p:cNvSpPr/>
          <p:nvPr/>
        </p:nvSpPr>
        <p:spPr>
          <a:xfrm>
            <a:off x="7781925" y="3124776"/>
            <a:ext cx="2564805" cy="47192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lvl1pPr>
              <a:buClr>
                <a:srgbClr val="000000"/>
              </a:buClr>
              <a:buFont typeface="Arial"/>
              <a:defRPr sz="2400"/>
            </a:lvl1pPr>
          </a:lstStyle>
          <a:p>
            <a:r>
              <a:t>固定点に収束する</a:t>
            </a:r>
          </a:p>
        </p:txBody>
      </p:sp>
      <p:sp>
        <p:nvSpPr>
          <p:cNvPr id="694" name="xss"/>
          <p:cNvSpPr/>
          <p:nvPr/>
        </p:nvSpPr>
        <p:spPr>
          <a:xfrm>
            <a:off x="2811099" y="5361921"/>
            <a:ext cx="496931" cy="59503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p>
            <a:pPr>
              <a:buClr>
                <a:srgbClr val="000000"/>
              </a:buClr>
              <a:buFont typeface="Times New Roman"/>
            </a:pPr>
            <a:r>
              <a:rPr sz="3200" i="1">
                <a:latin typeface="Times New Roman"/>
                <a:ea typeface="Times New Roman"/>
                <a:cs typeface="Times New Roman"/>
                <a:sym typeface="Times New Roman"/>
              </a:rPr>
              <a:t>x</a:t>
            </a:r>
            <a:r>
              <a:rPr sz="3200" i="1" baseline="-25000">
                <a:latin typeface="Times New Roman"/>
                <a:ea typeface="Times New Roman"/>
                <a:cs typeface="Times New Roman"/>
                <a:sym typeface="Times New Roman"/>
              </a:rPr>
              <a:t>ss</a:t>
            </a:r>
          </a:p>
        </p:txBody>
      </p:sp>
      <p:sp>
        <p:nvSpPr>
          <p:cNvPr id="695" name="固有値と解軌道の収束・発散"/>
          <p:cNvSpPr txBox="1">
            <a:spLocks noGrp="1"/>
          </p:cNvSpPr>
          <p:nvPr>
            <p:ph type="title"/>
          </p:nvPr>
        </p:nvSpPr>
        <p:spPr>
          <a:prstGeom prst="rect">
            <a:avLst/>
          </a:prstGeom>
        </p:spPr>
        <p:txBody>
          <a:bodyPr/>
          <a:lstStyle/>
          <a:p>
            <a:r>
              <a:t>固有値と解軌道の収束・発散</a:t>
            </a:r>
          </a:p>
        </p:txBody>
      </p:sp>
      <p:pic>
        <p:nvPicPr>
          <p:cNvPr id="696" name="droppedImage.pdf" descr="droppedImage.pdf"/>
          <p:cNvPicPr>
            <a:picLocks noChangeAspect="1"/>
          </p:cNvPicPr>
          <p:nvPr/>
        </p:nvPicPr>
        <p:blipFill>
          <a:blip r:embed="rId2"/>
          <a:stretch>
            <a:fillRect/>
          </a:stretch>
        </p:blipFill>
        <p:spPr>
          <a:xfrm>
            <a:off x="2476501" y="1727201"/>
            <a:ext cx="6709509" cy="863601"/>
          </a:xfrm>
          <a:prstGeom prst="rect">
            <a:avLst/>
          </a:prstGeom>
          <a:ln w="12700">
            <a:miter lim="400000"/>
          </a:ln>
        </p:spPr>
      </p:pic>
      <p:sp>
        <p:nvSpPr>
          <p:cNvPr id="697" name="x(TMG)"/>
          <p:cNvSpPr/>
          <p:nvPr/>
        </p:nvSpPr>
        <p:spPr>
          <a:xfrm>
            <a:off x="4038600" y="6075938"/>
            <a:ext cx="1038746" cy="47192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p>
            <a:pPr>
              <a:spcBef>
                <a:spcPts val="1700"/>
              </a:spcBef>
              <a:defRPr sz="2400"/>
            </a:pPr>
            <a:r>
              <a:rPr sz="2400" i="1">
                <a:latin typeface="Times New Roman"/>
                <a:ea typeface="Times New Roman"/>
                <a:cs typeface="Times New Roman"/>
                <a:sym typeface="Times New Roman"/>
              </a:rPr>
              <a:t>x</a:t>
            </a:r>
            <a:r>
              <a:rPr sz="2400"/>
              <a:t>(TMG)</a:t>
            </a:r>
          </a:p>
        </p:txBody>
      </p:sp>
      <p:sp>
        <p:nvSpPr>
          <p:cNvPr id="698" name="y(LacY-GFP)"/>
          <p:cNvSpPr/>
          <p:nvPr/>
        </p:nvSpPr>
        <p:spPr>
          <a:xfrm rot="16200000">
            <a:off x="1217197" y="4374138"/>
            <a:ext cx="1810880" cy="47192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p>
            <a:pPr>
              <a:spcBef>
                <a:spcPts val="1700"/>
              </a:spcBef>
              <a:defRPr sz="2400"/>
            </a:pPr>
            <a:r>
              <a:rPr sz="2400" i="1">
                <a:latin typeface="Times New Roman"/>
                <a:ea typeface="Times New Roman"/>
                <a:cs typeface="Times New Roman"/>
                <a:sym typeface="Times New Roman"/>
              </a:rPr>
              <a:t>y</a:t>
            </a:r>
            <a:r>
              <a:rPr sz="2400"/>
              <a:t>(LacY-GFP) </a:t>
            </a:r>
          </a:p>
        </p:txBody>
      </p:sp>
      <p:sp>
        <p:nvSpPr>
          <p:cNvPr id="699" name="v2"/>
          <p:cNvSpPr/>
          <p:nvPr/>
        </p:nvSpPr>
        <p:spPr>
          <a:xfrm>
            <a:off x="4915525" y="5529838"/>
            <a:ext cx="370294" cy="47192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p>
            <a:pPr>
              <a:buClr>
                <a:srgbClr val="000000"/>
              </a:buClr>
              <a:buFont typeface="Arial"/>
              <a:defRPr sz="2400"/>
            </a:pPr>
            <a:r>
              <a:rPr sz="2400" b="1">
                <a:latin typeface="Times New Roman"/>
                <a:ea typeface="Times New Roman"/>
                <a:cs typeface="Times New Roman"/>
                <a:sym typeface="Times New Roman"/>
              </a:rPr>
              <a:t>v</a:t>
            </a:r>
            <a:r>
              <a:rPr sz="2400" baseline="-5999"/>
              <a:t>2</a:t>
            </a:r>
          </a:p>
        </p:txBody>
      </p:sp>
      <p:sp>
        <p:nvSpPr>
          <p:cNvPr id="700" name="摂動Δx0 により、固定点から離れた"/>
          <p:cNvSpPr/>
          <p:nvPr/>
        </p:nvSpPr>
        <p:spPr>
          <a:xfrm>
            <a:off x="1604992" y="3105150"/>
            <a:ext cx="4996756" cy="4699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p>
            <a:pPr>
              <a:buClr>
                <a:srgbClr val="000000"/>
              </a:buClr>
              <a:buFont typeface="Arial"/>
              <a:defRPr sz="2400"/>
            </a:pPr>
            <a:r>
              <a:rPr sz="2400"/>
              <a:t>摂動Δ</a:t>
            </a:r>
            <a:r>
              <a:rPr sz="2400" b="1">
                <a:latin typeface="Times New Roman"/>
                <a:ea typeface="Times New Roman"/>
                <a:cs typeface="Times New Roman"/>
                <a:sym typeface="Times New Roman"/>
              </a:rPr>
              <a:t>x</a:t>
            </a:r>
            <a:r>
              <a:rPr sz="2400" baseline="-5999"/>
              <a:t>0 </a:t>
            </a:r>
            <a:r>
              <a:rPr sz="2400"/>
              <a:t>により、固定点から離れた</a:t>
            </a:r>
          </a:p>
        </p:txBody>
      </p:sp>
      <p:sp>
        <p:nvSpPr>
          <p:cNvPr id="701" name="x(TMG)"/>
          <p:cNvSpPr/>
          <p:nvPr/>
        </p:nvSpPr>
        <p:spPr>
          <a:xfrm>
            <a:off x="9105900" y="6025138"/>
            <a:ext cx="1038746" cy="47192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p>
            <a:pPr>
              <a:spcBef>
                <a:spcPts val="1700"/>
              </a:spcBef>
              <a:defRPr sz="2400"/>
            </a:pPr>
            <a:r>
              <a:rPr sz="2400" i="1">
                <a:latin typeface="Times New Roman"/>
                <a:ea typeface="Times New Roman"/>
                <a:cs typeface="Times New Roman"/>
                <a:sym typeface="Times New Roman"/>
              </a:rPr>
              <a:t>x</a:t>
            </a:r>
            <a:r>
              <a:rPr sz="2400"/>
              <a:t>(TMG)</a:t>
            </a:r>
          </a:p>
        </p:txBody>
      </p:sp>
      <p:sp>
        <p:nvSpPr>
          <p:cNvPr id="702" name="y(LacY-GFP)"/>
          <p:cNvSpPr/>
          <p:nvPr/>
        </p:nvSpPr>
        <p:spPr>
          <a:xfrm rot="16200000">
            <a:off x="6282760" y="4325075"/>
            <a:ext cx="1810880" cy="47192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p>
            <a:pPr>
              <a:spcBef>
                <a:spcPts val="1700"/>
              </a:spcBef>
              <a:defRPr sz="2400"/>
            </a:pPr>
            <a:r>
              <a:rPr sz="2400" i="1">
                <a:latin typeface="Times New Roman"/>
                <a:ea typeface="Times New Roman"/>
                <a:cs typeface="Times New Roman"/>
                <a:sym typeface="Times New Roman"/>
              </a:rPr>
              <a:t>y</a:t>
            </a:r>
            <a:r>
              <a:rPr sz="2400"/>
              <a:t>(LacY-GFP) </a:t>
            </a:r>
          </a:p>
        </p:txBody>
      </p:sp>
      <p:sp>
        <p:nvSpPr>
          <p:cNvPr id="703" name="矢印"/>
          <p:cNvSpPr/>
          <p:nvPr/>
        </p:nvSpPr>
        <p:spPr>
          <a:xfrm>
            <a:off x="5867400" y="4711700"/>
            <a:ext cx="596900" cy="723900"/>
          </a:xfrm>
          <a:prstGeom prst="rightArrow">
            <a:avLst>
              <a:gd name="adj1" fmla="val 40351"/>
              <a:gd name="adj2" fmla="val 57447"/>
            </a:avLst>
          </a:prstGeom>
          <a:blipFill>
            <a:blip r:embed="rId3"/>
          </a:blipFill>
          <a:ln w="25400">
            <a:solidFill>
              <a:srgbClr val="000000"/>
            </a:solidFill>
            <a:miter lim="400000"/>
          </a:ln>
        </p:spPr>
        <p:txBody>
          <a:bodyPr lIns="50800" tIns="50800" rIns="50800" bIns="50800" anchor="ctr"/>
          <a:lstStyle/>
          <a:p>
            <a:pPr>
              <a:defRPr>
                <a:solidFill>
                  <a:srgbClr val="FFFFFF"/>
                </a:solidFill>
                <a:effectLst>
                  <a:outerShdw blurRad="38100" dist="12700" dir="5400000" rotWithShape="0">
                    <a:srgbClr val="000000">
                      <a:alpha val="50000"/>
                    </a:srgbClr>
                  </a:outerShdw>
                </a:effectLst>
              </a:defRPr>
            </a:pPr>
            <a:endParaRPr/>
          </a:p>
        </p:txBody>
      </p:sp>
      <p:sp>
        <p:nvSpPr>
          <p:cNvPr id="704" name="線"/>
          <p:cNvSpPr/>
          <p:nvPr/>
        </p:nvSpPr>
        <p:spPr>
          <a:xfrm>
            <a:off x="6273800" y="2552700"/>
            <a:ext cx="2209800" cy="1447800"/>
          </a:xfrm>
          <a:custGeom>
            <a:avLst/>
            <a:gdLst/>
            <a:ahLst/>
            <a:cxnLst>
              <a:cxn ang="0">
                <a:pos x="wd2" y="hd2"/>
              </a:cxn>
              <a:cxn ang="5400000">
                <a:pos x="wd2" y="hd2"/>
              </a:cxn>
              <a:cxn ang="10800000">
                <a:pos x="wd2" y="hd2"/>
              </a:cxn>
              <a:cxn ang="16200000">
                <a:pos x="wd2" y="hd2"/>
              </a:cxn>
            </a:cxnLst>
            <a:rect l="0" t="0" r="r" b="b"/>
            <a:pathLst>
              <a:path w="21600" h="21600" extrusionOk="0">
                <a:moveTo>
                  <a:pt x="21600" y="21600"/>
                </a:moveTo>
                <a:cubicBezTo>
                  <a:pt x="21600" y="21600"/>
                  <a:pt x="11621" y="8780"/>
                  <a:pt x="0" y="0"/>
                </a:cubicBezTo>
              </a:path>
            </a:pathLst>
          </a:custGeom>
          <a:ln w="38100">
            <a:solidFill>
              <a:srgbClr val="FF7E79"/>
            </a:solidFill>
            <a:miter lim="400000"/>
            <a:headEnd type="triangle"/>
            <a:tailEnd type="triangle"/>
          </a:ln>
        </p:spPr>
        <p:txBody>
          <a:bodyPr lIns="50800" tIns="50800" rIns="50800" bIns="50800" anchor="ctr"/>
          <a:lstStyle/>
          <a:p>
            <a:endParaRPr/>
          </a:p>
        </p:txBody>
      </p:sp>
      <p:sp>
        <p:nvSpPr>
          <p:cNvPr id="705" name="楕円"/>
          <p:cNvSpPr/>
          <p:nvPr/>
        </p:nvSpPr>
        <p:spPr>
          <a:xfrm>
            <a:off x="8445500" y="3848100"/>
            <a:ext cx="889000" cy="533400"/>
          </a:xfrm>
          <a:prstGeom prst="ellipse">
            <a:avLst/>
          </a:prstGeom>
          <a:ln w="25400">
            <a:solidFill>
              <a:srgbClr val="FF7E79"/>
            </a:solidFill>
            <a:miter lim="400000"/>
          </a:ln>
        </p:spPr>
        <p:txBody>
          <a:bodyPr lIns="50800" tIns="50800" rIns="50800" bIns="50800" anchor="ctr"/>
          <a:lstStyle/>
          <a:p>
            <a:pPr>
              <a:defRPr>
                <a:solidFill>
                  <a:srgbClr val="FFFFFF"/>
                </a:solidFill>
                <a:effectLst>
                  <a:outerShdw blurRad="38100" dist="12700" dir="5400000" rotWithShape="0">
                    <a:srgbClr val="000000">
                      <a:alpha val="50000"/>
                    </a:srgbClr>
                  </a:outerShdw>
                </a:effectLst>
              </a:defRPr>
            </a:pPr>
            <a:endParaRPr/>
          </a:p>
        </p:txBody>
      </p:sp>
      <p:sp>
        <p:nvSpPr>
          <p:cNvPr id="706" name="角丸四角形"/>
          <p:cNvSpPr/>
          <p:nvPr/>
        </p:nvSpPr>
        <p:spPr>
          <a:xfrm>
            <a:off x="4127500" y="2146300"/>
            <a:ext cx="2171700" cy="533400"/>
          </a:xfrm>
          <a:prstGeom prst="roundRect">
            <a:avLst>
              <a:gd name="adj" fmla="val 35714"/>
            </a:avLst>
          </a:prstGeom>
          <a:ln w="25400">
            <a:solidFill>
              <a:srgbClr val="FF7E79"/>
            </a:solidFill>
            <a:miter lim="400000"/>
          </a:ln>
        </p:spPr>
        <p:txBody>
          <a:bodyPr lIns="50800" tIns="50800" rIns="50800" bIns="50800" anchor="ctr"/>
          <a:lstStyle/>
          <a:p>
            <a:pPr>
              <a:defRPr>
                <a:solidFill>
                  <a:srgbClr val="FFFFFF"/>
                </a:solidFill>
                <a:effectLst>
                  <a:outerShdw blurRad="38100" dist="12700" dir="5400000" rotWithShape="0">
                    <a:srgbClr val="000000">
                      <a:alpha val="50000"/>
                    </a:srgbClr>
                  </a:outerShdw>
                </a:effectLst>
              </a:defRPr>
            </a:pPr>
            <a:endParaRPr/>
          </a:p>
        </p:txBody>
      </p:sp>
      <p:sp>
        <p:nvSpPr>
          <p:cNvPr id="2" name="角丸四角形吹き出し 1">
            <a:extLst>
              <a:ext uri="{FF2B5EF4-FFF2-40B4-BE49-F238E27FC236}">
                <a16:creationId xmlns:a16="http://schemas.microsoft.com/office/drawing/2014/main" id="{4B37D46B-B7A8-7799-6AF5-AD42FD6D743D}"/>
              </a:ext>
            </a:extLst>
          </p:cNvPr>
          <p:cNvSpPr/>
          <p:nvPr/>
        </p:nvSpPr>
        <p:spPr>
          <a:xfrm>
            <a:off x="6464300" y="1271588"/>
            <a:ext cx="3408363" cy="657225"/>
          </a:xfrm>
          <a:prstGeom prst="wedgeRoundRectCallout">
            <a:avLst>
              <a:gd name="adj1" fmla="val -58560"/>
              <a:gd name="adj2" fmla="val 97283"/>
              <a:gd name="adj3" fmla="val 16667"/>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l-GR" altLang="ja-JP" sz="2400" dirty="0">
                <a:solidFill>
                  <a:srgbClr val="C00000"/>
                </a:solidFill>
                <a:latin typeface="Times New Roman"/>
                <a:ea typeface="Times New Roman"/>
                <a:cs typeface="Times New Roman"/>
                <a:sym typeface="Times New Roman"/>
              </a:rPr>
              <a:t>λ</a:t>
            </a:r>
            <a:r>
              <a:rPr lang="el-GR" altLang="ja-JP" sz="2400" baseline="-25000" dirty="0">
                <a:solidFill>
                  <a:srgbClr val="C00000"/>
                </a:solidFill>
                <a:latin typeface="Times New Roman"/>
                <a:ea typeface="Times New Roman"/>
                <a:cs typeface="Times New Roman"/>
                <a:sym typeface="Times New Roman"/>
              </a:rPr>
              <a:t>1</a:t>
            </a:r>
            <a:r>
              <a:rPr lang="el-GR" altLang="ja-JP" sz="2400" dirty="0">
                <a:solidFill>
                  <a:srgbClr val="C00000"/>
                </a:solidFill>
                <a:latin typeface="Times New Roman"/>
                <a:ea typeface="Times New Roman"/>
                <a:cs typeface="Times New Roman"/>
                <a:sym typeface="Times New Roman"/>
              </a:rPr>
              <a:t>&lt;0 </a:t>
            </a:r>
            <a:r>
              <a:rPr lang="ja-JP" altLang="en-US" sz="2400">
                <a:solidFill>
                  <a:srgbClr val="C00000"/>
                </a:solidFill>
              </a:rPr>
              <a:t>ならこの項は減衰</a:t>
            </a:r>
            <a:endParaRPr lang="ja-JP" altLang="en-US" sz="2400" dirty="0">
              <a:solidFill>
                <a:srgbClr val="C00000"/>
              </a:solidFill>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9" name="線"/>
          <p:cNvSpPr/>
          <p:nvPr/>
        </p:nvSpPr>
        <p:spPr>
          <a:xfrm flipV="1">
            <a:off x="7356475" y="3510977"/>
            <a:ext cx="1588" cy="2233613"/>
          </a:xfrm>
          <a:prstGeom prst="line">
            <a:avLst/>
          </a:prstGeom>
          <a:ln w="25400">
            <a:solidFill>
              <a:srgbClr val="000000"/>
            </a:solidFill>
          </a:ln>
        </p:spPr>
        <p:txBody>
          <a:bodyPr lIns="0" tIns="0" rIns="0" bIns="0"/>
          <a:lstStyle/>
          <a:p>
            <a:pPr defTabSz="457200">
              <a:defRPr sz="1200">
                <a:latin typeface="ヒラギノ角ゴ ProN W3"/>
                <a:ea typeface="ヒラギノ角ゴ ProN W3"/>
                <a:cs typeface="ヒラギノ角ゴ ProN W3"/>
                <a:sym typeface="ヒラギノ角ゴ ProN W3"/>
              </a:defRPr>
            </a:pPr>
            <a:endParaRPr sz="1200"/>
          </a:p>
        </p:txBody>
      </p:sp>
      <p:sp>
        <p:nvSpPr>
          <p:cNvPr id="710" name="線"/>
          <p:cNvSpPr/>
          <p:nvPr/>
        </p:nvSpPr>
        <p:spPr>
          <a:xfrm>
            <a:off x="7356476" y="5744589"/>
            <a:ext cx="2663825" cy="1588"/>
          </a:xfrm>
          <a:prstGeom prst="line">
            <a:avLst/>
          </a:prstGeom>
          <a:ln w="25400">
            <a:solidFill>
              <a:srgbClr val="000000"/>
            </a:solidFill>
          </a:ln>
        </p:spPr>
        <p:txBody>
          <a:bodyPr lIns="0" tIns="0" rIns="0" bIns="0"/>
          <a:lstStyle/>
          <a:p>
            <a:pPr defTabSz="457200">
              <a:defRPr sz="1200">
                <a:latin typeface="ヒラギノ角ゴ ProN W3"/>
                <a:ea typeface="ヒラギノ角ゴ ProN W3"/>
                <a:cs typeface="ヒラギノ角ゴ ProN W3"/>
                <a:sym typeface="ヒラギノ角ゴ ProN W3"/>
              </a:defRPr>
            </a:pPr>
            <a:endParaRPr sz="1200"/>
          </a:p>
        </p:txBody>
      </p:sp>
      <p:sp>
        <p:nvSpPr>
          <p:cNvPr id="711" name="円形"/>
          <p:cNvSpPr/>
          <p:nvPr/>
        </p:nvSpPr>
        <p:spPr>
          <a:xfrm>
            <a:off x="8191500" y="5006401"/>
            <a:ext cx="142876" cy="144464"/>
          </a:xfrm>
          <a:prstGeom prst="ellipse">
            <a:avLst/>
          </a:prstGeom>
          <a:solidFill>
            <a:srgbClr val="FFFFFF"/>
          </a:solidFill>
          <a:ln w="25400">
            <a:solidFill>
              <a:srgbClr val="000000"/>
            </a:solidFill>
          </a:ln>
        </p:spPr>
        <p:txBody>
          <a:bodyPr lIns="50800" tIns="50800" rIns="50800" bIns="50800" anchor="ctr"/>
          <a:lstStyle/>
          <a:p>
            <a:pPr>
              <a:defRPr>
                <a:solidFill>
                  <a:srgbClr val="FFFFFF"/>
                </a:solidFill>
                <a:effectLst>
                  <a:outerShdw blurRad="38100" dist="12700" dir="5400000" rotWithShape="0">
                    <a:srgbClr val="000000">
                      <a:alpha val="50000"/>
                    </a:srgbClr>
                  </a:outerShdw>
                </a:effectLst>
              </a:defRPr>
            </a:pPr>
            <a:endParaRPr/>
          </a:p>
        </p:txBody>
      </p:sp>
      <p:sp>
        <p:nvSpPr>
          <p:cNvPr id="712" name="線"/>
          <p:cNvSpPr/>
          <p:nvPr/>
        </p:nvSpPr>
        <p:spPr>
          <a:xfrm>
            <a:off x="8332787" y="5098477"/>
            <a:ext cx="1152526" cy="360363"/>
          </a:xfrm>
          <a:prstGeom prst="line">
            <a:avLst/>
          </a:prstGeom>
          <a:ln w="12700">
            <a:solidFill>
              <a:srgbClr val="000000"/>
            </a:solidFill>
            <a:tailEnd type="triangle"/>
          </a:ln>
        </p:spPr>
        <p:txBody>
          <a:bodyPr lIns="0" tIns="0" rIns="0" bIns="0"/>
          <a:lstStyle/>
          <a:p>
            <a:pPr defTabSz="457200">
              <a:defRPr sz="1200">
                <a:latin typeface="ヒラギノ角ゴ ProN W3"/>
                <a:ea typeface="ヒラギノ角ゴ ProN W3"/>
                <a:cs typeface="ヒラギノ角ゴ ProN W3"/>
                <a:sym typeface="ヒラギノ角ゴ ProN W3"/>
              </a:defRPr>
            </a:pPr>
            <a:endParaRPr sz="1200"/>
          </a:p>
        </p:txBody>
      </p:sp>
      <p:sp>
        <p:nvSpPr>
          <p:cNvPr id="713" name="線"/>
          <p:cNvSpPr/>
          <p:nvPr/>
        </p:nvSpPr>
        <p:spPr>
          <a:xfrm flipH="1" flipV="1">
            <a:off x="7900987" y="3730051"/>
            <a:ext cx="358776" cy="1296988"/>
          </a:xfrm>
          <a:prstGeom prst="line">
            <a:avLst/>
          </a:prstGeom>
          <a:ln w="12700">
            <a:solidFill>
              <a:srgbClr val="000000"/>
            </a:solidFill>
            <a:tailEnd type="triangle"/>
          </a:ln>
        </p:spPr>
        <p:txBody>
          <a:bodyPr lIns="0" tIns="0" rIns="0" bIns="0"/>
          <a:lstStyle/>
          <a:p>
            <a:pPr defTabSz="457200">
              <a:defRPr sz="1200">
                <a:latin typeface="ヒラギノ角ゴ ProN W3"/>
                <a:ea typeface="ヒラギノ角ゴ ProN W3"/>
                <a:cs typeface="ヒラギノ角ゴ ProN W3"/>
                <a:sym typeface="ヒラギノ角ゴ ProN W3"/>
              </a:defRPr>
            </a:pPr>
            <a:endParaRPr sz="1200"/>
          </a:p>
        </p:txBody>
      </p:sp>
      <p:sp>
        <p:nvSpPr>
          <p:cNvPr id="714" name="円形"/>
          <p:cNvSpPr/>
          <p:nvPr/>
        </p:nvSpPr>
        <p:spPr>
          <a:xfrm>
            <a:off x="8869362" y="4520626"/>
            <a:ext cx="144464" cy="144464"/>
          </a:xfrm>
          <a:prstGeom prst="ellipse">
            <a:avLst/>
          </a:prstGeom>
          <a:solidFill>
            <a:srgbClr val="FFFDA9"/>
          </a:solidFill>
          <a:ln w="25400">
            <a:solidFill>
              <a:srgbClr val="000000"/>
            </a:solidFill>
            <a:miter lim="400000"/>
          </a:ln>
        </p:spPr>
        <p:txBody>
          <a:bodyPr lIns="50800" tIns="50800" rIns="50800" bIns="50800" anchor="ctr"/>
          <a:lstStyle/>
          <a:p>
            <a:pPr>
              <a:defRPr>
                <a:solidFill>
                  <a:srgbClr val="FFFFFF"/>
                </a:solidFill>
                <a:effectLst>
                  <a:outerShdw blurRad="38100" dist="12700" dir="5400000" rotWithShape="0">
                    <a:srgbClr val="000000">
                      <a:alpha val="50000"/>
                    </a:srgbClr>
                  </a:outerShdw>
                </a:effectLst>
              </a:defRPr>
            </a:pPr>
            <a:endParaRPr/>
          </a:p>
        </p:txBody>
      </p:sp>
      <p:sp>
        <p:nvSpPr>
          <p:cNvPr id="715" name="λ1&gt;0, λ2&gt;0"/>
          <p:cNvSpPr/>
          <p:nvPr/>
        </p:nvSpPr>
        <p:spPr>
          <a:xfrm>
            <a:off x="8765216" y="2957644"/>
            <a:ext cx="1086836" cy="379591"/>
          </a:xfrm>
          <a:prstGeom prst="rect">
            <a:avLst/>
          </a:prstGeom>
          <a:ln w="25400">
            <a:solidFill>
              <a:srgbClr val="7A81FF"/>
            </a:solidFill>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p>
            <a:pPr>
              <a:buClr>
                <a:srgbClr val="000000"/>
              </a:buClr>
              <a:buFont typeface="Symbol"/>
              <a:defRPr>
                <a:latin typeface="Times New Roman"/>
                <a:ea typeface="Times New Roman"/>
                <a:cs typeface="Times New Roman"/>
                <a:sym typeface="Times New Roman"/>
              </a:defRPr>
            </a:pPr>
            <a:r>
              <a:t>λ</a:t>
            </a:r>
            <a:r>
              <a:rPr baseline="-25000"/>
              <a:t>1</a:t>
            </a:r>
            <a:r>
              <a:t>&gt;0, λ</a:t>
            </a:r>
            <a:r>
              <a:rPr baseline="-25000"/>
              <a:t>2</a:t>
            </a:r>
            <a:r>
              <a:t>&gt;0</a:t>
            </a:r>
          </a:p>
        </p:txBody>
      </p:sp>
      <p:sp>
        <p:nvSpPr>
          <p:cNvPr id="716" name="線"/>
          <p:cNvSpPr/>
          <p:nvPr/>
        </p:nvSpPr>
        <p:spPr>
          <a:xfrm flipV="1">
            <a:off x="2381250" y="3518915"/>
            <a:ext cx="1588" cy="2233613"/>
          </a:xfrm>
          <a:prstGeom prst="line">
            <a:avLst/>
          </a:prstGeom>
          <a:ln w="25400">
            <a:solidFill>
              <a:srgbClr val="000000"/>
            </a:solidFill>
          </a:ln>
        </p:spPr>
        <p:txBody>
          <a:bodyPr lIns="0" tIns="0" rIns="0" bIns="0"/>
          <a:lstStyle/>
          <a:p>
            <a:pPr defTabSz="457200">
              <a:defRPr sz="1200">
                <a:latin typeface="ヒラギノ角ゴ ProN W3"/>
                <a:ea typeface="ヒラギノ角ゴ ProN W3"/>
                <a:cs typeface="ヒラギノ角ゴ ProN W3"/>
                <a:sym typeface="ヒラギノ角ゴ ProN W3"/>
              </a:defRPr>
            </a:pPr>
            <a:endParaRPr sz="1200"/>
          </a:p>
        </p:txBody>
      </p:sp>
      <p:sp>
        <p:nvSpPr>
          <p:cNvPr id="717" name="線"/>
          <p:cNvSpPr/>
          <p:nvPr/>
        </p:nvSpPr>
        <p:spPr>
          <a:xfrm>
            <a:off x="2381251" y="5752526"/>
            <a:ext cx="2663825" cy="1588"/>
          </a:xfrm>
          <a:prstGeom prst="line">
            <a:avLst/>
          </a:prstGeom>
          <a:ln w="25400">
            <a:solidFill>
              <a:srgbClr val="000000"/>
            </a:solidFill>
          </a:ln>
        </p:spPr>
        <p:txBody>
          <a:bodyPr lIns="0" tIns="0" rIns="0" bIns="0"/>
          <a:lstStyle/>
          <a:p>
            <a:pPr defTabSz="457200">
              <a:defRPr sz="1200">
                <a:latin typeface="ヒラギノ角ゴ ProN W3"/>
                <a:ea typeface="ヒラギノ角ゴ ProN W3"/>
                <a:cs typeface="ヒラギノ角ゴ ProN W3"/>
                <a:sym typeface="ヒラギノ角ゴ ProN W3"/>
              </a:defRPr>
            </a:pPr>
            <a:endParaRPr sz="1200"/>
          </a:p>
        </p:txBody>
      </p:sp>
      <p:sp>
        <p:nvSpPr>
          <p:cNvPr id="718" name="円形"/>
          <p:cNvSpPr/>
          <p:nvPr/>
        </p:nvSpPr>
        <p:spPr>
          <a:xfrm>
            <a:off x="3216275" y="5014340"/>
            <a:ext cx="142876" cy="144463"/>
          </a:xfrm>
          <a:prstGeom prst="ellipse">
            <a:avLst/>
          </a:prstGeom>
          <a:solidFill>
            <a:srgbClr val="FFFFFF"/>
          </a:solidFill>
          <a:ln w="25400">
            <a:solidFill>
              <a:srgbClr val="000000"/>
            </a:solidFill>
          </a:ln>
        </p:spPr>
        <p:txBody>
          <a:bodyPr lIns="50800" tIns="50800" rIns="50800" bIns="50800" anchor="ctr"/>
          <a:lstStyle/>
          <a:p>
            <a:pPr>
              <a:defRPr>
                <a:solidFill>
                  <a:srgbClr val="FFFFFF"/>
                </a:solidFill>
                <a:effectLst>
                  <a:outerShdw blurRad="38100" dist="12700" dir="5400000" rotWithShape="0">
                    <a:srgbClr val="000000">
                      <a:alpha val="50000"/>
                    </a:srgbClr>
                  </a:outerShdw>
                </a:effectLst>
              </a:defRPr>
            </a:pPr>
            <a:endParaRPr/>
          </a:p>
        </p:txBody>
      </p:sp>
      <p:sp>
        <p:nvSpPr>
          <p:cNvPr id="719" name="線"/>
          <p:cNvSpPr/>
          <p:nvPr/>
        </p:nvSpPr>
        <p:spPr>
          <a:xfrm>
            <a:off x="3357562" y="5106415"/>
            <a:ext cx="1152526" cy="360363"/>
          </a:xfrm>
          <a:prstGeom prst="line">
            <a:avLst/>
          </a:prstGeom>
          <a:ln w="12700">
            <a:solidFill>
              <a:srgbClr val="000000"/>
            </a:solidFill>
            <a:tailEnd type="triangle"/>
          </a:ln>
        </p:spPr>
        <p:txBody>
          <a:bodyPr lIns="0" tIns="0" rIns="0" bIns="0"/>
          <a:lstStyle/>
          <a:p>
            <a:pPr defTabSz="457200">
              <a:defRPr sz="1200">
                <a:latin typeface="ヒラギノ角ゴ ProN W3"/>
                <a:ea typeface="ヒラギノ角ゴ ProN W3"/>
                <a:cs typeface="ヒラギノ角ゴ ProN W3"/>
                <a:sym typeface="ヒラギノ角ゴ ProN W3"/>
              </a:defRPr>
            </a:pPr>
            <a:endParaRPr sz="1200"/>
          </a:p>
        </p:txBody>
      </p:sp>
      <p:sp>
        <p:nvSpPr>
          <p:cNvPr id="720" name="線"/>
          <p:cNvSpPr/>
          <p:nvPr/>
        </p:nvSpPr>
        <p:spPr>
          <a:xfrm flipH="1" flipV="1">
            <a:off x="2925762" y="3737989"/>
            <a:ext cx="358776" cy="1296988"/>
          </a:xfrm>
          <a:prstGeom prst="line">
            <a:avLst/>
          </a:prstGeom>
          <a:ln w="12700">
            <a:solidFill>
              <a:srgbClr val="000000"/>
            </a:solidFill>
            <a:tailEnd type="triangle"/>
          </a:ln>
        </p:spPr>
        <p:txBody>
          <a:bodyPr lIns="0" tIns="0" rIns="0" bIns="0"/>
          <a:lstStyle/>
          <a:p>
            <a:pPr defTabSz="457200">
              <a:defRPr sz="1200">
                <a:latin typeface="ヒラギノ角ゴ ProN W3"/>
                <a:ea typeface="ヒラギノ角ゴ ProN W3"/>
                <a:cs typeface="ヒラギノ角ゴ ProN W3"/>
                <a:sym typeface="ヒラギノ角ゴ ProN W3"/>
              </a:defRPr>
            </a:pPr>
            <a:endParaRPr sz="1200"/>
          </a:p>
        </p:txBody>
      </p:sp>
      <p:sp>
        <p:nvSpPr>
          <p:cNvPr id="721" name="円形"/>
          <p:cNvSpPr/>
          <p:nvPr/>
        </p:nvSpPr>
        <p:spPr>
          <a:xfrm>
            <a:off x="3894137" y="4528565"/>
            <a:ext cx="144464" cy="144463"/>
          </a:xfrm>
          <a:prstGeom prst="ellipse">
            <a:avLst/>
          </a:prstGeom>
          <a:solidFill>
            <a:srgbClr val="FFFDA9"/>
          </a:solidFill>
          <a:ln w="25400">
            <a:solidFill>
              <a:srgbClr val="000000"/>
            </a:solidFill>
            <a:miter lim="400000"/>
          </a:ln>
        </p:spPr>
        <p:txBody>
          <a:bodyPr lIns="50800" tIns="50800" rIns="50800" bIns="50800" anchor="ctr"/>
          <a:lstStyle/>
          <a:p>
            <a:pPr>
              <a:defRPr>
                <a:solidFill>
                  <a:srgbClr val="FFFFFF"/>
                </a:solidFill>
                <a:effectLst>
                  <a:outerShdw blurRad="38100" dist="12700" dir="5400000" rotWithShape="0">
                    <a:srgbClr val="000000">
                      <a:alpha val="50000"/>
                    </a:srgbClr>
                  </a:outerShdw>
                </a:effectLst>
              </a:defRPr>
            </a:pPr>
            <a:endParaRPr/>
          </a:p>
        </p:txBody>
      </p:sp>
      <p:sp>
        <p:nvSpPr>
          <p:cNvPr id="722" name="λ1&gt;0, λ2&lt;0"/>
          <p:cNvSpPr/>
          <p:nvPr/>
        </p:nvSpPr>
        <p:spPr>
          <a:xfrm>
            <a:off x="3902703" y="3049719"/>
            <a:ext cx="1086836" cy="379591"/>
          </a:xfrm>
          <a:prstGeom prst="rect">
            <a:avLst/>
          </a:prstGeom>
          <a:ln w="25400">
            <a:solidFill>
              <a:srgbClr val="7A81FF"/>
            </a:solidFill>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p>
            <a:pPr>
              <a:buClr>
                <a:srgbClr val="000000"/>
              </a:buClr>
              <a:buFont typeface="Symbol"/>
              <a:defRPr>
                <a:latin typeface="Times New Roman"/>
                <a:ea typeface="Times New Roman"/>
                <a:cs typeface="Times New Roman"/>
                <a:sym typeface="Times New Roman"/>
              </a:defRPr>
            </a:pPr>
            <a:r>
              <a:t>λ</a:t>
            </a:r>
            <a:r>
              <a:rPr baseline="-25000"/>
              <a:t>1</a:t>
            </a:r>
            <a:r>
              <a:t>&gt;0, λ</a:t>
            </a:r>
            <a:r>
              <a:rPr baseline="-25000"/>
              <a:t>2</a:t>
            </a:r>
            <a:r>
              <a:t>&lt;0</a:t>
            </a:r>
          </a:p>
        </p:txBody>
      </p:sp>
      <p:sp>
        <p:nvSpPr>
          <p:cNvPr id="723" name="線"/>
          <p:cNvSpPr/>
          <p:nvPr/>
        </p:nvSpPr>
        <p:spPr>
          <a:xfrm>
            <a:off x="3119437" y="3922140"/>
            <a:ext cx="790576" cy="911123"/>
          </a:xfrm>
          <a:custGeom>
            <a:avLst/>
            <a:gdLst/>
            <a:ahLst/>
            <a:cxnLst>
              <a:cxn ang="0">
                <a:pos x="wd2" y="hd2"/>
              </a:cxn>
              <a:cxn ang="5400000">
                <a:pos x="wd2" y="hd2"/>
              </a:cxn>
              <a:cxn ang="10800000">
                <a:pos x="wd2" y="hd2"/>
              </a:cxn>
              <a:cxn ang="16200000">
                <a:pos x="wd2" y="hd2"/>
              </a:cxn>
            </a:cxnLst>
            <a:rect l="0" t="0" r="r" b="b"/>
            <a:pathLst>
              <a:path w="21600" h="19995" extrusionOk="0">
                <a:moveTo>
                  <a:pt x="21600" y="15817"/>
                </a:moveTo>
                <a:cubicBezTo>
                  <a:pt x="17480" y="18708"/>
                  <a:pt x="13402" y="21600"/>
                  <a:pt x="9802" y="18952"/>
                </a:cubicBezTo>
                <a:cubicBezTo>
                  <a:pt x="6202" y="16305"/>
                  <a:pt x="3080" y="8152"/>
                  <a:pt x="0" y="0"/>
                </a:cubicBezTo>
              </a:path>
            </a:pathLst>
          </a:custGeom>
          <a:ln w="25400">
            <a:solidFill>
              <a:srgbClr val="000000"/>
            </a:solidFill>
            <a:tailEnd type="triangle"/>
          </a:ln>
        </p:spPr>
        <p:txBody>
          <a:bodyPr lIns="50800" tIns="50800" rIns="50800" bIns="50800" anchor="ctr"/>
          <a:lstStyle/>
          <a:p>
            <a:pPr>
              <a:defRPr>
                <a:solidFill>
                  <a:srgbClr val="FFFFFF"/>
                </a:solidFill>
                <a:effectLst>
                  <a:outerShdw blurRad="38100" dist="12700" dir="5400000" rotWithShape="0">
                    <a:srgbClr val="000000">
                      <a:alpha val="50000"/>
                    </a:srgbClr>
                  </a:outerShdw>
                </a:effectLst>
              </a:defRPr>
            </a:pPr>
            <a:endParaRPr/>
          </a:p>
        </p:txBody>
      </p:sp>
      <p:sp>
        <p:nvSpPr>
          <p:cNvPr id="724" name="線"/>
          <p:cNvSpPr/>
          <p:nvPr/>
        </p:nvSpPr>
        <p:spPr>
          <a:xfrm>
            <a:off x="8929688" y="3650676"/>
            <a:ext cx="576263" cy="865188"/>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cubicBezTo>
                  <a:pt x="2261" y="16210"/>
                  <a:pt x="4522" y="10820"/>
                  <a:pt x="8093" y="7213"/>
                </a:cubicBezTo>
                <a:cubicBezTo>
                  <a:pt x="11663" y="3607"/>
                  <a:pt x="16602" y="1783"/>
                  <a:pt x="21600" y="0"/>
                </a:cubicBezTo>
              </a:path>
            </a:pathLst>
          </a:custGeom>
          <a:ln w="25400">
            <a:solidFill>
              <a:srgbClr val="000000"/>
            </a:solidFill>
            <a:tailEnd type="triangle"/>
          </a:ln>
        </p:spPr>
        <p:txBody>
          <a:bodyPr lIns="50800" tIns="50800" rIns="50800" bIns="50800" anchor="ctr"/>
          <a:lstStyle/>
          <a:p>
            <a:pPr>
              <a:defRPr>
                <a:solidFill>
                  <a:srgbClr val="FFFFFF"/>
                </a:solidFill>
                <a:effectLst>
                  <a:outerShdw blurRad="38100" dist="12700" dir="5400000" rotWithShape="0">
                    <a:srgbClr val="000000">
                      <a:alpha val="50000"/>
                    </a:srgbClr>
                  </a:outerShdw>
                </a:effectLst>
              </a:defRPr>
            </a:pPr>
            <a:endParaRPr/>
          </a:p>
        </p:txBody>
      </p:sp>
      <p:sp>
        <p:nvSpPr>
          <p:cNvPr id="725" name="xss+Δx0"/>
          <p:cNvSpPr/>
          <p:nvPr/>
        </p:nvSpPr>
        <p:spPr>
          <a:xfrm>
            <a:off x="3877138" y="3911960"/>
            <a:ext cx="1298432" cy="59503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p>
            <a:pPr>
              <a:buClr>
                <a:srgbClr val="000000"/>
              </a:buClr>
              <a:buFont typeface="Times New Roman"/>
            </a:pPr>
            <a:r>
              <a:rPr sz="3200" i="1">
                <a:latin typeface="Times New Roman"/>
                <a:ea typeface="Times New Roman"/>
                <a:cs typeface="Times New Roman"/>
                <a:sym typeface="Times New Roman"/>
              </a:rPr>
              <a:t>x</a:t>
            </a:r>
            <a:r>
              <a:rPr sz="3200" i="1" baseline="-25000">
                <a:latin typeface="Times New Roman"/>
                <a:ea typeface="Times New Roman"/>
                <a:cs typeface="Times New Roman"/>
                <a:sym typeface="Times New Roman"/>
              </a:rPr>
              <a:t>ss</a:t>
            </a:r>
            <a:r>
              <a:rPr sz="3200">
                <a:latin typeface="Times New Roman"/>
                <a:ea typeface="Times New Roman"/>
                <a:cs typeface="Times New Roman"/>
                <a:sym typeface="Times New Roman"/>
              </a:rPr>
              <a:t>+</a:t>
            </a:r>
            <a:r>
              <a:rPr sz="3200">
                <a:latin typeface="Symbol"/>
                <a:ea typeface="Symbol"/>
                <a:cs typeface="Symbol"/>
                <a:sym typeface="Symbol"/>
              </a:rPr>
              <a:t>D</a:t>
            </a:r>
            <a:r>
              <a:rPr sz="3200" i="1">
                <a:latin typeface="Times New Roman"/>
                <a:ea typeface="Times New Roman"/>
                <a:cs typeface="Times New Roman"/>
                <a:sym typeface="Times New Roman"/>
              </a:rPr>
              <a:t>x</a:t>
            </a:r>
            <a:r>
              <a:rPr sz="3200" i="1" baseline="-25000">
                <a:latin typeface="Times New Roman"/>
                <a:ea typeface="Times New Roman"/>
                <a:cs typeface="Times New Roman"/>
                <a:sym typeface="Times New Roman"/>
              </a:rPr>
              <a:t>0</a:t>
            </a:r>
          </a:p>
        </p:txBody>
      </p:sp>
      <p:sp>
        <p:nvSpPr>
          <p:cNvPr id="726" name="xss"/>
          <p:cNvSpPr/>
          <p:nvPr/>
        </p:nvSpPr>
        <p:spPr>
          <a:xfrm>
            <a:off x="2704737" y="5007335"/>
            <a:ext cx="496931" cy="59503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p>
            <a:pPr>
              <a:buClr>
                <a:srgbClr val="000000"/>
              </a:buClr>
              <a:buFont typeface="Times New Roman"/>
            </a:pPr>
            <a:r>
              <a:rPr sz="3200" i="1">
                <a:latin typeface="Times New Roman"/>
                <a:ea typeface="Times New Roman"/>
                <a:cs typeface="Times New Roman"/>
                <a:sym typeface="Times New Roman"/>
              </a:rPr>
              <a:t>x</a:t>
            </a:r>
            <a:r>
              <a:rPr sz="3200" i="1" baseline="-25000">
                <a:latin typeface="Times New Roman"/>
                <a:ea typeface="Times New Roman"/>
                <a:cs typeface="Times New Roman"/>
                <a:sym typeface="Times New Roman"/>
              </a:rPr>
              <a:t>ss</a:t>
            </a:r>
          </a:p>
        </p:txBody>
      </p:sp>
      <p:sp>
        <p:nvSpPr>
          <p:cNvPr id="727" name="正の固有値を一つでも含むと発散"/>
          <p:cNvSpPr txBox="1">
            <a:spLocks noGrp="1"/>
          </p:cNvSpPr>
          <p:nvPr>
            <p:ph type="title"/>
          </p:nvPr>
        </p:nvSpPr>
        <p:spPr>
          <a:prstGeom prst="rect">
            <a:avLst/>
          </a:prstGeom>
        </p:spPr>
        <p:txBody>
          <a:bodyPr>
            <a:normAutofit/>
          </a:bodyPr>
          <a:lstStyle/>
          <a:p>
            <a:r>
              <a:t>正の固有値を一つでも含むと発散</a:t>
            </a:r>
          </a:p>
        </p:txBody>
      </p:sp>
      <p:sp>
        <p:nvSpPr>
          <p:cNvPr id="728" name="v1"/>
          <p:cNvSpPr/>
          <p:nvPr/>
        </p:nvSpPr>
        <p:spPr>
          <a:xfrm>
            <a:off x="2658268" y="3257552"/>
            <a:ext cx="370294" cy="47192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p>
            <a:pPr>
              <a:buClr>
                <a:srgbClr val="000000"/>
              </a:buClr>
              <a:buFont typeface="Arial"/>
              <a:defRPr sz="2400"/>
            </a:pPr>
            <a:r>
              <a:rPr sz="2400" b="1">
                <a:latin typeface="Times New Roman"/>
                <a:ea typeface="Times New Roman"/>
                <a:cs typeface="Times New Roman"/>
                <a:sym typeface="Times New Roman"/>
              </a:rPr>
              <a:t>v</a:t>
            </a:r>
            <a:r>
              <a:rPr sz="2400" baseline="-5999"/>
              <a:t>1</a:t>
            </a:r>
          </a:p>
        </p:txBody>
      </p:sp>
      <p:sp>
        <p:nvSpPr>
          <p:cNvPr id="729" name="x(TMG)"/>
          <p:cNvSpPr/>
          <p:nvPr/>
        </p:nvSpPr>
        <p:spPr>
          <a:xfrm>
            <a:off x="4038600" y="5794377"/>
            <a:ext cx="1038746" cy="47192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p>
            <a:pPr>
              <a:spcBef>
                <a:spcPts val="1700"/>
              </a:spcBef>
              <a:defRPr sz="2400"/>
            </a:pPr>
            <a:r>
              <a:rPr sz="2400" i="1">
                <a:latin typeface="Times New Roman"/>
                <a:ea typeface="Times New Roman"/>
                <a:cs typeface="Times New Roman"/>
                <a:sym typeface="Times New Roman"/>
              </a:rPr>
              <a:t>x</a:t>
            </a:r>
            <a:r>
              <a:rPr sz="2400"/>
              <a:t>(TMG)</a:t>
            </a:r>
          </a:p>
        </p:txBody>
      </p:sp>
      <p:sp>
        <p:nvSpPr>
          <p:cNvPr id="730" name="y(LacY-GFP)"/>
          <p:cNvSpPr/>
          <p:nvPr/>
        </p:nvSpPr>
        <p:spPr>
          <a:xfrm rot="16200000">
            <a:off x="1217197" y="4092577"/>
            <a:ext cx="1810880" cy="47192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p>
            <a:pPr>
              <a:spcBef>
                <a:spcPts val="1700"/>
              </a:spcBef>
              <a:defRPr sz="2400"/>
            </a:pPr>
            <a:r>
              <a:rPr sz="2400" i="1">
                <a:latin typeface="Times New Roman"/>
                <a:ea typeface="Times New Roman"/>
                <a:cs typeface="Times New Roman"/>
                <a:sym typeface="Times New Roman"/>
              </a:rPr>
              <a:t>y</a:t>
            </a:r>
            <a:r>
              <a:rPr sz="2400"/>
              <a:t>(LacY-GFP) </a:t>
            </a:r>
          </a:p>
        </p:txBody>
      </p:sp>
      <p:sp>
        <p:nvSpPr>
          <p:cNvPr id="731" name="v2"/>
          <p:cNvSpPr/>
          <p:nvPr/>
        </p:nvSpPr>
        <p:spPr>
          <a:xfrm>
            <a:off x="4610725" y="5235577"/>
            <a:ext cx="370294" cy="47192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p>
            <a:pPr>
              <a:buClr>
                <a:srgbClr val="000000"/>
              </a:buClr>
              <a:buFont typeface="Arial"/>
              <a:defRPr sz="2400"/>
            </a:pPr>
            <a:r>
              <a:rPr sz="2400" b="1">
                <a:latin typeface="Times New Roman"/>
                <a:ea typeface="Times New Roman"/>
                <a:cs typeface="Times New Roman"/>
                <a:sym typeface="Times New Roman"/>
              </a:rPr>
              <a:t>v</a:t>
            </a:r>
            <a:r>
              <a:rPr sz="2400" baseline="-5999"/>
              <a:t>2</a:t>
            </a:r>
          </a:p>
        </p:txBody>
      </p:sp>
      <p:sp>
        <p:nvSpPr>
          <p:cNvPr id="732" name="λ1&gt;0 の場合はλ1に対応する固有ベクトルv1 の方向に発散"/>
          <p:cNvSpPr/>
          <p:nvPr/>
        </p:nvSpPr>
        <p:spPr>
          <a:xfrm>
            <a:off x="1690371" y="1768934"/>
            <a:ext cx="4146865" cy="90281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anchor="ctr">
            <a:spAutoFit/>
          </a:bodyPr>
          <a:lstStyle/>
          <a:p>
            <a:pPr>
              <a:buClr>
                <a:srgbClr val="000000"/>
              </a:buClr>
              <a:buFont typeface="Arial"/>
              <a:defRPr sz="2400"/>
            </a:pPr>
            <a:r>
              <a:rPr sz="2800" dirty="0">
                <a:latin typeface="Times New Roman"/>
                <a:ea typeface="Times New Roman"/>
                <a:cs typeface="Times New Roman"/>
                <a:sym typeface="Times New Roman"/>
              </a:rPr>
              <a:t>λ</a:t>
            </a:r>
            <a:r>
              <a:rPr sz="2800" baseline="-25000" dirty="0">
                <a:latin typeface="Times New Roman"/>
                <a:ea typeface="Times New Roman"/>
                <a:cs typeface="Times New Roman"/>
                <a:sym typeface="Times New Roman"/>
              </a:rPr>
              <a:t>1</a:t>
            </a:r>
            <a:r>
              <a:rPr sz="2800" dirty="0">
                <a:latin typeface="Times New Roman"/>
                <a:ea typeface="Times New Roman"/>
                <a:cs typeface="Times New Roman"/>
                <a:sym typeface="Times New Roman"/>
              </a:rPr>
              <a:t>&gt;0 </a:t>
            </a:r>
            <a:r>
              <a:rPr sz="2400" dirty="0"/>
              <a:t>の場合は</a:t>
            </a:r>
            <a:r>
              <a:rPr sz="2800" dirty="0">
                <a:latin typeface="Times New Roman"/>
                <a:ea typeface="Times New Roman"/>
                <a:cs typeface="Times New Roman"/>
                <a:sym typeface="Times New Roman"/>
              </a:rPr>
              <a:t>λ</a:t>
            </a:r>
            <a:r>
              <a:rPr sz="2800" baseline="-25000" dirty="0">
                <a:latin typeface="Times New Roman"/>
                <a:ea typeface="Times New Roman"/>
                <a:cs typeface="Times New Roman"/>
                <a:sym typeface="Times New Roman"/>
              </a:rPr>
              <a:t>1</a:t>
            </a:r>
            <a:r>
              <a:rPr sz="2400" dirty="0"/>
              <a:t>に対応する固有ベクトル</a:t>
            </a:r>
            <a:r>
              <a:rPr sz="2400" b="1" dirty="0">
                <a:latin typeface="Times New Roman"/>
                <a:ea typeface="Times New Roman"/>
                <a:cs typeface="Times New Roman"/>
                <a:sym typeface="Times New Roman"/>
              </a:rPr>
              <a:t>v</a:t>
            </a:r>
            <a:r>
              <a:rPr sz="2400" baseline="-5999" dirty="0"/>
              <a:t>1 </a:t>
            </a:r>
            <a:r>
              <a:rPr sz="2400" dirty="0" err="1"/>
              <a:t>の方向に発散</a:t>
            </a:r>
            <a:endParaRPr sz="2400" dirty="0"/>
          </a:p>
        </p:txBody>
      </p:sp>
      <p:sp>
        <p:nvSpPr>
          <p:cNvPr id="733" name="x(TMG)"/>
          <p:cNvSpPr/>
          <p:nvPr/>
        </p:nvSpPr>
        <p:spPr>
          <a:xfrm>
            <a:off x="9029700" y="5718177"/>
            <a:ext cx="1038746" cy="47192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p>
            <a:pPr>
              <a:spcBef>
                <a:spcPts val="1700"/>
              </a:spcBef>
              <a:defRPr sz="2400"/>
            </a:pPr>
            <a:r>
              <a:rPr sz="2400" i="1">
                <a:latin typeface="Times New Roman"/>
                <a:ea typeface="Times New Roman"/>
                <a:cs typeface="Times New Roman"/>
                <a:sym typeface="Times New Roman"/>
              </a:rPr>
              <a:t>x</a:t>
            </a:r>
            <a:r>
              <a:rPr sz="2400"/>
              <a:t>(TMG)</a:t>
            </a:r>
          </a:p>
        </p:txBody>
      </p:sp>
      <p:sp>
        <p:nvSpPr>
          <p:cNvPr id="734" name="y(LacY-GFP)"/>
          <p:cNvSpPr/>
          <p:nvPr/>
        </p:nvSpPr>
        <p:spPr>
          <a:xfrm rot="16200000">
            <a:off x="6206560" y="4018114"/>
            <a:ext cx="1810880" cy="47192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p>
            <a:pPr>
              <a:spcBef>
                <a:spcPts val="1700"/>
              </a:spcBef>
              <a:defRPr sz="2400"/>
            </a:pPr>
            <a:r>
              <a:rPr sz="2400" i="1">
                <a:latin typeface="Times New Roman"/>
                <a:ea typeface="Times New Roman"/>
                <a:cs typeface="Times New Roman"/>
                <a:sym typeface="Times New Roman"/>
              </a:rPr>
              <a:t>y</a:t>
            </a:r>
            <a:r>
              <a:rPr sz="2400"/>
              <a:t>(LacY-GFP) </a:t>
            </a:r>
          </a:p>
        </p:txBody>
      </p:sp>
      <p:sp>
        <p:nvSpPr>
          <p:cNvPr id="735" name="λ1&gt;0, λ2&gt;0 の場合は…"/>
          <p:cNvSpPr/>
          <p:nvPr/>
        </p:nvSpPr>
        <p:spPr>
          <a:xfrm>
            <a:off x="6718300" y="1768934"/>
            <a:ext cx="3797300" cy="90281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chor="ctr">
            <a:spAutoFit/>
          </a:bodyPr>
          <a:lstStyle/>
          <a:p>
            <a:pPr>
              <a:buClr>
                <a:srgbClr val="000000"/>
              </a:buClr>
              <a:buFont typeface="Arial"/>
              <a:defRPr sz="2400"/>
            </a:pPr>
            <a:r>
              <a:rPr sz="2800" dirty="0">
                <a:latin typeface="Times New Roman"/>
                <a:ea typeface="Times New Roman"/>
                <a:cs typeface="Times New Roman"/>
                <a:sym typeface="Times New Roman"/>
              </a:rPr>
              <a:t>λ</a:t>
            </a:r>
            <a:r>
              <a:rPr sz="2800" baseline="-25000" dirty="0">
                <a:latin typeface="Times New Roman"/>
                <a:ea typeface="Times New Roman"/>
                <a:cs typeface="Times New Roman"/>
                <a:sym typeface="Times New Roman"/>
              </a:rPr>
              <a:t>1</a:t>
            </a:r>
            <a:r>
              <a:rPr sz="2800" dirty="0">
                <a:latin typeface="Times New Roman"/>
                <a:ea typeface="Times New Roman"/>
                <a:cs typeface="Times New Roman"/>
                <a:sym typeface="Times New Roman"/>
              </a:rPr>
              <a:t>&gt;0, λ</a:t>
            </a:r>
            <a:r>
              <a:rPr sz="2800" baseline="-25000" dirty="0">
                <a:latin typeface="Times New Roman"/>
                <a:ea typeface="Times New Roman"/>
                <a:cs typeface="Times New Roman"/>
                <a:sym typeface="Times New Roman"/>
              </a:rPr>
              <a:t>2</a:t>
            </a:r>
            <a:r>
              <a:rPr sz="2800" dirty="0">
                <a:latin typeface="Times New Roman"/>
                <a:ea typeface="Times New Roman"/>
                <a:cs typeface="Times New Roman"/>
                <a:sym typeface="Times New Roman"/>
              </a:rPr>
              <a:t>&gt;0 </a:t>
            </a:r>
            <a:r>
              <a:rPr sz="2400" dirty="0" err="1"/>
              <a:t>の場合は</a:t>
            </a:r>
            <a:endParaRPr sz="2400" dirty="0"/>
          </a:p>
          <a:p>
            <a:pPr>
              <a:buClr>
                <a:srgbClr val="000000"/>
              </a:buClr>
              <a:buFont typeface="Arial"/>
              <a:defRPr sz="2400"/>
            </a:pPr>
            <a:r>
              <a:rPr sz="2400" b="1" dirty="0">
                <a:latin typeface="Times New Roman"/>
                <a:ea typeface="Times New Roman"/>
                <a:cs typeface="Times New Roman"/>
                <a:sym typeface="Times New Roman"/>
              </a:rPr>
              <a:t>v</a:t>
            </a:r>
            <a:r>
              <a:rPr sz="2400" baseline="-5999" dirty="0"/>
              <a:t>1 </a:t>
            </a:r>
            <a:r>
              <a:rPr sz="2400" dirty="0"/>
              <a:t>, </a:t>
            </a:r>
            <a:r>
              <a:rPr sz="2400" b="1" dirty="0">
                <a:latin typeface="Times New Roman"/>
                <a:ea typeface="Times New Roman"/>
                <a:cs typeface="Times New Roman"/>
                <a:sym typeface="Times New Roman"/>
              </a:rPr>
              <a:t>v</a:t>
            </a:r>
            <a:r>
              <a:rPr sz="2400" baseline="-5999" dirty="0"/>
              <a:t>2</a:t>
            </a:r>
            <a:r>
              <a:rPr sz="2400" dirty="0"/>
              <a:t>両方向について発散</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 name="相平面と時系列の対応"/>
          <p:cNvSpPr txBox="1">
            <a:spLocks noGrp="1"/>
          </p:cNvSpPr>
          <p:nvPr>
            <p:ph type="title"/>
          </p:nvPr>
        </p:nvSpPr>
        <p:spPr>
          <a:prstGeom prst="rect">
            <a:avLst/>
          </a:prstGeom>
        </p:spPr>
        <p:txBody>
          <a:bodyPr/>
          <a:lstStyle/>
          <a:p>
            <a:r>
              <a:t>相平面と時系列の対応</a:t>
            </a:r>
          </a:p>
        </p:txBody>
      </p:sp>
      <p:sp>
        <p:nvSpPr>
          <p:cNvPr id="738" name="線"/>
          <p:cNvSpPr/>
          <p:nvPr/>
        </p:nvSpPr>
        <p:spPr>
          <a:xfrm>
            <a:off x="3434068" y="1628776"/>
            <a:ext cx="1588" cy="576263"/>
          </a:xfrm>
          <a:prstGeom prst="line">
            <a:avLst/>
          </a:prstGeom>
          <a:ln w="38100">
            <a:solidFill>
              <a:srgbClr val="000000"/>
            </a:solidFill>
            <a:miter lim="400000"/>
            <a:tailEnd type="triangle"/>
          </a:ln>
        </p:spPr>
        <p:txBody>
          <a:bodyPr lIns="0" tIns="0" rIns="0" bIns="0"/>
          <a:lstStyle/>
          <a:p>
            <a:pPr defTabSz="457200">
              <a:defRPr sz="1200">
                <a:latin typeface="ヒラギノ角ゴ ProN W3"/>
                <a:ea typeface="ヒラギノ角ゴ ProN W3"/>
                <a:cs typeface="ヒラギノ角ゴ ProN W3"/>
                <a:sym typeface="ヒラギノ角ゴ ProN W3"/>
              </a:defRPr>
            </a:pPr>
            <a:endParaRPr sz="1200"/>
          </a:p>
        </p:txBody>
      </p:sp>
      <p:sp>
        <p:nvSpPr>
          <p:cNvPr id="739" name="線"/>
          <p:cNvSpPr/>
          <p:nvPr/>
        </p:nvSpPr>
        <p:spPr>
          <a:xfrm flipV="1">
            <a:off x="3434068" y="2347912"/>
            <a:ext cx="1588" cy="649288"/>
          </a:xfrm>
          <a:prstGeom prst="line">
            <a:avLst/>
          </a:prstGeom>
          <a:ln w="38100">
            <a:solidFill>
              <a:srgbClr val="000000"/>
            </a:solidFill>
            <a:miter lim="400000"/>
            <a:tailEnd type="triangle"/>
          </a:ln>
        </p:spPr>
        <p:txBody>
          <a:bodyPr lIns="0" tIns="0" rIns="0" bIns="0"/>
          <a:lstStyle/>
          <a:p>
            <a:pPr defTabSz="457200">
              <a:defRPr sz="1200">
                <a:latin typeface="ヒラギノ角ゴ ProN W3"/>
                <a:ea typeface="ヒラギノ角ゴ ProN W3"/>
                <a:cs typeface="ヒラギノ角ゴ ProN W3"/>
                <a:sym typeface="ヒラギノ角ゴ ProN W3"/>
              </a:defRPr>
            </a:pPr>
            <a:endParaRPr sz="1200"/>
          </a:p>
        </p:txBody>
      </p:sp>
      <p:sp>
        <p:nvSpPr>
          <p:cNvPr id="740" name="線"/>
          <p:cNvSpPr/>
          <p:nvPr/>
        </p:nvSpPr>
        <p:spPr>
          <a:xfrm>
            <a:off x="2786369" y="2276475"/>
            <a:ext cx="576263" cy="1588"/>
          </a:xfrm>
          <a:prstGeom prst="line">
            <a:avLst/>
          </a:prstGeom>
          <a:ln w="38100">
            <a:solidFill>
              <a:srgbClr val="000000"/>
            </a:solidFill>
            <a:miter lim="400000"/>
            <a:tailEnd type="triangle"/>
          </a:ln>
        </p:spPr>
        <p:txBody>
          <a:bodyPr lIns="0" tIns="0" rIns="0" bIns="0"/>
          <a:lstStyle/>
          <a:p>
            <a:pPr defTabSz="457200">
              <a:defRPr sz="1200">
                <a:latin typeface="ヒラギノ角ゴ ProN W3"/>
                <a:ea typeface="ヒラギノ角ゴ ProN W3"/>
                <a:cs typeface="ヒラギノ角ゴ ProN W3"/>
                <a:sym typeface="ヒラギノ角ゴ ProN W3"/>
              </a:defRPr>
            </a:pPr>
            <a:endParaRPr sz="1200"/>
          </a:p>
        </p:txBody>
      </p:sp>
      <p:sp>
        <p:nvSpPr>
          <p:cNvPr id="741" name="線"/>
          <p:cNvSpPr/>
          <p:nvPr/>
        </p:nvSpPr>
        <p:spPr>
          <a:xfrm flipH="1">
            <a:off x="3507094" y="2276475"/>
            <a:ext cx="576263" cy="1588"/>
          </a:xfrm>
          <a:prstGeom prst="line">
            <a:avLst/>
          </a:prstGeom>
          <a:ln w="38100">
            <a:solidFill>
              <a:srgbClr val="000000"/>
            </a:solidFill>
            <a:miter lim="400000"/>
            <a:tailEnd type="triangle"/>
          </a:ln>
        </p:spPr>
        <p:txBody>
          <a:bodyPr lIns="0" tIns="0" rIns="0" bIns="0"/>
          <a:lstStyle/>
          <a:p>
            <a:pPr defTabSz="457200">
              <a:defRPr sz="1200">
                <a:latin typeface="ヒラギノ角ゴ ProN W3"/>
                <a:ea typeface="ヒラギノ角ゴ ProN W3"/>
                <a:cs typeface="ヒラギノ角ゴ ProN W3"/>
                <a:sym typeface="ヒラギノ角ゴ ProN W3"/>
              </a:defRPr>
            </a:pPr>
            <a:endParaRPr sz="1200"/>
          </a:p>
        </p:txBody>
      </p:sp>
      <p:sp>
        <p:nvSpPr>
          <p:cNvPr id="742" name="円形"/>
          <p:cNvSpPr/>
          <p:nvPr/>
        </p:nvSpPr>
        <p:spPr>
          <a:xfrm>
            <a:off x="3362630" y="2205037"/>
            <a:ext cx="144464" cy="144464"/>
          </a:xfrm>
          <a:prstGeom prst="ellipse">
            <a:avLst/>
          </a:prstGeom>
          <a:solidFill>
            <a:srgbClr val="000000"/>
          </a:solidFill>
          <a:ln w="25400">
            <a:solidFill>
              <a:srgbClr val="000000"/>
            </a:solidFill>
            <a:miter lim="400000"/>
          </a:ln>
        </p:spPr>
        <p:txBody>
          <a:bodyPr lIns="50800" tIns="50800" rIns="50800" bIns="50800" anchor="ctr"/>
          <a:lstStyle/>
          <a:p>
            <a:pPr>
              <a:defRPr>
                <a:solidFill>
                  <a:srgbClr val="FFFFFF"/>
                </a:solidFill>
                <a:effectLst>
                  <a:outerShdw blurRad="38100" dist="12700" dir="5400000" rotWithShape="0">
                    <a:srgbClr val="000000">
                      <a:alpha val="50000"/>
                    </a:srgbClr>
                  </a:outerShdw>
                </a:effectLst>
              </a:defRPr>
            </a:pPr>
            <a:endParaRPr/>
          </a:p>
        </p:txBody>
      </p:sp>
      <p:sp>
        <p:nvSpPr>
          <p:cNvPr id="743" name="Stable Node"/>
          <p:cNvSpPr/>
          <p:nvPr/>
        </p:nvSpPr>
        <p:spPr>
          <a:xfrm>
            <a:off x="2808280" y="3093642"/>
            <a:ext cx="1476366" cy="41036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lvl1pPr>
              <a:buClr>
                <a:srgbClr val="000000"/>
              </a:buClr>
              <a:buFont typeface="Arial"/>
              <a:defRPr sz="2000"/>
            </a:lvl1pPr>
          </a:lstStyle>
          <a:p>
            <a:r>
              <a:t>Stable Node</a:t>
            </a:r>
          </a:p>
        </p:txBody>
      </p:sp>
      <p:sp>
        <p:nvSpPr>
          <p:cNvPr id="744" name="線"/>
          <p:cNvSpPr/>
          <p:nvPr/>
        </p:nvSpPr>
        <p:spPr>
          <a:xfrm>
            <a:off x="2495855" y="4868863"/>
            <a:ext cx="1588" cy="576263"/>
          </a:xfrm>
          <a:prstGeom prst="line">
            <a:avLst/>
          </a:prstGeom>
          <a:ln w="38100">
            <a:solidFill>
              <a:srgbClr val="000000"/>
            </a:solidFill>
            <a:miter lim="400000"/>
            <a:tailEnd type="triangle"/>
          </a:ln>
        </p:spPr>
        <p:txBody>
          <a:bodyPr lIns="0" tIns="0" rIns="0" bIns="0"/>
          <a:lstStyle/>
          <a:p>
            <a:pPr defTabSz="457200">
              <a:defRPr sz="1200">
                <a:latin typeface="ヒラギノ角ゴ ProN W3"/>
                <a:ea typeface="ヒラギノ角ゴ ProN W3"/>
                <a:cs typeface="ヒラギノ角ゴ ProN W3"/>
                <a:sym typeface="ヒラギノ角ゴ ProN W3"/>
              </a:defRPr>
            </a:pPr>
            <a:endParaRPr sz="1200"/>
          </a:p>
        </p:txBody>
      </p:sp>
      <p:sp>
        <p:nvSpPr>
          <p:cNvPr id="745" name="線"/>
          <p:cNvSpPr/>
          <p:nvPr/>
        </p:nvSpPr>
        <p:spPr>
          <a:xfrm flipV="1">
            <a:off x="2491093" y="4076700"/>
            <a:ext cx="1588" cy="649288"/>
          </a:xfrm>
          <a:prstGeom prst="line">
            <a:avLst/>
          </a:prstGeom>
          <a:ln w="38100">
            <a:solidFill>
              <a:srgbClr val="000000"/>
            </a:solidFill>
            <a:miter lim="400000"/>
            <a:tailEnd type="triangle"/>
          </a:ln>
        </p:spPr>
        <p:txBody>
          <a:bodyPr lIns="0" tIns="0" rIns="0" bIns="0"/>
          <a:lstStyle/>
          <a:p>
            <a:pPr defTabSz="457200">
              <a:defRPr sz="1200">
                <a:latin typeface="ヒラギノ角ゴ ProN W3"/>
                <a:ea typeface="ヒラギノ角ゴ ProN W3"/>
                <a:cs typeface="ヒラギノ角ゴ ProN W3"/>
                <a:sym typeface="ヒラギノ角ゴ ProN W3"/>
              </a:defRPr>
            </a:pPr>
            <a:endParaRPr sz="1200"/>
          </a:p>
        </p:txBody>
      </p:sp>
      <p:sp>
        <p:nvSpPr>
          <p:cNvPr id="746" name="線"/>
          <p:cNvSpPr/>
          <p:nvPr/>
        </p:nvSpPr>
        <p:spPr>
          <a:xfrm>
            <a:off x="2562531" y="4797425"/>
            <a:ext cx="576263" cy="1588"/>
          </a:xfrm>
          <a:prstGeom prst="line">
            <a:avLst/>
          </a:prstGeom>
          <a:ln w="38100">
            <a:solidFill>
              <a:srgbClr val="000000"/>
            </a:solidFill>
            <a:miter lim="400000"/>
            <a:tailEnd type="triangle"/>
          </a:ln>
        </p:spPr>
        <p:txBody>
          <a:bodyPr lIns="0" tIns="0" rIns="0" bIns="0"/>
          <a:lstStyle/>
          <a:p>
            <a:pPr defTabSz="457200">
              <a:defRPr sz="1200">
                <a:latin typeface="ヒラギノ角ゴ ProN W3"/>
                <a:ea typeface="ヒラギノ角ゴ ProN W3"/>
                <a:cs typeface="ヒラギノ角ゴ ProN W3"/>
                <a:sym typeface="ヒラギノ角ゴ ProN W3"/>
              </a:defRPr>
            </a:pPr>
            <a:endParaRPr sz="1200"/>
          </a:p>
        </p:txBody>
      </p:sp>
      <p:sp>
        <p:nvSpPr>
          <p:cNvPr id="747" name="線"/>
          <p:cNvSpPr/>
          <p:nvPr/>
        </p:nvSpPr>
        <p:spPr>
          <a:xfrm flipH="1">
            <a:off x="1841806" y="4797425"/>
            <a:ext cx="576263" cy="1588"/>
          </a:xfrm>
          <a:prstGeom prst="line">
            <a:avLst/>
          </a:prstGeom>
          <a:ln w="38100">
            <a:solidFill>
              <a:srgbClr val="000000"/>
            </a:solidFill>
            <a:miter lim="400000"/>
            <a:tailEnd type="triangle"/>
          </a:ln>
        </p:spPr>
        <p:txBody>
          <a:bodyPr lIns="0" tIns="0" rIns="0" bIns="0"/>
          <a:lstStyle/>
          <a:p>
            <a:pPr defTabSz="457200">
              <a:defRPr sz="1200">
                <a:latin typeface="ヒラギノ角ゴ ProN W3"/>
                <a:ea typeface="ヒラギノ角ゴ ProN W3"/>
                <a:cs typeface="ヒラギノ角ゴ ProN W3"/>
                <a:sym typeface="ヒラギノ角ゴ ProN W3"/>
              </a:defRPr>
            </a:pPr>
            <a:endParaRPr sz="1200"/>
          </a:p>
        </p:txBody>
      </p:sp>
      <p:sp>
        <p:nvSpPr>
          <p:cNvPr id="748" name="円形"/>
          <p:cNvSpPr/>
          <p:nvPr/>
        </p:nvSpPr>
        <p:spPr>
          <a:xfrm>
            <a:off x="2424419" y="4714876"/>
            <a:ext cx="144463" cy="144463"/>
          </a:xfrm>
          <a:prstGeom prst="ellipse">
            <a:avLst/>
          </a:prstGeom>
          <a:ln w="25400">
            <a:solidFill>
              <a:srgbClr val="000000"/>
            </a:solidFill>
            <a:miter lim="400000"/>
          </a:ln>
        </p:spPr>
        <p:txBody>
          <a:bodyPr lIns="50800" tIns="50800" rIns="50800" bIns="50800" anchor="ctr"/>
          <a:lstStyle/>
          <a:p>
            <a:pPr>
              <a:defRPr>
                <a:solidFill>
                  <a:srgbClr val="FFFFFF"/>
                </a:solidFill>
                <a:effectLst>
                  <a:outerShdw blurRad="38100" dist="12700" dir="5400000" rotWithShape="0">
                    <a:srgbClr val="000000">
                      <a:alpha val="50000"/>
                    </a:srgbClr>
                  </a:outerShdw>
                </a:effectLst>
              </a:defRPr>
            </a:pPr>
            <a:endParaRPr/>
          </a:p>
        </p:txBody>
      </p:sp>
      <p:sp>
        <p:nvSpPr>
          <p:cNvPr id="749" name="Unstable Node"/>
          <p:cNvSpPr/>
          <p:nvPr/>
        </p:nvSpPr>
        <p:spPr>
          <a:xfrm>
            <a:off x="1792678" y="5603479"/>
            <a:ext cx="1752083" cy="41036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lvl1pPr>
              <a:buClr>
                <a:srgbClr val="000000"/>
              </a:buClr>
              <a:buFont typeface="Arial"/>
              <a:defRPr sz="2000"/>
            </a:lvl1pPr>
          </a:lstStyle>
          <a:p>
            <a:r>
              <a:t>Unstable Node</a:t>
            </a:r>
          </a:p>
        </p:txBody>
      </p:sp>
      <p:sp>
        <p:nvSpPr>
          <p:cNvPr id="750" name="線"/>
          <p:cNvSpPr/>
          <p:nvPr/>
        </p:nvSpPr>
        <p:spPr>
          <a:xfrm>
            <a:off x="7288448" y="1557337"/>
            <a:ext cx="1588" cy="2016126"/>
          </a:xfrm>
          <a:prstGeom prst="line">
            <a:avLst/>
          </a:prstGeom>
          <a:ln w="38100">
            <a:solidFill>
              <a:srgbClr val="000000"/>
            </a:solidFill>
            <a:miter lim="400000"/>
          </a:ln>
        </p:spPr>
        <p:txBody>
          <a:bodyPr lIns="0" tIns="0" rIns="0" bIns="0"/>
          <a:lstStyle/>
          <a:p>
            <a:pPr defTabSz="457200">
              <a:defRPr sz="1200">
                <a:latin typeface="ヒラギノ角ゴ ProN W3"/>
                <a:ea typeface="ヒラギノ角ゴ ProN W3"/>
                <a:cs typeface="ヒラギノ角ゴ ProN W3"/>
                <a:sym typeface="ヒラギノ角ゴ ProN W3"/>
              </a:defRPr>
            </a:pPr>
            <a:endParaRPr sz="1200"/>
          </a:p>
        </p:txBody>
      </p:sp>
      <p:sp>
        <p:nvSpPr>
          <p:cNvPr id="751" name="線"/>
          <p:cNvSpPr/>
          <p:nvPr/>
        </p:nvSpPr>
        <p:spPr>
          <a:xfrm>
            <a:off x="7288448" y="3573462"/>
            <a:ext cx="3168650" cy="1588"/>
          </a:xfrm>
          <a:prstGeom prst="line">
            <a:avLst/>
          </a:prstGeom>
          <a:ln w="38100">
            <a:solidFill>
              <a:srgbClr val="000000"/>
            </a:solidFill>
            <a:miter lim="400000"/>
          </a:ln>
        </p:spPr>
        <p:txBody>
          <a:bodyPr lIns="0" tIns="0" rIns="0" bIns="0"/>
          <a:lstStyle/>
          <a:p>
            <a:pPr defTabSz="457200">
              <a:defRPr sz="1200">
                <a:latin typeface="ヒラギノ角ゴ ProN W3"/>
                <a:ea typeface="ヒラギノ角ゴ ProN W3"/>
                <a:cs typeface="ヒラギノ角ゴ ProN W3"/>
                <a:sym typeface="ヒラギノ角ゴ ProN W3"/>
              </a:defRPr>
            </a:pPr>
            <a:endParaRPr sz="1200"/>
          </a:p>
        </p:txBody>
      </p:sp>
      <p:sp>
        <p:nvSpPr>
          <p:cNvPr id="752" name="線"/>
          <p:cNvSpPr/>
          <p:nvPr/>
        </p:nvSpPr>
        <p:spPr>
          <a:xfrm>
            <a:off x="7288449" y="1698416"/>
            <a:ext cx="3025775" cy="1082885"/>
          </a:xfrm>
          <a:custGeom>
            <a:avLst/>
            <a:gdLst/>
            <a:ahLst/>
            <a:cxnLst>
              <a:cxn ang="0">
                <a:pos x="wd2" y="hd2"/>
              </a:cxn>
              <a:cxn ang="5400000">
                <a:pos x="wd2" y="hd2"/>
              </a:cxn>
              <a:cxn ang="10800000">
                <a:pos x="wd2" y="hd2"/>
              </a:cxn>
              <a:cxn ang="16200000">
                <a:pos x="wd2" y="hd2"/>
              </a:cxn>
            </a:cxnLst>
            <a:rect l="0" t="0" r="r" b="b"/>
            <a:pathLst>
              <a:path w="21600" h="20929" extrusionOk="0">
                <a:moveTo>
                  <a:pt x="0" y="20929"/>
                </a:moveTo>
                <a:cubicBezTo>
                  <a:pt x="1417" y="20591"/>
                  <a:pt x="2833" y="20254"/>
                  <a:pt x="3604" y="16756"/>
                </a:cubicBezTo>
                <a:cubicBezTo>
                  <a:pt x="4374" y="13259"/>
                  <a:pt x="3694" y="740"/>
                  <a:pt x="4635" y="35"/>
                </a:cubicBezTo>
                <a:cubicBezTo>
                  <a:pt x="5576" y="-671"/>
                  <a:pt x="7888" y="9577"/>
                  <a:pt x="9259" y="12584"/>
                </a:cubicBezTo>
                <a:cubicBezTo>
                  <a:pt x="10630" y="15590"/>
                  <a:pt x="10800" y="16756"/>
                  <a:pt x="12851" y="18137"/>
                </a:cubicBezTo>
                <a:cubicBezTo>
                  <a:pt x="14902" y="19518"/>
                  <a:pt x="18246" y="20223"/>
                  <a:pt x="21600" y="20929"/>
                </a:cubicBezTo>
              </a:path>
            </a:pathLst>
          </a:custGeom>
          <a:ln w="25400">
            <a:solidFill>
              <a:srgbClr val="000000"/>
            </a:solidFill>
            <a:miter lim="400000"/>
          </a:ln>
        </p:spPr>
        <p:txBody>
          <a:bodyPr lIns="50800" tIns="50800" rIns="50800" bIns="50800" anchor="ctr"/>
          <a:lstStyle/>
          <a:p>
            <a:pPr>
              <a:defRPr>
                <a:solidFill>
                  <a:srgbClr val="FFFFFF"/>
                </a:solidFill>
                <a:effectLst>
                  <a:outerShdw blurRad="38100" dist="12700" dir="5400000" rotWithShape="0">
                    <a:srgbClr val="000000">
                      <a:alpha val="50000"/>
                    </a:srgbClr>
                  </a:outerShdw>
                </a:effectLst>
              </a:defRPr>
            </a:pPr>
            <a:endParaRPr/>
          </a:p>
        </p:txBody>
      </p:sp>
      <p:sp>
        <p:nvSpPr>
          <p:cNvPr id="753" name="線"/>
          <p:cNvSpPr/>
          <p:nvPr/>
        </p:nvSpPr>
        <p:spPr>
          <a:xfrm>
            <a:off x="7288448" y="4005262"/>
            <a:ext cx="1588" cy="2016126"/>
          </a:xfrm>
          <a:prstGeom prst="line">
            <a:avLst/>
          </a:prstGeom>
          <a:ln w="38100">
            <a:solidFill>
              <a:srgbClr val="000000"/>
            </a:solidFill>
            <a:miter lim="400000"/>
          </a:ln>
        </p:spPr>
        <p:txBody>
          <a:bodyPr lIns="0" tIns="0" rIns="0" bIns="0"/>
          <a:lstStyle/>
          <a:p>
            <a:pPr defTabSz="457200">
              <a:defRPr sz="1200">
                <a:latin typeface="ヒラギノ角ゴ ProN W3"/>
                <a:ea typeface="ヒラギノ角ゴ ProN W3"/>
                <a:cs typeface="ヒラギノ角ゴ ProN W3"/>
                <a:sym typeface="ヒラギノ角ゴ ProN W3"/>
              </a:defRPr>
            </a:pPr>
            <a:endParaRPr sz="1200"/>
          </a:p>
        </p:txBody>
      </p:sp>
      <p:sp>
        <p:nvSpPr>
          <p:cNvPr id="754" name="線"/>
          <p:cNvSpPr/>
          <p:nvPr/>
        </p:nvSpPr>
        <p:spPr>
          <a:xfrm>
            <a:off x="7288448" y="6021387"/>
            <a:ext cx="3168650" cy="1588"/>
          </a:xfrm>
          <a:prstGeom prst="line">
            <a:avLst/>
          </a:prstGeom>
          <a:ln w="38100">
            <a:solidFill>
              <a:srgbClr val="000000"/>
            </a:solidFill>
            <a:miter lim="400000"/>
          </a:ln>
        </p:spPr>
        <p:txBody>
          <a:bodyPr lIns="0" tIns="0" rIns="0" bIns="0"/>
          <a:lstStyle/>
          <a:p>
            <a:pPr defTabSz="457200">
              <a:defRPr sz="1200">
                <a:latin typeface="ヒラギノ角ゴ ProN W3"/>
                <a:ea typeface="ヒラギノ角ゴ ProN W3"/>
                <a:cs typeface="ヒラギノ角ゴ ProN W3"/>
                <a:sym typeface="ヒラギノ角ゴ ProN W3"/>
              </a:defRPr>
            </a:pPr>
            <a:endParaRPr sz="1200"/>
          </a:p>
        </p:txBody>
      </p:sp>
      <p:sp>
        <p:nvSpPr>
          <p:cNvPr id="755" name="双方向矢印"/>
          <p:cNvSpPr/>
          <p:nvPr/>
        </p:nvSpPr>
        <p:spPr>
          <a:xfrm>
            <a:off x="5980283" y="2133601"/>
            <a:ext cx="720725" cy="792163"/>
          </a:xfrm>
          <a:prstGeom prst="leftRightArrow">
            <a:avLst>
              <a:gd name="adj1" fmla="val 50000"/>
              <a:gd name="adj2" fmla="val 20000"/>
            </a:avLst>
          </a:prstGeom>
          <a:blipFill>
            <a:blip r:embed="rId2"/>
          </a:blipFill>
          <a:ln w="25400">
            <a:solidFill>
              <a:srgbClr val="000000"/>
            </a:solidFill>
            <a:miter lim="400000"/>
          </a:ln>
        </p:spPr>
        <p:txBody>
          <a:bodyPr lIns="50800" tIns="50800" rIns="50800" bIns="50800" anchor="ctr"/>
          <a:lstStyle/>
          <a:p>
            <a:pPr>
              <a:defRPr>
                <a:solidFill>
                  <a:srgbClr val="FFFFFF"/>
                </a:solidFill>
                <a:effectLst>
                  <a:outerShdw blurRad="38100" dist="12700" dir="5400000" rotWithShape="0">
                    <a:srgbClr val="000000">
                      <a:alpha val="50000"/>
                    </a:srgbClr>
                  </a:outerShdw>
                </a:effectLst>
              </a:defRPr>
            </a:pPr>
            <a:endParaRPr/>
          </a:p>
        </p:txBody>
      </p:sp>
      <p:sp>
        <p:nvSpPr>
          <p:cNvPr id="756" name="双方向矢印"/>
          <p:cNvSpPr/>
          <p:nvPr/>
        </p:nvSpPr>
        <p:spPr>
          <a:xfrm>
            <a:off x="5980283" y="4365626"/>
            <a:ext cx="720725" cy="792163"/>
          </a:xfrm>
          <a:prstGeom prst="leftRightArrow">
            <a:avLst>
              <a:gd name="adj1" fmla="val 50000"/>
              <a:gd name="adj2" fmla="val 20000"/>
            </a:avLst>
          </a:prstGeom>
          <a:blipFill>
            <a:blip r:embed="rId2"/>
          </a:blipFill>
          <a:ln w="25400">
            <a:solidFill>
              <a:srgbClr val="000000"/>
            </a:solidFill>
            <a:miter lim="400000"/>
          </a:ln>
        </p:spPr>
        <p:txBody>
          <a:bodyPr lIns="50800" tIns="50800" rIns="50800" bIns="50800" anchor="ctr"/>
          <a:lstStyle/>
          <a:p>
            <a:pPr>
              <a:defRPr>
                <a:solidFill>
                  <a:srgbClr val="FFFFFF"/>
                </a:solidFill>
                <a:effectLst>
                  <a:outerShdw blurRad="38100" dist="12700" dir="5400000" rotWithShape="0">
                    <a:srgbClr val="000000">
                      <a:alpha val="50000"/>
                    </a:srgbClr>
                  </a:outerShdw>
                </a:effectLst>
              </a:defRPr>
            </a:pPr>
            <a:endParaRPr/>
          </a:p>
        </p:txBody>
      </p:sp>
      <p:sp>
        <p:nvSpPr>
          <p:cNvPr id="757" name="time"/>
          <p:cNvSpPr/>
          <p:nvPr/>
        </p:nvSpPr>
        <p:spPr>
          <a:xfrm>
            <a:off x="10125208" y="3577343"/>
            <a:ext cx="527388" cy="37959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lvl1pPr>
              <a:buClr>
                <a:srgbClr val="000000"/>
              </a:buClr>
              <a:buFont typeface="Arial"/>
            </a:lvl1pPr>
          </a:lstStyle>
          <a:p>
            <a:r>
              <a:t>time</a:t>
            </a:r>
          </a:p>
        </p:txBody>
      </p:sp>
      <p:sp>
        <p:nvSpPr>
          <p:cNvPr id="758" name="time"/>
          <p:cNvSpPr/>
          <p:nvPr/>
        </p:nvSpPr>
        <p:spPr>
          <a:xfrm>
            <a:off x="10072820" y="6069718"/>
            <a:ext cx="527388" cy="37959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lvl1pPr>
              <a:buClr>
                <a:srgbClr val="000000"/>
              </a:buClr>
              <a:buFont typeface="Arial"/>
            </a:lvl1pPr>
          </a:lstStyle>
          <a:p>
            <a:r>
              <a:t>time</a:t>
            </a:r>
          </a:p>
        </p:txBody>
      </p:sp>
      <p:sp>
        <p:nvSpPr>
          <p:cNvPr id="759" name="安定な定常状態"/>
          <p:cNvSpPr/>
          <p:nvPr/>
        </p:nvSpPr>
        <p:spPr>
          <a:xfrm>
            <a:off x="7568528" y="2928055"/>
            <a:ext cx="1718419" cy="37959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lvl1pPr>
              <a:buClr>
                <a:srgbClr val="000000"/>
              </a:buClr>
              <a:buFont typeface="Arial"/>
            </a:lvl1pPr>
          </a:lstStyle>
          <a:p>
            <a:r>
              <a:t>安定な定常状態</a:t>
            </a:r>
          </a:p>
        </p:txBody>
      </p:sp>
      <p:sp>
        <p:nvSpPr>
          <p:cNvPr id="760" name="不安定な定常状態"/>
          <p:cNvSpPr/>
          <p:nvPr/>
        </p:nvSpPr>
        <p:spPr>
          <a:xfrm>
            <a:off x="7556848" y="5383918"/>
            <a:ext cx="4394201" cy="37959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chor="ctr">
            <a:spAutoFit/>
          </a:bodyPr>
          <a:lstStyle>
            <a:lvl1pPr>
              <a:buClr>
                <a:srgbClr val="000000"/>
              </a:buClr>
              <a:buFont typeface="Arial"/>
            </a:lvl1pPr>
          </a:lstStyle>
          <a:p>
            <a:r>
              <a:t>不安定な定常状態</a:t>
            </a:r>
          </a:p>
        </p:txBody>
      </p:sp>
      <p:sp>
        <p:nvSpPr>
          <p:cNvPr id="761" name="線"/>
          <p:cNvSpPr/>
          <p:nvPr/>
        </p:nvSpPr>
        <p:spPr>
          <a:xfrm>
            <a:off x="7288448" y="4365626"/>
            <a:ext cx="3022602" cy="864249"/>
          </a:xfrm>
          <a:custGeom>
            <a:avLst/>
            <a:gdLst/>
            <a:ahLst/>
            <a:cxnLst>
              <a:cxn ang="0">
                <a:pos x="wd2" y="hd2"/>
              </a:cxn>
              <a:cxn ang="5400000">
                <a:pos x="wd2" y="hd2"/>
              </a:cxn>
              <a:cxn ang="10800000">
                <a:pos x="wd2" y="hd2"/>
              </a:cxn>
              <a:cxn ang="16200000">
                <a:pos x="wd2" y="hd2"/>
              </a:cxn>
            </a:cxnLst>
            <a:rect l="0" t="0" r="r" b="b"/>
            <a:pathLst>
              <a:path w="21589" h="20999" extrusionOk="0">
                <a:moveTo>
                  <a:pt x="0" y="20688"/>
                </a:moveTo>
                <a:cubicBezTo>
                  <a:pt x="7196" y="21144"/>
                  <a:pt x="14392" y="21600"/>
                  <a:pt x="17996" y="18123"/>
                </a:cubicBezTo>
                <a:cubicBezTo>
                  <a:pt x="21600" y="14647"/>
                  <a:pt x="21589" y="7295"/>
                  <a:pt x="21589" y="0"/>
                </a:cubicBezTo>
              </a:path>
            </a:pathLst>
          </a:custGeom>
          <a:ln w="25400">
            <a:solidFill>
              <a:srgbClr val="000000"/>
            </a:solidFill>
            <a:miter lim="400000"/>
          </a:ln>
        </p:spPr>
        <p:txBody>
          <a:bodyPr lIns="50800" tIns="50800" rIns="50800" bIns="50800" anchor="ctr"/>
          <a:lstStyle/>
          <a:p>
            <a:pPr>
              <a:defRPr>
                <a:solidFill>
                  <a:srgbClr val="FFFFFF"/>
                </a:solidFill>
                <a:effectLst>
                  <a:outerShdw blurRad="38100" dist="12700" dir="5400000" rotWithShape="0">
                    <a:srgbClr val="000000">
                      <a:alpha val="50000"/>
                    </a:srgbClr>
                  </a:outerShdw>
                </a:effectLst>
              </a:defRPr>
            </a:pPr>
            <a:endParaRPr/>
          </a:p>
        </p:txBody>
      </p:sp>
      <p:sp>
        <p:nvSpPr>
          <p:cNvPr id="762" name="線"/>
          <p:cNvSpPr/>
          <p:nvPr/>
        </p:nvSpPr>
        <p:spPr>
          <a:xfrm>
            <a:off x="4585005" y="4149726"/>
            <a:ext cx="1588" cy="576263"/>
          </a:xfrm>
          <a:prstGeom prst="line">
            <a:avLst/>
          </a:prstGeom>
          <a:ln w="38100">
            <a:solidFill>
              <a:srgbClr val="000000"/>
            </a:solidFill>
            <a:miter lim="400000"/>
            <a:tailEnd type="triangle"/>
          </a:ln>
        </p:spPr>
        <p:txBody>
          <a:bodyPr lIns="0" tIns="0" rIns="0" bIns="0"/>
          <a:lstStyle/>
          <a:p>
            <a:pPr defTabSz="457200">
              <a:defRPr sz="1200">
                <a:latin typeface="ヒラギノ角ゴ ProN W3"/>
                <a:ea typeface="ヒラギノ角ゴ ProN W3"/>
                <a:cs typeface="ヒラギノ角ゴ ProN W3"/>
                <a:sym typeface="ヒラギノ角ゴ ProN W3"/>
              </a:defRPr>
            </a:pPr>
            <a:endParaRPr sz="1200"/>
          </a:p>
        </p:txBody>
      </p:sp>
      <p:sp>
        <p:nvSpPr>
          <p:cNvPr id="763" name="線"/>
          <p:cNvSpPr/>
          <p:nvPr/>
        </p:nvSpPr>
        <p:spPr>
          <a:xfrm flipV="1">
            <a:off x="4585005" y="4868862"/>
            <a:ext cx="1588" cy="649288"/>
          </a:xfrm>
          <a:prstGeom prst="line">
            <a:avLst/>
          </a:prstGeom>
          <a:ln w="38100">
            <a:solidFill>
              <a:srgbClr val="000000"/>
            </a:solidFill>
            <a:miter lim="400000"/>
            <a:tailEnd type="triangle"/>
          </a:ln>
        </p:spPr>
        <p:txBody>
          <a:bodyPr lIns="0" tIns="0" rIns="0" bIns="0"/>
          <a:lstStyle/>
          <a:p>
            <a:pPr defTabSz="457200">
              <a:defRPr sz="1200">
                <a:latin typeface="ヒラギノ角ゴ ProN W3"/>
                <a:ea typeface="ヒラギノ角ゴ ProN W3"/>
                <a:cs typeface="ヒラギノ角ゴ ProN W3"/>
                <a:sym typeface="ヒラギノ角ゴ ProN W3"/>
              </a:defRPr>
            </a:pPr>
            <a:endParaRPr sz="1200"/>
          </a:p>
        </p:txBody>
      </p:sp>
      <p:sp>
        <p:nvSpPr>
          <p:cNvPr id="764" name="線"/>
          <p:cNvSpPr/>
          <p:nvPr/>
        </p:nvSpPr>
        <p:spPr>
          <a:xfrm>
            <a:off x="4658031" y="4797425"/>
            <a:ext cx="576263" cy="1588"/>
          </a:xfrm>
          <a:prstGeom prst="line">
            <a:avLst/>
          </a:prstGeom>
          <a:ln w="38100">
            <a:solidFill>
              <a:srgbClr val="000000"/>
            </a:solidFill>
            <a:miter lim="400000"/>
            <a:tailEnd type="triangle"/>
          </a:ln>
        </p:spPr>
        <p:txBody>
          <a:bodyPr lIns="0" tIns="0" rIns="0" bIns="0"/>
          <a:lstStyle/>
          <a:p>
            <a:pPr defTabSz="457200">
              <a:defRPr sz="1200">
                <a:latin typeface="ヒラギノ角ゴ ProN W3"/>
                <a:ea typeface="ヒラギノ角ゴ ProN W3"/>
                <a:cs typeface="ヒラギノ角ゴ ProN W3"/>
                <a:sym typeface="ヒラギノ角ゴ ProN W3"/>
              </a:defRPr>
            </a:pPr>
            <a:endParaRPr sz="1200"/>
          </a:p>
        </p:txBody>
      </p:sp>
      <p:sp>
        <p:nvSpPr>
          <p:cNvPr id="765" name="線"/>
          <p:cNvSpPr/>
          <p:nvPr/>
        </p:nvSpPr>
        <p:spPr>
          <a:xfrm flipH="1">
            <a:off x="3937306" y="4797425"/>
            <a:ext cx="576263" cy="1588"/>
          </a:xfrm>
          <a:prstGeom prst="line">
            <a:avLst/>
          </a:prstGeom>
          <a:ln w="38100">
            <a:solidFill>
              <a:srgbClr val="000000"/>
            </a:solidFill>
            <a:miter lim="400000"/>
            <a:tailEnd type="triangle"/>
          </a:ln>
        </p:spPr>
        <p:txBody>
          <a:bodyPr lIns="0" tIns="0" rIns="0" bIns="0"/>
          <a:lstStyle/>
          <a:p>
            <a:pPr defTabSz="457200">
              <a:defRPr sz="1200">
                <a:latin typeface="ヒラギノ角ゴ ProN W3"/>
                <a:ea typeface="ヒラギノ角ゴ ProN W3"/>
                <a:cs typeface="ヒラギノ角ゴ ProN W3"/>
                <a:sym typeface="ヒラギノ角ゴ ProN W3"/>
              </a:defRPr>
            </a:pPr>
            <a:endParaRPr sz="1200"/>
          </a:p>
        </p:txBody>
      </p:sp>
      <p:sp>
        <p:nvSpPr>
          <p:cNvPr id="766" name="円形"/>
          <p:cNvSpPr/>
          <p:nvPr/>
        </p:nvSpPr>
        <p:spPr>
          <a:xfrm>
            <a:off x="4513569" y="4725987"/>
            <a:ext cx="144463" cy="144464"/>
          </a:xfrm>
          <a:prstGeom prst="ellipse">
            <a:avLst/>
          </a:prstGeom>
          <a:ln w="25400">
            <a:solidFill>
              <a:srgbClr val="000000"/>
            </a:solidFill>
            <a:miter lim="400000"/>
          </a:ln>
        </p:spPr>
        <p:txBody>
          <a:bodyPr lIns="50800" tIns="50800" rIns="50800" bIns="50800" anchor="ctr"/>
          <a:lstStyle/>
          <a:p>
            <a:pPr>
              <a:defRPr>
                <a:solidFill>
                  <a:srgbClr val="FFFFFF"/>
                </a:solidFill>
                <a:effectLst>
                  <a:outerShdw blurRad="38100" dist="12700" dir="5400000" rotWithShape="0">
                    <a:srgbClr val="000000">
                      <a:alpha val="50000"/>
                    </a:srgbClr>
                  </a:outerShdw>
                </a:effectLst>
              </a:defRPr>
            </a:pPr>
            <a:endParaRPr/>
          </a:p>
        </p:txBody>
      </p:sp>
      <p:sp>
        <p:nvSpPr>
          <p:cNvPr id="767" name="Saddle"/>
          <p:cNvSpPr/>
          <p:nvPr/>
        </p:nvSpPr>
        <p:spPr>
          <a:xfrm>
            <a:off x="4215054" y="5639992"/>
            <a:ext cx="873637" cy="41036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lvl1pPr>
              <a:buClr>
                <a:srgbClr val="000000"/>
              </a:buClr>
              <a:buFont typeface="Arial"/>
              <a:defRPr sz="2000"/>
            </a:lvl1pPr>
          </a:lstStyle>
          <a:p>
            <a:r>
              <a:t>Saddle</a:t>
            </a:r>
          </a:p>
        </p:txBody>
      </p:sp>
      <p:sp>
        <p:nvSpPr>
          <p:cNvPr id="768" name="線"/>
          <p:cNvSpPr/>
          <p:nvPr/>
        </p:nvSpPr>
        <p:spPr>
          <a:xfrm>
            <a:off x="2497443" y="1628775"/>
            <a:ext cx="1588" cy="1512888"/>
          </a:xfrm>
          <a:prstGeom prst="line">
            <a:avLst/>
          </a:prstGeom>
          <a:ln w="38100">
            <a:solidFill>
              <a:srgbClr val="000000"/>
            </a:solidFill>
            <a:miter lim="400000"/>
          </a:ln>
        </p:spPr>
        <p:txBody>
          <a:bodyPr lIns="0" tIns="0" rIns="0" bIns="0"/>
          <a:lstStyle/>
          <a:p>
            <a:pPr defTabSz="457200">
              <a:defRPr sz="1200">
                <a:latin typeface="ヒラギノ角ゴ ProN W3"/>
                <a:ea typeface="ヒラギノ角ゴ ProN W3"/>
                <a:cs typeface="ヒラギノ角ゴ ProN W3"/>
                <a:sym typeface="ヒラギノ角ゴ ProN W3"/>
              </a:defRPr>
            </a:pPr>
            <a:endParaRPr sz="1200"/>
          </a:p>
        </p:txBody>
      </p:sp>
      <p:sp>
        <p:nvSpPr>
          <p:cNvPr id="769" name="線"/>
          <p:cNvSpPr/>
          <p:nvPr/>
        </p:nvSpPr>
        <p:spPr>
          <a:xfrm>
            <a:off x="2497444" y="3141662"/>
            <a:ext cx="1871663" cy="1588"/>
          </a:xfrm>
          <a:prstGeom prst="line">
            <a:avLst/>
          </a:prstGeom>
          <a:ln w="38100">
            <a:solidFill>
              <a:srgbClr val="000000"/>
            </a:solidFill>
            <a:miter lim="400000"/>
          </a:ln>
        </p:spPr>
        <p:txBody>
          <a:bodyPr lIns="0" tIns="0" rIns="0" bIns="0"/>
          <a:lstStyle/>
          <a:p>
            <a:pPr defTabSz="457200">
              <a:defRPr sz="1200">
                <a:latin typeface="ヒラギノ角ゴ ProN W3"/>
                <a:ea typeface="ヒラギノ角ゴ ProN W3"/>
                <a:cs typeface="ヒラギノ角ゴ ProN W3"/>
                <a:sym typeface="ヒラギノ角ゴ ProN W3"/>
              </a:defRPr>
            </a:pPr>
            <a:endParaRPr sz="1200"/>
          </a:p>
        </p:txBody>
      </p:sp>
      <p:sp>
        <p:nvSpPr>
          <p:cNvPr id="770" name="線"/>
          <p:cNvSpPr/>
          <p:nvPr/>
        </p:nvSpPr>
        <p:spPr>
          <a:xfrm>
            <a:off x="1560818" y="4076700"/>
            <a:ext cx="1588" cy="1512888"/>
          </a:xfrm>
          <a:prstGeom prst="line">
            <a:avLst/>
          </a:prstGeom>
          <a:ln w="38100">
            <a:solidFill>
              <a:srgbClr val="000000"/>
            </a:solidFill>
            <a:miter lim="400000"/>
          </a:ln>
        </p:spPr>
        <p:txBody>
          <a:bodyPr lIns="0" tIns="0" rIns="0" bIns="0"/>
          <a:lstStyle/>
          <a:p>
            <a:pPr defTabSz="457200">
              <a:defRPr sz="1200">
                <a:latin typeface="ヒラギノ角ゴ ProN W3"/>
                <a:ea typeface="ヒラギノ角ゴ ProN W3"/>
                <a:cs typeface="ヒラギノ角ゴ ProN W3"/>
                <a:sym typeface="ヒラギノ角ゴ ProN W3"/>
              </a:defRPr>
            </a:pPr>
            <a:endParaRPr sz="1200"/>
          </a:p>
        </p:txBody>
      </p:sp>
      <p:sp>
        <p:nvSpPr>
          <p:cNvPr id="771" name="線"/>
          <p:cNvSpPr/>
          <p:nvPr/>
        </p:nvSpPr>
        <p:spPr>
          <a:xfrm>
            <a:off x="1560819" y="5589587"/>
            <a:ext cx="1871663" cy="1588"/>
          </a:xfrm>
          <a:prstGeom prst="line">
            <a:avLst/>
          </a:prstGeom>
          <a:ln w="38100">
            <a:solidFill>
              <a:srgbClr val="000000"/>
            </a:solidFill>
            <a:miter lim="400000"/>
          </a:ln>
        </p:spPr>
        <p:txBody>
          <a:bodyPr lIns="0" tIns="0" rIns="0" bIns="0"/>
          <a:lstStyle/>
          <a:p>
            <a:pPr defTabSz="457200">
              <a:defRPr sz="1200">
                <a:latin typeface="ヒラギノ角ゴ ProN W3"/>
                <a:ea typeface="ヒラギノ角ゴ ProN W3"/>
                <a:cs typeface="ヒラギノ角ゴ ProN W3"/>
                <a:sym typeface="ヒラギノ角ゴ ProN W3"/>
              </a:defRPr>
            </a:pPr>
            <a:endParaRPr sz="1200"/>
          </a:p>
        </p:txBody>
      </p:sp>
      <p:sp>
        <p:nvSpPr>
          <p:cNvPr id="772" name="線"/>
          <p:cNvSpPr/>
          <p:nvPr/>
        </p:nvSpPr>
        <p:spPr>
          <a:xfrm>
            <a:off x="3721405" y="4076700"/>
            <a:ext cx="1588" cy="1512888"/>
          </a:xfrm>
          <a:prstGeom prst="line">
            <a:avLst/>
          </a:prstGeom>
          <a:ln w="38100">
            <a:solidFill>
              <a:srgbClr val="000000"/>
            </a:solidFill>
            <a:miter lim="400000"/>
          </a:ln>
        </p:spPr>
        <p:txBody>
          <a:bodyPr lIns="0" tIns="0" rIns="0" bIns="0"/>
          <a:lstStyle/>
          <a:p>
            <a:pPr defTabSz="457200">
              <a:defRPr sz="1200">
                <a:latin typeface="ヒラギノ角ゴ ProN W3"/>
                <a:ea typeface="ヒラギノ角ゴ ProN W3"/>
                <a:cs typeface="ヒラギノ角ゴ ProN W3"/>
                <a:sym typeface="ヒラギノ角ゴ ProN W3"/>
              </a:defRPr>
            </a:pPr>
            <a:endParaRPr sz="1200"/>
          </a:p>
        </p:txBody>
      </p:sp>
      <p:sp>
        <p:nvSpPr>
          <p:cNvPr id="773" name="線"/>
          <p:cNvSpPr/>
          <p:nvPr/>
        </p:nvSpPr>
        <p:spPr>
          <a:xfrm>
            <a:off x="3721406" y="5589587"/>
            <a:ext cx="1871663" cy="1588"/>
          </a:xfrm>
          <a:prstGeom prst="line">
            <a:avLst/>
          </a:prstGeom>
          <a:ln w="38100">
            <a:solidFill>
              <a:srgbClr val="000000"/>
            </a:solidFill>
            <a:miter lim="400000"/>
          </a:ln>
        </p:spPr>
        <p:txBody>
          <a:bodyPr lIns="0" tIns="0" rIns="0" bIns="0"/>
          <a:lstStyle/>
          <a:p>
            <a:pPr defTabSz="457200">
              <a:defRPr sz="1200">
                <a:latin typeface="ヒラギノ角ゴ ProN W3"/>
                <a:ea typeface="ヒラギノ角ゴ ProN W3"/>
                <a:cs typeface="ヒラギノ角ゴ ProN W3"/>
                <a:sym typeface="ヒラギノ角ゴ ProN W3"/>
              </a:defRPr>
            </a:pPr>
            <a:endParaRPr sz="1200"/>
          </a:p>
        </p:txBody>
      </p:sp>
      <p:sp>
        <p:nvSpPr>
          <p:cNvPr id="774" name="線"/>
          <p:cNvSpPr/>
          <p:nvPr/>
        </p:nvSpPr>
        <p:spPr>
          <a:xfrm>
            <a:off x="7720248" y="1555751"/>
            <a:ext cx="1588" cy="720725"/>
          </a:xfrm>
          <a:prstGeom prst="line">
            <a:avLst/>
          </a:prstGeom>
          <a:ln w="38100">
            <a:solidFill>
              <a:srgbClr val="000000"/>
            </a:solidFill>
            <a:miter lim="400000"/>
            <a:tailEnd type="triangle"/>
          </a:ln>
        </p:spPr>
        <p:txBody>
          <a:bodyPr lIns="0" tIns="0" rIns="0" bIns="0"/>
          <a:lstStyle/>
          <a:p>
            <a:pPr defTabSz="457200">
              <a:defRPr sz="1200">
                <a:latin typeface="ヒラギノ角ゴ ProN W3"/>
                <a:ea typeface="ヒラギノ角ゴ ProN W3"/>
                <a:cs typeface="ヒラギノ角ゴ ProN W3"/>
                <a:sym typeface="ヒラギノ角ゴ ProN W3"/>
              </a:defRPr>
            </a:pPr>
            <a:endParaRPr sz="1200"/>
          </a:p>
        </p:txBody>
      </p:sp>
      <p:sp>
        <p:nvSpPr>
          <p:cNvPr id="775" name="摂動"/>
          <p:cNvSpPr/>
          <p:nvPr/>
        </p:nvSpPr>
        <p:spPr>
          <a:xfrm>
            <a:off x="7368137" y="1113413"/>
            <a:ext cx="718145" cy="47192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lvl1pPr>
              <a:buClr>
                <a:srgbClr val="000000"/>
              </a:buClr>
              <a:buFont typeface="Arial"/>
              <a:defRPr sz="2400"/>
            </a:lvl1pPr>
          </a:lstStyle>
          <a:p>
            <a:r>
              <a:t>摂動</a:t>
            </a:r>
          </a:p>
        </p:txBody>
      </p:sp>
      <p:sp>
        <p:nvSpPr>
          <p:cNvPr id="776" name="摂動"/>
          <p:cNvSpPr/>
          <p:nvPr/>
        </p:nvSpPr>
        <p:spPr>
          <a:xfrm>
            <a:off x="8397215" y="3837693"/>
            <a:ext cx="564257" cy="37959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lvl1pPr>
              <a:buClr>
                <a:srgbClr val="000000"/>
              </a:buClr>
              <a:buFont typeface="Arial"/>
            </a:lvl1pPr>
          </a:lstStyle>
          <a:p>
            <a:r>
              <a:t>摂動</a:t>
            </a:r>
          </a:p>
        </p:txBody>
      </p:sp>
      <p:sp>
        <p:nvSpPr>
          <p:cNvPr id="777" name="線"/>
          <p:cNvSpPr/>
          <p:nvPr/>
        </p:nvSpPr>
        <p:spPr>
          <a:xfrm>
            <a:off x="9017235" y="4364037"/>
            <a:ext cx="1588" cy="720726"/>
          </a:xfrm>
          <a:prstGeom prst="line">
            <a:avLst/>
          </a:prstGeom>
          <a:ln w="38100">
            <a:solidFill>
              <a:srgbClr val="000000"/>
            </a:solidFill>
            <a:miter lim="400000"/>
            <a:tailEnd type="triangle"/>
          </a:ln>
        </p:spPr>
        <p:txBody>
          <a:bodyPr lIns="0" tIns="0" rIns="0" bIns="0"/>
          <a:lstStyle/>
          <a:p>
            <a:pPr defTabSz="457200">
              <a:defRPr sz="1200">
                <a:latin typeface="ヒラギノ角ゴ ProN W3"/>
                <a:ea typeface="ヒラギノ角ゴ ProN W3"/>
                <a:cs typeface="ヒラギノ角ゴ ProN W3"/>
                <a:sym typeface="ヒラギノ角ゴ ProN W3"/>
              </a:defRPr>
            </a:pPr>
            <a:endParaRPr sz="120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5" name="複素数の固有値を含む固定点"/>
          <p:cNvSpPr txBox="1">
            <a:spLocks noGrp="1"/>
          </p:cNvSpPr>
          <p:nvPr>
            <p:ph type="title"/>
          </p:nvPr>
        </p:nvSpPr>
        <p:spPr>
          <a:prstGeom prst="rect">
            <a:avLst/>
          </a:prstGeom>
        </p:spPr>
        <p:txBody>
          <a:bodyPr/>
          <a:lstStyle/>
          <a:p>
            <a:r>
              <a:t>複素数の固有値を含む固定点</a:t>
            </a:r>
          </a:p>
        </p:txBody>
      </p:sp>
      <p:sp>
        <p:nvSpPr>
          <p:cNvPr id="597" name="スパイラル (Spiral) または  フォーカス  (Focus)…"/>
          <p:cNvSpPr txBox="1">
            <a:spLocks noGrp="1"/>
          </p:cNvSpPr>
          <p:nvPr>
            <p:ph type="body" sz="half" idx="4294967295"/>
          </p:nvPr>
        </p:nvSpPr>
        <p:spPr>
          <a:xfrm>
            <a:off x="330738" y="1600200"/>
            <a:ext cx="7566028" cy="4978400"/>
          </a:xfrm>
          <a:prstGeom prst="rect">
            <a:avLst/>
          </a:prstGeom>
        </p:spPr>
        <p:txBody>
          <a:bodyPr>
            <a:normAutofit/>
          </a:bodyPr>
          <a:lstStyle/>
          <a:p>
            <a:pPr marL="383540">
              <a:buClr>
                <a:srgbClr val="000000"/>
              </a:buClr>
              <a:buSzPct val="100000"/>
              <a:buFont typeface="Arial"/>
            </a:pPr>
            <a:r>
              <a:rPr dirty="0" err="1"/>
              <a:t>スパイラル</a:t>
            </a:r>
            <a:r>
              <a:rPr dirty="0"/>
              <a:t> (Spiral) </a:t>
            </a:r>
            <a:r>
              <a:rPr dirty="0" err="1"/>
              <a:t>または</a:t>
            </a:r>
            <a:r>
              <a:rPr lang="ja-JP" altLang="en-US"/>
              <a:t>　　　　　　</a:t>
            </a:r>
            <a:r>
              <a:rPr dirty="0" err="1"/>
              <a:t>フォーカス</a:t>
            </a:r>
            <a:r>
              <a:rPr dirty="0"/>
              <a:t>  (Focus) </a:t>
            </a:r>
          </a:p>
          <a:p>
            <a:pPr marL="783590" lvl="1">
              <a:buClr>
                <a:srgbClr val="000000"/>
              </a:buClr>
              <a:buSzPct val="100000"/>
              <a:buFont typeface="Arial"/>
            </a:pPr>
            <a:r>
              <a:rPr dirty="0" err="1"/>
              <a:t>すべての固有値の実部が負</a:t>
            </a:r>
            <a:endParaRPr dirty="0"/>
          </a:p>
          <a:p>
            <a:pPr marL="1183639" lvl="2">
              <a:buClr>
                <a:srgbClr val="000000"/>
              </a:buClr>
              <a:buSzPct val="100000"/>
              <a:buFont typeface="Arial"/>
            </a:pPr>
            <a:r>
              <a:rPr dirty="0" err="1"/>
              <a:t>安定</a:t>
            </a:r>
            <a:endParaRPr dirty="0"/>
          </a:p>
          <a:p>
            <a:pPr marL="783590" lvl="1">
              <a:buClr>
                <a:srgbClr val="000000"/>
              </a:buClr>
              <a:buSzPct val="100000"/>
              <a:buFont typeface="Arial"/>
            </a:pPr>
            <a:r>
              <a:rPr dirty="0" err="1"/>
              <a:t>すべての固有値の実部が正</a:t>
            </a:r>
            <a:endParaRPr dirty="0"/>
          </a:p>
          <a:p>
            <a:pPr marL="1183639" lvl="2">
              <a:buClr>
                <a:srgbClr val="000000"/>
              </a:buClr>
              <a:buSzPct val="100000"/>
              <a:buFont typeface="Arial"/>
            </a:pPr>
            <a:r>
              <a:rPr dirty="0" err="1"/>
              <a:t>不安定</a:t>
            </a:r>
            <a:endParaRPr dirty="0"/>
          </a:p>
          <a:p>
            <a:pPr marL="383540">
              <a:buClr>
                <a:srgbClr val="000000"/>
              </a:buClr>
              <a:buSzPct val="100000"/>
              <a:buFont typeface="Arial"/>
            </a:pPr>
            <a:r>
              <a:rPr dirty="0" err="1"/>
              <a:t>センタ</a:t>
            </a:r>
            <a:r>
              <a:rPr dirty="0"/>
              <a:t>ー (Center)</a:t>
            </a:r>
          </a:p>
          <a:p>
            <a:pPr marL="783590" lvl="1">
              <a:buClr>
                <a:srgbClr val="000000"/>
              </a:buClr>
              <a:buSzPct val="100000"/>
              <a:buFont typeface="Arial"/>
            </a:pPr>
            <a:r>
              <a:rPr dirty="0" err="1"/>
              <a:t>すべての固有値が純虚数</a:t>
            </a:r>
            <a:endParaRPr dirty="0"/>
          </a:p>
          <a:p>
            <a:pPr marL="783590" lvl="1">
              <a:buClr>
                <a:srgbClr val="000000"/>
              </a:buClr>
              <a:buSzPct val="100000"/>
              <a:buFont typeface="Arial"/>
            </a:pPr>
            <a:r>
              <a:rPr dirty="0" err="1"/>
              <a:t>解が三角関数で書ける</a:t>
            </a:r>
            <a:r>
              <a:rPr lang="en-US" dirty="0"/>
              <a:t> (</a:t>
            </a:r>
            <a:r>
              <a:rPr lang="en-US" dirty="0" err="1"/>
              <a:t>Eulerの公式より</a:t>
            </a:r>
            <a:r>
              <a:rPr lang="en-US" dirty="0"/>
              <a:t>)</a:t>
            </a:r>
            <a:endParaRPr dirty="0"/>
          </a:p>
        </p:txBody>
      </p:sp>
      <p:sp>
        <p:nvSpPr>
          <p:cNvPr id="598" name="楕円"/>
          <p:cNvSpPr/>
          <p:nvPr/>
        </p:nvSpPr>
        <p:spPr>
          <a:xfrm>
            <a:off x="8534547" y="4140201"/>
            <a:ext cx="2520951" cy="1895475"/>
          </a:xfrm>
          <a:prstGeom prst="ellipse">
            <a:avLst/>
          </a:prstGeom>
          <a:ln w="25400">
            <a:solidFill>
              <a:srgbClr val="000000"/>
            </a:solidFill>
            <a:miter lim="400000"/>
          </a:ln>
        </p:spPr>
        <p:txBody>
          <a:bodyPr lIns="50800" tIns="50800" rIns="50800" bIns="50800" anchor="ctr"/>
          <a:lstStyle/>
          <a:p>
            <a:pPr>
              <a:defRPr>
                <a:solidFill>
                  <a:srgbClr val="FFFFFF"/>
                </a:solidFill>
                <a:effectLst>
                  <a:outerShdw blurRad="38100" dist="12700" dir="5400000" rotWithShape="0">
                    <a:srgbClr val="000000">
                      <a:alpha val="50000"/>
                    </a:srgbClr>
                  </a:outerShdw>
                </a:effectLst>
              </a:defRPr>
            </a:pPr>
            <a:endParaRPr/>
          </a:p>
        </p:txBody>
      </p:sp>
      <p:sp>
        <p:nvSpPr>
          <p:cNvPr id="599" name="楕円"/>
          <p:cNvSpPr/>
          <p:nvPr/>
        </p:nvSpPr>
        <p:spPr>
          <a:xfrm>
            <a:off x="8750446" y="4378325"/>
            <a:ext cx="2033588" cy="1441450"/>
          </a:xfrm>
          <a:prstGeom prst="ellipse">
            <a:avLst/>
          </a:prstGeom>
          <a:ln w="25400">
            <a:solidFill>
              <a:srgbClr val="000000"/>
            </a:solidFill>
            <a:miter lim="400000"/>
          </a:ln>
        </p:spPr>
        <p:txBody>
          <a:bodyPr lIns="50800" tIns="50800" rIns="50800" bIns="50800" anchor="ctr"/>
          <a:lstStyle/>
          <a:p>
            <a:pPr>
              <a:defRPr>
                <a:solidFill>
                  <a:srgbClr val="FFFFFF"/>
                </a:solidFill>
                <a:effectLst>
                  <a:outerShdw blurRad="38100" dist="12700" dir="5400000" rotWithShape="0">
                    <a:srgbClr val="000000">
                      <a:alpha val="50000"/>
                    </a:srgbClr>
                  </a:outerShdw>
                </a:effectLst>
              </a:defRPr>
            </a:pPr>
            <a:endParaRPr/>
          </a:p>
        </p:txBody>
      </p:sp>
      <p:sp>
        <p:nvSpPr>
          <p:cNvPr id="600" name="楕円"/>
          <p:cNvSpPr/>
          <p:nvPr/>
        </p:nvSpPr>
        <p:spPr>
          <a:xfrm>
            <a:off x="9007622" y="4621213"/>
            <a:ext cx="1543051" cy="982663"/>
          </a:xfrm>
          <a:prstGeom prst="ellipse">
            <a:avLst/>
          </a:prstGeom>
          <a:ln w="25400">
            <a:solidFill>
              <a:srgbClr val="000000"/>
            </a:solidFill>
            <a:miter lim="400000"/>
          </a:ln>
        </p:spPr>
        <p:txBody>
          <a:bodyPr lIns="50800" tIns="50800" rIns="50800" bIns="50800" anchor="ctr"/>
          <a:lstStyle/>
          <a:p>
            <a:pPr>
              <a:defRPr>
                <a:solidFill>
                  <a:srgbClr val="FFFFFF"/>
                </a:solidFill>
                <a:effectLst>
                  <a:outerShdw blurRad="38100" dist="12700" dir="5400000" rotWithShape="0">
                    <a:srgbClr val="000000">
                      <a:alpha val="50000"/>
                    </a:srgbClr>
                  </a:outerShdw>
                </a:effectLst>
              </a:defRPr>
            </a:pPr>
            <a:endParaRPr/>
          </a:p>
        </p:txBody>
      </p:sp>
      <p:sp>
        <p:nvSpPr>
          <p:cNvPr id="601" name="三角形"/>
          <p:cNvSpPr/>
          <p:nvPr/>
        </p:nvSpPr>
        <p:spPr>
          <a:xfrm rot="16200000">
            <a:off x="9686530" y="5672733"/>
            <a:ext cx="144357" cy="289323"/>
          </a:xfrm>
          <a:prstGeom prst="triangle">
            <a:avLst/>
          </a:prstGeom>
          <a:solidFill>
            <a:srgbClr val="000000"/>
          </a:solidFill>
          <a:ln w="25400">
            <a:solidFill>
              <a:srgbClr val="000000"/>
            </a:solidFill>
            <a:miter lim="400000"/>
          </a:ln>
        </p:spPr>
        <p:txBody>
          <a:bodyPr lIns="50800" tIns="50800" rIns="50800" bIns="50800" anchor="ctr"/>
          <a:lstStyle/>
          <a:p>
            <a:pPr>
              <a:defRPr>
                <a:solidFill>
                  <a:srgbClr val="FFFFFF"/>
                </a:solidFill>
                <a:effectLst>
                  <a:outerShdw blurRad="38100" dist="12700" dir="5400000" rotWithShape="0">
                    <a:srgbClr val="000000">
                      <a:alpha val="50000"/>
                    </a:srgbClr>
                  </a:outerShdw>
                </a:effectLst>
              </a:defRPr>
            </a:pPr>
            <a:endParaRPr/>
          </a:p>
        </p:txBody>
      </p:sp>
      <p:sp>
        <p:nvSpPr>
          <p:cNvPr id="602" name="三角形"/>
          <p:cNvSpPr/>
          <p:nvPr/>
        </p:nvSpPr>
        <p:spPr>
          <a:xfrm rot="16200000">
            <a:off x="9686530" y="5888633"/>
            <a:ext cx="144357" cy="289323"/>
          </a:xfrm>
          <a:prstGeom prst="triangle">
            <a:avLst/>
          </a:prstGeom>
          <a:solidFill>
            <a:srgbClr val="000000"/>
          </a:solidFill>
          <a:ln w="25400">
            <a:solidFill>
              <a:srgbClr val="000000"/>
            </a:solidFill>
            <a:miter lim="400000"/>
          </a:ln>
        </p:spPr>
        <p:txBody>
          <a:bodyPr lIns="50800" tIns="50800" rIns="50800" bIns="50800" anchor="ctr"/>
          <a:lstStyle/>
          <a:p>
            <a:pPr>
              <a:defRPr>
                <a:solidFill>
                  <a:srgbClr val="FFFFFF"/>
                </a:solidFill>
                <a:effectLst>
                  <a:outerShdw blurRad="38100" dist="12700" dir="5400000" rotWithShape="0">
                    <a:srgbClr val="000000">
                      <a:alpha val="50000"/>
                    </a:srgbClr>
                  </a:outerShdw>
                </a:effectLst>
              </a:defRPr>
            </a:pPr>
            <a:endParaRPr/>
          </a:p>
        </p:txBody>
      </p:sp>
      <p:sp>
        <p:nvSpPr>
          <p:cNvPr id="603" name="三角形"/>
          <p:cNvSpPr/>
          <p:nvPr/>
        </p:nvSpPr>
        <p:spPr>
          <a:xfrm rot="16200000">
            <a:off x="9686530" y="5456833"/>
            <a:ext cx="144357" cy="289323"/>
          </a:xfrm>
          <a:prstGeom prst="triangle">
            <a:avLst/>
          </a:prstGeom>
          <a:solidFill>
            <a:srgbClr val="000000"/>
          </a:solidFill>
          <a:ln w="25400">
            <a:solidFill>
              <a:srgbClr val="000000"/>
            </a:solidFill>
            <a:miter lim="400000"/>
          </a:ln>
        </p:spPr>
        <p:txBody>
          <a:bodyPr lIns="50800" tIns="50800" rIns="50800" bIns="50800" anchor="ctr"/>
          <a:lstStyle/>
          <a:p>
            <a:pPr>
              <a:defRPr>
                <a:solidFill>
                  <a:srgbClr val="FFFFFF"/>
                </a:solidFill>
                <a:effectLst>
                  <a:outerShdw blurRad="38100" dist="12700" dir="5400000" rotWithShape="0">
                    <a:srgbClr val="000000">
                      <a:alpha val="50000"/>
                    </a:srgbClr>
                  </a:outerShdw>
                </a:effectLst>
              </a:defRPr>
            </a:pPr>
            <a:endParaRPr/>
          </a:p>
        </p:txBody>
      </p:sp>
      <p:sp>
        <p:nvSpPr>
          <p:cNvPr id="604" name="円形"/>
          <p:cNvSpPr/>
          <p:nvPr/>
        </p:nvSpPr>
        <p:spPr>
          <a:xfrm>
            <a:off x="9687071" y="5027612"/>
            <a:ext cx="144464" cy="144464"/>
          </a:xfrm>
          <a:prstGeom prst="ellipse">
            <a:avLst/>
          </a:prstGeom>
          <a:ln w="25400">
            <a:solidFill>
              <a:srgbClr val="000000"/>
            </a:solidFill>
            <a:miter lim="400000"/>
          </a:ln>
        </p:spPr>
        <p:txBody>
          <a:bodyPr lIns="50800" tIns="50800" rIns="50800" bIns="50800" anchor="ctr"/>
          <a:lstStyle/>
          <a:p>
            <a:pPr>
              <a:defRPr>
                <a:solidFill>
                  <a:srgbClr val="FFFFFF"/>
                </a:solidFill>
                <a:effectLst>
                  <a:outerShdw blurRad="38100" dist="12700" dir="5400000" rotWithShape="0">
                    <a:srgbClr val="000000">
                      <a:alpha val="50000"/>
                    </a:srgbClr>
                  </a:outerShdw>
                </a:effectLst>
              </a:defRPr>
            </a:pPr>
            <a:endParaRPr/>
          </a:p>
        </p:txBody>
      </p:sp>
      <p:grpSp>
        <p:nvGrpSpPr>
          <p:cNvPr id="613" name="グループ"/>
          <p:cNvGrpSpPr/>
          <p:nvPr/>
        </p:nvGrpSpPr>
        <p:grpSpPr>
          <a:xfrm>
            <a:off x="7556647" y="2071688"/>
            <a:ext cx="1655763" cy="1081089"/>
            <a:chOff x="0" y="0"/>
            <a:chExt cx="1655762" cy="1081087"/>
          </a:xfrm>
        </p:grpSpPr>
        <p:grpSp>
          <p:nvGrpSpPr>
            <p:cNvPr id="611" name="グループ"/>
            <p:cNvGrpSpPr/>
            <p:nvPr/>
          </p:nvGrpSpPr>
          <p:grpSpPr>
            <a:xfrm>
              <a:off x="0" y="0"/>
              <a:ext cx="1655763" cy="1081088"/>
              <a:chOff x="0" y="0"/>
              <a:chExt cx="1655762" cy="1081087"/>
            </a:xfrm>
          </p:grpSpPr>
          <p:sp>
            <p:nvSpPr>
              <p:cNvPr id="605" name="線"/>
              <p:cNvSpPr/>
              <p:nvPr/>
            </p:nvSpPr>
            <p:spPr>
              <a:xfrm flipH="1">
                <a:off x="0" y="0"/>
                <a:ext cx="919160" cy="576263"/>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cubicBezTo>
                      <a:pt x="11929" y="0"/>
                      <a:pt x="21600" y="9670"/>
                      <a:pt x="21600" y="21600"/>
                    </a:cubicBezTo>
                  </a:path>
                </a:pathLst>
              </a:custGeom>
              <a:noFill/>
              <a:ln w="25400" cap="flat">
                <a:solidFill>
                  <a:srgbClr val="000000"/>
                </a:solidFill>
                <a:prstDash val="solid"/>
                <a:miter lim="400000"/>
              </a:ln>
              <a:effectLst/>
            </p:spPr>
            <p:txBody>
              <a:bodyPr wrap="square" lIns="50800" tIns="50800" rIns="50800" bIns="50800" numCol="1" anchor="ctr">
                <a:noAutofit/>
              </a:bodyPr>
              <a:lstStyle/>
              <a:p>
                <a:pPr>
                  <a:defRPr>
                    <a:solidFill>
                      <a:srgbClr val="FFFFFF"/>
                    </a:solidFill>
                    <a:effectLst>
                      <a:outerShdw blurRad="38100" dist="12700" dir="5400000" rotWithShape="0">
                        <a:srgbClr val="000000">
                          <a:alpha val="50000"/>
                        </a:srgbClr>
                      </a:outerShdw>
                    </a:effectLst>
                  </a:defRPr>
                </a:pPr>
                <a:endParaRPr/>
              </a:p>
            </p:txBody>
          </p:sp>
          <p:sp>
            <p:nvSpPr>
              <p:cNvPr id="606" name="線"/>
              <p:cNvSpPr/>
              <p:nvPr/>
            </p:nvSpPr>
            <p:spPr>
              <a:xfrm>
                <a:off x="919083" y="0"/>
                <a:ext cx="736680" cy="576263"/>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cubicBezTo>
                      <a:pt x="11929" y="0"/>
                      <a:pt x="21600" y="9670"/>
                      <a:pt x="21600" y="21600"/>
                    </a:cubicBezTo>
                  </a:path>
                </a:pathLst>
              </a:custGeom>
              <a:noFill/>
              <a:ln w="25400" cap="flat">
                <a:solidFill>
                  <a:srgbClr val="000000"/>
                </a:solidFill>
                <a:prstDash val="solid"/>
                <a:miter lim="400000"/>
              </a:ln>
              <a:effectLst/>
            </p:spPr>
            <p:txBody>
              <a:bodyPr wrap="square" lIns="50800" tIns="50800" rIns="50800" bIns="50800" numCol="1" anchor="ctr">
                <a:noAutofit/>
              </a:bodyPr>
              <a:lstStyle/>
              <a:p>
                <a:pPr>
                  <a:defRPr>
                    <a:solidFill>
                      <a:srgbClr val="FFFFFF"/>
                    </a:solidFill>
                    <a:effectLst>
                      <a:outerShdw blurRad="38100" dist="12700" dir="5400000" rotWithShape="0">
                        <a:srgbClr val="000000">
                          <a:alpha val="50000"/>
                        </a:srgbClr>
                      </a:outerShdw>
                    </a:effectLst>
                  </a:defRPr>
                </a:pPr>
                <a:endParaRPr/>
              </a:p>
            </p:txBody>
          </p:sp>
          <p:sp>
            <p:nvSpPr>
              <p:cNvPr id="607" name="線"/>
              <p:cNvSpPr/>
              <p:nvPr/>
            </p:nvSpPr>
            <p:spPr>
              <a:xfrm rot="10800000" flipH="1">
                <a:off x="981261" y="576262"/>
                <a:ext cx="674502" cy="503238"/>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cubicBezTo>
                      <a:pt x="11929" y="0"/>
                      <a:pt x="21600" y="9670"/>
                      <a:pt x="21600" y="21600"/>
                    </a:cubicBezTo>
                  </a:path>
                </a:pathLst>
              </a:custGeom>
              <a:noFill/>
              <a:ln w="25400" cap="flat">
                <a:solidFill>
                  <a:srgbClr val="000000"/>
                </a:solidFill>
                <a:prstDash val="solid"/>
                <a:miter lim="400000"/>
              </a:ln>
              <a:effectLst/>
            </p:spPr>
            <p:txBody>
              <a:bodyPr wrap="square" lIns="50800" tIns="50800" rIns="50800" bIns="50800" numCol="1" anchor="ctr">
                <a:noAutofit/>
              </a:bodyPr>
              <a:lstStyle/>
              <a:p>
                <a:pPr>
                  <a:defRPr>
                    <a:solidFill>
                      <a:srgbClr val="FFFFFF"/>
                    </a:solidFill>
                    <a:effectLst>
                      <a:outerShdw blurRad="38100" dist="12700" dir="5400000" rotWithShape="0">
                        <a:srgbClr val="000000">
                          <a:alpha val="50000"/>
                        </a:srgbClr>
                      </a:outerShdw>
                    </a:effectLst>
                  </a:defRPr>
                </a:pPr>
                <a:endParaRPr/>
              </a:p>
            </p:txBody>
          </p:sp>
          <p:sp>
            <p:nvSpPr>
              <p:cNvPr id="608" name="線"/>
              <p:cNvSpPr/>
              <p:nvPr/>
            </p:nvSpPr>
            <p:spPr>
              <a:xfrm rot="10800000">
                <a:off x="367647" y="576262"/>
                <a:ext cx="613675" cy="504826"/>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cubicBezTo>
                      <a:pt x="11929" y="0"/>
                      <a:pt x="21600" y="9670"/>
                      <a:pt x="21600" y="21600"/>
                    </a:cubicBezTo>
                  </a:path>
                </a:pathLst>
              </a:custGeom>
              <a:noFill/>
              <a:ln w="25400" cap="flat">
                <a:solidFill>
                  <a:srgbClr val="000000"/>
                </a:solidFill>
                <a:prstDash val="solid"/>
                <a:miter lim="400000"/>
              </a:ln>
              <a:effectLst/>
            </p:spPr>
            <p:txBody>
              <a:bodyPr wrap="square" lIns="50800" tIns="50800" rIns="50800" bIns="50800" numCol="1" anchor="ctr">
                <a:noAutofit/>
              </a:bodyPr>
              <a:lstStyle/>
              <a:p>
                <a:pPr>
                  <a:defRPr>
                    <a:solidFill>
                      <a:srgbClr val="FFFFFF"/>
                    </a:solidFill>
                    <a:effectLst>
                      <a:outerShdw blurRad="38100" dist="12700" dir="5400000" rotWithShape="0">
                        <a:srgbClr val="000000">
                          <a:alpha val="50000"/>
                        </a:srgbClr>
                      </a:outerShdw>
                    </a:effectLst>
                  </a:defRPr>
                </a:pPr>
                <a:endParaRPr/>
              </a:p>
            </p:txBody>
          </p:sp>
          <p:sp>
            <p:nvSpPr>
              <p:cNvPr id="609" name="線"/>
              <p:cNvSpPr/>
              <p:nvPr/>
            </p:nvSpPr>
            <p:spPr>
              <a:xfrm flipH="1">
                <a:off x="367646" y="288924"/>
                <a:ext cx="540679" cy="287339"/>
              </a:xfrm>
              <a:custGeom>
                <a:avLst/>
                <a:gdLst/>
                <a:ahLst/>
                <a:cxnLst>
                  <a:cxn ang="0">
                    <a:pos x="wd2" y="hd2"/>
                  </a:cxn>
                  <a:cxn ang="5400000">
                    <a:pos x="wd2" y="hd2"/>
                  </a:cxn>
                  <a:cxn ang="10800000">
                    <a:pos x="wd2" y="hd2"/>
                  </a:cxn>
                  <a:cxn ang="16200000">
                    <a:pos x="wd2" y="hd2"/>
                  </a:cxn>
                </a:cxnLst>
                <a:rect l="0" t="0" r="r" b="b"/>
                <a:pathLst>
                  <a:path w="21600" h="21599" extrusionOk="0">
                    <a:moveTo>
                      <a:pt x="0" y="728"/>
                    </a:moveTo>
                    <a:cubicBezTo>
                      <a:pt x="1443" y="244"/>
                      <a:pt x="2930" y="-1"/>
                      <a:pt x="4424" y="0"/>
                    </a:cubicBezTo>
                    <a:cubicBezTo>
                      <a:pt x="13910" y="0"/>
                      <a:pt x="21600" y="9670"/>
                      <a:pt x="21600" y="21599"/>
                    </a:cubicBezTo>
                  </a:path>
                </a:pathLst>
              </a:custGeom>
              <a:noFill/>
              <a:ln w="25400" cap="flat">
                <a:solidFill>
                  <a:srgbClr val="000000"/>
                </a:solidFill>
                <a:prstDash val="solid"/>
                <a:miter lim="400000"/>
              </a:ln>
              <a:effectLst/>
            </p:spPr>
            <p:txBody>
              <a:bodyPr wrap="square" lIns="50800" tIns="50800" rIns="50800" bIns="50800" numCol="1" anchor="ctr">
                <a:noAutofit/>
              </a:bodyPr>
              <a:lstStyle/>
              <a:p>
                <a:pPr>
                  <a:defRPr>
                    <a:solidFill>
                      <a:srgbClr val="FFFFFF"/>
                    </a:solidFill>
                    <a:effectLst>
                      <a:outerShdw blurRad="38100" dist="12700" dir="5400000" rotWithShape="0">
                        <a:srgbClr val="000000">
                          <a:alpha val="50000"/>
                        </a:srgbClr>
                      </a:outerShdw>
                    </a:effectLst>
                  </a:defRPr>
                </a:pPr>
                <a:endParaRPr/>
              </a:p>
            </p:txBody>
          </p:sp>
          <p:sp>
            <p:nvSpPr>
              <p:cNvPr id="610" name="線"/>
              <p:cNvSpPr/>
              <p:nvPr/>
            </p:nvSpPr>
            <p:spPr>
              <a:xfrm>
                <a:off x="858273" y="288925"/>
                <a:ext cx="429843" cy="215900"/>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cubicBezTo>
                      <a:pt x="11929" y="0"/>
                      <a:pt x="21600" y="9670"/>
                      <a:pt x="21600" y="21600"/>
                    </a:cubicBezTo>
                  </a:path>
                </a:pathLst>
              </a:custGeom>
              <a:noFill/>
              <a:ln w="25400" cap="flat">
                <a:solidFill>
                  <a:srgbClr val="000000"/>
                </a:solidFill>
                <a:prstDash val="solid"/>
                <a:miter lim="400000"/>
              </a:ln>
              <a:effectLst/>
            </p:spPr>
            <p:txBody>
              <a:bodyPr wrap="square" lIns="50800" tIns="50800" rIns="50800" bIns="50800" numCol="1" anchor="ctr">
                <a:noAutofit/>
              </a:bodyPr>
              <a:lstStyle/>
              <a:p>
                <a:pPr>
                  <a:defRPr>
                    <a:solidFill>
                      <a:srgbClr val="FFFFFF"/>
                    </a:solidFill>
                    <a:effectLst>
                      <a:outerShdw blurRad="38100" dist="12700" dir="5400000" rotWithShape="0">
                        <a:srgbClr val="000000">
                          <a:alpha val="50000"/>
                        </a:srgbClr>
                      </a:outerShdw>
                    </a:effectLst>
                  </a:defRPr>
                </a:pPr>
                <a:endParaRPr/>
              </a:p>
            </p:txBody>
          </p:sp>
        </p:grpSp>
        <p:sp>
          <p:nvSpPr>
            <p:cNvPr id="612" name="線"/>
            <p:cNvSpPr/>
            <p:nvPr/>
          </p:nvSpPr>
          <p:spPr>
            <a:xfrm rot="10800000" flipH="1">
              <a:off x="847463" y="506412"/>
              <a:ext cx="440653" cy="215901"/>
            </a:xfrm>
            <a:custGeom>
              <a:avLst/>
              <a:gdLst/>
              <a:ahLst/>
              <a:cxnLst>
                <a:cxn ang="0">
                  <a:pos x="wd2" y="hd2"/>
                </a:cxn>
                <a:cxn ang="5400000">
                  <a:pos x="wd2" y="hd2"/>
                </a:cxn>
                <a:cxn ang="10800000">
                  <a:pos x="wd2" y="hd2"/>
                </a:cxn>
                <a:cxn ang="16200000">
                  <a:pos x="wd2" y="hd2"/>
                </a:cxn>
              </a:cxnLst>
              <a:rect l="0" t="0" r="r" b="b"/>
              <a:pathLst>
                <a:path w="21600" h="21599" extrusionOk="0">
                  <a:moveTo>
                    <a:pt x="0" y="436"/>
                  </a:moveTo>
                  <a:cubicBezTo>
                    <a:pt x="1186" y="146"/>
                    <a:pt x="2392" y="-1"/>
                    <a:pt x="3602" y="0"/>
                  </a:cubicBezTo>
                  <a:cubicBezTo>
                    <a:pt x="13542" y="0"/>
                    <a:pt x="21600" y="9670"/>
                    <a:pt x="21600" y="21599"/>
                  </a:cubicBezTo>
                </a:path>
              </a:pathLst>
            </a:custGeom>
            <a:noFill/>
            <a:ln w="25400" cap="flat">
              <a:solidFill>
                <a:srgbClr val="000000"/>
              </a:solidFill>
              <a:prstDash val="solid"/>
              <a:miter lim="400000"/>
            </a:ln>
            <a:effectLst/>
          </p:spPr>
          <p:txBody>
            <a:bodyPr wrap="square" lIns="50800" tIns="50800" rIns="50800" bIns="50800" numCol="1" anchor="ctr">
              <a:noAutofit/>
            </a:bodyPr>
            <a:lstStyle/>
            <a:p>
              <a:pPr>
                <a:defRPr>
                  <a:solidFill>
                    <a:srgbClr val="FFFFFF"/>
                  </a:solidFill>
                  <a:effectLst>
                    <a:outerShdw blurRad="38100" dist="12700" dir="5400000" rotWithShape="0">
                      <a:srgbClr val="000000">
                        <a:alpha val="50000"/>
                      </a:srgbClr>
                    </a:outerShdw>
                  </a:effectLst>
                </a:defRPr>
              </a:pPr>
              <a:endParaRPr/>
            </a:p>
          </p:txBody>
        </p:sp>
      </p:grpSp>
      <p:sp>
        <p:nvSpPr>
          <p:cNvPr id="614" name="三角形"/>
          <p:cNvSpPr/>
          <p:nvPr/>
        </p:nvSpPr>
        <p:spPr>
          <a:xfrm rot="16200000">
            <a:off x="8419705" y="2646958"/>
            <a:ext cx="144357" cy="289323"/>
          </a:xfrm>
          <a:prstGeom prst="triangle">
            <a:avLst/>
          </a:prstGeom>
          <a:solidFill>
            <a:srgbClr val="000000"/>
          </a:solidFill>
          <a:ln w="25400">
            <a:solidFill>
              <a:srgbClr val="000000"/>
            </a:solidFill>
            <a:miter lim="400000"/>
          </a:ln>
        </p:spPr>
        <p:txBody>
          <a:bodyPr lIns="50800" tIns="50800" rIns="50800" bIns="50800" anchor="ctr"/>
          <a:lstStyle/>
          <a:p>
            <a:pPr>
              <a:defRPr>
                <a:solidFill>
                  <a:srgbClr val="FFFFFF"/>
                </a:solidFill>
                <a:effectLst>
                  <a:outerShdw blurRad="38100" dist="12700" dir="5400000" rotWithShape="0">
                    <a:srgbClr val="000000">
                      <a:alpha val="50000"/>
                    </a:srgbClr>
                  </a:outerShdw>
                </a:effectLst>
              </a:defRPr>
            </a:pPr>
            <a:endParaRPr/>
          </a:p>
        </p:txBody>
      </p:sp>
      <p:sp>
        <p:nvSpPr>
          <p:cNvPr id="615" name="円形"/>
          <p:cNvSpPr/>
          <p:nvPr/>
        </p:nvSpPr>
        <p:spPr>
          <a:xfrm>
            <a:off x="8275785" y="2720976"/>
            <a:ext cx="144463" cy="144463"/>
          </a:xfrm>
          <a:prstGeom prst="ellipse">
            <a:avLst/>
          </a:prstGeom>
          <a:solidFill>
            <a:srgbClr val="000000"/>
          </a:solidFill>
          <a:ln w="25400">
            <a:solidFill>
              <a:srgbClr val="000000"/>
            </a:solidFill>
            <a:miter lim="400000"/>
          </a:ln>
        </p:spPr>
        <p:txBody>
          <a:bodyPr lIns="50800" tIns="50800" rIns="50800" bIns="50800" anchor="ctr"/>
          <a:lstStyle/>
          <a:p>
            <a:pPr>
              <a:defRPr>
                <a:solidFill>
                  <a:srgbClr val="FFFFFF"/>
                </a:solidFill>
                <a:effectLst>
                  <a:outerShdw blurRad="38100" dist="12700" dir="5400000" rotWithShape="0">
                    <a:srgbClr val="000000">
                      <a:alpha val="50000"/>
                    </a:srgbClr>
                  </a:outerShdw>
                </a:effectLst>
              </a:defRPr>
            </a:pPr>
            <a:endParaRPr/>
          </a:p>
        </p:txBody>
      </p:sp>
      <p:sp>
        <p:nvSpPr>
          <p:cNvPr id="616" name="Stable Spiral"/>
          <p:cNvSpPr/>
          <p:nvPr/>
        </p:nvSpPr>
        <p:spPr>
          <a:xfrm>
            <a:off x="7648404" y="3297238"/>
            <a:ext cx="1381944" cy="4064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lvl1pPr>
              <a:buClr>
                <a:srgbClr val="000000"/>
              </a:buClr>
              <a:buFont typeface="Calibri"/>
              <a:defRPr sz="2000">
                <a:latin typeface="Calibri"/>
                <a:ea typeface="Calibri"/>
                <a:cs typeface="Calibri"/>
                <a:sym typeface="Calibri"/>
              </a:defRPr>
            </a:lvl1pPr>
          </a:lstStyle>
          <a:p>
            <a:r>
              <a:t>Stable Spiral</a:t>
            </a:r>
          </a:p>
        </p:txBody>
      </p:sp>
      <p:sp>
        <p:nvSpPr>
          <p:cNvPr id="617" name="Center"/>
          <p:cNvSpPr/>
          <p:nvPr/>
        </p:nvSpPr>
        <p:spPr>
          <a:xfrm>
            <a:off x="9337503" y="6323013"/>
            <a:ext cx="804492" cy="4064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lvl1pPr>
              <a:buClr>
                <a:srgbClr val="000000"/>
              </a:buClr>
              <a:buFont typeface="Calibri"/>
              <a:defRPr sz="2000">
                <a:latin typeface="Calibri"/>
                <a:ea typeface="Calibri"/>
                <a:cs typeface="Calibri"/>
                <a:sym typeface="Calibri"/>
              </a:defRPr>
            </a:lvl1pPr>
          </a:lstStyle>
          <a:p>
            <a:r>
              <a:t>Center</a:t>
            </a:r>
          </a:p>
        </p:txBody>
      </p:sp>
      <p:grpSp>
        <p:nvGrpSpPr>
          <p:cNvPr id="621" name="グループ"/>
          <p:cNvGrpSpPr/>
          <p:nvPr/>
        </p:nvGrpSpPr>
        <p:grpSpPr>
          <a:xfrm>
            <a:off x="9852166" y="1844671"/>
            <a:ext cx="1439874" cy="1295179"/>
            <a:chOff x="0" y="0"/>
            <a:chExt cx="1439872" cy="1295177"/>
          </a:xfrm>
        </p:grpSpPr>
        <p:sp>
          <p:nvSpPr>
            <p:cNvPr id="618" name="線"/>
            <p:cNvSpPr/>
            <p:nvPr/>
          </p:nvSpPr>
          <p:spPr>
            <a:xfrm>
              <a:off x="-1" y="-1"/>
              <a:ext cx="1439874" cy="1295179"/>
            </a:xfrm>
            <a:custGeom>
              <a:avLst/>
              <a:gdLst/>
              <a:ahLst/>
              <a:cxnLst>
                <a:cxn ang="0">
                  <a:pos x="wd2" y="hd2"/>
                </a:cxn>
                <a:cxn ang="5400000">
                  <a:pos x="wd2" y="hd2"/>
                </a:cxn>
                <a:cxn ang="10800000">
                  <a:pos x="wd2" y="hd2"/>
                </a:cxn>
                <a:cxn ang="16200000">
                  <a:pos x="wd2" y="hd2"/>
                </a:cxn>
              </a:cxnLst>
              <a:rect l="0" t="0" r="r" b="b"/>
              <a:pathLst>
                <a:path w="21296" h="21447" extrusionOk="0">
                  <a:moveTo>
                    <a:pt x="10366" y="21447"/>
                  </a:moveTo>
                  <a:lnTo>
                    <a:pt x="10366" y="21447"/>
                  </a:lnTo>
                  <a:cubicBezTo>
                    <a:pt x="4487" y="21290"/>
                    <a:pt x="-152" y="16363"/>
                    <a:pt x="4" y="10442"/>
                  </a:cubicBezTo>
                  <a:cubicBezTo>
                    <a:pt x="159" y="4520"/>
                    <a:pt x="5051" y="-153"/>
                    <a:pt x="10930" y="4"/>
                  </a:cubicBezTo>
                  <a:cubicBezTo>
                    <a:pt x="16809" y="161"/>
                    <a:pt x="21448" y="5088"/>
                    <a:pt x="21292" y="11009"/>
                  </a:cubicBezTo>
                  <a:cubicBezTo>
                    <a:pt x="21283" y="11358"/>
                    <a:pt x="21257" y="11707"/>
                    <a:pt x="21214" y="12053"/>
                  </a:cubicBezTo>
                </a:path>
              </a:pathLst>
            </a:custGeom>
            <a:noFill/>
            <a:ln w="25400" cap="flat">
              <a:solidFill>
                <a:srgbClr val="000000"/>
              </a:solidFill>
              <a:prstDash val="solid"/>
              <a:miter lim="400000"/>
            </a:ln>
            <a:effectLst/>
          </p:spPr>
          <p:txBody>
            <a:bodyPr wrap="square" lIns="50800" tIns="50800" rIns="50800" bIns="50800" numCol="1" anchor="ctr">
              <a:noAutofit/>
            </a:bodyPr>
            <a:lstStyle/>
            <a:p>
              <a:pPr>
                <a:defRPr>
                  <a:solidFill>
                    <a:srgbClr val="FFFFFF"/>
                  </a:solidFill>
                  <a:effectLst>
                    <a:outerShdw blurRad="38100" dist="12700" dir="5400000" rotWithShape="0">
                      <a:srgbClr val="000000">
                        <a:alpha val="50000"/>
                      </a:srgbClr>
                    </a:outerShdw>
                  </a:effectLst>
                </a:defRPr>
              </a:pPr>
              <a:endParaRPr/>
            </a:p>
          </p:txBody>
        </p:sp>
        <p:sp>
          <p:nvSpPr>
            <p:cNvPr id="619" name="線"/>
            <p:cNvSpPr/>
            <p:nvPr/>
          </p:nvSpPr>
          <p:spPr>
            <a:xfrm>
              <a:off x="781747" y="360361"/>
              <a:ext cx="381907" cy="358783"/>
            </a:xfrm>
            <a:custGeom>
              <a:avLst/>
              <a:gdLst/>
              <a:ahLst/>
              <a:cxnLst>
                <a:cxn ang="0">
                  <a:pos x="wd2" y="hd2"/>
                </a:cxn>
                <a:cxn ang="5400000">
                  <a:pos x="wd2" y="hd2"/>
                </a:cxn>
                <a:cxn ang="10800000">
                  <a:pos x="wd2" y="hd2"/>
                </a:cxn>
                <a:cxn ang="16200000">
                  <a:pos x="wd2" y="hd2"/>
                </a:cxn>
              </a:cxnLst>
              <a:rect l="0" t="0" r="r" b="b"/>
              <a:pathLst>
                <a:path w="20983" h="21263" extrusionOk="0">
                  <a:moveTo>
                    <a:pt x="0" y="20"/>
                  </a:moveTo>
                  <a:lnTo>
                    <a:pt x="0" y="20"/>
                  </a:lnTo>
                  <a:cubicBezTo>
                    <a:pt x="10915" y="-331"/>
                    <a:pt x="20293" y="4136"/>
                    <a:pt x="20947" y="9997"/>
                  </a:cubicBezTo>
                  <a:cubicBezTo>
                    <a:pt x="21600" y="15858"/>
                    <a:pt x="13281" y="20894"/>
                    <a:pt x="2366" y="21245"/>
                  </a:cubicBezTo>
                  <a:cubicBezTo>
                    <a:pt x="1732" y="21265"/>
                    <a:pt x="1096" y="21269"/>
                    <a:pt x="461" y="21257"/>
                  </a:cubicBezTo>
                </a:path>
              </a:pathLst>
            </a:custGeom>
            <a:noFill/>
            <a:ln w="25400" cap="flat">
              <a:solidFill>
                <a:srgbClr val="000000"/>
              </a:solidFill>
              <a:prstDash val="solid"/>
              <a:miter lim="400000"/>
            </a:ln>
            <a:effectLst/>
          </p:spPr>
          <p:txBody>
            <a:bodyPr wrap="square" lIns="50800" tIns="50800" rIns="50800" bIns="50800" numCol="1" anchor="ctr">
              <a:noAutofit/>
            </a:bodyPr>
            <a:lstStyle/>
            <a:p>
              <a:pPr>
                <a:defRPr>
                  <a:solidFill>
                    <a:srgbClr val="FFFFFF"/>
                  </a:solidFill>
                  <a:effectLst>
                    <a:outerShdw blurRad="38100" dist="12700" dir="5400000" rotWithShape="0">
                      <a:srgbClr val="000000">
                        <a:alpha val="50000"/>
                      </a:srgbClr>
                    </a:outerShdw>
                  </a:effectLst>
                </a:defRPr>
              </a:pPr>
              <a:endParaRPr/>
            </a:p>
          </p:txBody>
        </p:sp>
        <p:sp>
          <p:nvSpPr>
            <p:cNvPr id="620" name="線"/>
            <p:cNvSpPr/>
            <p:nvPr/>
          </p:nvSpPr>
          <p:spPr>
            <a:xfrm>
              <a:off x="276139" y="362128"/>
              <a:ext cx="1156020" cy="645990"/>
            </a:xfrm>
            <a:custGeom>
              <a:avLst/>
              <a:gdLst/>
              <a:ahLst/>
              <a:cxnLst>
                <a:cxn ang="0">
                  <a:pos x="wd2" y="hd2"/>
                </a:cxn>
                <a:cxn ang="5400000">
                  <a:pos x="wd2" y="hd2"/>
                </a:cxn>
                <a:cxn ang="10800000">
                  <a:pos x="wd2" y="hd2"/>
                </a:cxn>
                <a:cxn ang="16200000">
                  <a:pos x="wd2" y="hd2"/>
                </a:cxn>
              </a:cxnLst>
              <a:rect l="0" t="0" r="r" b="b"/>
              <a:pathLst>
                <a:path w="20802" h="20805" extrusionOk="0">
                  <a:moveTo>
                    <a:pt x="20802" y="12066"/>
                  </a:moveTo>
                  <a:lnTo>
                    <a:pt x="20802" y="12066"/>
                  </a:lnTo>
                  <a:cubicBezTo>
                    <a:pt x="19864" y="17750"/>
                    <a:pt x="14478" y="21600"/>
                    <a:pt x="8772" y="20665"/>
                  </a:cubicBezTo>
                  <a:cubicBezTo>
                    <a:pt x="3067" y="19731"/>
                    <a:pt x="-798" y="14365"/>
                    <a:pt x="140" y="8681"/>
                  </a:cubicBezTo>
                  <a:cubicBezTo>
                    <a:pt x="905" y="4044"/>
                    <a:pt x="4689" y="489"/>
                    <a:pt x="9381" y="0"/>
                  </a:cubicBezTo>
                </a:path>
              </a:pathLst>
            </a:custGeom>
            <a:noFill/>
            <a:ln w="25400" cap="flat">
              <a:solidFill>
                <a:srgbClr val="000000"/>
              </a:solidFill>
              <a:prstDash val="solid"/>
              <a:miter lim="400000"/>
            </a:ln>
            <a:effectLst/>
          </p:spPr>
          <p:txBody>
            <a:bodyPr wrap="square" lIns="50800" tIns="50800" rIns="50800" bIns="50800" numCol="1" anchor="ctr">
              <a:noAutofit/>
            </a:bodyPr>
            <a:lstStyle/>
            <a:p>
              <a:pPr>
                <a:defRPr>
                  <a:solidFill>
                    <a:srgbClr val="FFFFFF"/>
                  </a:solidFill>
                  <a:effectLst>
                    <a:outerShdw blurRad="38100" dist="12700" dir="5400000" rotWithShape="0">
                      <a:srgbClr val="000000">
                        <a:alpha val="50000"/>
                      </a:srgbClr>
                    </a:outerShdw>
                  </a:effectLst>
                </a:defRPr>
              </a:pPr>
              <a:endParaRPr/>
            </a:p>
          </p:txBody>
        </p:sp>
      </p:grpSp>
      <p:sp>
        <p:nvSpPr>
          <p:cNvPr id="622" name="円形"/>
          <p:cNvSpPr/>
          <p:nvPr/>
        </p:nvSpPr>
        <p:spPr>
          <a:xfrm>
            <a:off x="10501460" y="2492376"/>
            <a:ext cx="144463" cy="144463"/>
          </a:xfrm>
          <a:prstGeom prst="ellipse">
            <a:avLst/>
          </a:prstGeom>
          <a:ln w="25400">
            <a:solidFill>
              <a:srgbClr val="000000"/>
            </a:solidFill>
          </a:ln>
        </p:spPr>
        <p:txBody>
          <a:bodyPr lIns="50800" tIns="50800" rIns="50800" bIns="50800" anchor="ctr"/>
          <a:lstStyle/>
          <a:p>
            <a:pPr>
              <a:defRPr>
                <a:solidFill>
                  <a:srgbClr val="FFFFFF"/>
                </a:solidFill>
                <a:effectLst>
                  <a:outerShdw blurRad="38100" dist="12700" dir="5400000" rotWithShape="0">
                    <a:srgbClr val="000000">
                      <a:alpha val="50000"/>
                    </a:srgbClr>
                  </a:outerShdw>
                </a:effectLst>
              </a:defRPr>
            </a:pPr>
            <a:endParaRPr/>
          </a:p>
        </p:txBody>
      </p:sp>
      <p:sp>
        <p:nvSpPr>
          <p:cNvPr id="623" name="三角形"/>
          <p:cNvSpPr/>
          <p:nvPr/>
        </p:nvSpPr>
        <p:spPr>
          <a:xfrm rot="5400000">
            <a:off x="10427495" y="2994621"/>
            <a:ext cx="144356" cy="289323"/>
          </a:xfrm>
          <a:prstGeom prst="triangle">
            <a:avLst/>
          </a:prstGeom>
          <a:solidFill>
            <a:srgbClr val="000000"/>
          </a:solidFill>
          <a:ln w="25400">
            <a:solidFill>
              <a:srgbClr val="000000"/>
            </a:solidFill>
            <a:miter lim="400000"/>
          </a:ln>
        </p:spPr>
        <p:txBody>
          <a:bodyPr lIns="50800" tIns="50800" rIns="50800" bIns="50800" anchor="ctr"/>
          <a:lstStyle/>
          <a:p>
            <a:pPr>
              <a:defRPr>
                <a:solidFill>
                  <a:srgbClr val="FFFFFF"/>
                </a:solidFill>
                <a:effectLst>
                  <a:outerShdw blurRad="38100" dist="12700" dir="5400000" rotWithShape="0">
                    <a:srgbClr val="000000">
                      <a:alpha val="50000"/>
                    </a:srgbClr>
                  </a:outerShdw>
                </a:effectLst>
              </a:defRPr>
            </a:pPr>
            <a:endParaRPr/>
          </a:p>
        </p:txBody>
      </p:sp>
      <p:sp>
        <p:nvSpPr>
          <p:cNvPr id="624" name="Unstable Spiral"/>
          <p:cNvSpPr/>
          <p:nvPr/>
        </p:nvSpPr>
        <p:spPr>
          <a:xfrm>
            <a:off x="9728029" y="3357563"/>
            <a:ext cx="1658145" cy="4064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lvl1pPr>
              <a:buClr>
                <a:srgbClr val="000000"/>
              </a:buClr>
              <a:buFont typeface="Calibri"/>
              <a:defRPr sz="2000">
                <a:latin typeface="Calibri"/>
                <a:ea typeface="Calibri"/>
                <a:cs typeface="Calibri"/>
                <a:sym typeface="Calibri"/>
              </a:defRPr>
            </a:lvl1pPr>
          </a:lstStyle>
          <a:p>
            <a:r>
              <a:t>Unstable Spiral</a:t>
            </a:r>
          </a:p>
        </p:txBody>
      </p:sp>
      <p:sp>
        <p:nvSpPr>
          <p:cNvPr id="627" name="線"/>
          <p:cNvSpPr/>
          <p:nvPr/>
        </p:nvSpPr>
        <p:spPr>
          <a:xfrm>
            <a:off x="7367734" y="1831975"/>
            <a:ext cx="1588" cy="1512888"/>
          </a:xfrm>
          <a:prstGeom prst="line">
            <a:avLst/>
          </a:prstGeom>
          <a:ln w="38100">
            <a:solidFill>
              <a:srgbClr val="000000"/>
            </a:solidFill>
            <a:miter lim="400000"/>
          </a:ln>
        </p:spPr>
        <p:txBody>
          <a:bodyPr lIns="0" tIns="0" rIns="0" bIns="0"/>
          <a:lstStyle/>
          <a:p>
            <a:pPr defTabSz="457200">
              <a:defRPr sz="1200">
                <a:latin typeface="ヒラギノ角ゴ ProN W3"/>
                <a:ea typeface="ヒラギノ角ゴ ProN W3"/>
                <a:cs typeface="ヒラギノ角ゴ ProN W3"/>
                <a:sym typeface="ヒラギノ角ゴ ProN W3"/>
              </a:defRPr>
            </a:pPr>
            <a:endParaRPr sz="1200"/>
          </a:p>
        </p:txBody>
      </p:sp>
      <p:sp>
        <p:nvSpPr>
          <p:cNvPr id="628" name="線"/>
          <p:cNvSpPr/>
          <p:nvPr/>
        </p:nvSpPr>
        <p:spPr>
          <a:xfrm>
            <a:off x="7367735" y="3344862"/>
            <a:ext cx="1871663" cy="1588"/>
          </a:xfrm>
          <a:prstGeom prst="line">
            <a:avLst/>
          </a:prstGeom>
          <a:ln w="38100">
            <a:solidFill>
              <a:srgbClr val="000000"/>
            </a:solidFill>
            <a:miter lim="400000"/>
          </a:ln>
        </p:spPr>
        <p:txBody>
          <a:bodyPr lIns="0" tIns="0" rIns="0" bIns="0"/>
          <a:lstStyle/>
          <a:p>
            <a:pPr defTabSz="457200">
              <a:defRPr sz="1200">
                <a:latin typeface="ヒラギノ角ゴ ProN W3"/>
                <a:ea typeface="ヒラギノ角ゴ ProN W3"/>
                <a:cs typeface="ヒラギノ角ゴ ProN W3"/>
                <a:sym typeface="ヒラギノ角ゴ ProN W3"/>
              </a:defRPr>
            </a:pPr>
            <a:endParaRPr sz="1200"/>
          </a:p>
        </p:txBody>
      </p:sp>
      <p:sp>
        <p:nvSpPr>
          <p:cNvPr id="629" name="x"/>
          <p:cNvSpPr/>
          <p:nvPr/>
        </p:nvSpPr>
        <p:spPr>
          <a:xfrm>
            <a:off x="9281291" y="3091438"/>
            <a:ext cx="250068" cy="47192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lvl1pPr>
              <a:spcBef>
                <a:spcPts val="1700"/>
              </a:spcBef>
              <a:defRPr sz="2400" i="1">
                <a:latin typeface="Times New Roman"/>
                <a:ea typeface="Times New Roman"/>
                <a:cs typeface="Times New Roman"/>
                <a:sym typeface="Times New Roman"/>
              </a:defRPr>
            </a:lvl1pPr>
          </a:lstStyle>
          <a:p>
            <a:pPr>
              <a:defRPr i="0">
                <a:latin typeface="+mn-lt"/>
                <a:ea typeface="+mn-ea"/>
                <a:cs typeface="+mn-cs"/>
                <a:sym typeface="Gill Sans"/>
              </a:defRPr>
            </a:pPr>
            <a:r>
              <a:t>x</a:t>
            </a:r>
          </a:p>
        </p:txBody>
      </p:sp>
      <p:sp>
        <p:nvSpPr>
          <p:cNvPr id="630" name="y"/>
          <p:cNvSpPr/>
          <p:nvPr/>
        </p:nvSpPr>
        <p:spPr>
          <a:xfrm>
            <a:off x="7234384" y="1313438"/>
            <a:ext cx="245260" cy="47192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lvl1pPr>
              <a:spcBef>
                <a:spcPts val="1700"/>
              </a:spcBef>
              <a:defRPr sz="2400" i="1">
                <a:latin typeface="Times New Roman"/>
                <a:ea typeface="Times New Roman"/>
                <a:cs typeface="Times New Roman"/>
                <a:sym typeface="Times New Roman"/>
              </a:defRPr>
            </a:lvl1pPr>
          </a:lstStyle>
          <a:p>
            <a:pPr>
              <a:defRPr i="0">
                <a:latin typeface="+mn-lt"/>
                <a:ea typeface="+mn-ea"/>
                <a:cs typeface="+mn-cs"/>
                <a:sym typeface="Gill Sans"/>
              </a:defRPr>
            </a:pPr>
            <a:r>
              <a:t>y</a:t>
            </a:r>
          </a:p>
        </p:txBody>
      </p:sp>
      <p:sp>
        <p:nvSpPr>
          <p:cNvPr id="631" name="線"/>
          <p:cNvSpPr/>
          <p:nvPr/>
        </p:nvSpPr>
        <p:spPr>
          <a:xfrm>
            <a:off x="9685484" y="1841500"/>
            <a:ext cx="1588" cy="1512888"/>
          </a:xfrm>
          <a:prstGeom prst="line">
            <a:avLst/>
          </a:prstGeom>
          <a:ln w="38100">
            <a:solidFill>
              <a:srgbClr val="000000"/>
            </a:solidFill>
            <a:miter lim="400000"/>
          </a:ln>
        </p:spPr>
        <p:txBody>
          <a:bodyPr lIns="0" tIns="0" rIns="0" bIns="0"/>
          <a:lstStyle/>
          <a:p>
            <a:pPr defTabSz="457200">
              <a:defRPr sz="1200">
                <a:latin typeface="ヒラギノ角ゴ ProN W3"/>
                <a:ea typeface="ヒラギノ角ゴ ProN W3"/>
                <a:cs typeface="ヒラギノ角ゴ ProN W3"/>
                <a:sym typeface="ヒラギノ角ゴ ProN W3"/>
              </a:defRPr>
            </a:pPr>
            <a:endParaRPr sz="1200"/>
          </a:p>
        </p:txBody>
      </p:sp>
      <p:sp>
        <p:nvSpPr>
          <p:cNvPr id="632" name="線"/>
          <p:cNvSpPr/>
          <p:nvPr/>
        </p:nvSpPr>
        <p:spPr>
          <a:xfrm>
            <a:off x="9662625" y="3352801"/>
            <a:ext cx="1627823" cy="1595"/>
          </a:xfrm>
          <a:prstGeom prst="line">
            <a:avLst/>
          </a:prstGeom>
          <a:ln w="38100">
            <a:solidFill>
              <a:srgbClr val="000000"/>
            </a:solidFill>
            <a:miter lim="400000"/>
          </a:ln>
        </p:spPr>
        <p:txBody>
          <a:bodyPr lIns="0" tIns="0" rIns="0" bIns="0"/>
          <a:lstStyle/>
          <a:p>
            <a:pPr defTabSz="457200">
              <a:defRPr sz="1200">
                <a:latin typeface="ヒラギノ角ゴ ProN W3"/>
                <a:ea typeface="ヒラギノ角ゴ ProN W3"/>
                <a:cs typeface="ヒラギノ角ゴ ProN W3"/>
                <a:sym typeface="ヒラギノ角ゴ ProN W3"/>
              </a:defRPr>
            </a:pPr>
            <a:endParaRPr sz="1200"/>
          </a:p>
        </p:txBody>
      </p:sp>
      <p:sp>
        <p:nvSpPr>
          <p:cNvPr id="633" name="x"/>
          <p:cNvSpPr/>
          <p:nvPr/>
        </p:nvSpPr>
        <p:spPr>
          <a:xfrm>
            <a:off x="11323784" y="3104138"/>
            <a:ext cx="250068" cy="47192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lvl1pPr>
              <a:spcBef>
                <a:spcPts val="1700"/>
              </a:spcBef>
              <a:defRPr sz="2400" i="1">
                <a:latin typeface="Times New Roman"/>
                <a:ea typeface="Times New Roman"/>
                <a:cs typeface="Times New Roman"/>
                <a:sym typeface="Times New Roman"/>
              </a:defRPr>
            </a:lvl1pPr>
          </a:lstStyle>
          <a:p>
            <a:pPr>
              <a:defRPr i="0">
                <a:latin typeface="+mn-lt"/>
                <a:ea typeface="+mn-ea"/>
                <a:cs typeface="+mn-cs"/>
                <a:sym typeface="Gill Sans"/>
              </a:defRPr>
            </a:pPr>
            <a:r>
              <a:t>x</a:t>
            </a:r>
          </a:p>
        </p:txBody>
      </p:sp>
      <p:sp>
        <p:nvSpPr>
          <p:cNvPr id="634" name="y"/>
          <p:cNvSpPr/>
          <p:nvPr/>
        </p:nvSpPr>
        <p:spPr>
          <a:xfrm>
            <a:off x="9545784" y="1326138"/>
            <a:ext cx="245260" cy="47192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lvl1pPr>
              <a:spcBef>
                <a:spcPts val="1700"/>
              </a:spcBef>
              <a:defRPr sz="2400" i="1">
                <a:latin typeface="Times New Roman"/>
                <a:ea typeface="Times New Roman"/>
                <a:cs typeface="Times New Roman"/>
                <a:sym typeface="Times New Roman"/>
              </a:defRPr>
            </a:lvl1pPr>
          </a:lstStyle>
          <a:p>
            <a:pPr>
              <a:defRPr i="0">
                <a:latin typeface="+mn-lt"/>
                <a:ea typeface="+mn-ea"/>
                <a:cs typeface="+mn-cs"/>
                <a:sym typeface="Gill Sans"/>
              </a:defRPr>
            </a:pPr>
            <a:r>
              <a:t>y</a:t>
            </a:r>
          </a:p>
        </p:txBody>
      </p:sp>
      <p:sp>
        <p:nvSpPr>
          <p:cNvPr id="635" name="線"/>
          <p:cNvSpPr/>
          <p:nvPr/>
        </p:nvSpPr>
        <p:spPr>
          <a:xfrm>
            <a:off x="8275784" y="4185920"/>
            <a:ext cx="1588" cy="2076768"/>
          </a:xfrm>
          <a:prstGeom prst="line">
            <a:avLst/>
          </a:prstGeom>
          <a:ln w="38100">
            <a:solidFill>
              <a:srgbClr val="000000"/>
            </a:solidFill>
            <a:miter lim="400000"/>
          </a:ln>
        </p:spPr>
        <p:txBody>
          <a:bodyPr lIns="0" tIns="0" rIns="0" bIns="0"/>
          <a:lstStyle/>
          <a:p>
            <a:pPr defTabSz="457200">
              <a:defRPr sz="1200">
                <a:latin typeface="ヒラギノ角ゴ ProN W3"/>
                <a:ea typeface="ヒラギノ角ゴ ProN W3"/>
                <a:cs typeface="ヒラギノ角ゴ ProN W3"/>
                <a:sym typeface="ヒラギノ角ゴ ProN W3"/>
              </a:defRPr>
            </a:pPr>
            <a:endParaRPr sz="1200"/>
          </a:p>
        </p:txBody>
      </p:sp>
      <p:sp>
        <p:nvSpPr>
          <p:cNvPr id="636" name="線"/>
          <p:cNvSpPr/>
          <p:nvPr/>
        </p:nvSpPr>
        <p:spPr>
          <a:xfrm flipV="1">
            <a:off x="8275784" y="6258535"/>
            <a:ext cx="2814320" cy="2567"/>
          </a:xfrm>
          <a:prstGeom prst="line">
            <a:avLst/>
          </a:prstGeom>
          <a:ln w="38100">
            <a:solidFill>
              <a:srgbClr val="000000"/>
            </a:solidFill>
            <a:miter lim="400000"/>
          </a:ln>
        </p:spPr>
        <p:txBody>
          <a:bodyPr lIns="0" tIns="0" rIns="0" bIns="0"/>
          <a:lstStyle/>
          <a:p>
            <a:pPr defTabSz="457200">
              <a:defRPr sz="1200">
                <a:latin typeface="ヒラギノ角ゴ ProN W3"/>
                <a:ea typeface="ヒラギノ角ゴ ProN W3"/>
                <a:cs typeface="ヒラギノ角ゴ ProN W3"/>
                <a:sym typeface="ヒラギノ角ゴ ProN W3"/>
              </a:defRPr>
            </a:pPr>
            <a:endParaRPr sz="1200"/>
          </a:p>
        </p:txBody>
      </p:sp>
      <p:sp>
        <p:nvSpPr>
          <p:cNvPr id="637" name="x"/>
          <p:cNvSpPr/>
          <p:nvPr/>
        </p:nvSpPr>
        <p:spPr>
          <a:xfrm>
            <a:off x="11171384" y="6037838"/>
            <a:ext cx="250068" cy="47192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lvl1pPr>
              <a:spcBef>
                <a:spcPts val="1700"/>
              </a:spcBef>
              <a:defRPr sz="2400" i="1">
                <a:latin typeface="Times New Roman"/>
                <a:ea typeface="Times New Roman"/>
                <a:cs typeface="Times New Roman"/>
                <a:sym typeface="Times New Roman"/>
              </a:defRPr>
            </a:lvl1pPr>
          </a:lstStyle>
          <a:p>
            <a:pPr>
              <a:defRPr i="0">
                <a:latin typeface="+mn-lt"/>
                <a:ea typeface="+mn-ea"/>
                <a:cs typeface="+mn-cs"/>
                <a:sym typeface="Gill Sans"/>
              </a:defRPr>
            </a:pPr>
            <a:r>
              <a:t>x</a:t>
            </a:r>
          </a:p>
        </p:txBody>
      </p:sp>
      <p:sp>
        <p:nvSpPr>
          <p:cNvPr id="638" name="y"/>
          <p:cNvSpPr/>
          <p:nvPr/>
        </p:nvSpPr>
        <p:spPr>
          <a:xfrm>
            <a:off x="7843984" y="4005838"/>
            <a:ext cx="245260" cy="47192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lvl1pPr>
              <a:spcBef>
                <a:spcPts val="1700"/>
              </a:spcBef>
              <a:defRPr sz="2400" i="1">
                <a:latin typeface="Times New Roman"/>
                <a:ea typeface="Times New Roman"/>
                <a:cs typeface="Times New Roman"/>
                <a:sym typeface="Times New Roman"/>
              </a:defRPr>
            </a:lvl1pPr>
          </a:lstStyle>
          <a:p>
            <a:pPr>
              <a:defRPr i="0">
                <a:latin typeface="+mn-lt"/>
                <a:ea typeface="+mn-ea"/>
                <a:cs typeface="+mn-cs"/>
                <a:sym typeface="Gill Sans"/>
              </a:defRPr>
            </a:pPr>
            <a:r>
              <a:t>y</a:t>
            </a:r>
          </a:p>
        </p:txBody>
      </p:sp>
    </p:spTree>
    <p:extLst>
      <p:ext uri="{BB962C8B-B14F-4D97-AF65-F5344CB8AC3E}">
        <p14:creationId xmlns:p14="http://schemas.microsoft.com/office/powerpoint/2010/main" val="18773718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0" name="相平面と時系列の対応"/>
          <p:cNvSpPr txBox="1">
            <a:spLocks noGrp="1"/>
          </p:cNvSpPr>
          <p:nvPr>
            <p:ph type="title"/>
          </p:nvPr>
        </p:nvSpPr>
        <p:spPr>
          <a:prstGeom prst="rect">
            <a:avLst/>
          </a:prstGeom>
        </p:spPr>
        <p:txBody>
          <a:bodyPr/>
          <a:lstStyle/>
          <a:p>
            <a:r>
              <a:t>相平面と時系列の対応</a:t>
            </a:r>
          </a:p>
        </p:txBody>
      </p:sp>
      <p:sp>
        <p:nvSpPr>
          <p:cNvPr id="811" name="楕円"/>
          <p:cNvSpPr/>
          <p:nvPr/>
        </p:nvSpPr>
        <p:spPr>
          <a:xfrm>
            <a:off x="2782887" y="3603626"/>
            <a:ext cx="2160588" cy="1547813"/>
          </a:xfrm>
          <a:prstGeom prst="ellipse">
            <a:avLst/>
          </a:prstGeom>
          <a:ln w="25400">
            <a:solidFill>
              <a:srgbClr val="000000"/>
            </a:solidFill>
            <a:miter lim="400000"/>
          </a:ln>
        </p:spPr>
        <p:txBody>
          <a:bodyPr lIns="50800" tIns="50800" rIns="50800" bIns="50800" anchor="ctr"/>
          <a:lstStyle/>
          <a:p>
            <a:pPr>
              <a:defRPr>
                <a:solidFill>
                  <a:srgbClr val="FFFFFF"/>
                </a:solidFill>
                <a:effectLst>
                  <a:outerShdw blurRad="38100" dist="12700" dir="5400000" rotWithShape="0">
                    <a:srgbClr val="000000">
                      <a:alpha val="50000"/>
                    </a:srgbClr>
                  </a:outerShdw>
                </a:effectLst>
              </a:defRPr>
            </a:pPr>
            <a:endParaRPr/>
          </a:p>
        </p:txBody>
      </p:sp>
      <p:sp>
        <p:nvSpPr>
          <p:cNvPr id="812" name="楕円"/>
          <p:cNvSpPr/>
          <p:nvPr/>
        </p:nvSpPr>
        <p:spPr>
          <a:xfrm>
            <a:off x="2998787" y="3759200"/>
            <a:ext cx="1743076" cy="1176338"/>
          </a:xfrm>
          <a:prstGeom prst="ellipse">
            <a:avLst/>
          </a:prstGeom>
          <a:ln w="25400">
            <a:solidFill>
              <a:srgbClr val="000000"/>
            </a:solidFill>
            <a:miter lim="400000"/>
          </a:ln>
        </p:spPr>
        <p:txBody>
          <a:bodyPr lIns="50800" tIns="50800" rIns="50800" bIns="50800" anchor="ctr"/>
          <a:lstStyle/>
          <a:p>
            <a:pPr>
              <a:defRPr>
                <a:solidFill>
                  <a:srgbClr val="FFFFFF"/>
                </a:solidFill>
                <a:effectLst>
                  <a:outerShdw blurRad="38100" dist="12700" dir="5400000" rotWithShape="0">
                    <a:srgbClr val="000000">
                      <a:alpha val="50000"/>
                    </a:srgbClr>
                  </a:outerShdw>
                </a:effectLst>
              </a:defRPr>
            </a:pPr>
            <a:endParaRPr/>
          </a:p>
        </p:txBody>
      </p:sp>
      <p:sp>
        <p:nvSpPr>
          <p:cNvPr id="813" name="楕円"/>
          <p:cNvSpPr/>
          <p:nvPr/>
        </p:nvSpPr>
        <p:spPr>
          <a:xfrm>
            <a:off x="3255962" y="3917950"/>
            <a:ext cx="1322388" cy="801688"/>
          </a:xfrm>
          <a:prstGeom prst="ellipse">
            <a:avLst/>
          </a:prstGeom>
          <a:ln w="25400">
            <a:solidFill>
              <a:srgbClr val="000000"/>
            </a:solidFill>
            <a:miter lim="400000"/>
          </a:ln>
        </p:spPr>
        <p:txBody>
          <a:bodyPr lIns="50800" tIns="50800" rIns="50800" bIns="50800" anchor="ctr"/>
          <a:lstStyle/>
          <a:p>
            <a:pPr>
              <a:defRPr>
                <a:solidFill>
                  <a:srgbClr val="FFFFFF"/>
                </a:solidFill>
                <a:effectLst>
                  <a:outerShdw blurRad="38100" dist="12700" dir="5400000" rotWithShape="0">
                    <a:srgbClr val="000000">
                      <a:alpha val="50000"/>
                    </a:srgbClr>
                  </a:outerShdw>
                </a:effectLst>
              </a:defRPr>
            </a:pPr>
            <a:endParaRPr/>
          </a:p>
        </p:txBody>
      </p:sp>
      <p:sp>
        <p:nvSpPr>
          <p:cNvPr id="814" name="三角形"/>
          <p:cNvSpPr/>
          <p:nvPr/>
        </p:nvSpPr>
        <p:spPr>
          <a:xfrm rot="16200000">
            <a:off x="3927783" y="4823619"/>
            <a:ext cx="116861" cy="247651"/>
          </a:xfrm>
          <a:prstGeom prst="triangle">
            <a:avLst/>
          </a:prstGeom>
          <a:solidFill>
            <a:srgbClr val="000000"/>
          </a:solidFill>
          <a:ln w="25400">
            <a:solidFill>
              <a:srgbClr val="000000"/>
            </a:solidFill>
            <a:miter lim="400000"/>
          </a:ln>
        </p:spPr>
        <p:txBody>
          <a:bodyPr lIns="50800" tIns="50800" rIns="50800" bIns="50800" anchor="ctr"/>
          <a:lstStyle/>
          <a:p>
            <a:pPr>
              <a:defRPr>
                <a:solidFill>
                  <a:srgbClr val="FFFFFF"/>
                </a:solidFill>
                <a:effectLst>
                  <a:outerShdw blurRad="38100" dist="12700" dir="5400000" rotWithShape="0">
                    <a:srgbClr val="000000">
                      <a:alpha val="50000"/>
                    </a:srgbClr>
                  </a:outerShdw>
                </a:effectLst>
              </a:defRPr>
            </a:pPr>
            <a:endParaRPr/>
          </a:p>
        </p:txBody>
      </p:sp>
      <p:sp>
        <p:nvSpPr>
          <p:cNvPr id="815" name="三角形"/>
          <p:cNvSpPr/>
          <p:nvPr/>
        </p:nvSpPr>
        <p:spPr>
          <a:xfrm rot="16200000">
            <a:off x="3927783" y="5039519"/>
            <a:ext cx="116861" cy="247651"/>
          </a:xfrm>
          <a:prstGeom prst="triangle">
            <a:avLst/>
          </a:prstGeom>
          <a:solidFill>
            <a:srgbClr val="000000"/>
          </a:solidFill>
          <a:ln w="25400">
            <a:solidFill>
              <a:srgbClr val="000000"/>
            </a:solidFill>
            <a:miter lim="400000"/>
          </a:ln>
        </p:spPr>
        <p:txBody>
          <a:bodyPr lIns="50800" tIns="50800" rIns="50800" bIns="50800" anchor="ctr"/>
          <a:lstStyle/>
          <a:p>
            <a:pPr>
              <a:defRPr>
                <a:solidFill>
                  <a:srgbClr val="FFFFFF"/>
                </a:solidFill>
                <a:effectLst>
                  <a:outerShdw blurRad="38100" dist="12700" dir="5400000" rotWithShape="0">
                    <a:srgbClr val="000000">
                      <a:alpha val="50000"/>
                    </a:srgbClr>
                  </a:outerShdw>
                </a:effectLst>
              </a:defRPr>
            </a:pPr>
            <a:endParaRPr/>
          </a:p>
        </p:txBody>
      </p:sp>
      <p:sp>
        <p:nvSpPr>
          <p:cNvPr id="816" name="三角形"/>
          <p:cNvSpPr/>
          <p:nvPr/>
        </p:nvSpPr>
        <p:spPr>
          <a:xfrm rot="16200000">
            <a:off x="3927783" y="4607719"/>
            <a:ext cx="116861" cy="247651"/>
          </a:xfrm>
          <a:prstGeom prst="triangle">
            <a:avLst/>
          </a:prstGeom>
          <a:solidFill>
            <a:srgbClr val="000000"/>
          </a:solidFill>
          <a:ln w="25400">
            <a:solidFill>
              <a:srgbClr val="000000"/>
            </a:solidFill>
            <a:miter lim="400000"/>
          </a:ln>
        </p:spPr>
        <p:txBody>
          <a:bodyPr lIns="50800" tIns="50800" rIns="50800" bIns="50800" anchor="ctr"/>
          <a:lstStyle/>
          <a:p>
            <a:pPr>
              <a:defRPr>
                <a:solidFill>
                  <a:srgbClr val="FFFFFF"/>
                </a:solidFill>
                <a:effectLst>
                  <a:outerShdw blurRad="38100" dist="12700" dir="5400000" rotWithShape="0">
                    <a:srgbClr val="000000">
                      <a:alpha val="50000"/>
                    </a:srgbClr>
                  </a:outerShdw>
                </a:effectLst>
              </a:defRPr>
            </a:pPr>
            <a:endParaRPr/>
          </a:p>
        </p:txBody>
      </p:sp>
      <p:sp>
        <p:nvSpPr>
          <p:cNvPr id="817" name="楕円"/>
          <p:cNvSpPr/>
          <p:nvPr/>
        </p:nvSpPr>
        <p:spPr>
          <a:xfrm>
            <a:off x="3811587" y="4278312"/>
            <a:ext cx="123826" cy="117476"/>
          </a:xfrm>
          <a:prstGeom prst="ellipse">
            <a:avLst/>
          </a:prstGeom>
          <a:blipFill>
            <a:blip r:embed="rId2"/>
          </a:blipFill>
          <a:ln w="25400">
            <a:solidFill>
              <a:srgbClr val="000000"/>
            </a:solidFill>
            <a:miter lim="400000"/>
          </a:ln>
        </p:spPr>
        <p:txBody>
          <a:bodyPr lIns="50800" tIns="50800" rIns="50800" bIns="50800" anchor="ctr"/>
          <a:lstStyle/>
          <a:p>
            <a:pPr>
              <a:defRPr>
                <a:solidFill>
                  <a:srgbClr val="FFFFFF"/>
                </a:solidFill>
                <a:effectLst>
                  <a:outerShdw blurRad="38100" dist="12700" dir="5400000" rotWithShape="0">
                    <a:srgbClr val="000000">
                      <a:alpha val="50000"/>
                    </a:srgbClr>
                  </a:outerShdw>
                </a:effectLst>
              </a:defRPr>
            </a:pPr>
            <a:endParaRPr/>
          </a:p>
        </p:txBody>
      </p:sp>
      <p:sp>
        <p:nvSpPr>
          <p:cNvPr id="818" name="線"/>
          <p:cNvSpPr/>
          <p:nvPr/>
        </p:nvSpPr>
        <p:spPr>
          <a:xfrm flipH="1">
            <a:off x="2855913" y="1344613"/>
            <a:ext cx="1079501" cy="576263"/>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cubicBezTo>
                  <a:pt x="11929" y="0"/>
                  <a:pt x="21600" y="9671"/>
                  <a:pt x="21600" y="21600"/>
                </a:cubicBezTo>
              </a:path>
            </a:pathLst>
          </a:custGeom>
          <a:ln w="25400">
            <a:solidFill>
              <a:srgbClr val="000000"/>
            </a:solidFill>
            <a:miter lim="400000"/>
          </a:ln>
        </p:spPr>
        <p:txBody>
          <a:bodyPr lIns="50800" tIns="50800" rIns="50800" bIns="50800" anchor="ctr"/>
          <a:lstStyle/>
          <a:p>
            <a:pPr>
              <a:defRPr>
                <a:solidFill>
                  <a:srgbClr val="FFFFFF"/>
                </a:solidFill>
                <a:effectLst>
                  <a:outerShdw blurRad="38100" dist="12700" dir="5400000" rotWithShape="0">
                    <a:srgbClr val="000000">
                      <a:alpha val="50000"/>
                    </a:srgbClr>
                  </a:outerShdw>
                </a:effectLst>
              </a:defRPr>
            </a:pPr>
            <a:endParaRPr/>
          </a:p>
        </p:txBody>
      </p:sp>
      <p:sp>
        <p:nvSpPr>
          <p:cNvPr id="819" name="線"/>
          <p:cNvSpPr/>
          <p:nvPr/>
        </p:nvSpPr>
        <p:spPr>
          <a:xfrm>
            <a:off x="3935412" y="1344613"/>
            <a:ext cx="865188" cy="576263"/>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cubicBezTo>
                  <a:pt x="11929" y="0"/>
                  <a:pt x="21600" y="9671"/>
                  <a:pt x="21600" y="21600"/>
                </a:cubicBezTo>
              </a:path>
            </a:pathLst>
          </a:custGeom>
          <a:ln w="25400">
            <a:solidFill>
              <a:srgbClr val="000000"/>
            </a:solidFill>
            <a:miter lim="400000"/>
          </a:ln>
        </p:spPr>
        <p:txBody>
          <a:bodyPr lIns="50800" tIns="50800" rIns="50800" bIns="50800" anchor="ctr"/>
          <a:lstStyle/>
          <a:p>
            <a:pPr>
              <a:defRPr>
                <a:solidFill>
                  <a:srgbClr val="FFFFFF"/>
                </a:solidFill>
                <a:effectLst>
                  <a:outerShdw blurRad="38100" dist="12700" dir="5400000" rotWithShape="0">
                    <a:srgbClr val="000000">
                      <a:alpha val="50000"/>
                    </a:srgbClr>
                  </a:outerShdw>
                </a:effectLst>
              </a:defRPr>
            </a:pPr>
            <a:endParaRPr/>
          </a:p>
        </p:txBody>
      </p:sp>
      <p:sp>
        <p:nvSpPr>
          <p:cNvPr id="820" name="線"/>
          <p:cNvSpPr/>
          <p:nvPr/>
        </p:nvSpPr>
        <p:spPr>
          <a:xfrm rot="10800000" flipH="1">
            <a:off x="4008438" y="1920875"/>
            <a:ext cx="792163" cy="503238"/>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cubicBezTo>
                  <a:pt x="11929" y="0"/>
                  <a:pt x="21600" y="9671"/>
                  <a:pt x="21600" y="21600"/>
                </a:cubicBezTo>
              </a:path>
            </a:pathLst>
          </a:custGeom>
          <a:ln w="25400">
            <a:solidFill>
              <a:srgbClr val="000000"/>
            </a:solidFill>
            <a:miter lim="400000"/>
          </a:ln>
        </p:spPr>
        <p:txBody>
          <a:bodyPr lIns="50800" tIns="50800" rIns="50800" bIns="50800" anchor="ctr"/>
          <a:lstStyle/>
          <a:p>
            <a:pPr>
              <a:defRPr>
                <a:solidFill>
                  <a:srgbClr val="FFFFFF"/>
                </a:solidFill>
                <a:effectLst>
                  <a:outerShdw blurRad="38100" dist="12700" dir="5400000" rotWithShape="0">
                    <a:srgbClr val="000000">
                      <a:alpha val="50000"/>
                    </a:srgbClr>
                  </a:outerShdw>
                </a:effectLst>
              </a:defRPr>
            </a:pPr>
            <a:endParaRPr/>
          </a:p>
        </p:txBody>
      </p:sp>
      <p:sp>
        <p:nvSpPr>
          <p:cNvPr id="821" name="線"/>
          <p:cNvSpPr/>
          <p:nvPr/>
        </p:nvSpPr>
        <p:spPr>
          <a:xfrm rot="10800000">
            <a:off x="3287712" y="1920876"/>
            <a:ext cx="720726" cy="504825"/>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cubicBezTo>
                  <a:pt x="11929" y="0"/>
                  <a:pt x="21600" y="9671"/>
                  <a:pt x="21600" y="21600"/>
                </a:cubicBezTo>
              </a:path>
            </a:pathLst>
          </a:custGeom>
          <a:ln w="25400">
            <a:solidFill>
              <a:srgbClr val="000000"/>
            </a:solidFill>
            <a:miter lim="400000"/>
          </a:ln>
        </p:spPr>
        <p:txBody>
          <a:bodyPr lIns="50800" tIns="50800" rIns="50800" bIns="50800" anchor="ctr"/>
          <a:lstStyle/>
          <a:p>
            <a:pPr>
              <a:defRPr>
                <a:solidFill>
                  <a:srgbClr val="FFFFFF"/>
                </a:solidFill>
                <a:effectLst>
                  <a:outerShdw blurRad="38100" dist="12700" dir="5400000" rotWithShape="0">
                    <a:srgbClr val="000000">
                      <a:alpha val="50000"/>
                    </a:srgbClr>
                  </a:outerShdw>
                </a:effectLst>
              </a:defRPr>
            </a:pPr>
            <a:endParaRPr/>
          </a:p>
        </p:txBody>
      </p:sp>
      <p:sp>
        <p:nvSpPr>
          <p:cNvPr id="822" name="線"/>
          <p:cNvSpPr/>
          <p:nvPr/>
        </p:nvSpPr>
        <p:spPr>
          <a:xfrm flipH="1">
            <a:off x="3287713" y="1633466"/>
            <a:ext cx="635003" cy="287410"/>
          </a:xfrm>
          <a:custGeom>
            <a:avLst/>
            <a:gdLst/>
            <a:ahLst/>
            <a:cxnLst>
              <a:cxn ang="0">
                <a:pos x="wd2" y="hd2"/>
              </a:cxn>
              <a:cxn ang="5400000">
                <a:pos x="wd2" y="hd2"/>
              </a:cxn>
              <a:cxn ang="10800000">
                <a:pos x="wd2" y="hd2"/>
              </a:cxn>
              <a:cxn ang="16200000">
                <a:pos x="wd2" y="hd2"/>
              </a:cxn>
            </a:cxnLst>
            <a:rect l="0" t="0" r="r" b="b"/>
            <a:pathLst>
              <a:path w="21600" h="19491" extrusionOk="0">
                <a:moveTo>
                  <a:pt x="0" y="663"/>
                </a:moveTo>
                <a:cubicBezTo>
                  <a:pt x="9166" y="-2109"/>
                  <a:pt x="18577" y="4074"/>
                  <a:pt x="21021" y="14472"/>
                </a:cubicBezTo>
                <a:cubicBezTo>
                  <a:pt x="21405" y="16110"/>
                  <a:pt x="21600" y="17797"/>
                  <a:pt x="21600" y="19491"/>
                </a:cubicBezTo>
              </a:path>
            </a:pathLst>
          </a:custGeom>
          <a:ln w="25400">
            <a:solidFill>
              <a:srgbClr val="000000"/>
            </a:solidFill>
            <a:miter lim="400000"/>
          </a:ln>
        </p:spPr>
        <p:txBody>
          <a:bodyPr lIns="50800" tIns="50800" rIns="50800" bIns="50800" anchor="ctr"/>
          <a:lstStyle/>
          <a:p>
            <a:pPr>
              <a:defRPr>
                <a:solidFill>
                  <a:srgbClr val="FFFFFF"/>
                </a:solidFill>
                <a:effectLst>
                  <a:outerShdw blurRad="38100" dist="12700" dir="5400000" rotWithShape="0">
                    <a:srgbClr val="000000">
                      <a:alpha val="50000"/>
                    </a:srgbClr>
                  </a:outerShdw>
                </a:effectLst>
              </a:defRPr>
            </a:pPr>
            <a:endParaRPr/>
          </a:p>
        </p:txBody>
      </p:sp>
      <p:sp>
        <p:nvSpPr>
          <p:cNvPr id="823" name="線"/>
          <p:cNvSpPr/>
          <p:nvPr/>
        </p:nvSpPr>
        <p:spPr>
          <a:xfrm>
            <a:off x="3863976" y="1633538"/>
            <a:ext cx="504825" cy="215901"/>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cubicBezTo>
                  <a:pt x="11929" y="0"/>
                  <a:pt x="21600" y="9671"/>
                  <a:pt x="21600" y="21600"/>
                </a:cubicBezTo>
              </a:path>
            </a:pathLst>
          </a:custGeom>
          <a:ln w="25400">
            <a:solidFill>
              <a:srgbClr val="000000"/>
            </a:solidFill>
            <a:miter lim="400000"/>
          </a:ln>
        </p:spPr>
        <p:txBody>
          <a:bodyPr lIns="50800" tIns="50800" rIns="50800" bIns="50800" anchor="ctr"/>
          <a:lstStyle/>
          <a:p>
            <a:pPr>
              <a:defRPr>
                <a:solidFill>
                  <a:srgbClr val="FFFFFF"/>
                </a:solidFill>
                <a:effectLst>
                  <a:outerShdw blurRad="38100" dist="12700" dir="5400000" rotWithShape="0">
                    <a:srgbClr val="000000">
                      <a:alpha val="50000"/>
                    </a:srgbClr>
                  </a:outerShdw>
                </a:effectLst>
              </a:defRPr>
            </a:pPr>
            <a:endParaRPr/>
          </a:p>
        </p:txBody>
      </p:sp>
      <p:sp>
        <p:nvSpPr>
          <p:cNvPr id="824" name="線"/>
          <p:cNvSpPr/>
          <p:nvPr/>
        </p:nvSpPr>
        <p:spPr>
          <a:xfrm rot="10800000" flipH="1">
            <a:off x="3851274" y="1851026"/>
            <a:ext cx="517526" cy="215943"/>
          </a:xfrm>
          <a:custGeom>
            <a:avLst/>
            <a:gdLst/>
            <a:ahLst/>
            <a:cxnLst>
              <a:cxn ang="0">
                <a:pos x="wd2" y="hd2"/>
              </a:cxn>
              <a:cxn ang="5400000">
                <a:pos x="wd2" y="hd2"/>
              </a:cxn>
              <a:cxn ang="10800000">
                <a:pos x="wd2" y="hd2"/>
              </a:cxn>
              <a:cxn ang="16200000">
                <a:pos x="wd2" y="hd2"/>
              </a:cxn>
            </a:cxnLst>
            <a:rect l="0" t="0" r="r" b="b"/>
            <a:pathLst>
              <a:path w="21600" h="19815" extrusionOk="0">
                <a:moveTo>
                  <a:pt x="0" y="404"/>
                </a:moveTo>
                <a:cubicBezTo>
                  <a:pt x="9739" y="-1785"/>
                  <a:pt x="19247" y="5131"/>
                  <a:pt x="21236" y="15851"/>
                </a:cubicBezTo>
                <a:cubicBezTo>
                  <a:pt x="21478" y="17155"/>
                  <a:pt x="21600" y="18484"/>
                  <a:pt x="21600" y="19815"/>
                </a:cubicBezTo>
              </a:path>
            </a:pathLst>
          </a:custGeom>
          <a:ln w="25400">
            <a:solidFill>
              <a:srgbClr val="000000"/>
            </a:solidFill>
            <a:miter lim="400000"/>
          </a:ln>
        </p:spPr>
        <p:txBody>
          <a:bodyPr lIns="50800" tIns="50800" rIns="50800" bIns="50800" anchor="ctr"/>
          <a:lstStyle/>
          <a:p>
            <a:pPr>
              <a:defRPr>
                <a:solidFill>
                  <a:srgbClr val="FFFFFF"/>
                </a:solidFill>
                <a:effectLst>
                  <a:outerShdw blurRad="38100" dist="12700" dir="5400000" rotWithShape="0">
                    <a:srgbClr val="000000">
                      <a:alpha val="50000"/>
                    </a:srgbClr>
                  </a:outerShdw>
                </a:effectLst>
              </a:defRPr>
            </a:pPr>
            <a:endParaRPr/>
          </a:p>
        </p:txBody>
      </p:sp>
      <p:sp>
        <p:nvSpPr>
          <p:cNvPr id="825" name="三角形"/>
          <p:cNvSpPr/>
          <p:nvPr/>
        </p:nvSpPr>
        <p:spPr>
          <a:xfrm rot="16200000">
            <a:off x="3934871" y="1919883"/>
            <a:ext cx="144357" cy="289323"/>
          </a:xfrm>
          <a:prstGeom prst="triangle">
            <a:avLst/>
          </a:prstGeom>
          <a:solidFill>
            <a:srgbClr val="000000"/>
          </a:solidFill>
          <a:ln w="25400">
            <a:solidFill>
              <a:srgbClr val="000000"/>
            </a:solidFill>
            <a:miter lim="400000"/>
          </a:ln>
        </p:spPr>
        <p:txBody>
          <a:bodyPr lIns="50800" tIns="50800" rIns="50800" bIns="50800" anchor="ctr"/>
          <a:lstStyle/>
          <a:p>
            <a:pPr>
              <a:defRPr>
                <a:solidFill>
                  <a:srgbClr val="FFFFFF"/>
                </a:solidFill>
                <a:effectLst>
                  <a:outerShdw blurRad="38100" dist="12700" dir="5400000" rotWithShape="0">
                    <a:srgbClr val="000000">
                      <a:alpha val="50000"/>
                    </a:srgbClr>
                  </a:outerShdw>
                </a:effectLst>
              </a:defRPr>
            </a:pPr>
            <a:endParaRPr/>
          </a:p>
        </p:txBody>
      </p:sp>
      <p:sp>
        <p:nvSpPr>
          <p:cNvPr id="826" name="円形"/>
          <p:cNvSpPr/>
          <p:nvPr/>
        </p:nvSpPr>
        <p:spPr>
          <a:xfrm>
            <a:off x="3721101" y="1993901"/>
            <a:ext cx="144463" cy="144463"/>
          </a:xfrm>
          <a:prstGeom prst="ellipse">
            <a:avLst/>
          </a:prstGeom>
          <a:solidFill>
            <a:srgbClr val="000000"/>
          </a:solidFill>
          <a:ln w="25400">
            <a:solidFill>
              <a:srgbClr val="000000"/>
            </a:solidFill>
            <a:miter lim="400000"/>
          </a:ln>
        </p:spPr>
        <p:txBody>
          <a:bodyPr lIns="50800" tIns="50800" rIns="50800" bIns="50800" anchor="ctr"/>
          <a:lstStyle/>
          <a:p>
            <a:pPr>
              <a:defRPr>
                <a:solidFill>
                  <a:srgbClr val="FFFFFF"/>
                </a:solidFill>
                <a:effectLst>
                  <a:outerShdw blurRad="38100" dist="12700" dir="5400000" rotWithShape="0">
                    <a:srgbClr val="000000">
                      <a:alpha val="50000"/>
                    </a:srgbClr>
                  </a:outerShdw>
                </a:effectLst>
              </a:defRPr>
            </a:pPr>
            <a:endParaRPr/>
          </a:p>
        </p:txBody>
      </p:sp>
      <p:sp>
        <p:nvSpPr>
          <p:cNvPr id="827" name="Stable Spiral"/>
          <p:cNvSpPr/>
          <p:nvPr/>
        </p:nvSpPr>
        <p:spPr>
          <a:xfrm>
            <a:off x="3196189" y="2545954"/>
            <a:ext cx="1490793" cy="41036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lvl1pPr>
              <a:buClr>
                <a:srgbClr val="000000"/>
              </a:buClr>
              <a:buFont typeface="Arial"/>
              <a:defRPr sz="2000"/>
            </a:lvl1pPr>
          </a:lstStyle>
          <a:p>
            <a:r>
              <a:t>Stable Spiral</a:t>
            </a:r>
          </a:p>
        </p:txBody>
      </p:sp>
      <p:sp>
        <p:nvSpPr>
          <p:cNvPr id="828" name="Center"/>
          <p:cNvSpPr/>
          <p:nvPr/>
        </p:nvSpPr>
        <p:spPr>
          <a:xfrm>
            <a:off x="3454901" y="5424092"/>
            <a:ext cx="843180" cy="41036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lvl1pPr>
              <a:buClr>
                <a:srgbClr val="000000"/>
              </a:buClr>
              <a:buFont typeface="Arial"/>
              <a:defRPr sz="2000"/>
            </a:lvl1pPr>
          </a:lstStyle>
          <a:p>
            <a:r>
              <a:t>Center</a:t>
            </a:r>
          </a:p>
        </p:txBody>
      </p:sp>
      <p:sp>
        <p:nvSpPr>
          <p:cNvPr id="829" name="線"/>
          <p:cNvSpPr/>
          <p:nvPr/>
        </p:nvSpPr>
        <p:spPr>
          <a:xfrm>
            <a:off x="6743700" y="1201737"/>
            <a:ext cx="1588" cy="2016126"/>
          </a:xfrm>
          <a:prstGeom prst="line">
            <a:avLst/>
          </a:prstGeom>
          <a:ln w="38100">
            <a:solidFill>
              <a:srgbClr val="000000"/>
            </a:solidFill>
            <a:miter lim="400000"/>
          </a:ln>
        </p:spPr>
        <p:txBody>
          <a:bodyPr lIns="0" tIns="0" rIns="0" bIns="0"/>
          <a:lstStyle/>
          <a:p>
            <a:pPr defTabSz="457200">
              <a:defRPr sz="1200">
                <a:latin typeface="ヒラギノ角ゴ ProN W3"/>
                <a:ea typeface="ヒラギノ角ゴ ProN W3"/>
                <a:cs typeface="ヒラギノ角ゴ ProN W3"/>
                <a:sym typeface="ヒラギノ角ゴ ProN W3"/>
              </a:defRPr>
            </a:pPr>
            <a:endParaRPr sz="1200"/>
          </a:p>
        </p:txBody>
      </p:sp>
      <p:sp>
        <p:nvSpPr>
          <p:cNvPr id="830" name="線"/>
          <p:cNvSpPr/>
          <p:nvPr/>
        </p:nvSpPr>
        <p:spPr>
          <a:xfrm>
            <a:off x="6743700" y="3217862"/>
            <a:ext cx="3168650" cy="1588"/>
          </a:xfrm>
          <a:prstGeom prst="line">
            <a:avLst/>
          </a:prstGeom>
          <a:ln w="38100">
            <a:solidFill>
              <a:srgbClr val="000000"/>
            </a:solidFill>
            <a:miter lim="400000"/>
          </a:ln>
        </p:spPr>
        <p:txBody>
          <a:bodyPr lIns="0" tIns="0" rIns="0" bIns="0"/>
          <a:lstStyle/>
          <a:p>
            <a:pPr defTabSz="457200">
              <a:defRPr sz="1200">
                <a:latin typeface="ヒラギノ角ゴ ProN W3"/>
                <a:ea typeface="ヒラギノ角ゴ ProN W3"/>
                <a:cs typeface="ヒラギノ角ゴ ProN W3"/>
                <a:sym typeface="ヒラギノ角ゴ ProN W3"/>
              </a:defRPr>
            </a:pPr>
            <a:endParaRPr sz="1200"/>
          </a:p>
        </p:txBody>
      </p:sp>
      <p:sp>
        <p:nvSpPr>
          <p:cNvPr id="831" name="線"/>
          <p:cNvSpPr/>
          <p:nvPr/>
        </p:nvSpPr>
        <p:spPr>
          <a:xfrm>
            <a:off x="6743700" y="3675062"/>
            <a:ext cx="1588" cy="2016126"/>
          </a:xfrm>
          <a:prstGeom prst="line">
            <a:avLst/>
          </a:prstGeom>
          <a:ln w="38100">
            <a:solidFill>
              <a:srgbClr val="000000"/>
            </a:solidFill>
            <a:miter lim="400000"/>
          </a:ln>
        </p:spPr>
        <p:txBody>
          <a:bodyPr lIns="0" tIns="0" rIns="0" bIns="0"/>
          <a:lstStyle/>
          <a:p>
            <a:pPr defTabSz="457200">
              <a:defRPr sz="1200">
                <a:latin typeface="ヒラギノ角ゴ ProN W3"/>
                <a:ea typeface="ヒラギノ角ゴ ProN W3"/>
                <a:cs typeface="ヒラギノ角ゴ ProN W3"/>
                <a:sym typeface="ヒラギノ角ゴ ProN W3"/>
              </a:defRPr>
            </a:pPr>
            <a:endParaRPr sz="1200"/>
          </a:p>
        </p:txBody>
      </p:sp>
      <p:sp>
        <p:nvSpPr>
          <p:cNvPr id="832" name="線"/>
          <p:cNvSpPr/>
          <p:nvPr/>
        </p:nvSpPr>
        <p:spPr>
          <a:xfrm>
            <a:off x="6743700" y="5691187"/>
            <a:ext cx="3168650" cy="1588"/>
          </a:xfrm>
          <a:prstGeom prst="line">
            <a:avLst/>
          </a:prstGeom>
          <a:ln w="38100">
            <a:solidFill>
              <a:srgbClr val="000000"/>
            </a:solidFill>
            <a:miter lim="400000"/>
          </a:ln>
        </p:spPr>
        <p:txBody>
          <a:bodyPr lIns="0" tIns="0" rIns="0" bIns="0"/>
          <a:lstStyle/>
          <a:p>
            <a:pPr defTabSz="457200">
              <a:defRPr sz="1200">
                <a:latin typeface="ヒラギノ角ゴ ProN W3"/>
                <a:ea typeface="ヒラギノ角ゴ ProN W3"/>
                <a:cs typeface="ヒラギノ角ゴ ProN W3"/>
                <a:sym typeface="ヒラギノ角ゴ ProN W3"/>
              </a:defRPr>
            </a:pPr>
            <a:endParaRPr sz="1200"/>
          </a:p>
        </p:txBody>
      </p:sp>
      <p:sp>
        <p:nvSpPr>
          <p:cNvPr id="833" name="双方向矢印"/>
          <p:cNvSpPr/>
          <p:nvPr/>
        </p:nvSpPr>
        <p:spPr>
          <a:xfrm>
            <a:off x="5375276" y="1778001"/>
            <a:ext cx="720725" cy="792163"/>
          </a:xfrm>
          <a:prstGeom prst="leftRightArrow">
            <a:avLst>
              <a:gd name="adj1" fmla="val 50000"/>
              <a:gd name="adj2" fmla="val 20000"/>
            </a:avLst>
          </a:prstGeom>
          <a:blipFill>
            <a:blip r:embed="rId2"/>
          </a:blipFill>
          <a:ln w="25400">
            <a:solidFill>
              <a:srgbClr val="000000"/>
            </a:solidFill>
            <a:miter lim="400000"/>
          </a:ln>
        </p:spPr>
        <p:txBody>
          <a:bodyPr lIns="50800" tIns="50800" rIns="50800" bIns="50800" anchor="ctr"/>
          <a:lstStyle/>
          <a:p>
            <a:pPr>
              <a:defRPr>
                <a:solidFill>
                  <a:srgbClr val="FFFFFF"/>
                </a:solidFill>
                <a:effectLst>
                  <a:outerShdw blurRad="38100" dist="12700" dir="5400000" rotWithShape="0">
                    <a:srgbClr val="000000">
                      <a:alpha val="50000"/>
                    </a:srgbClr>
                  </a:outerShdw>
                </a:effectLst>
              </a:defRPr>
            </a:pPr>
            <a:endParaRPr/>
          </a:p>
        </p:txBody>
      </p:sp>
      <p:sp>
        <p:nvSpPr>
          <p:cNvPr id="834" name="双方向矢印"/>
          <p:cNvSpPr/>
          <p:nvPr/>
        </p:nvSpPr>
        <p:spPr>
          <a:xfrm>
            <a:off x="5375276" y="4035426"/>
            <a:ext cx="720725" cy="792163"/>
          </a:xfrm>
          <a:prstGeom prst="leftRightArrow">
            <a:avLst>
              <a:gd name="adj1" fmla="val 50000"/>
              <a:gd name="adj2" fmla="val 20000"/>
            </a:avLst>
          </a:prstGeom>
          <a:blipFill>
            <a:blip r:embed="rId2"/>
          </a:blipFill>
          <a:ln w="25400">
            <a:solidFill>
              <a:srgbClr val="000000"/>
            </a:solidFill>
            <a:miter lim="400000"/>
          </a:ln>
        </p:spPr>
        <p:txBody>
          <a:bodyPr lIns="50800" tIns="50800" rIns="50800" bIns="50800" anchor="ctr"/>
          <a:lstStyle/>
          <a:p>
            <a:pPr>
              <a:defRPr>
                <a:solidFill>
                  <a:srgbClr val="FFFFFF"/>
                </a:solidFill>
                <a:effectLst>
                  <a:outerShdw blurRad="38100" dist="12700" dir="5400000" rotWithShape="0">
                    <a:srgbClr val="000000">
                      <a:alpha val="50000"/>
                    </a:srgbClr>
                  </a:outerShdw>
                </a:effectLst>
              </a:defRPr>
            </a:pPr>
            <a:endParaRPr/>
          </a:p>
        </p:txBody>
      </p:sp>
      <p:sp>
        <p:nvSpPr>
          <p:cNvPr id="835" name="time"/>
          <p:cNvSpPr/>
          <p:nvPr/>
        </p:nvSpPr>
        <p:spPr>
          <a:xfrm>
            <a:off x="9194748" y="3196343"/>
            <a:ext cx="527388" cy="37959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lvl1pPr>
              <a:buClr>
                <a:srgbClr val="000000"/>
              </a:buClr>
              <a:buFont typeface="Arial"/>
            </a:lvl1pPr>
          </a:lstStyle>
          <a:p>
            <a:r>
              <a:t>time</a:t>
            </a:r>
          </a:p>
        </p:txBody>
      </p:sp>
      <p:sp>
        <p:nvSpPr>
          <p:cNvPr id="836" name="time"/>
          <p:cNvSpPr/>
          <p:nvPr/>
        </p:nvSpPr>
        <p:spPr>
          <a:xfrm>
            <a:off x="9205861" y="5726818"/>
            <a:ext cx="527388" cy="37959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lvl1pPr>
              <a:buClr>
                <a:srgbClr val="000000"/>
              </a:buClr>
              <a:buFont typeface="Arial"/>
            </a:lvl1pPr>
          </a:lstStyle>
          <a:p>
            <a:r>
              <a:t>time</a:t>
            </a:r>
          </a:p>
        </p:txBody>
      </p:sp>
      <p:sp>
        <p:nvSpPr>
          <p:cNvPr id="837" name="三角関数"/>
          <p:cNvSpPr/>
          <p:nvPr/>
        </p:nvSpPr>
        <p:spPr>
          <a:xfrm>
            <a:off x="8094890" y="5261680"/>
            <a:ext cx="1025922" cy="37959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lvl1pPr>
              <a:buClr>
                <a:srgbClr val="000000"/>
              </a:buClr>
              <a:buFont typeface="Arial"/>
            </a:lvl1pPr>
          </a:lstStyle>
          <a:p>
            <a:r>
              <a:t>三角関数</a:t>
            </a:r>
          </a:p>
        </p:txBody>
      </p:sp>
      <p:sp>
        <p:nvSpPr>
          <p:cNvPr id="838" name="減衰振動"/>
          <p:cNvSpPr/>
          <p:nvPr/>
        </p:nvSpPr>
        <p:spPr>
          <a:xfrm>
            <a:off x="8072609" y="2775655"/>
            <a:ext cx="1025922" cy="37959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lvl1pPr>
              <a:buClr>
                <a:srgbClr val="000000"/>
              </a:buClr>
              <a:buFont typeface="Arial"/>
            </a:lvl1pPr>
          </a:lstStyle>
          <a:p>
            <a:r>
              <a:t>減衰振動</a:t>
            </a:r>
          </a:p>
        </p:txBody>
      </p:sp>
      <p:sp>
        <p:nvSpPr>
          <p:cNvPr id="839" name="線"/>
          <p:cNvSpPr/>
          <p:nvPr/>
        </p:nvSpPr>
        <p:spPr>
          <a:xfrm>
            <a:off x="6743700" y="3885631"/>
            <a:ext cx="2952750" cy="1244412"/>
          </a:xfrm>
          <a:custGeom>
            <a:avLst/>
            <a:gdLst/>
            <a:ahLst/>
            <a:cxnLst>
              <a:cxn ang="0">
                <a:pos x="wd2" y="hd2"/>
              </a:cxn>
              <a:cxn ang="5400000">
                <a:pos x="wd2" y="hd2"/>
              </a:cxn>
              <a:cxn ang="10800000">
                <a:pos x="wd2" y="hd2"/>
              </a:cxn>
              <a:cxn ang="16200000">
                <a:pos x="wd2" y="hd2"/>
              </a:cxn>
            </a:cxnLst>
            <a:rect l="0" t="0" r="r" b="b"/>
            <a:pathLst>
              <a:path w="21600" h="19484" extrusionOk="0">
                <a:moveTo>
                  <a:pt x="0" y="13605"/>
                </a:moveTo>
                <a:cubicBezTo>
                  <a:pt x="917" y="6372"/>
                  <a:pt x="1835" y="-861"/>
                  <a:pt x="3159" y="84"/>
                </a:cubicBezTo>
                <a:cubicBezTo>
                  <a:pt x="4483" y="1028"/>
                  <a:pt x="6329" y="19248"/>
                  <a:pt x="7908" y="19248"/>
                </a:cubicBezTo>
                <a:cubicBezTo>
                  <a:pt x="9488" y="19248"/>
                  <a:pt x="10986" y="84"/>
                  <a:pt x="12646" y="84"/>
                </a:cubicBezTo>
                <a:cubicBezTo>
                  <a:pt x="14307" y="84"/>
                  <a:pt x="16421" y="17756"/>
                  <a:pt x="17907" y="19248"/>
                </a:cubicBezTo>
                <a:cubicBezTo>
                  <a:pt x="19394" y="20739"/>
                  <a:pt x="20497" y="14923"/>
                  <a:pt x="21600" y="9106"/>
                </a:cubicBezTo>
              </a:path>
            </a:pathLst>
          </a:custGeom>
          <a:ln w="25400">
            <a:solidFill>
              <a:srgbClr val="000000"/>
            </a:solidFill>
            <a:miter lim="400000"/>
          </a:ln>
        </p:spPr>
        <p:txBody>
          <a:bodyPr lIns="50800" tIns="50800" rIns="50800" bIns="50800" anchor="ctr"/>
          <a:lstStyle/>
          <a:p>
            <a:pPr>
              <a:defRPr>
                <a:solidFill>
                  <a:srgbClr val="FFFFFF"/>
                </a:solidFill>
                <a:effectLst>
                  <a:outerShdw blurRad="38100" dist="12700" dir="5400000" rotWithShape="0">
                    <a:srgbClr val="000000">
                      <a:alpha val="50000"/>
                    </a:srgbClr>
                  </a:outerShdw>
                </a:effectLst>
              </a:defRPr>
            </a:pPr>
            <a:endParaRPr/>
          </a:p>
        </p:txBody>
      </p:sp>
      <p:sp>
        <p:nvSpPr>
          <p:cNvPr id="840" name="線"/>
          <p:cNvSpPr/>
          <p:nvPr/>
        </p:nvSpPr>
        <p:spPr>
          <a:xfrm>
            <a:off x="6743700" y="1410244"/>
            <a:ext cx="3024188" cy="1235784"/>
          </a:xfrm>
          <a:custGeom>
            <a:avLst/>
            <a:gdLst/>
            <a:ahLst/>
            <a:cxnLst>
              <a:cxn ang="0">
                <a:pos x="wd2" y="hd2"/>
              </a:cxn>
              <a:cxn ang="5400000">
                <a:pos x="wd2" y="hd2"/>
              </a:cxn>
              <a:cxn ang="10800000">
                <a:pos x="wd2" y="hd2"/>
              </a:cxn>
              <a:cxn ang="16200000">
                <a:pos x="wd2" y="hd2"/>
              </a:cxn>
            </a:cxnLst>
            <a:rect l="0" t="0" r="r" b="b"/>
            <a:pathLst>
              <a:path w="21600" h="19349" extrusionOk="0">
                <a:moveTo>
                  <a:pt x="0" y="13637"/>
                </a:moveTo>
                <a:cubicBezTo>
                  <a:pt x="896" y="13637"/>
                  <a:pt x="1803" y="13637"/>
                  <a:pt x="2574" y="11375"/>
                </a:cubicBezTo>
                <a:cubicBezTo>
                  <a:pt x="3345" y="9113"/>
                  <a:pt x="3776" y="-1202"/>
                  <a:pt x="4626" y="115"/>
                </a:cubicBezTo>
                <a:cubicBezTo>
                  <a:pt x="5477" y="1433"/>
                  <a:pt x="6860" y="18161"/>
                  <a:pt x="7722" y="19279"/>
                </a:cubicBezTo>
                <a:cubicBezTo>
                  <a:pt x="8583" y="20398"/>
                  <a:pt x="9003" y="7622"/>
                  <a:pt x="9774" y="6876"/>
                </a:cubicBezTo>
                <a:cubicBezTo>
                  <a:pt x="10545" y="6131"/>
                  <a:pt x="11316" y="14010"/>
                  <a:pt x="12348" y="14756"/>
                </a:cubicBezTo>
                <a:cubicBezTo>
                  <a:pt x="13380" y="15501"/>
                  <a:pt x="14740" y="11549"/>
                  <a:pt x="15942" y="11375"/>
                </a:cubicBezTo>
                <a:cubicBezTo>
                  <a:pt x="17144" y="11201"/>
                  <a:pt x="18607" y="13438"/>
                  <a:pt x="19548" y="13637"/>
                </a:cubicBezTo>
                <a:cubicBezTo>
                  <a:pt x="20489" y="13836"/>
                  <a:pt x="21044" y="13165"/>
                  <a:pt x="21600" y="12519"/>
                </a:cubicBezTo>
              </a:path>
            </a:pathLst>
          </a:custGeom>
          <a:ln w="25400">
            <a:solidFill>
              <a:srgbClr val="000000"/>
            </a:solidFill>
            <a:miter lim="400000"/>
          </a:ln>
        </p:spPr>
        <p:txBody>
          <a:bodyPr lIns="50800" tIns="50800" rIns="50800" bIns="50800" anchor="ctr"/>
          <a:lstStyle/>
          <a:p>
            <a:pPr>
              <a:defRPr>
                <a:solidFill>
                  <a:srgbClr val="FFFFFF"/>
                </a:solidFill>
                <a:effectLst>
                  <a:outerShdw blurRad="38100" dist="12700" dir="5400000" rotWithShape="0">
                    <a:srgbClr val="000000">
                      <a:alpha val="50000"/>
                    </a:srgbClr>
                  </a:outerShdw>
                </a:effectLst>
              </a:defRPr>
            </a:pPr>
            <a:endParaRPr/>
          </a:p>
        </p:txBody>
      </p:sp>
      <p:pic>
        <p:nvPicPr>
          <p:cNvPr id="841" name="image.pdf" descr="image.pdf"/>
          <p:cNvPicPr>
            <a:picLocks/>
          </p:cNvPicPr>
          <p:nvPr/>
        </p:nvPicPr>
        <p:blipFill>
          <a:blip r:embed="rId3"/>
          <a:stretch>
            <a:fillRect/>
          </a:stretch>
        </p:blipFill>
        <p:spPr>
          <a:xfrm>
            <a:off x="2244725" y="5884863"/>
            <a:ext cx="2844800" cy="800101"/>
          </a:xfrm>
          <a:prstGeom prst="rect">
            <a:avLst/>
          </a:prstGeom>
          <a:ln w="12700">
            <a:miter lim="400000"/>
          </a:ln>
        </p:spPr>
      </p:pic>
      <p:sp>
        <p:nvSpPr>
          <p:cNvPr id="842" name="固有値の虚数部分が三角関数になる"/>
          <p:cNvSpPr/>
          <p:nvPr/>
        </p:nvSpPr>
        <p:spPr>
          <a:xfrm>
            <a:off x="5386833" y="6202938"/>
            <a:ext cx="5027017" cy="47192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lvl1pPr>
              <a:defRPr sz="2400"/>
            </a:lvl1pPr>
          </a:lstStyle>
          <a:p>
            <a:r>
              <a:t>固有値の虚数部分が三角関数になる</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C49774-2979-8F73-AA32-7F3992CD089C}"/>
            </a:ext>
          </a:extLst>
        </p:cNvPr>
        <p:cNvGrpSpPr/>
        <p:nvPr/>
      </p:nvGrpSpPr>
      <p:grpSpPr>
        <a:xfrm>
          <a:off x="0" y="0"/>
          <a:ext cx="0" cy="0"/>
          <a:chOff x="0" y="0"/>
          <a:chExt cx="0" cy="0"/>
        </a:xfrm>
      </p:grpSpPr>
      <p:sp>
        <p:nvSpPr>
          <p:cNvPr id="647" name="演習5: Sel’kovモデルの固定点の分類">
            <a:extLst>
              <a:ext uri="{FF2B5EF4-FFF2-40B4-BE49-F238E27FC236}">
                <a16:creationId xmlns:a16="http://schemas.microsoft.com/office/drawing/2014/main" id="{443F65BB-8E3A-B8FD-1FB9-BA826C686C37}"/>
              </a:ext>
            </a:extLst>
          </p:cNvPr>
          <p:cNvSpPr txBox="1">
            <a:spLocks noGrp="1"/>
          </p:cNvSpPr>
          <p:nvPr>
            <p:ph type="title"/>
          </p:nvPr>
        </p:nvSpPr>
        <p:spPr>
          <a:prstGeom prst="rect">
            <a:avLst/>
          </a:prstGeom>
        </p:spPr>
        <p:txBody>
          <a:bodyPr/>
          <a:lstStyle/>
          <a:p>
            <a:r>
              <a:t>演習5: Sel’kovモデルの固定点の分類</a:t>
            </a:r>
          </a:p>
        </p:txBody>
      </p:sp>
      <p:sp>
        <p:nvSpPr>
          <p:cNvPr id="640" name="Sel’kovモデルのヤコビ行列の固有値を虚実・正負を調べ、固定点を分類しなさい(紙と鉛筆)。ただし、a=0.06, b=0.6とする。…">
            <a:extLst>
              <a:ext uri="{FF2B5EF4-FFF2-40B4-BE49-F238E27FC236}">
                <a16:creationId xmlns:a16="http://schemas.microsoft.com/office/drawing/2014/main" id="{FB72CC88-BFC0-F401-F2F5-D1302608A5D9}"/>
              </a:ext>
            </a:extLst>
          </p:cNvPr>
          <p:cNvSpPr txBox="1">
            <a:spLocks noGrp="1"/>
          </p:cNvSpPr>
          <p:nvPr>
            <p:ph type="body" idx="4294967295"/>
          </p:nvPr>
        </p:nvSpPr>
        <p:spPr>
          <a:xfrm>
            <a:off x="1108362" y="1821873"/>
            <a:ext cx="10210801" cy="2473036"/>
          </a:xfrm>
          <a:prstGeom prst="rect">
            <a:avLst/>
          </a:prstGeom>
        </p:spPr>
        <p:txBody>
          <a:bodyPr>
            <a:noAutofit/>
          </a:bodyPr>
          <a:lstStyle/>
          <a:p>
            <a:pPr marL="544424" indent="-514350" defTabSz="300736">
              <a:lnSpc>
                <a:spcPct val="90000"/>
              </a:lnSpc>
              <a:spcBef>
                <a:spcPts val="1200"/>
              </a:spcBef>
              <a:buClr>
                <a:srgbClr val="000000"/>
              </a:buClr>
              <a:buSzPct val="100000"/>
              <a:buFont typeface="+mj-lt"/>
              <a:buAutoNum type="arabicPeriod"/>
              <a:defRPr sz="1332"/>
            </a:pPr>
            <a:r>
              <a:rPr sz="2800" dirty="0" err="1"/>
              <a:t>Sel’kovモデルのヤコビ行列の固有値を虚実・正負を調べ、固定点を分類しなさい。ただし、a</a:t>
            </a:r>
            <a:r>
              <a:rPr sz="2800" dirty="0"/>
              <a:t>=0.06, b=0.6とする。</a:t>
            </a:r>
            <a:endParaRPr lang="en-US" sz="2800" dirty="0"/>
          </a:p>
          <a:p>
            <a:pPr marL="544424" indent="-514350" defTabSz="300736">
              <a:lnSpc>
                <a:spcPct val="90000"/>
              </a:lnSpc>
              <a:spcBef>
                <a:spcPts val="1200"/>
              </a:spcBef>
              <a:buClr>
                <a:srgbClr val="000000"/>
              </a:buClr>
              <a:buSzPct val="100000"/>
              <a:buFont typeface="+mj-lt"/>
              <a:buAutoNum type="arabicPeriod"/>
              <a:defRPr sz="1332"/>
            </a:pPr>
            <a:endParaRPr lang="en-US" altLang="ja-JP" sz="2800" dirty="0"/>
          </a:p>
          <a:p>
            <a:pPr marL="544424" indent="-514350" defTabSz="300736">
              <a:lnSpc>
                <a:spcPct val="90000"/>
              </a:lnSpc>
              <a:spcBef>
                <a:spcPts val="1200"/>
              </a:spcBef>
              <a:buClr>
                <a:srgbClr val="000000"/>
              </a:buClr>
              <a:buSzPct val="100000"/>
              <a:buFont typeface="+mj-lt"/>
              <a:buAutoNum type="arabicPeriod"/>
              <a:defRPr sz="1332"/>
            </a:pPr>
            <a:r>
              <a:rPr lang="ja-JP" altLang="en-US" sz="2800"/>
              <a:t>この固定点は安定か、それとも不安定か答えなさい。</a:t>
            </a:r>
            <a:endParaRPr sz="2800" dirty="0"/>
          </a:p>
          <a:p>
            <a:pPr marL="283819" indent="-253745" defTabSz="300736">
              <a:lnSpc>
                <a:spcPct val="90000"/>
              </a:lnSpc>
              <a:spcBef>
                <a:spcPts val="1200"/>
              </a:spcBef>
              <a:buClr>
                <a:srgbClr val="000000"/>
              </a:buClr>
              <a:buSzPct val="100000"/>
              <a:buFont typeface="Arial"/>
              <a:defRPr sz="1776"/>
            </a:pPr>
            <a:endParaRPr sz="2800" dirty="0"/>
          </a:p>
          <a:p>
            <a:pPr marL="283819" indent="-253745" defTabSz="300736">
              <a:lnSpc>
                <a:spcPct val="90000"/>
              </a:lnSpc>
              <a:spcBef>
                <a:spcPts val="1200"/>
              </a:spcBef>
              <a:buClr>
                <a:srgbClr val="000000"/>
              </a:buClr>
              <a:buSzPct val="100000"/>
              <a:buFont typeface="Arial"/>
              <a:defRPr sz="1776"/>
            </a:pPr>
            <a:endParaRPr sz="2800" dirty="0"/>
          </a:p>
        </p:txBody>
      </p:sp>
    </p:spTree>
    <p:extLst>
      <p:ext uri="{BB962C8B-B14F-4D97-AF65-F5344CB8AC3E}">
        <p14:creationId xmlns:p14="http://schemas.microsoft.com/office/powerpoint/2010/main" val="296187529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D091C5-63BC-A413-814C-BAFDF5D8338D}"/>
            </a:ext>
          </a:extLst>
        </p:cNvPr>
        <p:cNvGrpSpPr/>
        <p:nvPr/>
      </p:nvGrpSpPr>
      <p:grpSpPr>
        <a:xfrm>
          <a:off x="0" y="0"/>
          <a:ext cx="0" cy="0"/>
          <a:chOff x="0" y="0"/>
          <a:chExt cx="0" cy="0"/>
        </a:xfrm>
      </p:grpSpPr>
      <p:sp>
        <p:nvSpPr>
          <p:cNvPr id="709" name="固定点を回る周期解の正体">
            <a:extLst>
              <a:ext uri="{FF2B5EF4-FFF2-40B4-BE49-F238E27FC236}">
                <a16:creationId xmlns:a16="http://schemas.microsoft.com/office/drawing/2014/main" id="{5E043FE4-CCB8-BED2-140E-13D89FE37229}"/>
              </a:ext>
            </a:extLst>
          </p:cNvPr>
          <p:cNvSpPr txBox="1">
            <a:spLocks noGrp="1"/>
          </p:cNvSpPr>
          <p:nvPr>
            <p:ph type="title"/>
          </p:nvPr>
        </p:nvSpPr>
        <p:spPr>
          <a:prstGeom prst="rect">
            <a:avLst/>
          </a:prstGeom>
        </p:spPr>
        <p:txBody>
          <a:bodyPr/>
          <a:lstStyle/>
          <a:p>
            <a:r>
              <a:t>固定点を回る周期解の正体</a:t>
            </a:r>
          </a:p>
        </p:txBody>
      </p:sp>
      <p:sp>
        <p:nvSpPr>
          <p:cNvPr id="688" name="リミットサイクル (limit cycle)…">
            <a:extLst>
              <a:ext uri="{FF2B5EF4-FFF2-40B4-BE49-F238E27FC236}">
                <a16:creationId xmlns:a16="http://schemas.microsoft.com/office/drawing/2014/main" id="{8207D5BF-4BDE-9329-333B-88BC8266A278}"/>
              </a:ext>
            </a:extLst>
          </p:cNvPr>
          <p:cNvSpPr txBox="1">
            <a:spLocks noGrp="1"/>
          </p:cNvSpPr>
          <p:nvPr>
            <p:ph type="body" idx="4294967295"/>
          </p:nvPr>
        </p:nvSpPr>
        <p:spPr>
          <a:xfrm>
            <a:off x="247650" y="1400175"/>
            <a:ext cx="8575670" cy="5351463"/>
          </a:xfrm>
          <a:prstGeom prst="rect">
            <a:avLst/>
          </a:prstGeom>
        </p:spPr>
        <p:txBody>
          <a:bodyPr>
            <a:noAutofit/>
          </a:bodyPr>
          <a:lstStyle/>
          <a:p>
            <a:pPr marL="268477" indent="-240029" defTabSz="284479">
              <a:lnSpc>
                <a:spcPct val="90000"/>
              </a:lnSpc>
              <a:spcBef>
                <a:spcPts val="1100"/>
              </a:spcBef>
              <a:buClr>
                <a:srgbClr val="000000"/>
              </a:buClr>
              <a:buSzPct val="100000"/>
              <a:buFont typeface="Arial"/>
              <a:defRPr sz="1679"/>
            </a:pPr>
            <a:r>
              <a:rPr sz="2800" dirty="0" err="1"/>
              <a:t>リミットサイクル</a:t>
            </a:r>
            <a:r>
              <a:rPr sz="2800" dirty="0"/>
              <a:t> (limit cycle)</a:t>
            </a:r>
          </a:p>
          <a:p>
            <a:pPr marL="548512" lvl="1" indent="-200025" defTabSz="284479">
              <a:lnSpc>
                <a:spcPct val="90000"/>
              </a:lnSpc>
              <a:spcBef>
                <a:spcPts val="1100"/>
              </a:spcBef>
              <a:buClr>
                <a:srgbClr val="000000"/>
              </a:buClr>
              <a:buSzPct val="100000"/>
              <a:buFont typeface="Arial"/>
              <a:defRPr sz="1679"/>
            </a:pPr>
            <a:r>
              <a:rPr sz="2400" dirty="0" err="1"/>
              <a:t>閉曲線になっている解軌道</a:t>
            </a:r>
            <a:r>
              <a:rPr sz="2400" dirty="0"/>
              <a:t>(trajectory)</a:t>
            </a:r>
            <a:r>
              <a:rPr sz="2400" dirty="0" err="1"/>
              <a:t>のこと</a:t>
            </a:r>
            <a:endParaRPr sz="2400" dirty="0"/>
          </a:p>
          <a:p>
            <a:pPr marL="548512" lvl="1" indent="-200025" defTabSz="284479">
              <a:lnSpc>
                <a:spcPct val="90000"/>
              </a:lnSpc>
              <a:spcBef>
                <a:spcPts val="1100"/>
              </a:spcBef>
              <a:buClr>
                <a:srgbClr val="000000"/>
              </a:buClr>
              <a:buSzPct val="100000"/>
              <a:buFont typeface="Arial"/>
              <a:defRPr sz="1679"/>
            </a:pPr>
            <a:r>
              <a:rPr sz="2400" dirty="0" err="1"/>
              <a:t>非線形現象</a:t>
            </a:r>
            <a:endParaRPr sz="2400" dirty="0"/>
          </a:p>
          <a:p>
            <a:pPr marL="548512" lvl="1" indent="-200025" defTabSz="284479">
              <a:lnSpc>
                <a:spcPct val="90000"/>
              </a:lnSpc>
              <a:spcBef>
                <a:spcPts val="1100"/>
              </a:spcBef>
              <a:buClr>
                <a:srgbClr val="000000"/>
              </a:buClr>
              <a:buSzPct val="100000"/>
              <a:buFont typeface="Arial"/>
              <a:defRPr sz="1679"/>
            </a:pPr>
            <a:r>
              <a:rPr sz="2400" dirty="0"/>
              <a:t>Center (</a:t>
            </a:r>
            <a:r>
              <a:rPr sz="2400" dirty="0" err="1"/>
              <a:t>純虚数の固有値</a:t>
            </a:r>
            <a:r>
              <a:rPr sz="2400" dirty="0"/>
              <a:t>) </a:t>
            </a:r>
            <a:r>
              <a:rPr sz="2400" dirty="0" err="1"/>
              <a:t>とは異なる</a:t>
            </a:r>
            <a:endParaRPr sz="2400" dirty="0"/>
          </a:p>
          <a:p>
            <a:pPr marL="268477" indent="-240029" defTabSz="284479">
              <a:lnSpc>
                <a:spcPct val="90000"/>
              </a:lnSpc>
              <a:spcBef>
                <a:spcPts val="1100"/>
              </a:spcBef>
              <a:buClr>
                <a:srgbClr val="000000"/>
              </a:buClr>
              <a:buSzPct val="100000"/>
              <a:buFont typeface="Arial"/>
              <a:defRPr sz="1679"/>
            </a:pPr>
            <a:endParaRPr sz="2800" dirty="0"/>
          </a:p>
          <a:p>
            <a:pPr marL="268477" indent="-240029" defTabSz="284479">
              <a:lnSpc>
                <a:spcPct val="90000"/>
              </a:lnSpc>
              <a:spcBef>
                <a:spcPts val="1100"/>
              </a:spcBef>
              <a:buClr>
                <a:srgbClr val="000000"/>
              </a:buClr>
              <a:buSzPct val="100000"/>
              <a:buFont typeface="Arial"/>
              <a:defRPr sz="1679"/>
            </a:pPr>
            <a:r>
              <a:rPr sz="2800" dirty="0" err="1"/>
              <a:t>隣接する軌道は閉曲線ではない</a:t>
            </a:r>
            <a:endParaRPr sz="2800" dirty="0"/>
          </a:p>
          <a:p>
            <a:pPr marL="548512" lvl="1" indent="-200025" defTabSz="284479">
              <a:lnSpc>
                <a:spcPct val="90000"/>
              </a:lnSpc>
              <a:spcBef>
                <a:spcPts val="1100"/>
              </a:spcBef>
              <a:buClr>
                <a:srgbClr val="000000"/>
              </a:buClr>
              <a:buSzPct val="100000"/>
              <a:buFont typeface="Arial"/>
              <a:defRPr sz="1679"/>
            </a:pPr>
            <a:r>
              <a:rPr sz="2400" dirty="0" err="1"/>
              <a:t>Centerとはこの点で異なる</a:t>
            </a:r>
            <a:endParaRPr sz="2400" dirty="0"/>
          </a:p>
          <a:p>
            <a:pPr marL="268477" indent="-240029" defTabSz="284479">
              <a:lnSpc>
                <a:spcPct val="90000"/>
              </a:lnSpc>
              <a:spcBef>
                <a:spcPts val="1100"/>
              </a:spcBef>
              <a:buClr>
                <a:srgbClr val="000000"/>
              </a:buClr>
              <a:buSzPct val="100000"/>
              <a:buFont typeface="Arial"/>
              <a:defRPr sz="1679"/>
            </a:pPr>
            <a:endParaRPr sz="2800" dirty="0"/>
          </a:p>
          <a:p>
            <a:pPr marL="268477" indent="-240029" defTabSz="284479">
              <a:lnSpc>
                <a:spcPct val="90000"/>
              </a:lnSpc>
              <a:spcBef>
                <a:spcPts val="1100"/>
              </a:spcBef>
              <a:buClr>
                <a:srgbClr val="000000"/>
              </a:buClr>
              <a:buSzPct val="100000"/>
              <a:buFont typeface="Arial"/>
              <a:defRPr sz="1679"/>
            </a:pPr>
            <a:r>
              <a:rPr sz="2800" dirty="0" err="1"/>
              <a:t>生物学</a:t>
            </a:r>
            <a:r>
              <a:rPr lang="ja-JP" altLang="en-US" sz="2800"/>
              <a:t>では</a:t>
            </a:r>
            <a:r>
              <a:rPr sz="2800" dirty="0" err="1"/>
              <a:t>振動現象</a:t>
            </a:r>
            <a:r>
              <a:rPr lang="en-US" sz="2800" dirty="0"/>
              <a:t>、</a:t>
            </a:r>
            <a:r>
              <a:rPr lang="ja-JP" altLang="en-US" sz="2800"/>
              <a:t>マクロ経済学では景気循環</a:t>
            </a:r>
            <a:endParaRPr sz="2800" dirty="0"/>
          </a:p>
        </p:txBody>
      </p:sp>
      <p:sp>
        <p:nvSpPr>
          <p:cNvPr id="689" name="楕円">
            <a:extLst>
              <a:ext uri="{FF2B5EF4-FFF2-40B4-BE49-F238E27FC236}">
                <a16:creationId xmlns:a16="http://schemas.microsoft.com/office/drawing/2014/main" id="{1C16A06B-FB9B-710B-221D-8D109F9FC30C}"/>
              </a:ext>
            </a:extLst>
          </p:cNvPr>
          <p:cNvSpPr/>
          <p:nvPr/>
        </p:nvSpPr>
        <p:spPr>
          <a:xfrm>
            <a:off x="8809038" y="4162426"/>
            <a:ext cx="2520951" cy="1895475"/>
          </a:xfrm>
          <a:prstGeom prst="ellipse">
            <a:avLst/>
          </a:prstGeom>
          <a:ln w="25400">
            <a:solidFill>
              <a:srgbClr val="000000"/>
            </a:solidFill>
            <a:miter lim="400000"/>
          </a:ln>
        </p:spPr>
        <p:txBody>
          <a:bodyPr lIns="50800" tIns="50800" rIns="50800" bIns="50800" anchor="ctr"/>
          <a:lstStyle/>
          <a:p>
            <a:pPr>
              <a:defRPr>
                <a:solidFill>
                  <a:srgbClr val="FFFFFF"/>
                </a:solidFill>
                <a:effectLst>
                  <a:outerShdw blurRad="38100" dist="12700" dir="5400000" rotWithShape="0">
                    <a:srgbClr val="000000">
                      <a:alpha val="50000"/>
                    </a:srgbClr>
                  </a:outerShdw>
                </a:effectLst>
              </a:defRPr>
            </a:pPr>
            <a:endParaRPr/>
          </a:p>
        </p:txBody>
      </p:sp>
      <p:sp>
        <p:nvSpPr>
          <p:cNvPr id="690" name="楕円">
            <a:extLst>
              <a:ext uri="{FF2B5EF4-FFF2-40B4-BE49-F238E27FC236}">
                <a16:creationId xmlns:a16="http://schemas.microsoft.com/office/drawing/2014/main" id="{47B7A868-C681-1067-2A87-6840537D8D39}"/>
              </a:ext>
            </a:extLst>
          </p:cNvPr>
          <p:cNvSpPr/>
          <p:nvPr/>
        </p:nvSpPr>
        <p:spPr>
          <a:xfrm>
            <a:off x="9024937" y="4400550"/>
            <a:ext cx="2033588" cy="1441450"/>
          </a:xfrm>
          <a:prstGeom prst="ellipse">
            <a:avLst/>
          </a:prstGeom>
          <a:ln w="25400">
            <a:solidFill>
              <a:srgbClr val="000000"/>
            </a:solidFill>
            <a:miter lim="400000"/>
          </a:ln>
        </p:spPr>
        <p:txBody>
          <a:bodyPr lIns="50800" tIns="50800" rIns="50800" bIns="50800" anchor="ctr"/>
          <a:lstStyle/>
          <a:p>
            <a:pPr>
              <a:defRPr>
                <a:solidFill>
                  <a:srgbClr val="FFFFFF"/>
                </a:solidFill>
                <a:effectLst>
                  <a:outerShdw blurRad="38100" dist="12700" dir="5400000" rotWithShape="0">
                    <a:srgbClr val="000000">
                      <a:alpha val="50000"/>
                    </a:srgbClr>
                  </a:outerShdw>
                </a:effectLst>
              </a:defRPr>
            </a:pPr>
            <a:endParaRPr/>
          </a:p>
        </p:txBody>
      </p:sp>
      <p:sp>
        <p:nvSpPr>
          <p:cNvPr id="691" name="楕円">
            <a:extLst>
              <a:ext uri="{FF2B5EF4-FFF2-40B4-BE49-F238E27FC236}">
                <a16:creationId xmlns:a16="http://schemas.microsoft.com/office/drawing/2014/main" id="{35245687-2C78-9073-24D2-327CA75F644A}"/>
              </a:ext>
            </a:extLst>
          </p:cNvPr>
          <p:cNvSpPr/>
          <p:nvPr/>
        </p:nvSpPr>
        <p:spPr>
          <a:xfrm>
            <a:off x="9282113" y="4643438"/>
            <a:ext cx="1543051" cy="982663"/>
          </a:xfrm>
          <a:prstGeom prst="ellipse">
            <a:avLst/>
          </a:prstGeom>
          <a:ln w="25400">
            <a:solidFill>
              <a:srgbClr val="000000"/>
            </a:solidFill>
            <a:miter lim="400000"/>
          </a:ln>
        </p:spPr>
        <p:txBody>
          <a:bodyPr lIns="50800" tIns="50800" rIns="50800" bIns="50800" anchor="ctr"/>
          <a:lstStyle/>
          <a:p>
            <a:pPr>
              <a:defRPr>
                <a:solidFill>
                  <a:srgbClr val="FFFFFF"/>
                </a:solidFill>
                <a:effectLst>
                  <a:outerShdw blurRad="38100" dist="12700" dir="5400000" rotWithShape="0">
                    <a:srgbClr val="000000">
                      <a:alpha val="50000"/>
                    </a:srgbClr>
                  </a:outerShdw>
                </a:effectLst>
              </a:defRPr>
            </a:pPr>
            <a:endParaRPr/>
          </a:p>
        </p:txBody>
      </p:sp>
      <p:sp>
        <p:nvSpPr>
          <p:cNvPr id="692" name="三角形">
            <a:extLst>
              <a:ext uri="{FF2B5EF4-FFF2-40B4-BE49-F238E27FC236}">
                <a16:creationId xmlns:a16="http://schemas.microsoft.com/office/drawing/2014/main" id="{100CA7C0-8B78-2DDE-4810-FF8C50419E2D}"/>
              </a:ext>
            </a:extLst>
          </p:cNvPr>
          <p:cNvSpPr/>
          <p:nvPr/>
        </p:nvSpPr>
        <p:spPr>
          <a:xfrm rot="16200000">
            <a:off x="9961021" y="5694958"/>
            <a:ext cx="144357" cy="289323"/>
          </a:xfrm>
          <a:prstGeom prst="triangle">
            <a:avLst/>
          </a:prstGeom>
          <a:solidFill>
            <a:srgbClr val="000000"/>
          </a:solidFill>
          <a:ln w="25400">
            <a:solidFill>
              <a:srgbClr val="000000"/>
            </a:solidFill>
            <a:miter lim="400000"/>
          </a:ln>
        </p:spPr>
        <p:txBody>
          <a:bodyPr lIns="50800" tIns="50800" rIns="50800" bIns="50800" anchor="ctr"/>
          <a:lstStyle/>
          <a:p>
            <a:pPr>
              <a:defRPr>
                <a:solidFill>
                  <a:srgbClr val="FFFFFF"/>
                </a:solidFill>
                <a:effectLst>
                  <a:outerShdw blurRad="38100" dist="12700" dir="5400000" rotWithShape="0">
                    <a:srgbClr val="000000">
                      <a:alpha val="50000"/>
                    </a:srgbClr>
                  </a:outerShdw>
                </a:effectLst>
              </a:defRPr>
            </a:pPr>
            <a:endParaRPr/>
          </a:p>
        </p:txBody>
      </p:sp>
      <p:sp>
        <p:nvSpPr>
          <p:cNvPr id="693" name="三角形">
            <a:extLst>
              <a:ext uri="{FF2B5EF4-FFF2-40B4-BE49-F238E27FC236}">
                <a16:creationId xmlns:a16="http://schemas.microsoft.com/office/drawing/2014/main" id="{38A89E71-5B00-4DB7-B949-873EC08BDE9C}"/>
              </a:ext>
            </a:extLst>
          </p:cNvPr>
          <p:cNvSpPr/>
          <p:nvPr/>
        </p:nvSpPr>
        <p:spPr>
          <a:xfrm rot="16200000">
            <a:off x="9961021" y="5910858"/>
            <a:ext cx="144357" cy="289323"/>
          </a:xfrm>
          <a:prstGeom prst="triangle">
            <a:avLst/>
          </a:prstGeom>
          <a:solidFill>
            <a:srgbClr val="000000"/>
          </a:solidFill>
          <a:ln w="25400">
            <a:solidFill>
              <a:srgbClr val="000000"/>
            </a:solidFill>
            <a:miter lim="400000"/>
          </a:ln>
        </p:spPr>
        <p:txBody>
          <a:bodyPr lIns="50800" tIns="50800" rIns="50800" bIns="50800" anchor="ctr"/>
          <a:lstStyle/>
          <a:p>
            <a:pPr>
              <a:defRPr>
                <a:solidFill>
                  <a:srgbClr val="FFFFFF"/>
                </a:solidFill>
                <a:effectLst>
                  <a:outerShdw blurRad="38100" dist="12700" dir="5400000" rotWithShape="0">
                    <a:srgbClr val="000000">
                      <a:alpha val="50000"/>
                    </a:srgbClr>
                  </a:outerShdw>
                </a:effectLst>
              </a:defRPr>
            </a:pPr>
            <a:endParaRPr/>
          </a:p>
        </p:txBody>
      </p:sp>
      <p:sp>
        <p:nvSpPr>
          <p:cNvPr id="694" name="三角形">
            <a:extLst>
              <a:ext uri="{FF2B5EF4-FFF2-40B4-BE49-F238E27FC236}">
                <a16:creationId xmlns:a16="http://schemas.microsoft.com/office/drawing/2014/main" id="{7891CF30-7B9E-C857-8E5D-1F8168A5893A}"/>
              </a:ext>
            </a:extLst>
          </p:cNvPr>
          <p:cNvSpPr/>
          <p:nvPr/>
        </p:nvSpPr>
        <p:spPr>
          <a:xfrm rot="16200000">
            <a:off x="9961021" y="5479058"/>
            <a:ext cx="144357" cy="289323"/>
          </a:xfrm>
          <a:prstGeom prst="triangle">
            <a:avLst/>
          </a:prstGeom>
          <a:solidFill>
            <a:srgbClr val="000000"/>
          </a:solidFill>
          <a:ln w="25400">
            <a:solidFill>
              <a:srgbClr val="000000"/>
            </a:solidFill>
            <a:miter lim="400000"/>
          </a:ln>
        </p:spPr>
        <p:txBody>
          <a:bodyPr lIns="50800" tIns="50800" rIns="50800" bIns="50800" anchor="ctr"/>
          <a:lstStyle/>
          <a:p>
            <a:pPr>
              <a:defRPr>
                <a:solidFill>
                  <a:srgbClr val="FFFFFF"/>
                </a:solidFill>
                <a:effectLst>
                  <a:outerShdw blurRad="38100" dist="12700" dir="5400000" rotWithShape="0">
                    <a:srgbClr val="000000">
                      <a:alpha val="50000"/>
                    </a:srgbClr>
                  </a:outerShdw>
                </a:effectLst>
              </a:defRPr>
            </a:pPr>
            <a:endParaRPr/>
          </a:p>
        </p:txBody>
      </p:sp>
      <p:sp>
        <p:nvSpPr>
          <p:cNvPr id="695" name="円形">
            <a:extLst>
              <a:ext uri="{FF2B5EF4-FFF2-40B4-BE49-F238E27FC236}">
                <a16:creationId xmlns:a16="http://schemas.microsoft.com/office/drawing/2014/main" id="{6B4FE9E4-D04E-973A-F363-BF5D51748D62}"/>
              </a:ext>
            </a:extLst>
          </p:cNvPr>
          <p:cNvSpPr/>
          <p:nvPr/>
        </p:nvSpPr>
        <p:spPr>
          <a:xfrm>
            <a:off x="9961562" y="5049837"/>
            <a:ext cx="144464" cy="144464"/>
          </a:xfrm>
          <a:prstGeom prst="ellipse">
            <a:avLst/>
          </a:prstGeom>
          <a:ln w="25400">
            <a:solidFill>
              <a:srgbClr val="000000"/>
            </a:solidFill>
            <a:miter lim="400000"/>
          </a:ln>
        </p:spPr>
        <p:txBody>
          <a:bodyPr lIns="50800" tIns="50800" rIns="50800" bIns="50800" anchor="ctr"/>
          <a:lstStyle/>
          <a:p>
            <a:pPr>
              <a:defRPr>
                <a:solidFill>
                  <a:srgbClr val="FFFFFF"/>
                </a:solidFill>
                <a:effectLst>
                  <a:outerShdw blurRad="38100" dist="12700" dir="5400000" rotWithShape="0">
                    <a:srgbClr val="000000">
                      <a:alpha val="50000"/>
                    </a:srgbClr>
                  </a:outerShdw>
                </a:effectLst>
              </a:defRPr>
            </a:pPr>
            <a:endParaRPr/>
          </a:p>
        </p:txBody>
      </p:sp>
      <p:sp>
        <p:nvSpPr>
          <p:cNvPr id="696" name="Center">
            <a:extLst>
              <a:ext uri="{FF2B5EF4-FFF2-40B4-BE49-F238E27FC236}">
                <a16:creationId xmlns:a16="http://schemas.microsoft.com/office/drawing/2014/main" id="{E22E3BBA-C6D1-6336-1737-7EA1213724F6}"/>
              </a:ext>
            </a:extLst>
          </p:cNvPr>
          <p:cNvSpPr/>
          <p:nvPr/>
        </p:nvSpPr>
        <p:spPr>
          <a:xfrm>
            <a:off x="9611994" y="6345238"/>
            <a:ext cx="804492" cy="4064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lvl1pPr>
              <a:buClr>
                <a:srgbClr val="000000"/>
              </a:buClr>
              <a:buFont typeface="Calibri"/>
              <a:defRPr sz="2000">
                <a:latin typeface="Calibri"/>
                <a:ea typeface="Calibri"/>
                <a:cs typeface="Calibri"/>
                <a:sym typeface="Calibri"/>
              </a:defRPr>
            </a:lvl1pPr>
          </a:lstStyle>
          <a:p>
            <a:r>
              <a:t>Center</a:t>
            </a:r>
          </a:p>
        </p:txBody>
      </p:sp>
      <p:sp>
        <p:nvSpPr>
          <p:cNvPr id="697" name="楕円">
            <a:extLst>
              <a:ext uri="{FF2B5EF4-FFF2-40B4-BE49-F238E27FC236}">
                <a16:creationId xmlns:a16="http://schemas.microsoft.com/office/drawing/2014/main" id="{8AD35AEC-FEF9-1782-A815-AC2681FC8D61}"/>
              </a:ext>
            </a:extLst>
          </p:cNvPr>
          <p:cNvSpPr/>
          <p:nvPr/>
        </p:nvSpPr>
        <p:spPr>
          <a:xfrm>
            <a:off x="8809038" y="1628776"/>
            <a:ext cx="2590801" cy="1800225"/>
          </a:xfrm>
          <a:prstGeom prst="ellipse">
            <a:avLst/>
          </a:prstGeom>
          <a:ln w="25400">
            <a:solidFill>
              <a:srgbClr val="FF9292"/>
            </a:solidFill>
          </a:ln>
        </p:spPr>
        <p:txBody>
          <a:bodyPr lIns="50800" tIns="50800" rIns="50800" bIns="50800" anchor="ctr"/>
          <a:lstStyle/>
          <a:p>
            <a:pPr>
              <a:defRPr>
                <a:solidFill>
                  <a:srgbClr val="FFFFFF"/>
                </a:solidFill>
                <a:effectLst>
                  <a:outerShdw blurRad="38100" dist="12700" dir="5400000" rotWithShape="0">
                    <a:srgbClr val="000000">
                      <a:alpha val="50000"/>
                    </a:srgbClr>
                  </a:outerShdw>
                </a:effectLst>
              </a:defRPr>
            </a:pPr>
            <a:endParaRPr/>
          </a:p>
        </p:txBody>
      </p:sp>
      <p:grpSp>
        <p:nvGrpSpPr>
          <p:cNvPr id="701" name="グループ">
            <a:extLst>
              <a:ext uri="{FF2B5EF4-FFF2-40B4-BE49-F238E27FC236}">
                <a16:creationId xmlns:a16="http://schemas.microsoft.com/office/drawing/2014/main" id="{40E3B3B7-6069-DAC6-1D4D-2DC7C9BFD413}"/>
              </a:ext>
            </a:extLst>
          </p:cNvPr>
          <p:cNvGrpSpPr/>
          <p:nvPr/>
        </p:nvGrpSpPr>
        <p:grpSpPr>
          <a:xfrm>
            <a:off x="9169393" y="1917696"/>
            <a:ext cx="1873264" cy="1295179"/>
            <a:chOff x="0" y="0"/>
            <a:chExt cx="1873262" cy="1295177"/>
          </a:xfrm>
        </p:grpSpPr>
        <p:sp>
          <p:nvSpPr>
            <p:cNvPr id="698" name="線">
              <a:extLst>
                <a:ext uri="{FF2B5EF4-FFF2-40B4-BE49-F238E27FC236}">
                  <a16:creationId xmlns:a16="http://schemas.microsoft.com/office/drawing/2014/main" id="{360CC53D-F70F-BCCD-DFFD-561FB593B858}"/>
                </a:ext>
              </a:extLst>
            </p:cNvPr>
            <p:cNvSpPr/>
            <p:nvPr/>
          </p:nvSpPr>
          <p:spPr>
            <a:xfrm>
              <a:off x="0" y="-1"/>
              <a:ext cx="1873263" cy="1295179"/>
            </a:xfrm>
            <a:custGeom>
              <a:avLst/>
              <a:gdLst/>
              <a:ahLst/>
              <a:cxnLst>
                <a:cxn ang="0">
                  <a:pos x="wd2" y="hd2"/>
                </a:cxn>
                <a:cxn ang="5400000">
                  <a:pos x="wd2" y="hd2"/>
                </a:cxn>
                <a:cxn ang="10800000">
                  <a:pos x="wd2" y="hd2"/>
                </a:cxn>
                <a:cxn ang="16200000">
                  <a:pos x="wd2" y="hd2"/>
                </a:cxn>
              </a:cxnLst>
              <a:rect l="0" t="0" r="r" b="b"/>
              <a:pathLst>
                <a:path w="21296" h="21447" extrusionOk="0">
                  <a:moveTo>
                    <a:pt x="10366" y="21447"/>
                  </a:moveTo>
                  <a:lnTo>
                    <a:pt x="10366" y="21447"/>
                  </a:lnTo>
                  <a:cubicBezTo>
                    <a:pt x="4487" y="21290"/>
                    <a:pt x="-152" y="16363"/>
                    <a:pt x="4" y="10442"/>
                  </a:cubicBezTo>
                  <a:cubicBezTo>
                    <a:pt x="159" y="4520"/>
                    <a:pt x="5051" y="-153"/>
                    <a:pt x="10930" y="4"/>
                  </a:cubicBezTo>
                  <a:cubicBezTo>
                    <a:pt x="16809" y="161"/>
                    <a:pt x="21448" y="5088"/>
                    <a:pt x="21292" y="11009"/>
                  </a:cubicBezTo>
                  <a:cubicBezTo>
                    <a:pt x="21283" y="11358"/>
                    <a:pt x="21257" y="11707"/>
                    <a:pt x="21214" y="12053"/>
                  </a:cubicBezTo>
                </a:path>
              </a:pathLst>
            </a:custGeom>
            <a:noFill/>
            <a:ln w="25400" cap="flat">
              <a:solidFill>
                <a:srgbClr val="000000"/>
              </a:solidFill>
              <a:prstDash val="solid"/>
              <a:miter lim="400000"/>
            </a:ln>
            <a:effectLst/>
          </p:spPr>
          <p:txBody>
            <a:bodyPr wrap="square" lIns="50800" tIns="50800" rIns="50800" bIns="50800" numCol="1" anchor="ctr">
              <a:noAutofit/>
            </a:bodyPr>
            <a:lstStyle/>
            <a:p>
              <a:pPr>
                <a:defRPr>
                  <a:solidFill>
                    <a:srgbClr val="FFFFFF"/>
                  </a:solidFill>
                  <a:effectLst>
                    <a:outerShdw blurRad="38100" dist="12700" dir="5400000" rotWithShape="0">
                      <a:srgbClr val="000000">
                        <a:alpha val="50000"/>
                      </a:srgbClr>
                    </a:outerShdw>
                  </a:effectLst>
                </a:defRPr>
              </a:pPr>
              <a:endParaRPr/>
            </a:p>
          </p:txBody>
        </p:sp>
        <p:sp>
          <p:nvSpPr>
            <p:cNvPr id="699" name="線">
              <a:extLst>
                <a:ext uri="{FF2B5EF4-FFF2-40B4-BE49-F238E27FC236}">
                  <a16:creationId xmlns:a16="http://schemas.microsoft.com/office/drawing/2014/main" id="{18CB217C-29A4-0333-956C-4E96618A0934}"/>
                </a:ext>
              </a:extLst>
            </p:cNvPr>
            <p:cNvSpPr/>
            <p:nvPr/>
          </p:nvSpPr>
          <p:spPr>
            <a:xfrm>
              <a:off x="1016568" y="360361"/>
              <a:ext cx="496341" cy="358783"/>
            </a:xfrm>
            <a:custGeom>
              <a:avLst/>
              <a:gdLst/>
              <a:ahLst/>
              <a:cxnLst>
                <a:cxn ang="0">
                  <a:pos x="wd2" y="hd2"/>
                </a:cxn>
                <a:cxn ang="5400000">
                  <a:pos x="wd2" y="hd2"/>
                </a:cxn>
                <a:cxn ang="10800000">
                  <a:pos x="wd2" y="hd2"/>
                </a:cxn>
                <a:cxn ang="16200000">
                  <a:pos x="wd2" y="hd2"/>
                </a:cxn>
              </a:cxnLst>
              <a:rect l="0" t="0" r="r" b="b"/>
              <a:pathLst>
                <a:path w="20982" h="21263" extrusionOk="0">
                  <a:moveTo>
                    <a:pt x="0" y="19"/>
                  </a:moveTo>
                  <a:lnTo>
                    <a:pt x="0" y="19"/>
                  </a:lnTo>
                  <a:cubicBezTo>
                    <a:pt x="10914" y="-332"/>
                    <a:pt x="20292" y="4135"/>
                    <a:pt x="20946" y="9995"/>
                  </a:cubicBezTo>
                  <a:cubicBezTo>
                    <a:pt x="21600" y="15856"/>
                    <a:pt x="13283" y="20892"/>
                    <a:pt x="2368" y="21244"/>
                  </a:cubicBezTo>
                  <a:cubicBezTo>
                    <a:pt x="1734" y="21264"/>
                    <a:pt x="1097" y="21268"/>
                    <a:pt x="462" y="21256"/>
                  </a:cubicBezTo>
                </a:path>
              </a:pathLst>
            </a:custGeom>
            <a:noFill/>
            <a:ln w="25400" cap="flat">
              <a:solidFill>
                <a:srgbClr val="000000"/>
              </a:solidFill>
              <a:prstDash val="solid"/>
              <a:miter lim="400000"/>
            </a:ln>
            <a:effectLst/>
          </p:spPr>
          <p:txBody>
            <a:bodyPr wrap="square" lIns="50800" tIns="50800" rIns="50800" bIns="50800" numCol="1" anchor="ctr">
              <a:noAutofit/>
            </a:bodyPr>
            <a:lstStyle/>
            <a:p>
              <a:pPr>
                <a:defRPr>
                  <a:solidFill>
                    <a:srgbClr val="FFFFFF"/>
                  </a:solidFill>
                  <a:effectLst>
                    <a:outerShdw blurRad="38100" dist="12700" dir="5400000" rotWithShape="0">
                      <a:srgbClr val="000000">
                        <a:alpha val="50000"/>
                      </a:srgbClr>
                    </a:outerShdw>
                  </a:effectLst>
                </a:defRPr>
              </a:pPr>
              <a:endParaRPr/>
            </a:p>
          </p:txBody>
        </p:sp>
        <p:sp>
          <p:nvSpPr>
            <p:cNvPr id="700" name="線">
              <a:extLst>
                <a:ext uri="{FF2B5EF4-FFF2-40B4-BE49-F238E27FC236}">
                  <a16:creationId xmlns:a16="http://schemas.microsoft.com/office/drawing/2014/main" id="{50299EE0-53C6-40E3-239D-24AC8A4806DF}"/>
                </a:ext>
              </a:extLst>
            </p:cNvPr>
            <p:cNvSpPr/>
            <p:nvPr/>
          </p:nvSpPr>
          <p:spPr>
            <a:xfrm>
              <a:off x="360252" y="362130"/>
              <a:ext cx="1502996" cy="645988"/>
            </a:xfrm>
            <a:custGeom>
              <a:avLst/>
              <a:gdLst/>
              <a:ahLst/>
              <a:cxnLst>
                <a:cxn ang="0">
                  <a:pos x="wd2" y="hd2"/>
                </a:cxn>
                <a:cxn ang="5400000">
                  <a:pos x="wd2" y="hd2"/>
                </a:cxn>
                <a:cxn ang="10800000">
                  <a:pos x="wd2" y="hd2"/>
                </a:cxn>
                <a:cxn ang="16200000">
                  <a:pos x="wd2" y="hd2"/>
                </a:cxn>
              </a:cxnLst>
              <a:rect l="0" t="0" r="r" b="b"/>
              <a:pathLst>
                <a:path w="20803" h="20806" extrusionOk="0">
                  <a:moveTo>
                    <a:pt x="20803" y="12065"/>
                  </a:moveTo>
                  <a:lnTo>
                    <a:pt x="20803" y="12065"/>
                  </a:lnTo>
                  <a:cubicBezTo>
                    <a:pt x="19865" y="17749"/>
                    <a:pt x="14480" y="21600"/>
                    <a:pt x="8774" y="20666"/>
                  </a:cubicBezTo>
                  <a:cubicBezTo>
                    <a:pt x="3068" y="19732"/>
                    <a:pt x="-797" y="14367"/>
                    <a:pt x="141" y="8682"/>
                  </a:cubicBezTo>
                  <a:cubicBezTo>
                    <a:pt x="905" y="4045"/>
                    <a:pt x="4689" y="490"/>
                    <a:pt x="9381" y="0"/>
                  </a:cubicBezTo>
                </a:path>
              </a:pathLst>
            </a:custGeom>
            <a:noFill/>
            <a:ln w="25400" cap="flat">
              <a:solidFill>
                <a:srgbClr val="000000"/>
              </a:solidFill>
              <a:prstDash val="solid"/>
              <a:miter lim="400000"/>
            </a:ln>
            <a:effectLst/>
          </p:spPr>
          <p:txBody>
            <a:bodyPr wrap="square" lIns="50800" tIns="50800" rIns="50800" bIns="50800" numCol="1" anchor="ctr">
              <a:noAutofit/>
            </a:bodyPr>
            <a:lstStyle/>
            <a:p>
              <a:pPr>
                <a:defRPr>
                  <a:solidFill>
                    <a:srgbClr val="FFFFFF"/>
                  </a:solidFill>
                  <a:effectLst>
                    <a:outerShdw blurRad="38100" dist="12700" dir="5400000" rotWithShape="0">
                      <a:srgbClr val="000000">
                        <a:alpha val="50000"/>
                      </a:srgbClr>
                    </a:outerShdw>
                  </a:effectLst>
                </a:defRPr>
              </a:pPr>
              <a:endParaRPr/>
            </a:p>
          </p:txBody>
        </p:sp>
      </p:grpSp>
      <p:sp>
        <p:nvSpPr>
          <p:cNvPr id="702" name="円形">
            <a:extLst>
              <a:ext uri="{FF2B5EF4-FFF2-40B4-BE49-F238E27FC236}">
                <a16:creationId xmlns:a16="http://schemas.microsoft.com/office/drawing/2014/main" id="{66864F98-8FAE-ADC0-842E-ABC890149116}"/>
              </a:ext>
            </a:extLst>
          </p:cNvPr>
          <p:cNvSpPr/>
          <p:nvPr/>
        </p:nvSpPr>
        <p:spPr>
          <a:xfrm>
            <a:off x="10042526" y="2565401"/>
            <a:ext cx="144463" cy="144463"/>
          </a:xfrm>
          <a:prstGeom prst="ellipse">
            <a:avLst/>
          </a:prstGeom>
          <a:ln w="25400">
            <a:solidFill>
              <a:srgbClr val="000000"/>
            </a:solidFill>
          </a:ln>
        </p:spPr>
        <p:txBody>
          <a:bodyPr lIns="50800" tIns="50800" rIns="50800" bIns="50800" anchor="ctr"/>
          <a:lstStyle/>
          <a:p>
            <a:pPr>
              <a:defRPr>
                <a:solidFill>
                  <a:srgbClr val="FFFFFF"/>
                </a:solidFill>
                <a:effectLst>
                  <a:outerShdw blurRad="38100" dist="12700" dir="5400000" rotWithShape="0">
                    <a:srgbClr val="000000">
                      <a:alpha val="50000"/>
                    </a:srgbClr>
                  </a:outerShdw>
                </a:effectLst>
              </a:defRPr>
            </a:pPr>
            <a:endParaRPr/>
          </a:p>
        </p:txBody>
      </p:sp>
      <p:sp>
        <p:nvSpPr>
          <p:cNvPr id="703" name="三角形">
            <a:extLst>
              <a:ext uri="{FF2B5EF4-FFF2-40B4-BE49-F238E27FC236}">
                <a16:creationId xmlns:a16="http://schemas.microsoft.com/office/drawing/2014/main" id="{CD816D84-1A83-9C29-E638-3B02D46B5851}"/>
              </a:ext>
            </a:extLst>
          </p:cNvPr>
          <p:cNvSpPr/>
          <p:nvPr/>
        </p:nvSpPr>
        <p:spPr>
          <a:xfrm rot="5400000">
            <a:off x="10032061" y="3067646"/>
            <a:ext cx="144356" cy="289323"/>
          </a:xfrm>
          <a:prstGeom prst="triangle">
            <a:avLst/>
          </a:prstGeom>
          <a:solidFill>
            <a:srgbClr val="000000"/>
          </a:solidFill>
          <a:ln w="25400">
            <a:solidFill>
              <a:srgbClr val="000000"/>
            </a:solidFill>
            <a:miter lim="400000"/>
          </a:ln>
        </p:spPr>
        <p:txBody>
          <a:bodyPr lIns="50800" tIns="50800" rIns="50800" bIns="50800" anchor="ctr"/>
          <a:lstStyle/>
          <a:p>
            <a:pPr>
              <a:defRPr>
                <a:solidFill>
                  <a:srgbClr val="FFFFFF"/>
                </a:solidFill>
                <a:effectLst>
                  <a:outerShdw blurRad="38100" dist="12700" dir="5400000" rotWithShape="0">
                    <a:srgbClr val="000000">
                      <a:alpha val="50000"/>
                    </a:srgbClr>
                  </a:outerShdw>
                </a:effectLst>
              </a:defRPr>
            </a:pPr>
            <a:endParaRPr/>
          </a:p>
        </p:txBody>
      </p:sp>
      <p:sp>
        <p:nvSpPr>
          <p:cNvPr id="704" name="Limit cycle">
            <a:extLst>
              <a:ext uri="{FF2B5EF4-FFF2-40B4-BE49-F238E27FC236}">
                <a16:creationId xmlns:a16="http://schemas.microsoft.com/office/drawing/2014/main" id="{4C1AC549-6B1E-C000-E4A5-FC5C20D1C75E}"/>
              </a:ext>
            </a:extLst>
          </p:cNvPr>
          <p:cNvSpPr/>
          <p:nvPr/>
        </p:nvSpPr>
        <p:spPr>
          <a:xfrm>
            <a:off x="9261158" y="3573463"/>
            <a:ext cx="1194297" cy="4064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lvl1pPr>
              <a:buClr>
                <a:srgbClr val="000000"/>
              </a:buClr>
              <a:buFont typeface="Calibri"/>
              <a:defRPr sz="2000">
                <a:latin typeface="Calibri"/>
                <a:ea typeface="Calibri"/>
                <a:cs typeface="Calibri"/>
                <a:sym typeface="Calibri"/>
              </a:defRPr>
            </a:lvl1pPr>
          </a:lstStyle>
          <a:p>
            <a:r>
              <a:t>Limit cycle</a:t>
            </a:r>
          </a:p>
        </p:txBody>
      </p:sp>
      <p:sp>
        <p:nvSpPr>
          <p:cNvPr id="705" name="線">
            <a:extLst>
              <a:ext uri="{FF2B5EF4-FFF2-40B4-BE49-F238E27FC236}">
                <a16:creationId xmlns:a16="http://schemas.microsoft.com/office/drawing/2014/main" id="{B17CD833-14E4-45CE-D53D-28D28A333AE0}"/>
              </a:ext>
            </a:extLst>
          </p:cNvPr>
          <p:cNvSpPr/>
          <p:nvPr/>
        </p:nvSpPr>
        <p:spPr>
          <a:xfrm>
            <a:off x="8809031" y="1447764"/>
            <a:ext cx="797544" cy="709884"/>
          </a:xfrm>
          <a:custGeom>
            <a:avLst/>
            <a:gdLst/>
            <a:ahLst/>
            <a:cxnLst>
              <a:cxn ang="0">
                <a:pos x="wd2" y="hd2"/>
              </a:cxn>
              <a:cxn ang="5400000">
                <a:pos x="wd2" y="hd2"/>
              </a:cxn>
              <a:cxn ang="10800000">
                <a:pos x="wd2" y="hd2"/>
              </a:cxn>
              <a:cxn ang="16200000">
                <a:pos x="wd2" y="hd2"/>
              </a:cxn>
            </a:cxnLst>
            <a:rect l="0" t="0" r="r" b="b"/>
            <a:pathLst>
              <a:path w="21148" h="21600" extrusionOk="0">
                <a:moveTo>
                  <a:pt x="19" y="21600"/>
                </a:moveTo>
                <a:lnTo>
                  <a:pt x="19" y="21600"/>
                </a:lnTo>
                <a:cubicBezTo>
                  <a:pt x="-452" y="11824"/>
                  <a:pt x="8171" y="3008"/>
                  <a:pt x="21148" y="0"/>
                </a:cubicBezTo>
              </a:path>
            </a:pathLst>
          </a:custGeom>
          <a:ln w="25400">
            <a:solidFill>
              <a:srgbClr val="000000"/>
            </a:solidFill>
            <a:miter lim="400000"/>
          </a:ln>
        </p:spPr>
        <p:txBody>
          <a:bodyPr lIns="50800" tIns="50800" rIns="50800" bIns="50800" anchor="ctr"/>
          <a:lstStyle/>
          <a:p>
            <a:pPr>
              <a:defRPr>
                <a:solidFill>
                  <a:srgbClr val="FFFFFF"/>
                </a:solidFill>
                <a:effectLst>
                  <a:outerShdw blurRad="38100" dist="12700" dir="5400000" rotWithShape="0">
                    <a:srgbClr val="000000">
                      <a:alpha val="50000"/>
                    </a:srgbClr>
                  </a:outerShdw>
                </a:effectLst>
              </a:defRPr>
            </a:pPr>
            <a:endParaRPr/>
          </a:p>
        </p:txBody>
      </p:sp>
      <p:sp>
        <p:nvSpPr>
          <p:cNvPr id="706" name="三角形">
            <a:extLst>
              <a:ext uri="{FF2B5EF4-FFF2-40B4-BE49-F238E27FC236}">
                <a16:creationId xmlns:a16="http://schemas.microsoft.com/office/drawing/2014/main" id="{859EB887-3CD7-DA49-FAD1-D8D9E056F5C0}"/>
              </a:ext>
            </a:extLst>
          </p:cNvPr>
          <p:cNvSpPr/>
          <p:nvPr/>
        </p:nvSpPr>
        <p:spPr>
          <a:xfrm rot="10800000">
            <a:off x="8734584" y="2060178"/>
            <a:ext cx="145732" cy="289322"/>
          </a:xfrm>
          <a:prstGeom prst="triangle">
            <a:avLst/>
          </a:prstGeom>
          <a:solidFill>
            <a:srgbClr val="000000"/>
          </a:solidFill>
          <a:ln w="25400">
            <a:solidFill>
              <a:srgbClr val="000000"/>
            </a:solidFill>
            <a:miter lim="400000"/>
          </a:ln>
        </p:spPr>
        <p:txBody>
          <a:bodyPr lIns="50800" tIns="50800" rIns="50800" bIns="50800" anchor="ctr"/>
          <a:lstStyle/>
          <a:p>
            <a:pPr>
              <a:defRPr>
                <a:solidFill>
                  <a:srgbClr val="FFFFFF"/>
                </a:solidFill>
                <a:effectLst>
                  <a:outerShdw blurRad="38100" dist="12700" dir="5400000" rotWithShape="0">
                    <a:srgbClr val="000000">
                      <a:alpha val="50000"/>
                    </a:srgbClr>
                  </a:outerShdw>
                </a:effectLst>
              </a:defRPr>
            </a:pPr>
            <a:endParaRPr/>
          </a:p>
        </p:txBody>
      </p:sp>
      <p:sp>
        <p:nvSpPr>
          <p:cNvPr id="707" name="線">
            <a:extLst>
              <a:ext uri="{FF2B5EF4-FFF2-40B4-BE49-F238E27FC236}">
                <a16:creationId xmlns:a16="http://schemas.microsoft.com/office/drawing/2014/main" id="{C7EC3296-0B4A-BCCA-A6B2-FA43C6CEE532}"/>
              </a:ext>
            </a:extLst>
          </p:cNvPr>
          <p:cNvSpPr/>
          <p:nvPr/>
        </p:nvSpPr>
        <p:spPr>
          <a:xfrm rot="10800000">
            <a:off x="10602300" y="2828690"/>
            <a:ext cx="797545" cy="709885"/>
          </a:xfrm>
          <a:custGeom>
            <a:avLst/>
            <a:gdLst/>
            <a:ahLst/>
            <a:cxnLst>
              <a:cxn ang="0">
                <a:pos x="wd2" y="hd2"/>
              </a:cxn>
              <a:cxn ang="5400000">
                <a:pos x="wd2" y="hd2"/>
              </a:cxn>
              <a:cxn ang="10800000">
                <a:pos x="wd2" y="hd2"/>
              </a:cxn>
              <a:cxn ang="16200000">
                <a:pos x="wd2" y="hd2"/>
              </a:cxn>
            </a:cxnLst>
            <a:rect l="0" t="0" r="r" b="b"/>
            <a:pathLst>
              <a:path w="21148" h="21600" extrusionOk="0">
                <a:moveTo>
                  <a:pt x="19" y="21600"/>
                </a:moveTo>
                <a:lnTo>
                  <a:pt x="19" y="21600"/>
                </a:lnTo>
                <a:cubicBezTo>
                  <a:pt x="-452" y="11824"/>
                  <a:pt x="8171" y="3008"/>
                  <a:pt x="21148" y="0"/>
                </a:cubicBezTo>
              </a:path>
            </a:pathLst>
          </a:custGeom>
          <a:ln w="25400">
            <a:solidFill>
              <a:srgbClr val="000000"/>
            </a:solidFill>
            <a:miter lim="400000"/>
          </a:ln>
        </p:spPr>
        <p:txBody>
          <a:bodyPr lIns="50800" tIns="50800" rIns="50800" bIns="50800" anchor="ctr"/>
          <a:lstStyle/>
          <a:p>
            <a:pPr>
              <a:defRPr>
                <a:solidFill>
                  <a:srgbClr val="FFFFFF"/>
                </a:solidFill>
                <a:effectLst>
                  <a:outerShdw blurRad="38100" dist="12700" dir="5400000" rotWithShape="0">
                    <a:srgbClr val="000000">
                      <a:alpha val="50000"/>
                    </a:srgbClr>
                  </a:outerShdw>
                </a:effectLst>
              </a:defRPr>
            </a:pPr>
            <a:endParaRPr/>
          </a:p>
        </p:txBody>
      </p:sp>
      <p:sp>
        <p:nvSpPr>
          <p:cNvPr id="708" name="三角形">
            <a:extLst>
              <a:ext uri="{FF2B5EF4-FFF2-40B4-BE49-F238E27FC236}">
                <a16:creationId xmlns:a16="http://schemas.microsoft.com/office/drawing/2014/main" id="{5AF9B324-9629-E1C3-0A3C-E18260E7B39C}"/>
              </a:ext>
            </a:extLst>
          </p:cNvPr>
          <p:cNvSpPr/>
          <p:nvPr/>
        </p:nvSpPr>
        <p:spPr>
          <a:xfrm>
            <a:off x="11326973" y="2563812"/>
            <a:ext cx="145731" cy="288132"/>
          </a:xfrm>
          <a:prstGeom prst="triangle">
            <a:avLst/>
          </a:prstGeom>
          <a:solidFill>
            <a:srgbClr val="000000"/>
          </a:solidFill>
          <a:ln w="25400">
            <a:solidFill>
              <a:srgbClr val="000000"/>
            </a:solidFill>
            <a:miter lim="400000"/>
          </a:ln>
        </p:spPr>
        <p:txBody>
          <a:bodyPr lIns="50800" tIns="50800" rIns="50800" bIns="50800" anchor="ctr"/>
          <a:lstStyle/>
          <a:p>
            <a:pPr>
              <a:defRPr>
                <a:solidFill>
                  <a:srgbClr val="FFFFFF"/>
                </a:solidFill>
                <a:effectLst>
                  <a:outerShdw blurRad="38100" dist="12700" dir="5400000" rotWithShape="0">
                    <a:srgbClr val="000000">
                      <a:alpha val="50000"/>
                    </a:srgbClr>
                  </a:outerShdw>
                </a:effectLst>
              </a:defRPr>
            </a:pPr>
            <a:endParaRPr/>
          </a:p>
        </p:txBody>
      </p:sp>
    </p:spTree>
    <p:extLst>
      <p:ext uri="{BB962C8B-B14F-4D97-AF65-F5344CB8AC3E}">
        <p14:creationId xmlns:p14="http://schemas.microsoft.com/office/powerpoint/2010/main" val="341245409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34028A-A88D-570F-34B3-671055B9D65D}"/>
            </a:ext>
          </a:extLst>
        </p:cNvPr>
        <p:cNvGrpSpPr/>
        <p:nvPr/>
      </p:nvGrpSpPr>
      <p:grpSpPr>
        <a:xfrm>
          <a:off x="0" y="0"/>
          <a:ext cx="0" cy="0"/>
          <a:chOff x="0" y="0"/>
          <a:chExt cx="0" cy="0"/>
        </a:xfrm>
      </p:grpSpPr>
      <p:sp>
        <p:nvSpPr>
          <p:cNvPr id="723" name="Supercritical Hopf 分岐の定義">
            <a:extLst>
              <a:ext uri="{FF2B5EF4-FFF2-40B4-BE49-F238E27FC236}">
                <a16:creationId xmlns:a16="http://schemas.microsoft.com/office/drawing/2014/main" id="{5028B852-610B-B1F6-17B5-F4DF8AC9CAFC}"/>
              </a:ext>
            </a:extLst>
          </p:cNvPr>
          <p:cNvSpPr txBox="1">
            <a:spLocks noGrp="1"/>
          </p:cNvSpPr>
          <p:nvPr>
            <p:ph type="title"/>
          </p:nvPr>
        </p:nvSpPr>
        <p:spPr>
          <a:prstGeom prst="rect">
            <a:avLst/>
          </a:prstGeom>
        </p:spPr>
        <p:txBody>
          <a:bodyPr/>
          <a:lstStyle/>
          <a:p>
            <a:r>
              <a:rPr sz="3600" dirty="0"/>
              <a:t>Supercritical Hopf </a:t>
            </a:r>
            <a:r>
              <a:rPr sz="3600" dirty="0" err="1"/>
              <a:t>分岐</a:t>
            </a:r>
            <a:r>
              <a:rPr lang="ja-JP" altLang="en-US" sz="3600"/>
              <a:t>（以下「</a:t>
            </a:r>
            <a:r>
              <a:rPr lang="en-US" altLang="ja-JP" sz="3600" dirty="0"/>
              <a:t>Hopf </a:t>
            </a:r>
            <a:r>
              <a:rPr lang="ja-JP" altLang="en-US" sz="3600"/>
              <a:t>分岐」）</a:t>
            </a:r>
            <a:r>
              <a:rPr sz="3600" dirty="0" err="1"/>
              <a:t>の定義</a:t>
            </a:r>
            <a:endParaRPr sz="3600" dirty="0"/>
          </a:p>
        </p:txBody>
      </p:sp>
      <p:sp>
        <p:nvSpPr>
          <p:cNvPr id="711" name="互いに共役な複素固有値が虚軸を左から右に横切る…">
            <a:extLst>
              <a:ext uri="{FF2B5EF4-FFF2-40B4-BE49-F238E27FC236}">
                <a16:creationId xmlns:a16="http://schemas.microsoft.com/office/drawing/2014/main" id="{949AB8E8-150D-3DD9-A2FA-7E97FC35F316}"/>
              </a:ext>
            </a:extLst>
          </p:cNvPr>
          <p:cNvSpPr txBox="1">
            <a:spLocks noGrp="1"/>
          </p:cNvSpPr>
          <p:nvPr>
            <p:ph type="body" sz="quarter" idx="4294967295"/>
          </p:nvPr>
        </p:nvSpPr>
        <p:spPr>
          <a:xfrm>
            <a:off x="202306" y="1333235"/>
            <a:ext cx="8463162" cy="2792676"/>
          </a:xfrm>
          <a:prstGeom prst="rect">
            <a:avLst/>
          </a:prstGeom>
        </p:spPr>
        <p:txBody>
          <a:bodyPr>
            <a:noAutofit/>
          </a:bodyPr>
          <a:lstStyle/>
          <a:p>
            <a:pPr marL="383540">
              <a:buClr>
                <a:srgbClr val="000000"/>
              </a:buClr>
              <a:buSzPct val="100000"/>
              <a:buFont typeface="Arial"/>
            </a:pPr>
            <a:r>
              <a:rPr sz="2800" dirty="0" err="1"/>
              <a:t>互いに共役な複素固有値</a:t>
            </a:r>
            <a:r>
              <a:rPr lang="en-US" sz="2800" dirty="0"/>
              <a:t> </a:t>
            </a:r>
            <a:r>
              <a:rPr lang="en-US" sz="2800" i="1" dirty="0">
                <a:latin typeface="Times New Roman" panose="02020603050405020304" pitchFamily="18" charset="0"/>
                <a:cs typeface="Times New Roman" panose="02020603050405020304" pitchFamily="18" charset="0"/>
              </a:rPr>
              <a:t>a </a:t>
            </a:r>
            <a:r>
              <a:rPr lang="en-US" sz="2800" dirty="0">
                <a:latin typeface="Times New Roman" panose="02020603050405020304" pitchFamily="18" charset="0"/>
                <a:cs typeface="Times New Roman" panose="02020603050405020304" pitchFamily="18" charset="0"/>
              </a:rPr>
              <a:t>± </a:t>
            </a:r>
            <a:r>
              <a:rPr lang="en-US" sz="2800" i="1" dirty="0">
                <a:latin typeface="Times New Roman" panose="02020603050405020304" pitchFamily="18" charset="0"/>
                <a:cs typeface="Times New Roman" panose="02020603050405020304" pitchFamily="18" charset="0"/>
              </a:rPr>
              <a:t>bi </a:t>
            </a:r>
            <a:r>
              <a:rPr sz="2800" dirty="0" err="1"/>
              <a:t>が</a:t>
            </a:r>
            <a:r>
              <a:rPr lang="ja-JP" altLang="en-US" sz="2800"/>
              <a:t>、複素平面上で</a:t>
            </a:r>
            <a:r>
              <a:rPr sz="2800" dirty="0" err="1"/>
              <a:t>虚軸を左から右に横切る</a:t>
            </a:r>
            <a:endParaRPr sz="2800" dirty="0"/>
          </a:p>
          <a:p>
            <a:pPr marL="383540">
              <a:buClr>
                <a:srgbClr val="000000"/>
              </a:buClr>
              <a:buSzPct val="100000"/>
              <a:buFont typeface="Arial"/>
            </a:pPr>
            <a:endParaRPr lang="en-US" sz="2800" dirty="0"/>
          </a:p>
          <a:p>
            <a:pPr marL="383540">
              <a:buClr>
                <a:srgbClr val="000000"/>
              </a:buClr>
              <a:buSzPct val="100000"/>
              <a:buFont typeface="Arial"/>
            </a:pPr>
            <a:r>
              <a:rPr sz="2800" dirty="0" err="1"/>
              <a:t>左半平面は</a:t>
            </a:r>
            <a:r>
              <a:rPr lang="ja-JP" altLang="en-US" sz="2800"/>
              <a:t>固有値の実部が負なので</a:t>
            </a:r>
            <a:r>
              <a:rPr sz="2800" dirty="0" err="1"/>
              <a:t>安定</a:t>
            </a:r>
            <a:endParaRPr lang="en-US" sz="2800" dirty="0"/>
          </a:p>
          <a:p>
            <a:pPr marL="383540">
              <a:buClr>
                <a:srgbClr val="000000"/>
              </a:buClr>
              <a:buSzPct val="100000"/>
              <a:buFont typeface="Arial"/>
            </a:pPr>
            <a:endParaRPr lang="en-US" sz="2800" dirty="0"/>
          </a:p>
          <a:p>
            <a:pPr marL="383540">
              <a:buClr>
                <a:srgbClr val="000000"/>
              </a:buClr>
              <a:buSzPct val="100000"/>
              <a:buFont typeface="Arial"/>
            </a:pPr>
            <a:r>
              <a:rPr lang="ja-JP" altLang="en-US" sz="2800">
                <a:solidFill>
                  <a:srgbClr val="C00000"/>
                </a:solidFill>
              </a:rPr>
              <a:t>分岐</a:t>
            </a:r>
            <a:r>
              <a:rPr lang="ja-JP" altLang="en-US" sz="2800"/>
              <a:t>の仕組み</a:t>
            </a:r>
            <a:endParaRPr sz="2800" dirty="0"/>
          </a:p>
        </p:txBody>
      </p:sp>
      <p:sp>
        <p:nvSpPr>
          <p:cNvPr id="712" name="線">
            <a:extLst>
              <a:ext uri="{FF2B5EF4-FFF2-40B4-BE49-F238E27FC236}">
                <a16:creationId xmlns:a16="http://schemas.microsoft.com/office/drawing/2014/main" id="{EED94248-2D7F-2A53-E0A5-15265EE5710C}"/>
              </a:ext>
            </a:extLst>
          </p:cNvPr>
          <p:cNvSpPr/>
          <p:nvPr/>
        </p:nvSpPr>
        <p:spPr>
          <a:xfrm>
            <a:off x="8881370" y="3058102"/>
            <a:ext cx="2089151" cy="1588"/>
          </a:xfrm>
          <a:prstGeom prst="line">
            <a:avLst/>
          </a:prstGeom>
          <a:ln w="38100">
            <a:solidFill>
              <a:srgbClr val="000000"/>
            </a:solidFill>
            <a:miter lim="400000"/>
          </a:ln>
        </p:spPr>
        <p:txBody>
          <a:bodyPr lIns="0" tIns="0" rIns="0" bIns="0"/>
          <a:lstStyle/>
          <a:p>
            <a:pPr defTabSz="457200">
              <a:defRPr sz="1200">
                <a:latin typeface="ヒラギノ角ゴ ProN W3"/>
                <a:ea typeface="ヒラギノ角ゴ ProN W3"/>
                <a:cs typeface="ヒラギノ角ゴ ProN W3"/>
                <a:sym typeface="ヒラギノ角ゴ ProN W3"/>
              </a:defRPr>
            </a:pPr>
            <a:endParaRPr sz="1200"/>
          </a:p>
        </p:txBody>
      </p:sp>
      <p:sp>
        <p:nvSpPr>
          <p:cNvPr id="713" name="線">
            <a:extLst>
              <a:ext uri="{FF2B5EF4-FFF2-40B4-BE49-F238E27FC236}">
                <a16:creationId xmlns:a16="http://schemas.microsoft.com/office/drawing/2014/main" id="{C2956B55-4B8D-F639-CCD1-115C745CDEB5}"/>
              </a:ext>
            </a:extLst>
          </p:cNvPr>
          <p:cNvSpPr/>
          <p:nvPr/>
        </p:nvSpPr>
        <p:spPr>
          <a:xfrm>
            <a:off x="10033894" y="1834139"/>
            <a:ext cx="1588" cy="2376488"/>
          </a:xfrm>
          <a:prstGeom prst="line">
            <a:avLst/>
          </a:prstGeom>
          <a:ln w="38100">
            <a:solidFill>
              <a:srgbClr val="000000"/>
            </a:solidFill>
            <a:miter lim="400000"/>
          </a:ln>
        </p:spPr>
        <p:txBody>
          <a:bodyPr lIns="0" tIns="0" rIns="0" bIns="0"/>
          <a:lstStyle/>
          <a:p>
            <a:pPr defTabSz="457200">
              <a:defRPr sz="1200">
                <a:latin typeface="ヒラギノ角ゴ ProN W3"/>
                <a:ea typeface="ヒラギノ角ゴ ProN W3"/>
                <a:cs typeface="ヒラギノ角ゴ ProN W3"/>
                <a:sym typeface="ヒラギノ角ゴ ProN W3"/>
              </a:defRPr>
            </a:pPr>
            <a:endParaRPr sz="1200"/>
          </a:p>
        </p:txBody>
      </p:sp>
      <p:sp>
        <p:nvSpPr>
          <p:cNvPr id="714" name="Re λ">
            <a:extLst>
              <a:ext uri="{FF2B5EF4-FFF2-40B4-BE49-F238E27FC236}">
                <a16:creationId xmlns:a16="http://schemas.microsoft.com/office/drawing/2014/main" id="{81DFA41B-9A9A-44BB-F378-B932C0290C59}"/>
              </a:ext>
            </a:extLst>
          </p:cNvPr>
          <p:cNvSpPr/>
          <p:nvPr/>
        </p:nvSpPr>
        <p:spPr>
          <a:xfrm>
            <a:off x="11114982" y="2877127"/>
            <a:ext cx="876300" cy="4191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chor="ctr">
            <a:spAutoFit/>
          </a:bodyPr>
          <a:lstStyle/>
          <a:p>
            <a:pPr>
              <a:buClr>
                <a:srgbClr val="000000"/>
              </a:buClr>
              <a:buFont typeface="Calibri"/>
            </a:pPr>
            <a:r>
              <a:rPr sz="2000">
                <a:latin typeface="Calibri"/>
                <a:ea typeface="Calibri"/>
                <a:cs typeface="Calibri"/>
                <a:sym typeface="Calibri"/>
              </a:rPr>
              <a:t>Re </a:t>
            </a:r>
            <a:r>
              <a:rPr sz="2000">
                <a:latin typeface="Symbol"/>
                <a:ea typeface="Symbol"/>
                <a:cs typeface="Symbol"/>
                <a:sym typeface="Symbol"/>
              </a:rPr>
              <a:t>l</a:t>
            </a:r>
          </a:p>
        </p:txBody>
      </p:sp>
      <p:sp>
        <p:nvSpPr>
          <p:cNvPr id="715" name="Im λ">
            <a:extLst>
              <a:ext uri="{FF2B5EF4-FFF2-40B4-BE49-F238E27FC236}">
                <a16:creationId xmlns:a16="http://schemas.microsoft.com/office/drawing/2014/main" id="{E089054D-FC7B-26E3-7BBD-E05ECEA97DDE}"/>
              </a:ext>
            </a:extLst>
          </p:cNvPr>
          <p:cNvSpPr/>
          <p:nvPr/>
        </p:nvSpPr>
        <p:spPr>
          <a:xfrm>
            <a:off x="9673532" y="1473777"/>
            <a:ext cx="876300" cy="4191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chor="ctr">
            <a:spAutoFit/>
          </a:bodyPr>
          <a:lstStyle/>
          <a:p>
            <a:pPr>
              <a:buClr>
                <a:srgbClr val="000000"/>
              </a:buClr>
              <a:buFont typeface="Calibri"/>
            </a:pPr>
            <a:r>
              <a:rPr sz="2000">
                <a:latin typeface="Calibri"/>
                <a:ea typeface="Calibri"/>
                <a:cs typeface="Calibri"/>
                <a:sym typeface="Calibri"/>
              </a:rPr>
              <a:t>Im </a:t>
            </a:r>
            <a:r>
              <a:rPr sz="2000">
                <a:latin typeface="Symbol"/>
                <a:ea typeface="Symbol"/>
                <a:cs typeface="Symbol"/>
                <a:sym typeface="Symbol"/>
              </a:rPr>
              <a:t>l</a:t>
            </a:r>
          </a:p>
        </p:txBody>
      </p:sp>
      <p:sp>
        <p:nvSpPr>
          <p:cNvPr id="716" name="円形">
            <a:extLst>
              <a:ext uri="{FF2B5EF4-FFF2-40B4-BE49-F238E27FC236}">
                <a16:creationId xmlns:a16="http://schemas.microsoft.com/office/drawing/2014/main" id="{9AA9C7D2-5AFE-59EF-F9C5-2A4CCBAB914F}"/>
              </a:ext>
            </a:extLst>
          </p:cNvPr>
          <p:cNvSpPr/>
          <p:nvPr/>
        </p:nvSpPr>
        <p:spPr>
          <a:xfrm>
            <a:off x="9240144" y="3489903"/>
            <a:ext cx="144464" cy="144463"/>
          </a:xfrm>
          <a:prstGeom prst="ellipse">
            <a:avLst/>
          </a:prstGeom>
          <a:ln w="25400">
            <a:solidFill>
              <a:srgbClr val="000000"/>
            </a:solidFill>
            <a:miter lim="400000"/>
          </a:ln>
        </p:spPr>
        <p:txBody>
          <a:bodyPr lIns="50800" tIns="50800" rIns="50800" bIns="50800" anchor="ctr"/>
          <a:lstStyle/>
          <a:p>
            <a:pPr>
              <a:defRPr>
                <a:solidFill>
                  <a:srgbClr val="FFFFFF"/>
                </a:solidFill>
                <a:effectLst>
                  <a:outerShdw blurRad="38100" dist="12700" dir="5400000" rotWithShape="0">
                    <a:srgbClr val="000000">
                      <a:alpha val="50000"/>
                    </a:srgbClr>
                  </a:outerShdw>
                </a:effectLst>
              </a:defRPr>
            </a:pPr>
            <a:endParaRPr/>
          </a:p>
        </p:txBody>
      </p:sp>
      <p:sp>
        <p:nvSpPr>
          <p:cNvPr id="717" name="円形">
            <a:extLst>
              <a:ext uri="{FF2B5EF4-FFF2-40B4-BE49-F238E27FC236}">
                <a16:creationId xmlns:a16="http://schemas.microsoft.com/office/drawing/2014/main" id="{0B6C4311-65D8-3E3D-D4F1-041C657B1D25}"/>
              </a:ext>
            </a:extLst>
          </p:cNvPr>
          <p:cNvSpPr/>
          <p:nvPr/>
        </p:nvSpPr>
        <p:spPr>
          <a:xfrm>
            <a:off x="9240144" y="2408814"/>
            <a:ext cx="144464" cy="144464"/>
          </a:xfrm>
          <a:prstGeom prst="ellipse">
            <a:avLst/>
          </a:prstGeom>
          <a:ln w="25400">
            <a:solidFill>
              <a:srgbClr val="000000"/>
            </a:solidFill>
            <a:miter lim="400000"/>
          </a:ln>
        </p:spPr>
        <p:txBody>
          <a:bodyPr lIns="50800" tIns="50800" rIns="50800" bIns="50800" anchor="ctr"/>
          <a:lstStyle/>
          <a:p>
            <a:pPr>
              <a:defRPr>
                <a:solidFill>
                  <a:srgbClr val="FFFFFF"/>
                </a:solidFill>
                <a:effectLst>
                  <a:outerShdw blurRad="38100" dist="12700" dir="5400000" rotWithShape="0">
                    <a:srgbClr val="000000">
                      <a:alpha val="50000"/>
                    </a:srgbClr>
                  </a:outerShdw>
                </a:effectLst>
              </a:defRPr>
            </a:pPr>
            <a:endParaRPr/>
          </a:p>
        </p:txBody>
      </p:sp>
      <p:sp>
        <p:nvSpPr>
          <p:cNvPr id="718" name="線">
            <a:extLst>
              <a:ext uri="{FF2B5EF4-FFF2-40B4-BE49-F238E27FC236}">
                <a16:creationId xmlns:a16="http://schemas.microsoft.com/office/drawing/2014/main" id="{67F8DA52-AF6B-D26A-00C6-7569973E5EE6}"/>
              </a:ext>
            </a:extLst>
          </p:cNvPr>
          <p:cNvSpPr/>
          <p:nvPr/>
        </p:nvSpPr>
        <p:spPr>
          <a:xfrm>
            <a:off x="9600507" y="2481839"/>
            <a:ext cx="865188" cy="1588"/>
          </a:xfrm>
          <a:prstGeom prst="line">
            <a:avLst/>
          </a:prstGeom>
          <a:ln w="38100">
            <a:solidFill>
              <a:srgbClr val="000000"/>
            </a:solidFill>
            <a:miter lim="400000"/>
            <a:tailEnd type="triangle"/>
          </a:ln>
        </p:spPr>
        <p:txBody>
          <a:bodyPr lIns="0" tIns="0" rIns="0" bIns="0"/>
          <a:lstStyle/>
          <a:p>
            <a:pPr defTabSz="457200">
              <a:defRPr sz="1200">
                <a:latin typeface="ヒラギノ角ゴ ProN W3"/>
                <a:ea typeface="ヒラギノ角ゴ ProN W3"/>
                <a:cs typeface="ヒラギノ角ゴ ProN W3"/>
                <a:sym typeface="ヒラギノ角ゴ ProN W3"/>
              </a:defRPr>
            </a:pPr>
            <a:endParaRPr sz="1200"/>
          </a:p>
        </p:txBody>
      </p:sp>
      <p:sp>
        <p:nvSpPr>
          <p:cNvPr id="719" name="線">
            <a:extLst>
              <a:ext uri="{FF2B5EF4-FFF2-40B4-BE49-F238E27FC236}">
                <a16:creationId xmlns:a16="http://schemas.microsoft.com/office/drawing/2014/main" id="{012868EF-F5CA-1ACB-1274-7050CA0C5BE9}"/>
              </a:ext>
            </a:extLst>
          </p:cNvPr>
          <p:cNvSpPr/>
          <p:nvPr/>
        </p:nvSpPr>
        <p:spPr>
          <a:xfrm>
            <a:off x="9600507" y="3561339"/>
            <a:ext cx="865188" cy="1588"/>
          </a:xfrm>
          <a:prstGeom prst="line">
            <a:avLst/>
          </a:prstGeom>
          <a:ln w="38100">
            <a:solidFill>
              <a:srgbClr val="000000"/>
            </a:solidFill>
            <a:miter lim="400000"/>
            <a:tailEnd type="triangle"/>
          </a:ln>
        </p:spPr>
        <p:txBody>
          <a:bodyPr lIns="0" tIns="0" rIns="0" bIns="0"/>
          <a:lstStyle/>
          <a:p>
            <a:pPr defTabSz="457200">
              <a:defRPr sz="1200">
                <a:latin typeface="ヒラギノ角ゴ ProN W3"/>
                <a:ea typeface="ヒラギノ角ゴ ProN W3"/>
                <a:cs typeface="ヒラギノ角ゴ ProN W3"/>
                <a:sym typeface="ヒラギノ角ゴ ProN W3"/>
              </a:defRPr>
            </a:pPr>
            <a:endParaRPr sz="1200"/>
          </a:p>
        </p:txBody>
      </p:sp>
      <p:sp>
        <p:nvSpPr>
          <p:cNvPr id="2" name="三角形 1">
            <a:extLst>
              <a:ext uri="{FF2B5EF4-FFF2-40B4-BE49-F238E27FC236}">
                <a16:creationId xmlns:a16="http://schemas.microsoft.com/office/drawing/2014/main" id="{2AA198C0-A0E3-6B0B-D24B-3B7079D256F1}"/>
              </a:ext>
            </a:extLst>
          </p:cNvPr>
          <p:cNvSpPr/>
          <p:nvPr/>
        </p:nvSpPr>
        <p:spPr>
          <a:xfrm rot="10800000">
            <a:off x="2650128" y="4957053"/>
            <a:ext cx="620560" cy="232086"/>
          </a:xfrm>
          <a:prstGeom prst="triangle">
            <a:avLst/>
          </a:prstGeom>
          <a:solidFill>
            <a:srgbClr val="0118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ja-JP" altLang="en-US"/>
          </a:p>
        </p:txBody>
      </p:sp>
      <p:sp>
        <p:nvSpPr>
          <p:cNvPr id="3" name="テキスト ボックス 2">
            <a:extLst>
              <a:ext uri="{FF2B5EF4-FFF2-40B4-BE49-F238E27FC236}">
                <a16:creationId xmlns:a16="http://schemas.microsoft.com/office/drawing/2014/main" id="{6FCCAD21-95E0-545D-FE42-35852928A99D}"/>
              </a:ext>
            </a:extLst>
          </p:cNvPr>
          <p:cNvSpPr txBox="1"/>
          <p:nvPr/>
        </p:nvSpPr>
        <p:spPr>
          <a:xfrm>
            <a:off x="942413" y="4396052"/>
            <a:ext cx="5153587" cy="461665"/>
          </a:xfrm>
          <a:prstGeom prst="rect">
            <a:avLst/>
          </a:prstGeom>
          <a:noFill/>
        </p:spPr>
        <p:txBody>
          <a:bodyPr wrap="square" rtlCol="0">
            <a:spAutoFit/>
          </a:bodyPr>
          <a:lstStyle/>
          <a:p>
            <a:r>
              <a:rPr lang="en-US" altLang="ja-JP" sz="2400" dirty="0"/>
              <a:t>1. </a:t>
            </a:r>
            <a:r>
              <a:rPr lang="ja-JP" altLang="en-US" sz="2400"/>
              <a:t>モデルのパラメータの値が変わる</a:t>
            </a:r>
            <a:endParaRPr kumimoji="1" lang="en-US" altLang="ja-JP" sz="2400" dirty="0"/>
          </a:p>
        </p:txBody>
      </p:sp>
      <p:sp>
        <p:nvSpPr>
          <p:cNvPr id="4" name="テキスト ボックス 3">
            <a:extLst>
              <a:ext uri="{FF2B5EF4-FFF2-40B4-BE49-F238E27FC236}">
                <a16:creationId xmlns:a16="http://schemas.microsoft.com/office/drawing/2014/main" id="{C9FB4E23-B7B5-9700-2407-7375152BE841}"/>
              </a:ext>
            </a:extLst>
          </p:cNvPr>
          <p:cNvSpPr txBox="1"/>
          <p:nvPr/>
        </p:nvSpPr>
        <p:spPr>
          <a:xfrm>
            <a:off x="942413" y="5288475"/>
            <a:ext cx="2802406" cy="461665"/>
          </a:xfrm>
          <a:prstGeom prst="rect">
            <a:avLst/>
          </a:prstGeom>
          <a:noFill/>
        </p:spPr>
        <p:txBody>
          <a:bodyPr wrap="square" rtlCol="0">
            <a:spAutoFit/>
          </a:bodyPr>
          <a:lstStyle/>
          <a:p>
            <a:r>
              <a:rPr lang="en-US" altLang="ja-JP" sz="2400" dirty="0"/>
              <a:t>2. </a:t>
            </a:r>
            <a:r>
              <a:rPr lang="ja-JP" altLang="en-US" sz="2400"/>
              <a:t>固有値が変わる</a:t>
            </a:r>
            <a:endParaRPr kumimoji="1" lang="en-US" altLang="ja-JP" sz="2400" dirty="0"/>
          </a:p>
        </p:txBody>
      </p:sp>
      <p:sp>
        <p:nvSpPr>
          <p:cNvPr id="5" name="テキスト ボックス 4">
            <a:extLst>
              <a:ext uri="{FF2B5EF4-FFF2-40B4-BE49-F238E27FC236}">
                <a16:creationId xmlns:a16="http://schemas.microsoft.com/office/drawing/2014/main" id="{63740F78-7739-A117-E261-758DB3CE091B}"/>
              </a:ext>
            </a:extLst>
          </p:cNvPr>
          <p:cNvSpPr txBox="1"/>
          <p:nvPr/>
        </p:nvSpPr>
        <p:spPr>
          <a:xfrm>
            <a:off x="942413" y="6180898"/>
            <a:ext cx="7067054" cy="461665"/>
          </a:xfrm>
          <a:prstGeom prst="rect">
            <a:avLst/>
          </a:prstGeom>
          <a:noFill/>
        </p:spPr>
        <p:txBody>
          <a:bodyPr wrap="square" rtlCol="0">
            <a:spAutoFit/>
          </a:bodyPr>
          <a:lstStyle/>
          <a:p>
            <a:r>
              <a:rPr kumimoji="1" lang="en-US" altLang="ja-JP" sz="2400" dirty="0"/>
              <a:t>3. </a:t>
            </a:r>
            <a:r>
              <a:rPr kumimoji="1" lang="ja-JP" altLang="en-US" sz="2400">
                <a:solidFill>
                  <a:srgbClr val="C00000"/>
                </a:solidFill>
              </a:rPr>
              <a:t>分岐</a:t>
            </a:r>
            <a:r>
              <a:rPr kumimoji="1" lang="ja-JP" altLang="en-US" sz="2400"/>
              <a:t>点をこえると生化学反応系の挙動が変わる</a:t>
            </a:r>
            <a:endParaRPr kumimoji="1" lang="en-US" altLang="ja-JP" sz="2400" dirty="0"/>
          </a:p>
        </p:txBody>
      </p:sp>
      <p:sp>
        <p:nvSpPr>
          <p:cNvPr id="6" name="三角形 5">
            <a:extLst>
              <a:ext uri="{FF2B5EF4-FFF2-40B4-BE49-F238E27FC236}">
                <a16:creationId xmlns:a16="http://schemas.microsoft.com/office/drawing/2014/main" id="{26969D1D-D64F-FAB9-1486-5D19AE14DE6E}"/>
              </a:ext>
            </a:extLst>
          </p:cNvPr>
          <p:cNvSpPr/>
          <p:nvPr/>
        </p:nvSpPr>
        <p:spPr>
          <a:xfrm rot="10800000">
            <a:off x="2650127" y="5849476"/>
            <a:ext cx="620560" cy="232086"/>
          </a:xfrm>
          <a:prstGeom prst="triangle">
            <a:avLst/>
          </a:prstGeom>
          <a:solidFill>
            <a:srgbClr val="0118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ja-JP" altLang="en-US"/>
          </a:p>
        </p:txBody>
      </p:sp>
    </p:spTree>
    <p:extLst>
      <p:ext uri="{BB962C8B-B14F-4D97-AF65-F5344CB8AC3E}">
        <p14:creationId xmlns:p14="http://schemas.microsoft.com/office/powerpoint/2010/main" val="397764298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2DCD5A-185E-8EB4-81A4-87D71CC1AB5D}"/>
            </a:ext>
          </a:extLst>
        </p:cNvPr>
        <p:cNvGrpSpPr/>
        <p:nvPr/>
      </p:nvGrpSpPr>
      <p:grpSpPr>
        <a:xfrm>
          <a:off x="0" y="0"/>
          <a:ext cx="0" cy="0"/>
          <a:chOff x="0" y="0"/>
          <a:chExt cx="0" cy="0"/>
        </a:xfrm>
      </p:grpSpPr>
      <p:sp>
        <p:nvSpPr>
          <p:cNvPr id="742" name="Hopf 分岐に伴って起こる現象">
            <a:extLst>
              <a:ext uri="{FF2B5EF4-FFF2-40B4-BE49-F238E27FC236}">
                <a16:creationId xmlns:a16="http://schemas.microsoft.com/office/drawing/2014/main" id="{374F3180-AFBA-5870-BFE5-009DF5BB7DC7}"/>
              </a:ext>
            </a:extLst>
          </p:cNvPr>
          <p:cNvSpPr txBox="1">
            <a:spLocks noGrp="1"/>
          </p:cNvSpPr>
          <p:nvPr>
            <p:ph type="title"/>
          </p:nvPr>
        </p:nvSpPr>
        <p:spPr>
          <a:prstGeom prst="rect">
            <a:avLst/>
          </a:prstGeom>
        </p:spPr>
        <p:txBody>
          <a:bodyPr/>
          <a:lstStyle/>
          <a:p>
            <a:r>
              <a:t>Hopf 分岐に伴って起こる現象</a:t>
            </a:r>
          </a:p>
        </p:txBody>
      </p:sp>
      <p:sp>
        <p:nvSpPr>
          <p:cNvPr id="725" name="Stable Spiral が Unstable Spiral に変化…">
            <a:extLst>
              <a:ext uri="{FF2B5EF4-FFF2-40B4-BE49-F238E27FC236}">
                <a16:creationId xmlns:a16="http://schemas.microsoft.com/office/drawing/2014/main" id="{AB36A75D-8726-2977-1430-6DA30CDE28E1}"/>
              </a:ext>
            </a:extLst>
          </p:cNvPr>
          <p:cNvSpPr txBox="1">
            <a:spLocks noGrp="1"/>
          </p:cNvSpPr>
          <p:nvPr>
            <p:ph type="body" sz="half" idx="4294967295"/>
          </p:nvPr>
        </p:nvSpPr>
        <p:spPr>
          <a:xfrm>
            <a:off x="1103874" y="1614574"/>
            <a:ext cx="10072126" cy="1925642"/>
          </a:xfrm>
          <a:prstGeom prst="rect">
            <a:avLst/>
          </a:prstGeom>
        </p:spPr>
        <p:txBody>
          <a:bodyPr>
            <a:normAutofit/>
          </a:bodyPr>
          <a:lstStyle/>
          <a:p>
            <a:pPr marL="383540">
              <a:buClr>
                <a:srgbClr val="000000"/>
              </a:buClr>
              <a:buSzPct val="100000"/>
              <a:buFont typeface="Arial"/>
              <a:defRPr sz="2400"/>
            </a:pPr>
            <a:r>
              <a:rPr sz="2800" dirty="0"/>
              <a:t>Stable Spiral </a:t>
            </a:r>
            <a:r>
              <a:rPr sz="2800" dirty="0" err="1"/>
              <a:t>が</a:t>
            </a:r>
            <a:r>
              <a:rPr sz="2800" dirty="0"/>
              <a:t> Unstable Spiral </a:t>
            </a:r>
            <a:r>
              <a:rPr sz="2800" dirty="0" err="1"/>
              <a:t>に変化</a:t>
            </a:r>
            <a:endParaRPr sz="2800" dirty="0"/>
          </a:p>
          <a:p>
            <a:pPr marL="383540">
              <a:buClr>
                <a:srgbClr val="000000"/>
              </a:buClr>
              <a:buSzPct val="100000"/>
              <a:buFont typeface="Arial"/>
              <a:defRPr sz="2400"/>
            </a:pPr>
            <a:endParaRPr sz="2800" dirty="0"/>
          </a:p>
          <a:p>
            <a:pPr marL="383540">
              <a:buClr>
                <a:srgbClr val="000000"/>
              </a:buClr>
              <a:buSzPct val="100000"/>
              <a:buFont typeface="Arial"/>
              <a:defRPr sz="2400"/>
            </a:pPr>
            <a:r>
              <a:rPr sz="2800" dirty="0" err="1"/>
              <a:t>そのUnstable</a:t>
            </a:r>
            <a:r>
              <a:rPr sz="2800" dirty="0"/>
              <a:t> Spiral </a:t>
            </a:r>
            <a:r>
              <a:rPr sz="2800" dirty="0" err="1"/>
              <a:t>は</a:t>
            </a:r>
            <a:r>
              <a:rPr sz="2800" dirty="0" err="1">
                <a:solidFill>
                  <a:srgbClr val="C00000"/>
                </a:solidFill>
              </a:rPr>
              <a:t>リミットサイクル</a:t>
            </a:r>
            <a:r>
              <a:rPr sz="2800" dirty="0" err="1"/>
              <a:t>に囲まれている</a:t>
            </a:r>
            <a:endParaRPr sz="2800" dirty="0"/>
          </a:p>
        </p:txBody>
      </p:sp>
      <p:sp>
        <p:nvSpPr>
          <p:cNvPr id="726" name="矢印">
            <a:extLst>
              <a:ext uri="{FF2B5EF4-FFF2-40B4-BE49-F238E27FC236}">
                <a16:creationId xmlns:a16="http://schemas.microsoft.com/office/drawing/2014/main" id="{38AC5389-3CAC-D89D-C116-1B9F0DACDE96}"/>
              </a:ext>
            </a:extLst>
          </p:cNvPr>
          <p:cNvSpPr/>
          <p:nvPr/>
        </p:nvSpPr>
        <p:spPr>
          <a:xfrm>
            <a:off x="5375276" y="4941887"/>
            <a:ext cx="1152525" cy="935038"/>
          </a:xfrm>
          <a:prstGeom prst="rightArrow">
            <a:avLst>
              <a:gd name="adj1" fmla="val 50000"/>
              <a:gd name="adj2" fmla="val 50000"/>
            </a:avLst>
          </a:prstGeom>
          <a:blipFill>
            <a:blip r:embed="rId2"/>
          </a:blipFill>
          <a:ln w="25400">
            <a:solidFill>
              <a:srgbClr val="47719C"/>
            </a:solidFill>
            <a:miter lim="400000"/>
          </a:ln>
        </p:spPr>
        <p:txBody>
          <a:bodyPr lIns="50800" tIns="50800" rIns="50800" bIns="50800" anchor="ctr"/>
          <a:lstStyle/>
          <a:p>
            <a:pPr>
              <a:defRPr>
                <a:solidFill>
                  <a:srgbClr val="FFFFFF"/>
                </a:solidFill>
                <a:effectLst>
                  <a:outerShdw blurRad="38100" dist="12700" dir="5400000" rotWithShape="0">
                    <a:srgbClr val="000000">
                      <a:alpha val="50000"/>
                    </a:srgbClr>
                  </a:outerShdw>
                </a:effectLst>
              </a:defRPr>
            </a:pPr>
            <a:endParaRPr/>
          </a:p>
        </p:txBody>
      </p:sp>
      <p:sp>
        <p:nvSpPr>
          <p:cNvPr id="727" name="楕円">
            <a:extLst>
              <a:ext uri="{FF2B5EF4-FFF2-40B4-BE49-F238E27FC236}">
                <a16:creationId xmlns:a16="http://schemas.microsoft.com/office/drawing/2014/main" id="{1719AEDF-FCC6-716B-D567-0B2043077301}"/>
              </a:ext>
            </a:extLst>
          </p:cNvPr>
          <p:cNvSpPr/>
          <p:nvPr/>
        </p:nvSpPr>
        <p:spPr>
          <a:xfrm>
            <a:off x="7104062" y="4437062"/>
            <a:ext cx="2879726" cy="1944688"/>
          </a:xfrm>
          <a:prstGeom prst="ellipse">
            <a:avLst/>
          </a:prstGeom>
          <a:ln w="25400">
            <a:solidFill>
              <a:srgbClr val="FF9292"/>
            </a:solidFill>
          </a:ln>
        </p:spPr>
        <p:txBody>
          <a:bodyPr lIns="50800" tIns="50800" rIns="50800" bIns="50800" anchor="ctr"/>
          <a:lstStyle/>
          <a:p>
            <a:pPr>
              <a:defRPr>
                <a:solidFill>
                  <a:srgbClr val="FFFFFF"/>
                </a:solidFill>
                <a:effectLst>
                  <a:outerShdw blurRad="38100" dist="12700" dir="5400000" rotWithShape="0">
                    <a:srgbClr val="000000">
                      <a:alpha val="50000"/>
                    </a:srgbClr>
                  </a:outerShdw>
                </a:effectLst>
              </a:defRPr>
            </a:pPr>
            <a:endParaRPr/>
          </a:p>
        </p:txBody>
      </p:sp>
      <p:grpSp>
        <p:nvGrpSpPr>
          <p:cNvPr id="731" name="グループ">
            <a:extLst>
              <a:ext uri="{FF2B5EF4-FFF2-40B4-BE49-F238E27FC236}">
                <a16:creationId xmlns:a16="http://schemas.microsoft.com/office/drawing/2014/main" id="{62A47870-28EE-12AB-ECEA-6E868766F787}"/>
              </a:ext>
            </a:extLst>
          </p:cNvPr>
          <p:cNvGrpSpPr/>
          <p:nvPr/>
        </p:nvGrpSpPr>
        <p:grpSpPr>
          <a:xfrm>
            <a:off x="7535855" y="4797421"/>
            <a:ext cx="1873264" cy="1295179"/>
            <a:chOff x="0" y="0"/>
            <a:chExt cx="1873262" cy="1295177"/>
          </a:xfrm>
        </p:grpSpPr>
        <p:sp>
          <p:nvSpPr>
            <p:cNvPr id="728" name="線">
              <a:extLst>
                <a:ext uri="{FF2B5EF4-FFF2-40B4-BE49-F238E27FC236}">
                  <a16:creationId xmlns:a16="http://schemas.microsoft.com/office/drawing/2014/main" id="{04FEA2D4-D755-4EB5-6304-EAE0B30B4C50}"/>
                </a:ext>
              </a:extLst>
            </p:cNvPr>
            <p:cNvSpPr/>
            <p:nvPr/>
          </p:nvSpPr>
          <p:spPr>
            <a:xfrm>
              <a:off x="0" y="-1"/>
              <a:ext cx="1873263" cy="1295179"/>
            </a:xfrm>
            <a:custGeom>
              <a:avLst/>
              <a:gdLst/>
              <a:ahLst/>
              <a:cxnLst>
                <a:cxn ang="0">
                  <a:pos x="wd2" y="hd2"/>
                </a:cxn>
                <a:cxn ang="5400000">
                  <a:pos x="wd2" y="hd2"/>
                </a:cxn>
                <a:cxn ang="10800000">
                  <a:pos x="wd2" y="hd2"/>
                </a:cxn>
                <a:cxn ang="16200000">
                  <a:pos x="wd2" y="hd2"/>
                </a:cxn>
              </a:cxnLst>
              <a:rect l="0" t="0" r="r" b="b"/>
              <a:pathLst>
                <a:path w="21296" h="21447" extrusionOk="0">
                  <a:moveTo>
                    <a:pt x="10366" y="21447"/>
                  </a:moveTo>
                  <a:lnTo>
                    <a:pt x="10366" y="21447"/>
                  </a:lnTo>
                  <a:cubicBezTo>
                    <a:pt x="4487" y="21290"/>
                    <a:pt x="-152" y="16363"/>
                    <a:pt x="4" y="10442"/>
                  </a:cubicBezTo>
                  <a:cubicBezTo>
                    <a:pt x="159" y="4520"/>
                    <a:pt x="5051" y="-153"/>
                    <a:pt x="10930" y="4"/>
                  </a:cubicBezTo>
                  <a:cubicBezTo>
                    <a:pt x="16809" y="161"/>
                    <a:pt x="21448" y="5088"/>
                    <a:pt x="21292" y="11009"/>
                  </a:cubicBezTo>
                  <a:cubicBezTo>
                    <a:pt x="21283" y="11358"/>
                    <a:pt x="21257" y="11707"/>
                    <a:pt x="21214" y="12053"/>
                  </a:cubicBezTo>
                </a:path>
              </a:pathLst>
            </a:custGeom>
            <a:noFill/>
            <a:ln w="25400" cap="flat">
              <a:solidFill>
                <a:srgbClr val="000000"/>
              </a:solidFill>
              <a:prstDash val="solid"/>
              <a:miter lim="400000"/>
            </a:ln>
            <a:effectLst/>
          </p:spPr>
          <p:txBody>
            <a:bodyPr wrap="square" lIns="50800" tIns="50800" rIns="50800" bIns="50800" numCol="1" anchor="ctr">
              <a:noAutofit/>
            </a:bodyPr>
            <a:lstStyle/>
            <a:p>
              <a:pPr>
                <a:defRPr>
                  <a:solidFill>
                    <a:srgbClr val="FFFFFF"/>
                  </a:solidFill>
                  <a:effectLst>
                    <a:outerShdw blurRad="38100" dist="12700" dir="5400000" rotWithShape="0">
                      <a:srgbClr val="000000">
                        <a:alpha val="50000"/>
                      </a:srgbClr>
                    </a:outerShdw>
                  </a:effectLst>
                </a:defRPr>
              </a:pPr>
              <a:endParaRPr/>
            </a:p>
          </p:txBody>
        </p:sp>
        <p:sp>
          <p:nvSpPr>
            <p:cNvPr id="729" name="線">
              <a:extLst>
                <a:ext uri="{FF2B5EF4-FFF2-40B4-BE49-F238E27FC236}">
                  <a16:creationId xmlns:a16="http://schemas.microsoft.com/office/drawing/2014/main" id="{21D289CD-D7F3-AC7C-6C72-16A7954BF169}"/>
                </a:ext>
              </a:extLst>
            </p:cNvPr>
            <p:cNvSpPr/>
            <p:nvPr/>
          </p:nvSpPr>
          <p:spPr>
            <a:xfrm>
              <a:off x="1016567" y="360361"/>
              <a:ext cx="496340" cy="358782"/>
            </a:xfrm>
            <a:custGeom>
              <a:avLst/>
              <a:gdLst/>
              <a:ahLst/>
              <a:cxnLst>
                <a:cxn ang="0">
                  <a:pos x="wd2" y="hd2"/>
                </a:cxn>
                <a:cxn ang="5400000">
                  <a:pos x="wd2" y="hd2"/>
                </a:cxn>
                <a:cxn ang="10800000">
                  <a:pos x="wd2" y="hd2"/>
                </a:cxn>
                <a:cxn ang="16200000">
                  <a:pos x="wd2" y="hd2"/>
                </a:cxn>
              </a:cxnLst>
              <a:rect l="0" t="0" r="r" b="b"/>
              <a:pathLst>
                <a:path w="20982" h="21263" extrusionOk="0">
                  <a:moveTo>
                    <a:pt x="0" y="19"/>
                  </a:moveTo>
                  <a:lnTo>
                    <a:pt x="0" y="19"/>
                  </a:lnTo>
                  <a:cubicBezTo>
                    <a:pt x="10914" y="-332"/>
                    <a:pt x="20292" y="4135"/>
                    <a:pt x="20946" y="9995"/>
                  </a:cubicBezTo>
                  <a:cubicBezTo>
                    <a:pt x="21600" y="15856"/>
                    <a:pt x="13283" y="20892"/>
                    <a:pt x="2368" y="21244"/>
                  </a:cubicBezTo>
                  <a:cubicBezTo>
                    <a:pt x="1734" y="21264"/>
                    <a:pt x="1097" y="21268"/>
                    <a:pt x="462" y="21256"/>
                  </a:cubicBezTo>
                </a:path>
              </a:pathLst>
            </a:custGeom>
            <a:noFill/>
            <a:ln w="25400" cap="flat">
              <a:solidFill>
                <a:srgbClr val="000000"/>
              </a:solidFill>
              <a:prstDash val="solid"/>
              <a:miter lim="400000"/>
            </a:ln>
            <a:effectLst/>
          </p:spPr>
          <p:txBody>
            <a:bodyPr wrap="square" lIns="50800" tIns="50800" rIns="50800" bIns="50800" numCol="1" anchor="ctr">
              <a:noAutofit/>
            </a:bodyPr>
            <a:lstStyle/>
            <a:p>
              <a:pPr>
                <a:defRPr>
                  <a:solidFill>
                    <a:srgbClr val="FFFFFF"/>
                  </a:solidFill>
                  <a:effectLst>
                    <a:outerShdw blurRad="38100" dist="12700" dir="5400000" rotWithShape="0">
                      <a:srgbClr val="000000">
                        <a:alpha val="50000"/>
                      </a:srgbClr>
                    </a:outerShdw>
                  </a:effectLst>
                </a:defRPr>
              </a:pPr>
              <a:endParaRPr/>
            </a:p>
          </p:txBody>
        </p:sp>
        <p:sp>
          <p:nvSpPr>
            <p:cNvPr id="730" name="線">
              <a:extLst>
                <a:ext uri="{FF2B5EF4-FFF2-40B4-BE49-F238E27FC236}">
                  <a16:creationId xmlns:a16="http://schemas.microsoft.com/office/drawing/2014/main" id="{27C62759-AC5C-6155-75EE-8EEE49B678A1}"/>
                </a:ext>
              </a:extLst>
            </p:cNvPr>
            <p:cNvSpPr/>
            <p:nvPr/>
          </p:nvSpPr>
          <p:spPr>
            <a:xfrm>
              <a:off x="360252" y="362129"/>
              <a:ext cx="1502996" cy="645988"/>
            </a:xfrm>
            <a:custGeom>
              <a:avLst/>
              <a:gdLst/>
              <a:ahLst/>
              <a:cxnLst>
                <a:cxn ang="0">
                  <a:pos x="wd2" y="hd2"/>
                </a:cxn>
                <a:cxn ang="5400000">
                  <a:pos x="wd2" y="hd2"/>
                </a:cxn>
                <a:cxn ang="10800000">
                  <a:pos x="wd2" y="hd2"/>
                </a:cxn>
                <a:cxn ang="16200000">
                  <a:pos x="wd2" y="hd2"/>
                </a:cxn>
              </a:cxnLst>
              <a:rect l="0" t="0" r="r" b="b"/>
              <a:pathLst>
                <a:path w="20803" h="20806" extrusionOk="0">
                  <a:moveTo>
                    <a:pt x="20803" y="12065"/>
                  </a:moveTo>
                  <a:lnTo>
                    <a:pt x="20803" y="12065"/>
                  </a:lnTo>
                  <a:cubicBezTo>
                    <a:pt x="19865" y="17749"/>
                    <a:pt x="14480" y="21600"/>
                    <a:pt x="8774" y="20666"/>
                  </a:cubicBezTo>
                  <a:cubicBezTo>
                    <a:pt x="3068" y="19732"/>
                    <a:pt x="-797" y="14367"/>
                    <a:pt x="141" y="8682"/>
                  </a:cubicBezTo>
                  <a:cubicBezTo>
                    <a:pt x="905" y="4045"/>
                    <a:pt x="4689" y="490"/>
                    <a:pt x="9381" y="0"/>
                  </a:cubicBezTo>
                </a:path>
              </a:pathLst>
            </a:custGeom>
            <a:noFill/>
            <a:ln w="25400" cap="flat">
              <a:solidFill>
                <a:srgbClr val="000000"/>
              </a:solidFill>
              <a:prstDash val="solid"/>
              <a:miter lim="400000"/>
            </a:ln>
            <a:effectLst/>
          </p:spPr>
          <p:txBody>
            <a:bodyPr wrap="square" lIns="50800" tIns="50800" rIns="50800" bIns="50800" numCol="1" anchor="ctr">
              <a:noAutofit/>
            </a:bodyPr>
            <a:lstStyle/>
            <a:p>
              <a:pPr>
                <a:defRPr>
                  <a:solidFill>
                    <a:srgbClr val="FFFFFF"/>
                  </a:solidFill>
                  <a:effectLst>
                    <a:outerShdw blurRad="38100" dist="12700" dir="5400000" rotWithShape="0">
                      <a:srgbClr val="000000">
                        <a:alpha val="50000"/>
                      </a:srgbClr>
                    </a:outerShdw>
                  </a:effectLst>
                </a:defRPr>
              </a:pPr>
              <a:endParaRPr/>
            </a:p>
          </p:txBody>
        </p:sp>
      </p:grpSp>
      <p:sp>
        <p:nvSpPr>
          <p:cNvPr id="732" name="円形">
            <a:extLst>
              <a:ext uri="{FF2B5EF4-FFF2-40B4-BE49-F238E27FC236}">
                <a16:creationId xmlns:a16="http://schemas.microsoft.com/office/drawing/2014/main" id="{BE8F8604-7F72-ABFF-8630-36A972BDF068}"/>
              </a:ext>
            </a:extLst>
          </p:cNvPr>
          <p:cNvSpPr/>
          <p:nvPr/>
        </p:nvSpPr>
        <p:spPr>
          <a:xfrm>
            <a:off x="8472487" y="5445126"/>
            <a:ext cx="144464" cy="144463"/>
          </a:xfrm>
          <a:prstGeom prst="ellipse">
            <a:avLst/>
          </a:prstGeom>
          <a:ln w="25400">
            <a:solidFill>
              <a:srgbClr val="000000"/>
            </a:solidFill>
          </a:ln>
        </p:spPr>
        <p:txBody>
          <a:bodyPr lIns="50800" tIns="50800" rIns="50800" bIns="50800" anchor="ctr"/>
          <a:lstStyle/>
          <a:p>
            <a:pPr>
              <a:defRPr>
                <a:solidFill>
                  <a:srgbClr val="FFFFFF"/>
                </a:solidFill>
                <a:effectLst>
                  <a:outerShdw blurRad="38100" dist="12700" dir="5400000" rotWithShape="0">
                    <a:srgbClr val="000000">
                      <a:alpha val="50000"/>
                    </a:srgbClr>
                  </a:outerShdw>
                </a:effectLst>
              </a:defRPr>
            </a:pPr>
            <a:endParaRPr/>
          </a:p>
        </p:txBody>
      </p:sp>
      <p:sp>
        <p:nvSpPr>
          <p:cNvPr id="733" name="三角形">
            <a:extLst>
              <a:ext uri="{FF2B5EF4-FFF2-40B4-BE49-F238E27FC236}">
                <a16:creationId xmlns:a16="http://schemas.microsoft.com/office/drawing/2014/main" id="{C937DCE2-A080-8A24-518C-756578CFD66D}"/>
              </a:ext>
            </a:extLst>
          </p:cNvPr>
          <p:cNvSpPr/>
          <p:nvPr/>
        </p:nvSpPr>
        <p:spPr>
          <a:xfrm rot="5400000">
            <a:off x="8398524" y="5947371"/>
            <a:ext cx="144357" cy="289323"/>
          </a:xfrm>
          <a:prstGeom prst="triangle">
            <a:avLst/>
          </a:prstGeom>
          <a:solidFill>
            <a:srgbClr val="000000"/>
          </a:solidFill>
          <a:ln w="25400">
            <a:solidFill>
              <a:srgbClr val="000000"/>
            </a:solidFill>
            <a:miter lim="400000"/>
          </a:ln>
        </p:spPr>
        <p:txBody>
          <a:bodyPr lIns="50800" tIns="50800" rIns="50800" bIns="50800" anchor="ctr"/>
          <a:lstStyle/>
          <a:p>
            <a:pPr>
              <a:defRPr>
                <a:solidFill>
                  <a:srgbClr val="FFFFFF"/>
                </a:solidFill>
                <a:effectLst>
                  <a:outerShdw blurRad="38100" dist="12700" dir="5400000" rotWithShape="0">
                    <a:srgbClr val="000000">
                      <a:alpha val="50000"/>
                    </a:srgbClr>
                  </a:outerShdw>
                </a:effectLst>
              </a:defRPr>
            </a:pPr>
            <a:endParaRPr/>
          </a:p>
        </p:txBody>
      </p:sp>
      <p:pic>
        <p:nvPicPr>
          <p:cNvPr id="734" name="imagedDrawable.pdf" descr="imagedDrawable.pdf">
            <a:extLst>
              <a:ext uri="{FF2B5EF4-FFF2-40B4-BE49-F238E27FC236}">
                <a16:creationId xmlns:a16="http://schemas.microsoft.com/office/drawing/2014/main" id="{F62F06F7-95B6-B2BA-FEF9-6E9EBA2843A3}"/>
              </a:ext>
            </a:extLst>
          </p:cNvPr>
          <p:cNvPicPr>
            <a:picLocks/>
          </p:cNvPicPr>
          <p:nvPr/>
        </p:nvPicPr>
        <p:blipFill>
          <a:blip r:embed="rId3"/>
          <a:stretch>
            <a:fillRect/>
          </a:stretch>
        </p:blipFill>
        <p:spPr>
          <a:xfrm>
            <a:off x="8347075" y="4302125"/>
            <a:ext cx="469900" cy="254000"/>
          </a:xfrm>
          <a:prstGeom prst="rect">
            <a:avLst/>
          </a:prstGeom>
          <a:ln w="12700">
            <a:miter lim="400000"/>
          </a:ln>
          <a:effectLst>
            <a:outerShdw blurRad="63500" dist="25400" dir="5400000" rotWithShape="0">
              <a:srgbClr val="000000">
                <a:alpha val="34997"/>
              </a:srgbClr>
            </a:outerShdw>
          </a:effectLst>
        </p:spPr>
      </p:pic>
      <p:grpSp>
        <p:nvGrpSpPr>
          <p:cNvPr id="738" name="グループ">
            <a:extLst>
              <a:ext uri="{FF2B5EF4-FFF2-40B4-BE49-F238E27FC236}">
                <a16:creationId xmlns:a16="http://schemas.microsoft.com/office/drawing/2014/main" id="{FCA666F9-B861-631A-43CB-B9A30D8ECC04}"/>
              </a:ext>
            </a:extLst>
          </p:cNvPr>
          <p:cNvGrpSpPr/>
          <p:nvPr/>
        </p:nvGrpSpPr>
        <p:grpSpPr>
          <a:xfrm>
            <a:off x="2782882" y="4581521"/>
            <a:ext cx="1873263" cy="1295179"/>
            <a:chOff x="0" y="0"/>
            <a:chExt cx="1873262" cy="1295177"/>
          </a:xfrm>
        </p:grpSpPr>
        <p:sp>
          <p:nvSpPr>
            <p:cNvPr id="735" name="線">
              <a:extLst>
                <a:ext uri="{FF2B5EF4-FFF2-40B4-BE49-F238E27FC236}">
                  <a16:creationId xmlns:a16="http://schemas.microsoft.com/office/drawing/2014/main" id="{B1A09A3F-6195-2DF5-34B7-CFE1EFDEA7C0}"/>
                </a:ext>
              </a:extLst>
            </p:cNvPr>
            <p:cNvSpPr/>
            <p:nvPr/>
          </p:nvSpPr>
          <p:spPr>
            <a:xfrm>
              <a:off x="0" y="-1"/>
              <a:ext cx="1873263" cy="1295179"/>
            </a:xfrm>
            <a:custGeom>
              <a:avLst/>
              <a:gdLst/>
              <a:ahLst/>
              <a:cxnLst>
                <a:cxn ang="0">
                  <a:pos x="wd2" y="hd2"/>
                </a:cxn>
                <a:cxn ang="5400000">
                  <a:pos x="wd2" y="hd2"/>
                </a:cxn>
                <a:cxn ang="10800000">
                  <a:pos x="wd2" y="hd2"/>
                </a:cxn>
                <a:cxn ang="16200000">
                  <a:pos x="wd2" y="hd2"/>
                </a:cxn>
              </a:cxnLst>
              <a:rect l="0" t="0" r="r" b="b"/>
              <a:pathLst>
                <a:path w="21296" h="21447" extrusionOk="0">
                  <a:moveTo>
                    <a:pt x="10366" y="21447"/>
                  </a:moveTo>
                  <a:lnTo>
                    <a:pt x="10366" y="21447"/>
                  </a:lnTo>
                  <a:cubicBezTo>
                    <a:pt x="4487" y="21290"/>
                    <a:pt x="-152" y="16363"/>
                    <a:pt x="4" y="10442"/>
                  </a:cubicBezTo>
                  <a:cubicBezTo>
                    <a:pt x="159" y="4520"/>
                    <a:pt x="5051" y="-153"/>
                    <a:pt x="10930" y="4"/>
                  </a:cubicBezTo>
                  <a:cubicBezTo>
                    <a:pt x="16809" y="161"/>
                    <a:pt x="21448" y="5088"/>
                    <a:pt x="21292" y="11009"/>
                  </a:cubicBezTo>
                  <a:cubicBezTo>
                    <a:pt x="21283" y="11358"/>
                    <a:pt x="21257" y="11707"/>
                    <a:pt x="21214" y="12053"/>
                  </a:cubicBezTo>
                </a:path>
              </a:pathLst>
            </a:custGeom>
            <a:noFill/>
            <a:ln w="25400" cap="flat">
              <a:solidFill>
                <a:srgbClr val="000000"/>
              </a:solidFill>
              <a:prstDash val="solid"/>
              <a:miter lim="400000"/>
            </a:ln>
            <a:effectLst/>
          </p:spPr>
          <p:txBody>
            <a:bodyPr wrap="square" lIns="50800" tIns="50800" rIns="50800" bIns="50800" numCol="1" anchor="ctr">
              <a:noAutofit/>
            </a:bodyPr>
            <a:lstStyle/>
            <a:p>
              <a:pPr>
                <a:defRPr>
                  <a:solidFill>
                    <a:srgbClr val="FFFFFF"/>
                  </a:solidFill>
                  <a:effectLst>
                    <a:outerShdw blurRad="38100" dist="12700" dir="5400000" rotWithShape="0">
                      <a:srgbClr val="000000">
                        <a:alpha val="50000"/>
                      </a:srgbClr>
                    </a:outerShdw>
                  </a:effectLst>
                </a:defRPr>
              </a:pPr>
              <a:endParaRPr/>
            </a:p>
          </p:txBody>
        </p:sp>
        <p:sp>
          <p:nvSpPr>
            <p:cNvPr id="736" name="線">
              <a:extLst>
                <a:ext uri="{FF2B5EF4-FFF2-40B4-BE49-F238E27FC236}">
                  <a16:creationId xmlns:a16="http://schemas.microsoft.com/office/drawing/2014/main" id="{0B799372-5AC7-CF36-1B42-4447FD0EEF78}"/>
                </a:ext>
              </a:extLst>
            </p:cNvPr>
            <p:cNvSpPr/>
            <p:nvPr/>
          </p:nvSpPr>
          <p:spPr>
            <a:xfrm>
              <a:off x="1016567" y="360361"/>
              <a:ext cx="496341" cy="358782"/>
            </a:xfrm>
            <a:custGeom>
              <a:avLst/>
              <a:gdLst/>
              <a:ahLst/>
              <a:cxnLst>
                <a:cxn ang="0">
                  <a:pos x="wd2" y="hd2"/>
                </a:cxn>
                <a:cxn ang="5400000">
                  <a:pos x="wd2" y="hd2"/>
                </a:cxn>
                <a:cxn ang="10800000">
                  <a:pos x="wd2" y="hd2"/>
                </a:cxn>
                <a:cxn ang="16200000">
                  <a:pos x="wd2" y="hd2"/>
                </a:cxn>
              </a:cxnLst>
              <a:rect l="0" t="0" r="r" b="b"/>
              <a:pathLst>
                <a:path w="20982" h="21263" extrusionOk="0">
                  <a:moveTo>
                    <a:pt x="0" y="19"/>
                  </a:moveTo>
                  <a:lnTo>
                    <a:pt x="0" y="19"/>
                  </a:lnTo>
                  <a:cubicBezTo>
                    <a:pt x="10914" y="-332"/>
                    <a:pt x="20292" y="4135"/>
                    <a:pt x="20946" y="9995"/>
                  </a:cubicBezTo>
                  <a:cubicBezTo>
                    <a:pt x="21600" y="15856"/>
                    <a:pt x="13283" y="20892"/>
                    <a:pt x="2368" y="21244"/>
                  </a:cubicBezTo>
                  <a:cubicBezTo>
                    <a:pt x="1734" y="21264"/>
                    <a:pt x="1097" y="21268"/>
                    <a:pt x="462" y="21256"/>
                  </a:cubicBezTo>
                </a:path>
              </a:pathLst>
            </a:custGeom>
            <a:noFill/>
            <a:ln w="25400" cap="flat">
              <a:solidFill>
                <a:srgbClr val="000000"/>
              </a:solidFill>
              <a:prstDash val="solid"/>
              <a:miter lim="400000"/>
            </a:ln>
            <a:effectLst/>
          </p:spPr>
          <p:txBody>
            <a:bodyPr wrap="square" lIns="50800" tIns="50800" rIns="50800" bIns="50800" numCol="1" anchor="ctr">
              <a:noAutofit/>
            </a:bodyPr>
            <a:lstStyle/>
            <a:p>
              <a:pPr>
                <a:defRPr>
                  <a:solidFill>
                    <a:srgbClr val="FFFFFF"/>
                  </a:solidFill>
                  <a:effectLst>
                    <a:outerShdw blurRad="38100" dist="12700" dir="5400000" rotWithShape="0">
                      <a:srgbClr val="000000">
                        <a:alpha val="50000"/>
                      </a:srgbClr>
                    </a:outerShdw>
                  </a:effectLst>
                </a:defRPr>
              </a:pPr>
              <a:endParaRPr/>
            </a:p>
          </p:txBody>
        </p:sp>
        <p:sp>
          <p:nvSpPr>
            <p:cNvPr id="737" name="線">
              <a:extLst>
                <a:ext uri="{FF2B5EF4-FFF2-40B4-BE49-F238E27FC236}">
                  <a16:creationId xmlns:a16="http://schemas.microsoft.com/office/drawing/2014/main" id="{FD8EAC0C-60A1-AC29-C918-42C117A5143D}"/>
                </a:ext>
              </a:extLst>
            </p:cNvPr>
            <p:cNvSpPr/>
            <p:nvPr/>
          </p:nvSpPr>
          <p:spPr>
            <a:xfrm>
              <a:off x="360253" y="362129"/>
              <a:ext cx="1502995" cy="645988"/>
            </a:xfrm>
            <a:custGeom>
              <a:avLst/>
              <a:gdLst/>
              <a:ahLst/>
              <a:cxnLst>
                <a:cxn ang="0">
                  <a:pos x="wd2" y="hd2"/>
                </a:cxn>
                <a:cxn ang="5400000">
                  <a:pos x="wd2" y="hd2"/>
                </a:cxn>
                <a:cxn ang="10800000">
                  <a:pos x="wd2" y="hd2"/>
                </a:cxn>
                <a:cxn ang="16200000">
                  <a:pos x="wd2" y="hd2"/>
                </a:cxn>
              </a:cxnLst>
              <a:rect l="0" t="0" r="r" b="b"/>
              <a:pathLst>
                <a:path w="20803" h="20806" extrusionOk="0">
                  <a:moveTo>
                    <a:pt x="20803" y="12065"/>
                  </a:moveTo>
                  <a:lnTo>
                    <a:pt x="20803" y="12065"/>
                  </a:lnTo>
                  <a:cubicBezTo>
                    <a:pt x="19865" y="17749"/>
                    <a:pt x="14480" y="21600"/>
                    <a:pt x="8774" y="20666"/>
                  </a:cubicBezTo>
                  <a:cubicBezTo>
                    <a:pt x="3068" y="19732"/>
                    <a:pt x="-797" y="14367"/>
                    <a:pt x="141" y="8682"/>
                  </a:cubicBezTo>
                  <a:cubicBezTo>
                    <a:pt x="905" y="4045"/>
                    <a:pt x="4689" y="490"/>
                    <a:pt x="9381" y="0"/>
                  </a:cubicBezTo>
                </a:path>
              </a:pathLst>
            </a:custGeom>
            <a:noFill/>
            <a:ln w="25400" cap="flat">
              <a:solidFill>
                <a:srgbClr val="000000"/>
              </a:solidFill>
              <a:prstDash val="solid"/>
              <a:miter lim="400000"/>
            </a:ln>
            <a:effectLst/>
          </p:spPr>
          <p:txBody>
            <a:bodyPr wrap="square" lIns="50800" tIns="50800" rIns="50800" bIns="50800" numCol="1" anchor="ctr">
              <a:noAutofit/>
            </a:bodyPr>
            <a:lstStyle/>
            <a:p>
              <a:pPr>
                <a:defRPr>
                  <a:solidFill>
                    <a:srgbClr val="FFFFFF"/>
                  </a:solidFill>
                  <a:effectLst>
                    <a:outerShdw blurRad="38100" dist="12700" dir="5400000" rotWithShape="0">
                      <a:srgbClr val="000000">
                        <a:alpha val="50000"/>
                      </a:srgbClr>
                    </a:outerShdw>
                  </a:effectLst>
                </a:defRPr>
              </a:pPr>
              <a:endParaRPr/>
            </a:p>
          </p:txBody>
        </p:sp>
      </p:grpSp>
      <p:sp>
        <p:nvSpPr>
          <p:cNvPr id="739" name="円形">
            <a:extLst>
              <a:ext uri="{FF2B5EF4-FFF2-40B4-BE49-F238E27FC236}">
                <a16:creationId xmlns:a16="http://schemas.microsoft.com/office/drawing/2014/main" id="{1937EB9C-68C3-AF68-AEA7-FD87059EAF29}"/>
              </a:ext>
            </a:extLst>
          </p:cNvPr>
          <p:cNvSpPr/>
          <p:nvPr/>
        </p:nvSpPr>
        <p:spPr>
          <a:xfrm>
            <a:off x="3719512" y="5229226"/>
            <a:ext cx="144464" cy="144463"/>
          </a:xfrm>
          <a:prstGeom prst="ellipse">
            <a:avLst/>
          </a:prstGeom>
          <a:ln w="25400">
            <a:solidFill>
              <a:srgbClr val="000000"/>
            </a:solidFill>
          </a:ln>
        </p:spPr>
        <p:txBody>
          <a:bodyPr lIns="50800" tIns="50800" rIns="50800" bIns="50800" anchor="ctr"/>
          <a:lstStyle/>
          <a:p>
            <a:pPr>
              <a:defRPr>
                <a:solidFill>
                  <a:srgbClr val="FFFFFF"/>
                </a:solidFill>
                <a:effectLst>
                  <a:outerShdw blurRad="38100" dist="12700" dir="5400000" rotWithShape="0">
                    <a:srgbClr val="000000">
                      <a:alpha val="50000"/>
                    </a:srgbClr>
                  </a:outerShdw>
                </a:effectLst>
              </a:defRPr>
            </a:pPr>
            <a:endParaRPr/>
          </a:p>
        </p:txBody>
      </p:sp>
      <p:sp>
        <p:nvSpPr>
          <p:cNvPr id="740" name="三角形">
            <a:extLst>
              <a:ext uri="{FF2B5EF4-FFF2-40B4-BE49-F238E27FC236}">
                <a16:creationId xmlns:a16="http://schemas.microsoft.com/office/drawing/2014/main" id="{FB8308EE-7C9D-21B3-5F35-5A1D69AE7799}"/>
              </a:ext>
            </a:extLst>
          </p:cNvPr>
          <p:cNvSpPr/>
          <p:nvPr/>
        </p:nvSpPr>
        <p:spPr>
          <a:xfrm rot="15720000" flipH="1">
            <a:off x="3934146" y="5137655"/>
            <a:ext cx="144357" cy="286941"/>
          </a:xfrm>
          <a:prstGeom prst="triangle">
            <a:avLst/>
          </a:prstGeom>
          <a:solidFill>
            <a:srgbClr val="000000"/>
          </a:solidFill>
          <a:ln w="25400">
            <a:solidFill>
              <a:srgbClr val="000000"/>
            </a:solidFill>
            <a:miter lim="400000"/>
          </a:ln>
        </p:spPr>
        <p:txBody>
          <a:bodyPr lIns="50800" tIns="50800" rIns="50800" bIns="50800" anchor="ctr"/>
          <a:lstStyle/>
          <a:p>
            <a:pPr>
              <a:defRPr>
                <a:solidFill>
                  <a:srgbClr val="FFFFFF"/>
                </a:solidFill>
                <a:effectLst>
                  <a:outerShdw blurRad="38100" dist="12700" dir="5400000" rotWithShape="0">
                    <a:srgbClr val="000000">
                      <a:alpha val="50000"/>
                    </a:srgbClr>
                  </a:outerShdw>
                </a:effectLst>
              </a:defRPr>
            </a:pPr>
            <a:endParaRPr/>
          </a:p>
        </p:txBody>
      </p:sp>
      <p:sp>
        <p:nvSpPr>
          <p:cNvPr id="741" name="Hopf 分岐">
            <a:extLst>
              <a:ext uri="{FF2B5EF4-FFF2-40B4-BE49-F238E27FC236}">
                <a16:creationId xmlns:a16="http://schemas.microsoft.com/office/drawing/2014/main" id="{6C087992-7C5D-97D1-EF7D-6D58CCC8FCD3}"/>
              </a:ext>
            </a:extLst>
          </p:cNvPr>
          <p:cNvSpPr/>
          <p:nvPr/>
        </p:nvSpPr>
        <p:spPr>
          <a:xfrm>
            <a:off x="5059882" y="4203661"/>
            <a:ext cx="1673535" cy="53347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p>
            <a:pPr>
              <a:buClr>
                <a:srgbClr val="000000"/>
              </a:buClr>
              <a:buFont typeface="Arial"/>
            </a:pPr>
            <a:r>
              <a:rPr sz="2800"/>
              <a:t>Hopf </a:t>
            </a:r>
            <a:r>
              <a:rPr sz="2800">
                <a:latin typeface="Heiti TC Light"/>
                <a:ea typeface="Heiti TC Light"/>
                <a:cs typeface="Heiti TC Light"/>
                <a:sym typeface="Heiti TC Light"/>
              </a:rPr>
              <a:t>分岐</a:t>
            </a:r>
          </a:p>
        </p:txBody>
      </p:sp>
    </p:spTree>
    <p:extLst>
      <p:ext uri="{BB962C8B-B14F-4D97-AF65-F5344CB8AC3E}">
        <p14:creationId xmlns:p14="http://schemas.microsoft.com/office/powerpoint/2010/main" val="169513810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B82AF3-61E9-E02E-F1A1-2B01DFCDDBD1}"/>
            </a:ext>
          </a:extLst>
        </p:cNvPr>
        <p:cNvGrpSpPr/>
        <p:nvPr/>
      </p:nvGrpSpPr>
      <p:grpSpPr>
        <a:xfrm>
          <a:off x="0" y="0"/>
          <a:ext cx="0" cy="0"/>
          <a:chOff x="0" y="0"/>
          <a:chExt cx="0" cy="0"/>
        </a:xfrm>
      </p:grpSpPr>
      <p:sp>
        <p:nvSpPr>
          <p:cNvPr id="745" name="演習6: Sel’kovモデルとHopf分岐">
            <a:extLst>
              <a:ext uri="{FF2B5EF4-FFF2-40B4-BE49-F238E27FC236}">
                <a16:creationId xmlns:a16="http://schemas.microsoft.com/office/drawing/2014/main" id="{A412DAE7-C6F0-254A-F922-25676CA38D68}"/>
              </a:ext>
            </a:extLst>
          </p:cNvPr>
          <p:cNvSpPr txBox="1">
            <a:spLocks noGrp="1"/>
          </p:cNvSpPr>
          <p:nvPr>
            <p:ph type="title"/>
          </p:nvPr>
        </p:nvSpPr>
        <p:spPr>
          <a:prstGeom prst="rect">
            <a:avLst/>
          </a:prstGeom>
        </p:spPr>
        <p:txBody>
          <a:bodyPr/>
          <a:lstStyle/>
          <a:p>
            <a:r>
              <a:t>演習6: Sel’kovモデルとHopf分岐</a:t>
            </a:r>
          </a:p>
        </p:txBody>
      </p:sp>
      <p:sp>
        <p:nvSpPr>
          <p:cNvPr id="744" name="Sel’kov モデルにおいて、以下2つの条件の間でHopf 分岐が起こることを、固有値から示しなさい。(紙と鉛筆)…">
            <a:extLst>
              <a:ext uri="{FF2B5EF4-FFF2-40B4-BE49-F238E27FC236}">
                <a16:creationId xmlns:a16="http://schemas.microsoft.com/office/drawing/2014/main" id="{A51EDFC2-B07C-DC40-3495-A7F5B64CDE4C}"/>
              </a:ext>
            </a:extLst>
          </p:cNvPr>
          <p:cNvSpPr txBox="1">
            <a:spLocks noGrp="1"/>
          </p:cNvSpPr>
          <p:nvPr>
            <p:ph type="body" idx="4294967295"/>
          </p:nvPr>
        </p:nvSpPr>
        <p:spPr>
          <a:xfrm>
            <a:off x="523875" y="1371600"/>
            <a:ext cx="11144250" cy="5257800"/>
          </a:xfrm>
          <a:prstGeom prst="rect">
            <a:avLst/>
          </a:prstGeom>
        </p:spPr>
        <p:txBody>
          <a:bodyPr>
            <a:normAutofit/>
          </a:bodyPr>
          <a:lstStyle/>
          <a:p>
            <a:pPr marL="553770" indent="-514350" defTabSz="394208">
              <a:spcBef>
                <a:spcPts val="1600"/>
              </a:spcBef>
              <a:buClr>
                <a:srgbClr val="000000"/>
              </a:buClr>
              <a:buSzPct val="100000"/>
              <a:buFont typeface="+mj-lt"/>
              <a:buAutoNum type="arabicPeriod"/>
              <a:defRPr sz="1746"/>
            </a:pPr>
            <a:r>
              <a:rPr sz="3104" dirty="0" err="1"/>
              <a:t>Sel’kov</a:t>
            </a:r>
            <a:r>
              <a:rPr sz="3104" dirty="0"/>
              <a:t> モデルにおいて、以下2つの条件の間でHopf </a:t>
            </a:r>
            <a:r>
              <a:rPr sz="3104" dirty="0" err="1"/>
              <a:t>分岐が起こることを、固有値から示しなさい</a:t>
            </a:r>
            <a:r>
              <a:rPr sz="3104" dirty="0"/>
              <a:t>。</a:t>
            </a:r>
          </a:p>
          <a:p>
            <a:pPr marL="760082" lvl="1" indent="-277177" defTabSz="394208">
              <a:spcBef>
                <a:spcPts val="1600"/>
              </a:spcBef>
              <a:buClr>
                <a:srgbClr val="000000"/>
              </a:buClr>
              <a:buSzPct val="100000"/>
              <a:buFont typeface="Arial"/>
              <a:defRPr sz="2328"/>
            </a:pPr>
            <a:r>
              <a:rPr sz="3200" dirty="0"/>
              <a:t>条件1: 	a=0.14, b=0.6</a:t>
            </a:r>
          </a:p>
          <a:p>
            <a:pPr marL="760082" lvl="1" indent="-277177" defTabSz="394208">
              <a:spcBef>
                <a:spcPts val="1600"/>
              </a:spcBef>
              <a:buClr>
                <a:srgbClr val="000000"/>
              </a:buClr>
              <a:buSzPct val="100000"/>
              <a:buFont typeface="Arial"/>
              <a:defRPr sz="2328"/>
            </a:pPr>
            <a:r>
              <a:rPr sz="3200" dirty="0"/>
              <a:t>条件2: 	a=0.06, b=0.6</a:t>
            </a:r>
          </a:p>
          <a:p>
            <a:pPr marL="1591614" lvl="3" indent="-221742" defTabSz="394208">
              <a:spcBef>
                <a:spcPts val="1600"/>
              </a:spcBef>
              <a:buClr>
                <a:srgbClr val="000000"/>
              </a:buClr>
              <a:buSzPct val="100000"/>
              <a:buFont typeface="Arial"/>
              <a:buChar char="–"/>
              <a:defRPr sz="2716"/>
            </a:pPr>
            <a:endParaRPr dirty="0"/>
          </a:p>
          <a:p>
            <a:pPr marL="553770" indent="-514350" defTabSz="394208">
              <a:spcBef>
                <a:spcPts val="1600"/>
              </a:spcBef>
              <a:buClr>
                <a:srgbClr val="000000"/>
              </a:buClr>
              <a:buSzPct val="100000"/>
              <a:buFont typeface="+mj-lt"/>
              <a:buAutoNum type="arabicPeriod"/>
              <a:defRPr sz="1746"/>
            </a:pPr>
            <a:r>
              <a:rPr sz="3104" dirty="0" err="1"/>
              <a:t>それぞれの条件で振動するかどうか</a:t>
            </a:r>
            <a:r>
              <a:rPr lang="en-US" sz="3104" dirty="0" err="1"/>
              <a:t>、シミュレーションで</a:t>
            </a:r>
            <a:r>
              <a:rPr sz="3104" dirty="0" err="1"/>
              <a:t>確認しなさい</a:t>
            </a:r>
            <a:r>
              <a:rPr sz="3104" dirty="0"/>
              <a:t>。</a:t>
            </a:r>
          </a:p>
        </p:txBody>
      </p:sp>
    </p:spTree>
    <p:extLst>
      <p:ext uri="{BB962C8B-B14F-4D97-AF65-F5344CB8AC3E}">
        <p14:creationId xmlns:p14="http://schemas.microsoft.com/office/powerpoint/2010/main" val="421962969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1">
            <a:extLst>
              <a:ext uri="{FF2B5EF4-FFF2-40B4-BE49-F238E27FC236}">
                <a16:creationId xmlns:a16="http://schemas.microsoft.com/office/drawing/2014/main" id="{9C14EEFC-37C6-A749-B26B-1EA2CB5080CC}"/>
              </a:ext>
            </a:extLst>
          </p:cNvPr>
          <p:cNvSpPr>
            <a:spLocks noGrp="1" noChangeArrowheads="1"/>
          </p:cNvSpPr>
          <p:nvPr>
            <p:ph type="title"/>
          </p:nvPr>
        </p:nvSpPr>
        <p:spPr/>
        <p:txBody>
          <a:bodyPr/>
          <a:lstStyle/>
          <a:p>
            <a:pPr eaLnBrk="1" hangingPunct="1"/>
            <a:r>
              <a:rPr lang="en-US" altLang="ja-JP" dirty="0"/>
              <a:t>Further Readings</a:t>
            </a:r>
          </a:p>
        </p:txBody>
      </p:sp>
      <p:sp>
        <p:nvSpPr>
          <p:cNvPr id="59395" name="Rectangle 2">
            <a:extLst>
              <a:ext uri="{FF2B5EF4-FFF2-40B4-BE49-F238E27FC236}">
                <a16:creationId xmlns:a16="http://schemas.microsoft.com/office/drawing/2014/main" id="{E1A46249-C7D7-59C3-3A21-98EE81585216}"/>
              </a:ext>
            </a:extLst>
          </p:cNvPr>
          <p:cNvSpPr>
            <a:spLocks noGrp="1" noChangeArrowheads="1"/>
          </p:cNvSpPr>
          <p:nvPr>
            <p:ph type="body" idx="4294967295"/>
          </p:nvPr>
        </p:nvSpPr>
        <p:spPr>
          <a:xfrm>
            <a:off x="-751112" y="1240974"/>
            <a:ext cx="12932229" cy="6469063"/>
          </a:xfrm>
        </p:spPr>
        <p:txBody>
          <a:bodyPr/>
          <a:lstStyle/>
          <a:p>
            <a:pPr marL="1185304">
              <a:lnSpc>
                <a:spcPct val="80000"/>
              </a:lnSpc>
            </a:pPr>
            <a:r>
              <a:rPr lang="en-US" altLang="ja-JP" sz="2000" dirty="0"/>
              <a:t>Steven </a:t>
            </a:r>
            <a:r>
              <a:rPr lang="en-US" altLang="ja-JP" sz="2000" dirty="0" err="1"/>
              <a:t>Strogatz</a:t>
            </a:r>
            <a:r>
              <a:rPr lang="en-US" altLang="ja-JP" sz="2000" dirty="0"/>
              <a:t>, “Nonlinear dynamics and chaos”, Perseus Books Publishing,</a:t>
            </a:r>
          </a:p>
          <a:p>
            <a:pPr marL="1777956" lvl="1">
              <a:lnSpc>
                <a:spcPct val="80000"/>
              </a:lnSpc>
              <a:spcBef>
                <a:spcPts val="1700"/>
              </a:spcBef>
            </a:pPr>
            <a:r>
              <a:rPr lang="ja-JP" altLang="en-US" sz="1733"/>
              <a:t>生物・化学の例が多く比較的読みやすい非線形力学系教科書</a:t>
            </a:r>
          </a:p>
          <a:p>
            <a:pPr marL="1185304">
              <a:lnSpc>
                <a:spcPct val="80000"/>
              </a:lnSpc>
              <a:spcBef>
                <a:spcPts val="1700"/>
              </a:spcBef>
            </a:pPr>
            <a:endParaRPr lang="en-US" altLang="ja-JP" sz="2000" dirty="0"/>
          </a:p>
          <a:p>
            <a:pPr marL="1185304">
              <a:lnSpc>
                <a:spcPct val="80000"/>
              </a:lnSpc>
              <a:spcBef>
                <a:spcPts val="1700"/>
              </a:spcBef>
            </a:pPr>
            <a:r>
              <a:rPr lang="en-US" altLang="ja-JP" sz="2000" dirty="0" err="1"/>
              <a:t>Ozbudak</a:t>
            </a:r>
            <a:r>
              <a:rPr lang="en-US" altLang="ja-JP" sz="2000" dirty="0"/>
              <a:t>, E.M. et al.,  “</a:t>
            </a:r>
            <a:r>
              <a:rPr lang="en-US" altLang="ja-JP" sz="2000" dirty="0" err="1"/>
              <a:t>Multistability</a:t>
            </a:r>
            <a:r>
              <a:rPr lang="en-US" altLang="ja-JP" sz="2000" dirty="0"/>
              <a:t> in the lactose utilization network of Escherichia coli”, Nature 427(6976):737-40, 2004.</a:t>
            </a:r>
          </a:p>
          <a:p>
            <a:pPr marL="1777956" lvl="1">
              <a:lnSpc>
                <a:spcPct val="80000"/>
              </a:lnSpc>
              <a:spcBef>
                <a:spcPts val="1700"/>
              </a:spcBef>
            </a:pPr>
            <a:r>
              <a:rPr lang="ja-JP" altLang="en-US" sz="1733"/>
              <a:t>大腸菌 </a:t>
            </a:r>
            <a:r>
              <a:rPr lang="en-US" altLang="ja-JP" sz="1733" dirty="0"/>
              <a:t>lac </a:t>
            </a:r>
            <a:r>
              <a:rPr lang="ja-JP" altLang="en-US" sz="1733"/>
              <a:t>オペロンのような古典的な系で、ヒステリシスが起きることを示した</a:t>
            </a:r>
          </a:p>
          <a:p>
            <a:pPr marL="1185304">
              <a:lnSpc>
                <a:spcPct val="80000"/>
              </a:lnSpc>
              <a:spcBef>
                <a:spcPts val="1700"/>
              </a:spcBef>
            </a:pPr>
            <a:endParaRPr lang="en-US" altLang="ja-JP" sz="2000" dirty="0"/>
          </a:p>
          <a:p>
            <a:pPr marL="1185304">
              <a:lnSpc>
                <a:spcPct val="80000"/>
              </a:lnSpc>
              <a:spcBef>
                <a:spcPts val="1700"/>
              </a:spcBef>
            </a:pPr>
            <a:r>
              <a:rPr lang="en-US" altLang="ja-JP" sz="2000" dirty="0"/>
              <a:t>Bhalla, U.S. and Iyengar, R., “Emergent properties of networks of biological signaling pathways”, Science 283(5400):381-7.</a:t>
            </a:r>
          </a:p>
          <a:p>
            <a:pPr marL="1777956" lvl="1">
              <a:lnSpc>
                <a:spcPct val="80000"/>
              </a:lnSpc>
              <a:spcBef>
                <a:spcPts val="1700"/>
              </a:spcBef>
            </a:pPr>
            <a:r>
              <a:rPr lang="ja-JP" altLang="en-US" sz="1733"/>
              <a:t>シグナル伝達経路に生じる双安定性が記憶装置の基盤である可能性を指摘</a:t>
            </a:r>
          </a:p>
          <a:p>
            <a:pPr marL="1185304">
              <a:lnSpc>
                <a:spcPct val="80000"/>
              </a:lnSpc>
              <a:spcBef>
                <a:spcPts val="1700"/>
              </a:spcBef>
            </a:pPr>
            <a:endParaRPr lang="en-US" altLang="ja-JP" sz="2000" dirty="0"/>
          </a:p>
          <a:p>
            <a:pPr marL="1185304">
              <a:lnSpc>
                <a:spcPct val="80000"/>
              </a:lnSpc>
              <a:spcBef>
                <a:spcPts val="1700"/>
              </a:spcBef>
            </a:pPr>
            <a:r>
              <a:rPr lang="en-US" altLang="ja-JP" sz="2000" dirty="0"/>
              <a:t>Tanaka, R.J. et al. “Skin barrier homeostasis in atopic dermatitis: feedback regulation of kallikrein activity”, </a:t>
            </a:r>
            <a:r>
              <a:rPr lang="en-US" altLang="ja-JP" sz="2000" dirty="0" err="1"/>
              <a:t>PLoS</a:t>
            </a:r>
            <a:r>
              <a:rPr lang="en-US" altLang="ja-JP" sz="2000" dirty="0"/>
              <a:t> ONE 6(5):e19895, 2011.</a:t>
            </a:r>
          </a:p>
          <a:p>
            <a:pPr marL="1777956" lvl="1">
              <a:lnSpc>
                <a:spcPct val="80000"/>
              </a:lnSpc>
              <a:spcBef>
                <a:spcPts val="1700"/>
              </a:spcBef>
            </a:pPr>
            <a:r>
              <a:rPr lang="ja-JP" altLang="en-US" sz="1733"/>
              <a:t>アトピー性皮膚炎を起こした外部刺激を取り除いても炎症がおさまらない理由として双安定性の可能性を指摘</a:t>
            </a:r>
          </a:p>
        </p:txBody>
      </p:sp>
    </p:spTree>
  </p:cSld>
  <p:clrMapOvr>
    <a:masterClrMapping/>
  </p:clrMapOvr>
</p:sld>
</file>

<file path=ppt/theme/theme1.xml><?xml version="1.0" encoding="utf-8"?>
<a:theme xmlns:a="http://schemas.openxmlformats.org/drawingml/2006/main" name="YugiTalk">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Helvetica Neue Light and ヒラギノ角ゴ ProN W3">
      <a:majorFont>
        <a:latin typeface="Helvetica Neue Light"/>
        <a:ea typeface="Hiragino Kaku Gothic ProN W3"/>
        <a:cs typeface=""/>
      </a:majorFont>
      <a:minorFont>
        <a:latin typeface="Helvetica Neue Light"/>
        <a:ea typeface="Hiragino Kaku Gothic ProN W3"/>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yugi_16_9_plain" id="{1F3CF8EB-25C5-DA4E-AEE9-BC00F17CDB6F}" vid="{E5031587-4EA9-CE4B-91BE-CEDC2564CC8F}"/>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37524</TotalTime>
  <Words>2455</Words>
  <Application>Microsoft Macintosh PowerPoint</Application>
  <PresentationFormat>ワイド画面</PresentationFormat>
  <Paragraphs>520</Paragraphs>
  <Slides>52</Slides>
  <Notes>5</Notes>
  <HiddenSlides>0</HiddenSlides>
  <MMClips>2</MMClips>
  <ScaleCrop>false</ScaleCrop>
  <HeadingPairs>
    <vt:vector size="6" baseType="variant">
      <vt:variant>
        <vt:lpstr>使用されているフォント</vt:lpstr>
      </vt:variant>
      <vt:variant>
        <vt:i4>14</vt:i4>
      </vt:variant>
      <vt:variant>
        <vt:lpstr>テーマ</vt:lpstr>
      </vt:variant>
      <vt:variant>
        <vt:i4>1</vt:i4>
      </vt:variant>
      <vt:variant>
        <vt:lpstr>スライド タイトル</vt:lpstr>
      </vt:variant>
      <vt:variant>
        <vt:i4>52</vt:i4>
      </vt:variant>
    </vt:vector>
  </HeadingPairs>
  <TitlesOfParts>
    <vt:vector size="67" baseType="lpstr">
      <vt:lpstr>Heiti TC Light</vt:lpstr>
      <vt:lpstr>Hiragino Kaku Gothic ProN W3</vt:lpstr>
      <vt:lpstr>Hiragino Kaku Gothic ProN W6</vt:lpstr>
      <vt:lpstr>Hiragino Sans</vt:lpstr>
      <vt:lpstr>Times Roman</vt:lpstr>
      <vt:lpstr>游ゴシック</vt:lpstr>
      <vt:lpstr>Arial</vt:lpstr>
      <vt:lpstr>Calibri</vt:lpstr>
      <vt:lpstr>Courier New</vt:lpstr>
      <vt:lpstr>Gill Sans</vt:lpstr>
      <vt:lpstr>Helvetica Neue Light</vt:lpstr>
      <vt:lpstr>Symbol</vt:lpstr>
      <vt:lpstr>Times New Roman</vt:lpstr>
      <vt:lpstr>Wingdings</vt:lpstr>
      <vt:lpstr>YugiTalk</vt:lpstr>
      <vt:lpstr>力学系(2): 濃度が振動する生化学反応系</vt:lpstr>
      <vt:lpstr>一番身近な生物振動</vt:lpstr>
      <vt:lpstr>振動は微生物のレベルにもある</vt:lpstr>
      <vt:lpstr>連続系の離散的挙動</vt:lpstr>
      <vt:lpstr>最先端で発見されている振動現象</vt:lpstr>
      <vt:lpstr>今日と明日の内容</vt:lpstr>
      <vt:lpstr>力学系の七つ道具</vt:lpstr>
      <vt:lpstr>Sel’kovモデル</vt:lpstr>
      <vt:lpstr>解糖系の振動とは？</vt:lpstr>
      <vt:lpstr>解糖系振動　→　insulin分泌</vt:lpstr>
      <vt:lpstr>演習1: Sel’kov modelを作る </vt:lpstr>
      <vt:lpstr>空欄を埋めなさい</vt:lpstr>
      <vt:lpstr>シミュレーション結果</vt:lpstr>
      <vt:lpstr>復習：相平面とヌルクライン</vt:lpstr>
      <vt:lpstr>演習2: 相平面とヌルクライン</vt:lpstr>
      <vt:lpstr>空欄を埋めなさい（相平面とヌルクライン）</vt:lpstr>
      <vt:lpstr>出力例: 解の軌跡とヌルクライン</vt:lpstr>
      <vt:lpstr>力学系の七つ道具</vt:lpstr>
      <vt:lpstr>ベクトル場：相平面上の風向きを可視化 </vt:lpstr>
      <vt:lpstr>ヌルクラインとベクトルの方向</vt:lpstr>
      <vt:lpstr>演習3: Sel’kov モデルのベクトル場</vt:lpstr>
      <vt:lpstr>Pythonでベクトル場を描く</vt:lpstr>
      <vt:lpstr>空欄を埋めなさい</vt:lpstr>
      <vt:lpstr>ベクトル場の描画例</vt:lpstr>
      <vt:lpstr>解軌跡、ヌルクライン、ベクトル場の描画例</vt:lpstr>
      <vt:lpstr>力学系の七つ道具</vt:lpstr>
      <vt:lpstr>ベクトル場で周期解と言えるか？</vt:lpstr>
      <vt:lpstr>ベクトル場だけで周期解と言えるか？</vt:lpstr>
      <vt:lpstr>固定点の座標を求める準備</vt:lpstr>
      <vt:lpstr>演習4: 空欄を埋めて固定点の座標を求めなさい</vt:lpstr>
      <vt:lpstr>力学系の七つ道具</vt:lpstr>
      <vt:lpstr>微分方程式の線形化</vt:lpstr>
      <vt:lpstr>もう少し詳しく：ODEの線形化とヤコビ行列</vt:lpstr>
      <vt:lpstr>線形化したODEの解は行列指数関数になる</vt:lpstr>
      <vt:lpstr>SymPyを用いて線形化</vt:lpstr>
      <vt:lpstr>文字式に数値を代入する</vt:lpstr>
      <vt:lpstr>演習4: Sel’kovモデルの線形化</vt:lpstr>
      <vt:lpstr>空欄を埋めなさい</vt:lpstr>
      <vt:lpstr>解答</vt:lpstr>
      <vt:lpstr>力学系の七つ道具</vt:lpstr>
      <vt:lpstr>すべての固有値が実数である固定点</vt:lpstr>
      <vt:lpstr>固有値と解軌道の収束・発散</vt:lpstr>
      <vt:lpstr>正の固有値を一つでも含むと発散</vt:lpstr>
      <vt:lpstr>相平面と時系列の対応</vt:lpstr>
      <vt:lpstr>複素数の固有値を含む固定点</vt:lpstr>
      <vt:lpstr>相平面と時系列の対応</vt:lpstr>
      <vt:lpstr>演習5: Sel’kovモデルの固定点の分類</vt:lpstr>
      <vt:lpstr>固定点を回る周期解の正体</vt:lpstr>
      <vt:lpstr>Supercritical Hopf 分岐（以下「Hopf 分岐」）の定義</vt:lpstr>
      <vt:lpstr>Hopf 分岐に伴って起こる現象</vt:lpstr>
      <vt:lpstr>演習6: Sel’kovモデルとHopf分岐</vt:lpstr>
      <vt:lpstr>Further Readings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人類史スケールの 代謝制御システム考古学</dc:title>
  <dc:creator>柚木 克之</dc:creator>
  <cp:lastModifiedBy>Katsuyuki Yugi</cp:lastModifiedBy>
  <cp:revision>646</cp:revision>
  <cp:lastPrinted>2025-11-07T06:34:28Z</cp:lastPrinted>
  <dcterms:created xsi:type="dcterms:W3CDTF">2022-03-29T08:03:06Z</dcterms:created>
  <dcterms:modified xsi:type="dcterms:W3CDTF">2026-10-28T04:59:16Z</dcterms:modified>
</cp:coreProperties>
</file>