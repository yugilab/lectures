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4" r:id="rId1"/>
  </p:sldMasterIdLst>
  <p:notesMasterIdLst>
    <p:notesMasterId r:id="rId32"/>
  </p:notesMasterIdLst>
  <p:sldIdLst>
    <p:sldId id="256" r:id="rId2"/>
    <p:sldId id="261" r:id="rId3"/>
    <p:sldId id="582" r:id="rId4"/>
    <p:sldId id="263" r:id="rId5"/>
    <p:sldId id="264" r:id="rId6"/>
    <p:sldId id="585" r:id="rId7"/>
    <p:sldId id="311" r:id="rId8"/>
    <p:sldId id="310" r:id="rId9"/>
    <p:sldId id="586" r:id="rId10"/>
    <p:sldId id="587" r:id="rId11"/>
    <p:sldId id="312" r:id="rId12"/>
    <p:sldId id="589" r:id="rId13"/>
    <p:sldId id="576" r:id="rId14"/>
    <p:sldId id="578" r:id="rId15"/>
    <p:sldId id="579" r:id="rId16"/>
    <p:sldId id="580" r:id="rId17"/>
    <p:sldId id="581" r:id="rId18"/>
    <p:sldId id="328" r:id="rId19"/>
    <p:sldId id="592" r:id="rId20"/>
    <p:sldId id="338" r:id="rId21"/>
    <p:sldId id="339" r:id="rId22"/>
    <p:sldId id="340" r:id="rId23"/>
    <p:sldId id="342" r:id="rId24"/>
    <p:sldId id="346" r:id="rId25"/>
    <p:sldId id="347" r:id="rId26"/>
    <p:sldId id="348" r:id="rId27"/>
    <p:sldId id="571" r:id="rId28"/>
    <p:sldId id="595" r:id="rId29"/>
    <p:sldId id="593" r:id="rId30"/>
    <p:sldId id="557" r:id="rId3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F00"/>
    <a:srgbClr val="011893"/>
    <a:srgbClr val="004000"/>
    <a:srgbClr val="009193"/>
    <a:srgbClr val="4E8F00"/>
    <a:srgbClr val="0432FF"/>
    <a:srgbClr val="FF7E79"/>
    <a:srgbClr val="521B93"/>
    <a:srgbClr val="D5FC79"/>
    <a:srgbClr val="73F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77524"/>
  </p:normalViewPr>
  <p:slideViewPr>
    <p:cSldViewPr snapToGrid="0" snapToObjects="1">
      <p:cViewPr varScale="1">
        <p:scale>
          <a:sx n="92" d="100"/>
          <a:sy n="92" d="100"/>
        </p:scale>
        <p:origin x="200" y="26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C3C840-1276-6B4F-8604-7EE6E066B4F8}" type="datetimeFigureOut">
              <a:rPr kumimoji="1" lang="ja-JP" altLang="en-US" smtClean="0"/>
              <a:t>2026/10/28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9D5D7F-D110-D14A-B0DD-305779BF2E8D}" type="slidenum">
              <a:rPr kumimoji="1" lang="ja-JP" altLang="en-US" smtClean="0"/>
              <a:t>‹#›</a:t>
            </a:fld>
            <a:endParaRPr kumimoji="1" lang="ja-JP" altLang="en-US"/>
          </a:p>
        </p:txBody>
      </p:sp>
    </p:spTree>
    <p:extLst>
      <p:ext uri="{BB962C8B-B14F-4D97-AF65-F5344CB8AC3E}">
        <p14:creationId xmlns:p14="http://schemas.microsoft.com/office/powerpoint/2010/main" val="64578388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3600" dirty="0"/>
              <a:t>Python </a:t>
            </a:r>
            <a:r>
              <a:rPr kumimoji="1" lang="ja-JP" altLang="en-US" sz="3600"/>
              <a:t>関数は使わない</a:t>
            </a:r>
          </a:p>
        </p:txBody>
      </p:sp>
      <p:sp>
        <p:nvSpPr>
          <p:cNvPr id="4" name="スライド番号プレースホルダー 3"/>
          <p:cNvSpPr>
            <a:spLocks noGrp="1"/>
          </p:cNvSpPr>
          <p:nvPr>
            <p:ph type="sldNum" sz="quarter" idx="5"/>
          </p:nvPr>
        </p:nvSpPr>
        <p:spPr/>
        <p:txBody>
          <a:bodyPr/>
          <a:lstStyle/>
          <a:p>
            <a:fld id="{B39D5D7F-D110-D14A-B0DD-305779BF2E8D}" type="slidenum">
              <a:rPr kumimoji="1" lang="ja-JP" altLang="en-US" smtClean="0"/>
              <a:t>1</a:t>
            </a:fld>
            <a:endParaRPr kumimoji="1" lang="ja-JP" altLang="en-US"/>
          </a:p>
        </p:txBody>
      </p:sp>
    </p:spTree>
    <p:extLst>
      <p:ext uri="{BB962C8B-B14F-4D97-AF65-F5344CB8AC3E}">
        <p14:creationId xmlns:p14="http://schemas.microsoft.com/office/powerpoint/2010/main" val="3691004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39D5D7F-D110-D14A-B0DD-305779BF2E8D}" type="slidenum">
              <a:rPr kumimoji="1" lang="ja-JP" altLang="en-US" smtClean="0"/>
              <a:t>13</a:t>
            </a:fld>
            <a:endParaRPr kumimoji="1" lang="ja-JP" altLang="en-US"/>
          </a:p>
        </p:txBody>
      </p:sp>
    </p:spTree>
    <p:extLst>
      <p:ext uri="{BB962C8B-B14F-4D97-AF65-F5344CB8AC3E}">
        <p14:creationId xmlns:p14="http://schemas.microsoft.com/office/powerpoint/2010/main" val="3510057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39D5D7F-D110-D14A-B0DD-305779BF2E8D}" type="slidenum">
              <a:rPr kumimoji="1" lang="ja-JP" altLang="en-US" smtClean="0"/>
              <a:t>23</a:t>
            </a:fld>
            <a:endParaRPr kumimoji="1" lang="ja-JP" altLang="en-US"/>
          </a:p>
        </p:txBody>
      </p:sp>
    </p:spTree>
    <p:extLst>
      <p:ext uri="{BB962C8B-B14F-4D97-AF65-F5344CB8AC3E}">
        <p14:creationId xmlns:p14="http://schemas.microsoft.com/office/powerpoint/2010/main" val="3840341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
            <a:ext cx="12192000" cy="3600450"/>
          </a:xfrm>
          <a:solidFill>
            <a:srgbClr val="011893"/>
          </a:solidFill>
          <a:ln>
            <a:noFill/>
          </a:ln>
        </p:spPr>
        <p:txBody>
          <a:bodyPr/>
          <a:lstStyle>
            <a:lvl1pPr>
              <a:defRPr b="0" i="0">
                <a:solidFill>
                  <a:schemeClr val="bg1"/>
                </a:solidFill>
                <a:ea typeface="Hiragino Kaku Gothic ProN W3" panose="020B0300000000000000" pitchFamily="34" charset="-128"/>
              </a:defRPr>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1828800" y="3886200"/>
            <a:ext cx="8534400" cy="1752600"/>
          </a:xfrm>
        </p:spPr>
        <p:txBody>
          <a:bodyPr/>
          <a:lstStyle>
            <a:lvl1pPr marL="0" indent="0" algn="ctr">
              <a:buNone/>
              <a:defRPr b="0" i="0">
                <a:solidFill>
                  <a:schemeClr val="tx1">
                    <a:tint val="75000"/>
                  </a:schemeClr>
                </a:solidFill>
                <a:ea typeface="Hiragino Kaku Gothic ProN W3" panose="020B0300000000000000" pitchFamily="34" charset="-128"/>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 3"/>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2026/10/28</a:t>
            </a:fld>
            <a:endParaRPr lang="ja-JP" altLang="en-US"/>
          </a:p>
        </p:txBody>
      </p:sp>
      <p:sp>
        <p:nvSpPr>
          <p:cNvPr id="5" name="フッター プレースホルダ 4"/>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2020632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192000" cy="1143000"/>
          </a:xfrm>
        </p:spPr>
        <p:txBody>
          <a:bodyPr anchor="ctr" anchorCtr="0"/>
          <a:lstStyle>
            <a:lvl1pPr>
              <a:defRPr b="0" i="0">
                <a:ea typeface="Hiragino Kaku Gothic ProN W3" panose="020B0300000000000000" pitchFamily="34" charset="-128"/>
              </a:defRPr>
            </a:lvl1pPr>
          </a:lstStyle>
          <a:p>
            <a:r>
              <a:rPr kumimoji="1" lang="ja-JP" altLang="en-US"/>
              <a:t>マスター タイトルの書式設定</a:t>
            </a:r>
            <a:endParaRPr kumimoji="1" lang="ja-JP" altLang="en-US" dirty="0"/>
          </a:p>
        </p:txBody>
      </p:sp>
      <p:sp>
        <p:nvSpPr>
          <p:cNvPr id="3" name="コンテンツ プレースホルダ 2"/>
          <p:cNvSpPr>
            <a:spLocks noGrp="1"/>
          </p:cNvSpPr>
          <p:nvPr>
            <p:ph idx="1"/>
          </p:nvPr>
        </p:nvSpPr>
        <p:spPr/>
        <p:txBody>
          <a:bodyPr/>
          <a:lstStyle>
            <a:lvl1pPr>
              <a:defRPr b="0" i="0">
                <a:ea typeface="Hiragino Kaku Gothic ProN W3" panose="020B0300000000000000" pitchFamily="34" charset="-128"/>
              </a:defRPr>
            </a:lvl1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4" name="日付プレースホルダ 3"/>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2026/10/28</a:t>
            </a:fld>
            <a:endParaRPr lang="ja-JP" altLang="en-US"/>
          </a:p>
        </p:txBody>
      </p:sp>
      <p:sp>
        <p:nvSpPr>
          <p:cNvPr id="5" name="フッター プレースホルダ 4"/>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1235239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084" y="4406901"/>
            <a:ext cx="10363200" cy="1362075"/>
          </a:xfrm>
        </p:spPr>
        <p:txBody>
          <a:bodyPr anchor="t"/>
          <a:lstStyle>
            <a:lvl1pPr algn="l">
              <a:defRPr sz="4000" b="0" i="0" cap="all">
                <a:ea typeface="Hiragino Kaku Gothic ProN W3" panose="020B0300000000000000" pitchFamily="34" charset="-128"/>
              </a:defRPr>
            </a:lvl1pPr>
          </a:lstStyle>
          <a:p>
            <a:r>
              <a:rPr kumimoji="1" lang="ja-JP" altLang="en-US"/>
              <a:t>マスター タイトルの書式設定</a:t>
            </a:r>
            <a:endParaRPr kumimoji="1" lang="ja-JP" altLang="en-US" dirty="0"/>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b="0" i="0">
                <a:solidFill>
                  <a:schemeClr val="tx1">
                    <a:tint val="75000"/>
                  </a:schemeClr>
                </a:solidFill>
                <a:ea typeface="Hiragino Kaku Gothic ProN W3" panose="020B0300000000000000" pitchFamily="34" charset="-128"/>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4" name="日付プレースホルダ 3"/>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2026/10/28</a:t>
            </a:fld>
            <a:endParaRPr lang="ja-JP" altLang="en-US"/>
          </a:p>
        </p:txBody>
      </p:sp>
      <p:sp>
        <p:nvSpPr>
          <p:cNvPr id="5" name="フッター プレースホルダ 4"/>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2582545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b="0" i="0">
                <a:ea typeface="Hiragino Kaku Gothic ProN W3" panose="020B0300000000000000" pitchFamily="34" charset="-128"/>
              </a:defRPr>
            </a:lvl1pPr>
          </a:lstStyle>
          <a:p>
            <a:r>
              <a:rPr kumimoji="1" lang="ja-JP" altLang="en-US"/>
              <a:t>マスター タイトルの書式設定</a:t>
            </a:r>
          </a:p>
        </p:txBody>
      </p:sp>
      <p:sp>
        <p:nvSpPr>
          <p:cNvPr id="3" name="コンテンツ プレースホルダ 2"/>
          <p:cNvSpPr>
            <a:spLocks noGrp="1"/>
          </p:cNvSpPr>
          <p:nvPr>
            <p:ph sz="half" idx="1"/>
          </p:nvPr>
        </p:nvSpPr>
        <p:spPr>
          <a:xfrm>
            <a:off x="609600" y="1600201"/>
            <a:ext cx="5384800" cy="4525963"/>
          </a:xfrm>
        </p:spPr>
        <p:txBody>
          <a:bodyPr/>
          <a:lstStyle>
            <a:lvl1pPr>
              <a:defRPr sz="2800" b="0" i="0">
                <a:ea typeface="Hiragino Kaku Gothic ProN W3" panose="020B0300000000000000" pitchFamily="34" charset="-128"/>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4" name="コンテンツ プレースホルダ 3"/>
          <p:cNvSpPr>
            <a:spLocks noGrp="1"/>
          </p:cNvSpPr>
          <p:nvPr>
            <p:ph sz="half" idx="2"/>
          </p:nvPr>
        </p:nvSpPr>
        <p:spPr>
          <a:xfrm>
            <a:off x="6197600" y="1600201"/>
            <a:ext cx="5384800" cy="4525963"/>
          </a:xfrm>
        </p:spPr>
        <p:txBody>
          <a:bodyPr/>
          <a:lstStyle>
            <a:lvl1pPr>
              <a:defRPr sz="2800" b="0" i="0">
                <a:ea typeface="Hiragino Kaku Gothic ProN W3" panose="020B0300000000000000" pitchFamily="34" charset="-128"/>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5" name="日付プレースホルダ 4"/>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2026/10/28</a:t>
            </a:fld>
            <a:endParaRPr lang="ja-JP" altLang="en-US"/>
          </a:p>
        </p:txBody>
      </p:sp>
      <p:sp>
        <p:nvSpPr>
          <p:cNvPr id="6" name="フッター プレースホルダ 5"/>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3885878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b="0" i="0">
                <a:ea typeface="Hiragino Kaku Gothic ProN W3" panose="020B0300000000000000" pitchFamily="34" charset="-128"/>
              </a:defRPr>
            </a:lvl1pPr>
          </a:lstStyle>
          <a:p>
            <a:r>
              <a:rPr kumimoji="1" lang="ja-JP" altLang="en-US"/>
              <a:t>マスター タイトルの書式設定</a:t>
            </a:r>
            <a:endParaRPr kumimoji="1" lang="ja-JP" altLang="en-US" dirty="0"/>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2400" b="0" i="0">
                <a:ea typeface="Hiragino Kaku Gothic ProN W3" panose="020B0300000000000000"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4" name="コンテンツ プレースホルダ 3"/>
          <p:cNvSpPr>
            <a:spLocks noGrp="1"/>
          </p:cNvSpPr>
          <p:nvPr>
            <p:ph sz="half" idx="2"/>
          </p:nvPr>
        </p:nvSpPr>
        <p:spPr>
          <a:xfrm>
            <a:off x="609600" y="2174875"/>
            <a:ext cx="5386917" cy="3951288"/>
          </a:xfrm>
        </p:spPr>
        <p:txBody>
          <a:bodyPr/>
          <a:lstStyle>
            <a:lvl1pPr>
              <a:defRPr sz="2400" b="0" i="0">
                <a:ea typeface="Hiragino Kaku Gothic ProN W3" panose="020B0300000000000000" pitchFamily="34" charset="-128"/>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5" name="テキスト プレースホルダ 4"/>
          <p:cNvSpPr>
            <a:spLocks noGrp="1"/>
          </p:cNvSpPr>
          <p:nvPr>
            <p:ph type="body" sz="quarter" idx="3"/>
          </p:nvPr>
        </p:nvSpPr>
        <p:spPr>
          <a:xfrm>
            <a:off x="6193368" y="1535113"/>
            <a:ext cx="5389033" cy="639762"/>
          </a:xfrm>
        </p:spPr>
        <p:txBody>
          <a:bodyPr anchor="b"/>
          <a:lstStyle>
            <a:lvl1pPr marL="0" indent="0">
              <a:buNone/>
              <a:defRPr sz="2400" b="0" i="0">
                <a:ea typeface="Hiragino Kaku Gothic ProN W3" panose="020B0300000000000000"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6" name="コンテンツ プレースホルダ 5"/>
          <p:cNvSpPr>
            <a:spLocks noGrp="1"/>
          </p:cNvSpPr>
          <p:nvPr>
            <p:ph sz="quarter" idx="4"/>
          </p:nvPr>
        </p:nvSpPr>
        <p:spPr>
          <a:xfrm>
            <a:off x="6193368" y="2174875"/>
            <a:ext cx="5389033" cy="3951288"/>
          </a:xfrm>
        </p:spPr>
        <p:txBody>
          <a:bodyPr/>
          <a:lstStyle>
            <a:lvl1pPr>
              <a:defRPr sz="2400" b="0" i="0">
                <a:ea typeface="Hiragino Kaku Gothic ProN W3" panose="020B0300000000000000" pitchFamily="34" charset="-128"/>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7" name="日付プレースホルダ 6"/>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2026/10/28</a:t>
            </a:fld>
            <a:endParaRPr lang="ja-JP" altLang="en-US"/>
          </a:p>
        </p:txBody>
      </p:sp>
      <p:sp>
        <p:nvSpPr>
          <p:cNvPr id="8" name="フッター プレースホルダ 7"/>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3356908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3" name="日付プレースホルダ 2"/>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2026/10/28</a:t>
            </a:fld>
            <a:endParaRPr lang="ja-JP" altLang="en-US"/>
          </a:p>
        </p:txBody>
      </p:sp>
      <p:sp>
        <p:nvSpPr>
          <p:cNvPr id="4" name="フッター プレースホルダ 3"/>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
        <p:nvSpPr>
          <p:cNvPr id="5" name="タイトル 4"/>
          <p:cNvSpPr>
            <a:spLocks noGrp="1"/>
          </p:cNvSpPr>
          <p:nvPr>
            <p:ph type="title"/>
          </p:nvPr>
        </p:nvSpPr>
        <p:spPr>
          <a:xfrm>
            <a:off x="0" y="0"/>
            <a:ext cx="12192000" cy="1143000"/>
          </a:xfrm>
          <a:solidFill>
            <a:srgbClr val="011893"/>
          </a:solidFill>
        </p:spPr>
        <p:txBody>
          <a:bodyPr lIns="0" tIns="0" rIns="0" bIns="0"/>
          <a:lstStyle>
            <a:lvl1pPr>
              <a:defRPr b="0" i="0">
                <a:solidFill>
                  <a:schemeClr val="bg1"/>
                </a:solidFill>
                <a:ea typeface="Hiragino Kaku Gothic ProN W3" panose="020B0300000000000000" pitchFamily="34" charset="-128"/>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1255941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2026/10/28</a:t>
            </a:fld>
            <a:endParaRPr lang="ja-JP" altLang="en-US"/>
          </a:p>
        </p:txBody>
      </p:sp>
      <p:sp>
        <p:nvSpPr>
          <p:cNvPr id="3" name="フッター プレースホルダ 2"/>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2684171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1" y="273050"/>
            <a:ext cx="4011084" cy="1162050"/>
          </a:xfrm>
        </p:spPr>
        <p:txBody>
          <a:bodyPr anchor="b"/>
          <a:lstStyle>
            <a:lvl1pPr algn="l">
              <a:defRPr sz="2000" b="0" i="0">
                <a:ea typeface="Hiragino Kaku Gothic ProN W3" panose="020B0300000000000000" pitchFamily="34" charset="-128"/>
              </a:defRPr>
            </a:lvl1pPr>
          </a:lstStyle>
          <a:p>
            <a:r>
              <a:rPr kumimoji="1" lang="ja-JP" altLang="en-US"/>
              <a:t>マスター タイトルの書式設定</a:t>
            </a:r>
          </a:p>
        </p:txBody>
      </p:sp>
      <p:sp>
        <p:nvSpPr>
          <p:cNvPr id="3" name="コンテンツ プレースホルダ 2"/>
          <p:cNvSpPr>
            <a:spLocks noGrp="1"/>
          </p:cNvSpPr>
          <p:nvPr>
            <p:ph idx="1"/>
          </p:nvPr>
        </p:nvSpPr>
        <p:spPr>
          <a:xfrm>
            <a:off x="4766733" y="273051"/>
            <a:ext cx="6815667" cy="5853113"/>
          </a:xfrm>
        </p:spPr>
        <p:txBody>
          <a:bodyPr/>
          <a:lstStyle>
            <a:lvl1pPr>
              <a:defRPr sz="3200" b="0" i="0">
                <a:ea typeface="Hiragino Kaku Gothic ProN W3" panose="020B0300000000000000" pitchFamily="34" charset="-128"/>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4" name="テキスト プレースホルダ 3"/>
          <p:cNvSpPr>
            <a:spLocks noGrp="1"/>
          </p:cNvSpPr>
          <p:nvPr>
            <p:ph type="body" sz="half" idx="2"/>
          </p:nvPr>
        </p:nvSpPr>
        <p:spPr>
          <a:xfrm>
            <a:off x="609601" y="1435101"/>
            <a:ext cx="4011084" cy="4691063"/>
          </a:xfrm>
        </p:spPr>
        <p:txBody>
          <a:bodyPr/>
          <a:lstStyle>
            <a:lvl1pPr marL="0" indent="0">
              <a:buNone/>
              <a:defRPr sz="1400" b="0" i="0">
                <a:ea typeface="Hiragino Kaku Gothic ProN W3" panose="020B0300000000000000"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5" name="日付プレースホルダ 4"/>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2026/10/28</a:t>
            </a:fld>
            <a:endParaRPr lang="ja-JP" altLang="en-US"/>
          </a:p>
        </p:txBody>
      </p:sp>
      <p:sp>
        <p:nvSpPr>
          <p:cNvPr id="6" name="フッター プレースホルダ 5"/>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3783772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89717" y="4800600"/>
            <a:ext cx="7315200" cy="566738"/>
          </a:xfrm>
        </p:spPr>
        <p:txBody>
          <a:bodyPr anchor="b"/>
          <a:lstStyle>
            <a:lvl1pPr algn="l">
              <a:defRPr sz="2000" b="0" i="0">
                <a:ea typeface="Hiragino Kaku Gothic ProN W3" panose="020B0300000000000000" pitchFamily="34" charset="-128"/>
              </a:defRPr>
            </a:lvl1pPr>
          </a:lstStyle>
          <a:p>
            <a:r>
              <a:rPr kumimoji="1"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b="0" i="0">
                <a:ea typeface="Hiragino Kaku Gothic ProN W3" panose="020B0300000000000000"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b="0" i="0">
                <a:ea typeface="Hiragino Kaku Gothic ProN W3" panose="020B0300000000000000"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5" name="日付プレースホルダ 4"/>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2026/10/28</a:t>
            </a:fld>
            <a:endParaRPr lang="ja-JP" altLang="en-US"/>
          </a:p>
        </p:txBody>
      </p:sp>
      <p:sp>
        <p:nvSpPr>
          <p:cNvPr id="6" name="フッター プレースホルダ 5"/>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3442889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_標準スライド_ロゴあり">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FBDB9AF5-D845-784E-9C1F-B7AD85A841D6}"/>
              </a:ext>
            </a:extLst>
          </p:cNvPr>
          <p:cNvSpPr txBox="1">
            <a:spLocks/>
          </p:cNvSpPr>
          <p:nvPr userDrawn="1"/>
        </p:nvSpPr>
        <p:spPr>
          <a:xfrm>
            <a:off x="0" y="0"/>
            <a:ext cx="12192000" cy="1117600"/>
          </a:xfrm>
          <a:prstGeom prst="rect">
            <a:avLst/>
          </a:prstGeom>
          <a:solidFill>
            <a:schemeClr val="tx1"/>
          </a:solidFill>
        </p:spPr>
        <p:txBody>
          <a:bodyPr vert="horz" lIns="792000" tIns="45720" rIns="792000" bIns="45720" rtlCol="0" anchor="ctr">
            <a:normAutofit/>
          </a:bodyPr>
          <a:lstStyle>
            <a:lvl1pPr marL="133350" indent="0" algn="l" defTabSz="457200" rtl="0" eaLnBrk="1" latinLnBrk="0" hangingPunct="1">
              <a:spcBef>
                <a:spcPct val="0"/>
              </a:spcBef>
              <a:buNone/>
              <a:tabLst/>
              <a:defRPr kumimoji="1" sz="4000" b="1" kern="1200">
                <a:solidFill>
                  <a:schemeClr val="tx1"/>
                </a:solidFill>
                <a:latin typeface="+mj-lt"/>
                <a:ea typeface="+mj-ea"/>
                <a:cs typeface="+mj-cs"/>
              </a:defRPr>
            </a:lvl1pPr>
          </a:lstStyle>
          <a:p>
            <a:endParaRPr lang="ja-JP" altLang="en-US" b="0" i="0">
              <a:ea typeface="Hiragino Kaku Gothic ProN W3" panose="020B0300000000000000" pitchFamily="34" charset="-128"/>
            </a:endParaRPr>
          </a:p>
        </p:txBody>
      </p:sp>
      <p:sp>
        <p:nvSpPr>
          <p:cNvPr id="2" name="タイトル 1">
            <a:extLst>
              <a:ext uri="{FF2B5EF4-FFF2-40B4-BE49-F238E27FC236}">
                <a16:creationId xmlns:a16="http://schemas.microsoft.com/office/drawing/2014/main" id="{E898891F-5647-B346-9126-050BE28A6802}"/>
              </a:ext>
            </a:extLst>
          </p:cNvPr>
          <p:cNvSpPr>
            <a:spLocks noGrp="1"/>
          </p:cNvSpPr>
          <p:nvPr>
            <p:ph type="title"/>
          </p:nvPr>
        </p:nvSpPr>
        <p:spPr>
          <a:xfrm>
            <a:off x="0" y="0"/>
            <a:ext cx="11318488" cy="1117600"/>
          </a:xfrm>
          <a:solidFill>
            <a:schemeClr val="tx1"/>
          </a:solidFill>
        </p:spPr>
        <p:txBody>
          <a:bodyPr lIns="72000" rIns="72000"/>
          <a:lstStyle>
            <a:lvl1pPr>
              <a:defRPr b="0" i="0">
                <a:ea typeface="Hiragino Kaku Gothic ProN W3" panose="020B0300000000000000" pitchFamily="34" charset="-128"/>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0B21CC19-FFF3-354E-BEF3-60754AA40859}"/>
              </a:ext>
            </a:extLst>
          </p:cNvPr>
          <p:cNvSpPr>
            <a:spLocks noGrp="1"/>
          </p:cNvSpPr>
          <p:nvPr>
            <p:ph type="sldNum" sz="quarter" idx="10"/>
          </p:nvPr>
        </p:nvSpPr>
        <p:spPr/>
        <p:txBody>
          <a:bodyPr/>
          <a:lstStyle>
            <a:lvl1pPr>
              <a:defRPr b="0" i="0">
                <a:ea typeface="Hiragino Kaku Gothic ProN W3" panose="020B0300000000000000" pitchFamily="34" charset="-128"/>
              </a:defRPr>
            </a:lvl1pPr>
          </a:lstStyle>
          <a:p>
            <a:fld id="{AF64D956-97B4-0F42-97EB-56A02ED5B12D}" type="slidenum">
              <a:rPr lang="ja-JP" altLang="en-US" smtClean="0"/>
              <a:pPr/>
              <a:t>‹#›</a:t>
            </a:fld>
            <a:endParaRPr lang="ja-JP" altLang="en-US"/>
          </a:p>
        </p:txBody>
      </p:sp>
      <p:sp>
        <p:nvSpPr>
          <p:cNvPr id="4" name="フッター プレースホルダー 3">
            <a:extLst>
              <a:ext uri="{FF2B5EF4-FFF2-40B4-BE49-F238E27FC236}">
                <a16:creationId xmlns:a16="http://schemas.microsoft.com/office/drawing/2014/main" id="{4C6535A2-04BC-0043-B2E0-8D7147C6C881}"/>
              </a:ext>
            </a:extLst>
          </p:cNvPr>
          <p:cNvSpPr>
            <a:spLocks noGrp="1"/>
          </p:cNvSpPr>
          <p:nvPr>
            <p:ph type="ftr" sz="quarter" idx="11"/>
          </p:nvPr>
        </p:nvSpPr>
        <p:spPr/>
        <p:txBody>
          <a:bodyPr/>
          <a:lstStyle>
            <a:lvl1pPr>
              <a:defRPr b="0" i="0">
                <a:ea typeface="Hiragino Kaku Gothic ProN W3" panose="020B0300000000000000" pitchFamily="34" charset="-128"/>
              </a:defRPr>
            </a:lvl1pPr>
          </a:lstStyle>
          <a:p>
            <a:r>
              <a:rPr lang="ja-JP" altLang="en-US"/>
              <a:t>理化学研究所 砂川玄志郎</a:t>
            </a:r>
          </a:p>
        </p:txBody>
      </p:sp>
      <p:pic>
        <p:nvPicPr>
          <p:cNvPr id="7" name="図 6">
            <a:extLst>
              <a:ext uri="{FF2B5EF4-FFF2-40B4-BE49-F238E27FC236}">
                <a16:creationId xmlns:a16="http://schemas.microsoft.com/office/drawing/2014/main" id="{151D583D-CE80-3444-AC0C-DC9EEC74187C}"/>
              </a:ext>
            </a:extLst>
          </p:cNvPr>
          <p:cNvPicPr>
            <a:picLocks noChangeAspect="1"/>
          </p:cNvPicPr>
          <p:nvPr userDrawn="1"/>
        </p:nvPicPr>
        <p:blipFill>
          <a:blip r:embed="rId2"/>
          <a:stretch>
            <a:fillRect/>
          </a:stretch>
        </p:blipFill>
        <p:spPr>
          <a:xfrm>
            <a:off x="11472334" y="195890"/>
            <a:ext cx="457200" cy="731779"/>
          </a:xfrm>
          <a:prstGeom prst="rect">
            <a:avLst/>
          </a:prstGeom>
        </p:spPr>
      </p:pic>
    </p:spTree>
    <p:extLst>
      <p:ext uri="{BB962C8B-B14F-4D97-AF65-F5344CB8AC3E}">
        <p14:creationId xmlns:p14="http://schemas.microsoft.com/office/powerpoint/2010/main" val="3740086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タイトル &amp; 箇条書き">
    <p:spTree>
      <p:nvGrpSpPr>
        <p:cNvPr id="1" name=""/>
        <p:cNvGrpSpPr/>
        <p:nvPr/>
      </p:nvGrpSpPr>
      <p:grpSpPr>
        <a:xfrm>
          <a:off x="0" y="0"/>
          <a:ext cx="0" cy="0"/>
          <a:chOff x="0" y="0"/>
          <a:chExt cx="0" cy="0"/>
        </a:xfrm>
      </p:grpSpPr>
      <p:sp>
        <p:nvSpPr>
          <p:cNvPr id="20" name="タイトルテキスト"/>
          <p:cNvSpPr txBox="1">
            <a:spLocks noGrp="1"/>
          </p:cNvSpPr>
          <p:nvPr>
            <p:ph type="title"/>
          </p:nvPr>
        </p:nvSpPr>
        <p:spPr>
          <a:prstGeom prst="rect">
            <a:avLst/>
          </a:prstGeom>
        </p:spPr>
        <p:txBody>
          <a:bodyPr/>
          <a:lstStyle>
            <a:lvl1pPr>
              <a:defRPr sz="3200"/>
            </a:lvl1pPr>
          </a:lstStyle>
          <a:p>
            <a:r>
              <a:t>タイトルテキスト</a:t>
            </a:r>
          </a:p>
        </p:txBody>
      </p:sp>
      <p:sp>
        <p:nvSpPr>
          <p:cNvPr id="21" name="本文レベル1…"/>
          <p:cNvSpPr txBox="1">
            <a:spLocks noGrp="1"/>
          </p:cNvSpPr>
          <p:nvPr>
            <p:ph type="body" idx="1"/>
          </p:nvPr>
        </p:nvSpPr>
        <p:spPr>
          <a:xfrm>
            <a:off x="1185333" y="1943100"/>
            <a:ext cx="9804400" cy="4013200"/>
          </a:xfrm>
          <a:prstGeom prst="rect">
            <a:avLst/>
          </a:prstGeom>
        </p:spPr>
        <p:txBody>
          <a:bodyPr/>
          <a:lstStyle>
            <a:lvl1pPr>
              <a:spcBef>
                <a:spcPts val="1700"/>
              </a:spcBef>
              <a:defRPr sz="1800"/>
            </a:lvl1pPr>
            <a:lvl2pPr>
              <a:spcBef>
                <a:spcPts val="1700"/>
              </a:spcBef>
              <a:defRPr sz="1600"/>
            </a:lvl2pPr>
            <a:lvl3pPr>
              <a:spcBef>
                <a:spcPts val="1700"/>
              </a:spcBef>
              <a:defRPr sz="1400"/>
            </a:lvl3pPr>
            <a:lvl4pPr>
              <a:spcBef>
                <a:spcPts val="1700"/>
              </a:spcBef>
              <a:defRPr sz="1200"/>
            </a:lvl4pPr>
            <a:lvl5pPr>
              <a:spcBef>
                <a:spcPts val="1700"/>
              </a:spcBef>
              <a:defRPr sz="900"/>
            </a:lvl5pPr>
          </a:lstStyle>
          <a:p>
            <a:r>
              <a:t>本文レベル1</a:t>
            </a:r>
          </a:p>
          <a:p>
            <a:pPr lvl="1"/>
            <a:r>
              <a:t>本文レベル2</a:t>
            </a:r>
          </a:p>
          <a:p>
            <a:pPr lvl="2"/>
            <a:r>
              <a:t>本文レベル3</a:t>
            </a:r>
          </a:p>
          <a:p>
            <a:pPr lvl="3"/>
            <a:r>
              <a:t>本文レベル4</a:t>
            </a:r>
          </a:p>
          <a:p>
            <a:pPr lvl="4"/>
            <a:r>
              <a:t>本文レベル5</a:t>
            </a:r>
          </a:p>
        </p:txBody>
      </p:sp>
      <p:sp>
        <p:nvSpPr>
          <p:cNvPr id="22" name="スライド番号"/>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450106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0" y="0"/>
            <a:ext cx="12192000" cy="1143000"/>
          </a:xfrm>
          <a:prstGeom prst="rect">
            <a:avLst/>
          </a:prstGeom>
          <a:solidFill>
            <a:schemeClr val="bg1"/>
          </a:solidFill>
        </p:spPr>
        <p:txBody>
          <a:bodyPr vert="horz" wrap="square" lIns="0" tIns="0" rIns="0" bIns="0" rtlCol="0" anchor="ctr">
            <a:noAutofit/>
          </a:bodyPr>
          <a:lstStyle/>
          <a:p>
            <a:r>
              <a:rPr kumimoji="1" lang="ja-JP" altLang="en-US" dirty="0"/>
              <a:t>マスタ タイトルの書式設定</a:t>
            </a:r>
          </a:p>
        </p:txBody>
      </p:sp>
      <p:sp>
        <p:nvSpPr>
          <p:cNvPr id="3" name="テキスト プレースホルダ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345249063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6" r:id="rId11"/>
  </p:sldLayoutIdLst>
  <p:txStyles>
    <p:titleStyle>
      <a:lvl1pPr algn="ctr" defTabSz="914400" rtl="0" eaLnBrk="1" latinLnBrk="0" hangingPunct="1">
        <a:spcBef>
          <a:spcPct val="0"/>
        </a:spcBef>
        <a:buNone/>
        <a:defRPr kumimoji="1" sz="4400" b="0" i="0" kern="1200">
          <a:solidFill>
            <a:schemeClr val="tx1"/>
          </a:solidFill>
          <a:latin typeface="Helvetica Neue Light"/>
          <a:ea typeface="Hiragino Kaku Gothic ProN W3" panose="020B0300000000000000" pitchFamily="34" charset="-128"/>
          <a:cs typeface="+mj-cs"/>
        </a:defRPr>
      </a:lvl1pPr>
    </p:titleStyle>
    <p:bodyStyle>
      <a:lvl1pPr marL="342900" indent="-342900" algn="l" defTabSz="914400" rtl="0" eaLnBrk="1" latinLnBrk="0" hangingPunct="1">
        <a:spcBef>
          <a:spcPct val="20000"/>
        </a:spcBef>
        <a:buFont typeface="Arial" pitchFamily="34" charset="0"/>
        <a:buChar char="•"/>
        <a:defRPr kumimoji="1" sz="3200" b="0" i="0" kern="1200">
          <a:solidFill>
            <a:schemeClr val="tx1"/>
          </a:solidFill>
          <a:latin typeface="Helvetica Neue Light"/>
          <a:ea typeface="Hiragino Kaku Gothic ProN W3" panose="020B0300000000000000" pitchFamily="34" charset="-128"/>
          <a:cs typeface="+mn-cs"/>
        </a:defRPr>
      </a:lvl1pPr>
      <a:lvl2pPr marL="742950" indent="-285750" algn="l" defTabSz="914400" rtl="0" eaLnBrk="1" latinLnBrk="0" hangingPunct="1">
        <a:spcBef>
          <a:spcPct val="20000"/>
        </a:spcBef>
        <a:buFont typeface="Arial" pitchFamily="34" charset="0"/>
        <a:buChar char="–"/>
        <a:defRPr kumimoji="1" sz="2800" b="0" i="0" kern="1200">
          <a:solidFill>
            <a:schemeClr val="tx1"/>
          </a:solidFill>
          <a:latin typeface="Helvetica Neue Light"/>
          <a:ea typeface="Hiragino Kaku Gothic ProN W3" panose="020B0300000000000000" pitchFamily="34" charset="-128"/>
          <a:cs typeface="+mn-cs"/>
        </a:defRPr>
      </a:lvl2pPr>
      <a:lvl3pPr marL="1143000" indent="-228600" algn="l" defTabSz="914400" rtl="0" eaLnBrk="1" latinLnBrk="0" hangingPunct="1">
        <a:spcBef>
          <a:spcPct val="20000"/>
        </a:spcBef>
        <a:buFont typeface="Arial" pitchFamily="34" charset="0"/>
        <a:buChar char="•"/>
        <a:defRPr kumimoji="1" sz="2400" b="0" i="0" kern="1200">
          <a:solidFill>
            <a:schemeClr val="tx1"/>
          </a:solidFill>
          <a:latin typeface="Helvetica Neue Light"/>
          <a:ea typeface="Hiragino Kaku Gothic ProN W3" panose="020B0300000000000000" pitchFamily="34" charset="-128"/>
          <a:cs typeface="+mn-cs"/>
        </a:defRPr>
      </a:lvl3pPr>
      <a:lvl4pPr marL="1600200" indent="-228600" algn="l" defTabSz="914400" rtl="0" eaLnBrk="1" latinLnBrk="0" hangingPunct="1">
        <a:spcBef>
          <a:spcPct val="20000"/>
        </a:spcBef>
        <a:buFont typeface="Arial" pitchFamily="34" charset="0"/>
        <a:buChar char="–"/>
        <a:defRPr kumimoji="1" sz="2000" b="0" i="0" kern="1200">
          <a:solidFill>
            <a:schemeClr val="tx1"/>
          </a:solidFill>
          <a:latin typeface="Helvetica Neue Light"/>
          <a:ea typeface="Hiragino Kaku Gothic ProN W3" panose="020B0300000000000000" pitchFamily="34" charset="-128"/>
          <a:cs typeface="+mn-cs"/>
        </a:defRPr>
      </a:lvl4pPr>
      <a:lvl5pPr marL="2057400" indent="-228600" algn="l" defTabSz="914400" rtl="0" eaLnBrk="1" latinLnBrk="0" hangingPunct="1">
        <a:spcBef>
          <a:spcPct val="20000"/>
        </a:spcBef>
        <a:buFont typeface="Arial" pitchFamily="34" charset="0"/>
        <a:buChar char="»"/>
        <a:defRPr kumimoji="1" sz="2000" b="0" i="0" kern="1200">
          <a:solidFill>
            <a:schemeClr val="tx1"/>
          </a:solidFill>
          <a:latin typeface="Helvetica Neue Light"/>
          <a:ea typeface="Hiragino Kaku Gothic ProN W3" panose="020B0300000000000000" pitchFamily="34"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4.tif"/><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B141A49D-614B-CA98-ABA5-451E7BC75272}"/>
              </a:ext>
            </a:extLst>
          </p:cNvPr>
          <p:cNvSpPr>
            <a:spLocks noGrp="1" noChangeArrowheads="1"/>
          </p:cNvSpPr>
          <p:nvPr>
            <p:ph type="ctrTitle"/>
          </p:nvPr>
        </p:nvSpPr>
        <p:spPr/>
        <p:txBody>
          <a:bodyPr/>
          <a:lstStyle/>
          <a:p>
            <a:pPr eaLnBrk="1" hangingPunct="1"/>
            <a:r>
              <a:rPr lang="ja-JP" altLang="en-US" sz="4800" b="1">
                <a:latin typeface="Hiragino Kaku Gothic ProN W6" panose="020B0300000000000000" pitchFamily="34" charset="-128"/>
                <a:ea typeface="Hiragino Kaku Gothic ProN W6" panose="020B0300000000000000" pitchFamily="34" charset="-128"/>
              </a:rPr>
              <a:t>力学系</a:t>
            </a:r>
            <a:r>
              <a:rPr lang="en-US" altLang="ja-JP" sz="4800" b="1" dirty="0">
                <a:latin typeface="Hiragino Kaku Gothic ProN W6" panose="020B0300000000000000" pitchFamily="34" charset="-128"/>
                <a:ea typeface="Hiragino Kaku Gothic ProN W6" panose="020B0300000000000000" pitchFamily="34" charset="-128"/>
              </a:rPr>
              <a:t>(3): </a:t>
            </a:r>
            <a:r>
              <a:rPr lang="ja-JP" altLang="en-US" sz="4800" b="1">
                <a:latin typeface="Hiragino Kaku Gothic ProN W6" panose="020B0300000000000000" pitchFamily="34" charset="-128"/>
                <a:ea typeface="Hiragino Kaku Gothic ProN W6" panose="020B0300000000000000" pitchFamily="34" charset="-128"/>
              </a:rPr>
              <a:t>濃度が振動する生化学反応系</a:t>
            </a:r>
            <a:endParaRPr lang="en-US" altLang="ja-JP" sz="4800" b="1" dirty="0">
              <a:latin typeface="Hiragino Kaku Gothic ProN W6" panose="020B0300000000000000" pitchFamily="34" charset="-128"/>
              <a:ea typeface="Hiragino Kaku Gothic ProN W6" panose="020B0300000000000000" pitchFamily="34" charset="-128"/>
            </a:endParaRPr>
          </a:p>
        </p:txBody>
      </p:sp>
      <p:sp>
        <p:nvSpPr>
          <p:cNvPr id="14338" name="Rectangle 1">
            <a:extLst>
              <a:ext uri="{FF2B5EF4-FFF2-40B4-BE49-F238E27FC236}">
                <a16:creationId xmlns:a16="http://schemas.microsoft.com/office/drawing/2014/main" id="{14F3306E-6162-EF24-ADAB-237616D8C9FD}"/>
              </a:ext>
            </a:extLst>
          </p:cNvPr>
          <p:cNvSpPr>
            <a:spLocks noGrp="1" noChangeArrowheads="1"/>
          </p:cNvSpPr>
          <p:nvPr>
            <p:ph type="subTitle" idx="1"/>
          </p:nvPr>
        </p:nvSpPr>
        <p:spPr/>
        <p:txBody>
          <a:bodyPr/>
          <a:lstStyle/>
          <a:p>
            <a:pPr marL="52916"/>
            <a:r>
              <a:rPr lang="ja-JP" altLang="en-US"/>
              <a:t>柚木克之 </a:t>
            </a:r>
            <a:r>
              <a:rPr lang="en-US" altLang="ja-JP" dirty="0"/>
              <a:t>(YUGI, Katsuyuki)</a:t>
            </a:r>
          </a:p>
          <a:p>
            <a:pPr marL="52916"/>
            <a:r>
              <a:rPr lang="ja-JP" altLang="en-US"/>
              <a:t>理化学研究所・生命医科学研究センター</a:t>
            </a:r>
            <a:endParaRPr lang="en-US" altLang="ja-JP"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本日の内容"/>
          <p:cNvSpPr txBox="1">
            <a:spLocks noGrp="1"/>
          </p:cNvSpPr>
          <p:nvPr>
            <p:ph type="title"/>
          </p:nvPr>
        </p:nvSpPr>
        <p:spPr>
          <a:prstGeom prst="rect">
            <a:avLst/>
          </a:prstGeom>
        </p:spPr>
        <p:txBody>
          <a:bodyPr/>
          <a:lstStyle/>
          <a:p>
            <a:r>
              <a:rPr lang="en-US" dirty="0" err="1"/>
              <a:t>前回から</a:t>
            </a:r>
            <a:r>
              <a:rPr dirty="0" err="1"/>
              <a:t>の内容</a:t>
            </a:r>
            <a:endParaRPr dirty="0"/>
          </a:p>
        </p:txBody>
      </p:sp>
      <p:sp>
        <p:nvSpPr>
          <p:cNvPr id="168" name="生物リズムはなぜ起こるか？…"/>
          <p:cNvSpPr txBox="1">
            <a:spLocks noGrp="1"/>
          </p:cNvSpPr>
          <p:nvPr>
            <p:ph type="body" idx="4294967295"/>
          </p:nvPr>
        </p:nvSpPr>
        <p:spPr>
          <a:xfrm>
            <a:off x="689549" y="1678482"/>
            <a:ext cx="10897846" cy="4457700"/>
          </a:xfrm>
          <a:prstGeom prst="rect">
            <a:avLst/>
          </a:prstGeom>
        </p:spPr>
        <p:txBody>
          <a:bodyPr>
            <a:normAutofit/>
          </a:bodyPr>
          <a:lstStyle/>
          <a:p>
            <a:pPr marL="352856" indent="-315468" defTabSz="373888">
              <a:spcBef>
                <a:spcPts val="1500"/>
              </a:spcBef>
              <a:buClr>
                <a:srgbClr val="000000"/>
              </a:buClr>
              <a:buSzPct val="100000"/>
              <a:buFont typeface="Arial"/>
              <a:defRPr sz="2208"/>
            </a:pPr>
            <a:r>
              <a:rPr sz="3600" dirty="0" err="1"/>
              <a:t>生物リズムはなぜ起こるか</a:t>
            </a:r>
            <a:r>
              <a:rPr sz="3600" dirty="0"/>
              <a:t>？</a:t>
            </a:r>
          </a:p>
          <a:p>
            <a:pPr marL="720902" lvl="1" indent="-262890" defTabSz="373888">
              <a:spcBef>
                <a:spcPts val="1500"/>
              </a:spcBef>
              <a:buClr>
                <a:srgbClr val="000000"/>
              </a:buClr>
              <a:buSzPct val="100000"/>
              <a:buFont typeface="Arial"/>
              <a:defRPr sz="2208"/>
            </a:pPr>
            <a:r>
              <a:rPr sz="3600" dirty="0" err="1"/>
              <a:t>Sel’kov</a:t>
            </a:r>
            <a:r>
              <a:rPr sz="3600" dirty="0"/>
              <a:t> </a:t>
            </a:r>
            <a:r>
              <a:rPr lang="ja-JP" altLang="en-US" sz="3600"/>
              <a:t>モデルと</a:t>
            </a:r>
            <a:r>
              <a:rPr lang="en-US" altLang="ja-JP" sz="3600" dirty="0"/>
              <a:t> </a:t>
            </a:r>
            <a:r>
              <a:rPr sz="3600" dirty="0"/>
              <a:t>Hopf </a:t>
            </a:r>
            <a:r>
              <a:rPr sz="3600" dirty="0" err="1"/>
              <a:t>分岐</a:t>
            </a:r>
            <a:endParaRPr sz="3600" dirty="0"/>
          </a:p>
          <a:p>
            <a:pPr marL="352856" indent="-315468" defTabSz="373888">
              <a:spcBef>
                <a:spcPts val="1500"/>
              </a:spcBef>
              <a:buClr>
                <a:srgbClr val="000000"/>
              </a:buClr>
              <a:buSzPct val="100000"/>
              <a:buFont typeface="Arial"/>
              <a:defRPr sz="2208"/>
            </a:pPr>
            <a:endParaRPr sz="3600" dirty="0"/>
          </a:p>
          <a:p>
            <a:pPr marL="352856" indent="-315468" defTabSz="373888">
              <a:spcBef>
                <a:spcPts val="1500"/>
              </a:spcBef>
              <a:buClr>
                <a:srgbClr val="000000"/>
              </a:buClr>
              <a:buSzPct val="100000"/>
              <a:buFont typeface="Arial"/>
              <a:defRPr sz="2208"/>
            </a:pPr>
            <a:r>
              <a:rPr sz="3600" dirty="0" err="1"/>
              <a:t>引き続き「力学系</a:t>
            </a:r>
            <a:r>
              <a:rPr lang="ja-JP" altLang="en-US" sz="3600"/>
              <a:t>の</a:t>
            </a:r>
            <a:r>
              <a:rPr sz="3600" dirty="0" err="1"/>
              <a:t>七つ道具</a:t>
            </a:r>
            <a:r>
              <a:rPr sz="3600" dirty="0"/>
              <a:t>」</a:t>
            </a:r>
            <a:r>
              <a:rPr lang="ja-JP" altLang="en-US" sz="3600"/>
              <a:t>に取り組む</a:t>
            </a:r>
            <a:endParaRPr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82ABE-AB5B-047D-16D7-061E03A31A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36882CF-DEFF-90F2-E7CF-E8B5063E3756}"/>
              </a:ext>
            </a:extLst>
          </p:cNvPr>
          <p:cNvSpPr>
            <a:spLocks noGrp="1"/>
          </p:cNvSpPr>
          <p:nvPr>
            <p:ph type="title"/>
          </p:nvPr>
        </p:nvSpPr>
        <p:spPr/>
        <p:txBody>
          <a:bodyPr/>
          <a:lstStyle/>
          <a:p>
            <a:r>
              <a:rPr kumimoji="1" lang="ja-JP" altLang="en-US"/>
              <a:t>力学系の七つ道具</a:t>
            </a:r>
          </a:p>
        </p:txBody>
      </p:sp>
      <p:sp>
        <p:nvSpPr>
          <p:cNvPr id="4" name="テキスト ボックス 3">
            <a:extLst>
              <a:ext uri="{FF2B5EF4-FFF2-40B4-BE49-F238E27FC236}">
                <a16:creationId xmlns:a16="http://schemas.microsoft.com/office/drawing/2014/main" id="{981A1AB0-76FD-6B28-BF7F-7391318EAD43}"/>
              </a:ext>
            </a:extLst>
          </p:cNvPr>
          <p:cNvSpPr txBox="1"/>
          <p:nvPr/>
        </p:nvSpPr>
        <p:spPr>
          <a:xfrm>
            <a:off x="3036094" y="1898913"/>
            <a:ext cx="6129336" cy="4108817"/>
          </a:xfrm>
          <a:prstGeom prst="rect">
            <a:avLst/>
          </a:prstGeom>
          <a:noFill/>
        </p:spPr>
        <p:txBody>
          <a:bodyPr wrap="square">
            <a:spAutoFit/>
          </a:bodyPr>
          <a:lstStyle/>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相平面</a:t>
            </a:r>
            <a:endParaRPr lang="ja-JP" altLang="en-US" sz="2800">
              <a:solidFill>
                <a:srgbClr val="000000"/>
              </a:solidFill>
              <a:effectLst/>
              <a:latin typeface="Gill Sans" panose="020B0502020104020203" pitchFamily="34" charset="-79"/>
              <a:cs typeface="Gill Sans" panose="020B0502020104020203" pitchFamily="34" charset="-79"/>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ヌルクライン</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ベクトル場</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latin typeface="Hiragino Sans" panose="020B0400000000000000" pitchFamily="34" charset="-128"/>
                <a:ea typeface="Hiragino Sans" panose="020B0400000000000000" pitchFamily="34" charset="-128"/>
              </a:rPr>
              <a:t>固定点</a:t>
            </a:r>
            <a:endParaRPr lang="ja-JP" altLang="en-US" sz="280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ヤコビ行列</a:t>
            </a: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固有値による安定性解析</a:t>
            </a: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分岐図</a:t>
            </a:r>
            <a:r>
              <a:rPr lang="ja-JP" altLang="en-US" sz="2800">
                <a:latin typeface="Hiragino Sans" panose="020B0400000000000000" pitchFamily="34" charset="-128"/>
                <a:ea typeface="Hiragino Sans" panose="020B0400000000000000" pitchFamily="34" charset="-128"/>
                <a:cs typeface="Gill Sans" panose="020B0502020104020203" pitchFamily="34" charset="-79"/>
              </a:rPr>
              <a:t>・相図</a:t>
            </a:r>
            <a:endParaRPr lang="ja-JP" altLang="en-US" sz="2800">
              <a:solidFill>
                <a:srgbClr val="000000"/>
              </a:solidFill>
              <a:effectLst/>
              <a:latin typeface="Gill Sans" panose="020B0502020104020203" pitchFamily="34" charset="-79"/>
              <a:cs typeface="Gill Sans" panose="020B0502020104020203" pitchFamily="34" charset="-79"/>
            </a:endParaRPr>
          </a:p>
        </p:txBody>
      </p:sp>
    </p:spTree>
    <p:extLst>
      <p:ext uri="{BB962C8B-B14F-4D97-AF65-F5344CB8AC3E}">
        <p14:creationId xmlns:p14="http://schemas.microsoft.com/office/powerpoint/2010/main" val="2492634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Sel’kovモデル"/>
          <p:cNvSpPr txBox="1">
            <a:spLocks noGrp="1"/>
          </p:cNvSpPr>
          <p:nvPr>
            <p:ph type="title"/>
          </p:nvPr>
        </p:nvSpPr>
        <p:spPr>
          <a:prstGeom prst="rect">
            <a:avLst/>
          </a:prstGeom>
        </p:spPr>
        <p:txBody>
          <a:bodyPr/>
          <a:lstStyle/>
          <a:p>
            <a:r>
              <a:t>Sel’kovモデル</a:t>
            </a:r>
          </a:p>
        </p:txBody>
      </p:sp>
      <p:sp>
        <p:nvSpPr>
          <p:cNvPr id="174" name="解糖系の振動を説明するためのモデル…"/>
          <p:cNvSpPr txBox="1">
            <a:spLocks noGrp="1"/>
          </p:cNvSpPr>
          <p:nvPr>
            <p:ph type="body" sz="half" idx="4294967295"/>
          </p:nvPr>
        </p:nvSpPr>
        <p:spPr>
          <a:xfrm>
            <a:off x="0" y="4941888"/>
            <a:ext cx="8229600" cy="1916112"/>
          </a:xfrm>
          <a:prstGeom prst="rect">
            <a:avLst/>
          </a:prstGeom>
        </p:spPr>
        <p:txBody>
          <a:bodyPr/>
          <a:lstStyle/>
          <a:p>
            <a:pPr marL="383540">
              <a:lnSpc>
                <a:spcPct val="90000"/>
              </a:lnSpc>
              <a:buClr>
                <a:srgbClr val="000000"/>
              </a:buClr>
              <a:buSzPct val="100000"/>
              <a:buFont typeface="Arial"/>
            </a:pPr>
            <a:r>
              <a:t>解糖系の振動を説明するためのモデル</a:t>
            </a:r>
          </a:p>
          <a:p>
            <a:pPr marL="783590" lvl="1">
              <a:lnSpc>
                <a:spcPct val="90000"/>
              </a:lnSpc>
              <a:buClr>
                <a:srgbClr val="000000"/>
              </a:buClr>
              <a:buSzPct val="100000"/>
              <a:buFont typeface="Arial"/>
            </a:pPr>
            <a:r>
              <a:t>振動するのは物質濃度、酵素活性</a:t>
            </a:r>
          </a:p>
          <a:p>
            <a:pPr marL="783590" lvl="1">
              <a:lnSpc>
                <a:spcPct val="90000"/>
              </a:lnSpc>
              <a:buClr>
                <a:srgbClr val="000000"/>
              </a:buClr>
              <a:buSzPct val="100000"/>
              <a:buFont typeface="Arial"/>
            </a:pPr>
            <a:r>
              <a:t>ポジティヴ・フィードバック</a:t>
            </a:r>
          </a:p>
        </p:txBody>
      </p:sp>
      <p:sp>
        <p:nvSpPr>
          <p:cNvPr id="2" name="Strogatz (1994) pp.205">
            <a:extLst>
              <a:ext uri="{FF2B5EF4-FFF2-40B4-BE49-F238E27FC236}">
                <a16:creationId xmlns:a16="http://schemas.microsoft.com/office/drawing/2014/main" id="{F07C885D-3F0E-C634-FA08-BC7CB487D1C6}"/>
              </a:ext>
            </a:extLst>
          </p:cNvPr>
          <p:cNvSpPr/>
          <p:nvPr/>
        </p:nvSpPr>
        <p:spPr>
          <a:xfrm>
            <a:off x="8394700" y="4603749"/>
            <a:ext cx="3171637"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400">
                <a:latin typeface="Calibri"/>
                <a:ea typeface="Calibri"/>
                <a:cs typeface="Calibri"/>
                <a:sym typeface="Calibri"/>
              </a:defRPr>
            </a:lvl1pPr>
          </a:lstStyle>
          <a:p>
            <a:r>
              <a:rPr dirty="0" err="1">
                <a:latin typeface="Helvetica Neue Light" panose="02000403000000020004" pitchFamily="2" charset="0"/>
                <a:ea typeface="Helvetica Neue Light" panose="02000403000000020004" pitchFamily="2" charset="0"/>
              </a:rPr>
              <a:t>Strogatz</a:t>
            </a:r>
            <a:r>
              <a:rPr dirty="0">
                <a:latin typeface="Helvetica Neue Light" panose="02000403000000020004" pitchFamily="2" charset="0"/>
                <a:ea typeface="Helvetica Neue Light" panose="02000403000000020004" pitchFamily="2" charset="0"/>
              </a:rPr>
              <a:t> (1994) pp.205</a:t>
            </a:r>
          </a:p>
        </p:txBody>
      </p:sp>
      <p:sp>
        <p:nvSpPr>
          <p:cNvPr id="3" name="ただし">
            <a:extLst>
              <a:ext uri="{FF2B5EF4-FFF2-40B4-BE49-F238E27FC236}">
                <a16:creationId xmlns:a16="http://schemas.microsoft.com/office/drawing/2014/main" id="{87D2C369-2ED4-2408-CBA5-C8D61B3077A0}"/>
              </a:ext>
            </a:extLst>
          </p:cNvPr>
          <p:cNvSpPr/>
          <p:nvPr/>
        </p:nvSpPr>
        <p:spPr>
          <a:xfrm>
            <a:off x="5500172" y="3666243"/>
            <a:ext cx="795089"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a:latin typeface="Arial"/>
                <a:ea typeface="Arial"/>
                <a:cs typeface="Arial"/>
                <a:sym typeface="Arial"/>
              </a:defRPr>
            </a:lvl1pPr>
          </a:lstStyle>
          <a:p>
            <a:r>
              <a:rPr dirty="0" err="1"/>
              <a:t>ただし</a:t>
            </a:r>
            <a:endParaRPr dirty="0"/>
          </a:p>
        </p:txBody>
      </p:sp>
      <p:sp>
        <p:nvSpPr>
          <p:cNvPr id="4" name="v2 = ay + x2y">
            <a:extLst>
              <a:ext uri="{FF2B5EF4-FFF2-40B4-BE49-F238E27FC236}">
                <a16:creationId xmlns:a16="http://schemas.microsoft.com/office/drawing/2014/main" id="{74865F4A-0CE8-C2E4-6902-16753884206B}"/>
              </a:ext>
            </a:extLst>
          </p:cNvPr>
          <p:cNvSpPr/>
          <p:nvPr/>
        </p:nvSpPr>
        <p:spPr>
          <a:xfrm>
            <a:off x="8538805" y="3352762"/>
            <a:ext cx="1889941"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dirty="0"/>
              <a:t>v</a:t>
            </a:r>
            <a:r>
              <a:rPr sz="2800" baseline="-5999" dirty="0"/>
              <a:t>2 </a:t>
            </a:r>
            <a:r>
              <a:rPr sz="2800" dirty="0"/>
              <a:t>= </a:t>
            </a:r>
            <a:r>
              <a:rPr sz="2800" i="1" dirty="0"/>
              <a:t>ay </a:t>
            </a:r>
            <a:r>
              <a:rPr sz="2800" dirty="0"/>
              <a:t>+ </a:t>
            </a:r>
            <a:r>
              <a:rPr sz="2800" i="1" dirty="0"/>
              <a:t>x</a:t>
            </a:r>
            <a:r>
              <a:rPr sz="2800" baseline="31999" dirty="0"/>
              <a:t>2</a:t>
            </a:r>
            <a:r>
              <a:rPr sz="2800" i="1" dirty="0"/>
              <a:t>y</a:t>
            </a:r>
          </a:p>
        </p:txBody>
      </p:sp>
      <p:sp>
        <p:nvSpPr>
          <p:cNvPr id="5" name="v1 = b">
            <a:extLst>
              <a:ext uri="{FF2B5EF4-FFF2-40B4-BE49-F238E27FC236}">
                <a16:creationId xmlns:a16="http://schemas.microsoft.com/office/drawing/2014/main" id="{CFC0FF29-31D3-251C-5C3E-F38C8E09D5BD}"/>
              </a:ext>
            </a:extLst>
          </p:cNvPr>
          <p:cNvSpPr/>
          <p:nvPr/>
        </p:nvSpPr>
        <p:spPr>
          <a:xfrm>
            <a:off x="7089188" y="3346412"/>
            <a:ext cx="912109"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a:t>v</a:t>
            </a:r>
            <a:r>
              <a:rPr sz="2800" baseline="-5999"/>
              <a:t>1 </a:t>
            </a:r>
            <a:r>
              <a:rPr sz="2800"/>
              <a:t>= </a:t>
            </a:r>
            <a:r>
              <a:rPr sz="2800" i="1"/>
              <a:t>b</a:t>
            </a:r>
          </a:p>
        </p:txBody>
      </p:sp>
      <p:sp>
        <p:nvSpPr>
          <p:cNvPr id="6" name="v3 = x">
            <a:extLst>
              <a:ext uri="{FF2B5EF4-FFF2-40B4-BE49-F238E27FC236}">
                <a16:creationId xmlns:a16="http://schemas.microsoft.com/office/drawing/2014/main" id="{20BEBEBC-DDDA-7977-060A-82A160F4AEDC}"/>
              </a:ext>
            </a:extLst>
          </p:cNvPr>
          <p:cNvSpPr/>
          <p:nvPr/>
        </p:nvSpPr>
        <p:spPr>
          <a:xfrm>
            <a:off x="7099301" y="3867112"/>
            <a:ext cx="891270"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dirty="0"/>
              <a:t>v</a:t>
            </a:r>
            <a:r>
              <a:rPr sz="2800" baseline="-5999" dirty="0"/>
              <a:t>3 </a:t>
            </a:r>
            <a:r>
              <a:rPr sz="2800" dirty="0"/>
              <a:t>= </a:t>
            </a:r>
            <a:r>
              <a:rPr sz="2800" i="1" dirty="0"/>
              <a:t>x</a:t>
            </a:r>
          </a:p>
        </p:txBody>
      </p:sp>
      <p:sp>
        <p:nvSpPr>
          <p:cNvPr id="7" name="v1">
            <a:extLst>
              <a:ext uri="{FF2B5EF4-FFF2-40B4-BE49-F238E27FC236}">
                <a16:creationId xmlns:a16="http://schemas.microsoft.com/office/drawing/2014/main" id="{264121A0-A3AE-B7EF-C3A4-2437991D0C0C}"/>
              </a:ext>
            </a:extLst>
          </p:cNvPr>
          <p:cNvSpPr/>
          <p:nvPr/>
        </p:nvSpPr>
        <p:spPr>
          <a:xfrm>
            <a:off x="3453673" y="2025612"/>
            <a:ext cx="381515"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a:t>v</a:t>
            </a:r>
            <a:r>
              <a:rPr sz="2800" baseline="-5999"/>
              <a:t>1</a:t>
            </a:r>
          </a:p>
        </p:txBody>
      </p:sp>
      <p:sp>
        <p:nvSpPr>
          <p:cNvPr id="8" name="v2">
            <a:extLst>
              <a:ext uri="{FF2B5EF4-FFF2-40B4-BE49-F238E27FC236}">
                <a16:creationId xmlns:a16="http://schemas.microsoft.com/office/drawing/2014/main" id="{1BB68A46-A987-40DA-0C2A-3C34714AC35F}"/>
              </a:ext>
            </a:extLst>
          </p:cNvPr>
          <p:cNvSpPr/>
          <p:nvPr/>
        </p:nvSpPr>
        <p:spPr>
          <a:xfrm>
            <a:off x="5892800" y="2025612"/>
            <a:ext cx="381515"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a:t>v</a:t>
            </a:r>
            <a:r>
              <a:rPr sz="2800" baseline="-5999"/>
              <a:t>2</a:t>
            </a:r>
          </a:p>
        </p:txBody>
      </p:sp>
      <p:sp>
        <p:nvSpPr>
          <p:cNvPr id="9" name="v3">
            <a:extLst>
              <a:ext uri="{FF2B5EF4-FFF2-40B4-BE49-F238E27FC236}">
                <a16:creationId xmlns:a16="http://schemas.microsoft.com/office/drawing/2014/main" id="{669B6625-AAAD-62DF-10E3-98AFA9CD901C}"/>
              </a:ext>
            </a:extLst>
          </p:cNvPr>
          <p:cNvSpPr/>
          <p:nvPr/>
        </p:nvSpPr>
        <p:spPr>
          <a:xfrm>
            <a:off x="8394700" y="2025612"/>
            <a:ext cx="381515"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a:t>v</a:t>
            </a:r>
            <a:r>
              <a:rPr sz="2800" baseline="-5999"/>
              <a:t>3</a:t>
            </a:r>
          </a:p>
        </p:txBody>
      </p:sp>
      <p:sp>
        <p:nvSpPr>
          <p:cNvPr id="10" name="線">
            <a:extLst>
              <a:ext uri="{FF2B5EF4-FFF2-40B4-BE49-F238E27FC236}">
                <a16:creationId xmlns:a16="http://schemas.microsoft.com/office/drawing/2014/main" id="{4691EE4B-2006-5943-7DC4-2622EBEBC632}"/>
              </a:ext>
            </a:extLst>
          </p:cNvPr>
          <p:cNvSpPr/>
          <p:nvPr/>
        </p:nvSpPr>
        <p:spPr>
          <a:xfrm flipH="1">
            <a:off x="3111500" y="2527301"/>
            <a:ext cx="1079500" cy="1"/>
          </a:xfrm>
          <a:prstGeom prst="line">
            <a:avLst/>
          </a:prstGeom>
          <a:ln w="3810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1" name="線">
            <a:extLst>
              <a:ext uri="{FF2B5EF4-FFF2-40B4-BE49-F238E27FC236}">
                <a16:creationId xmlns:a16="http://schemas.microsoft.com/office/drawing/2014/main" id="{D276DA45-7E59-27F3-89EB-AB1F9AF203C1}"/>
              </a:ext>
            </a:extLst>
          </p:cNvPr>
          <p:cNvSpPr/>
          <p:nvPr/>
        </p:nvSpPr>
        <p:spPr>
          <a:xfrm flipH="1">
            <a:off x="5549900" y="2527301"/>
            <a:ext cx="1079500" cy="1"/>
          </a:xfrm>
          <a:prstGeom prst="line">
            <a:avLst/>
          </a:prstGeom>
          <a:ln w="3810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2" name="線">
            <a:extLst>
              <a:ext uri="{FF2B5EF4-FFF2-40B4-BE49-F238E27FC236}">
                <a16:creationId xmlns:a16="http://schemas.microsoft.com/office/drawing/2014/main" id="{CEB33FF9-82A3-B685-9E32-8B32776BC2B8}"/>
              </a:ext>
            </a:extLst>
          </p:cNvPr>
          <p:cNvSpPr/>
          <p:nvPr/>
        </p:nvSpPr>
        <p:spPr>
          <a:xfrm flipH="1">
            <a:off x="8064500" y="2527301"/>
            <a:ext cx="1079500" cy="1"/>
          </a:xfrm>
          <a:prstGeom prst="line">
            <a:avLst/>
          </a:prstGeom>
          <a:ln w="3810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3" name="ADP(x)">
            <a:extLst>
              <a:ext uri="{FF2B5EF4-FFF2-40B4-BE49-F238E27FC236}">
                <a16:creationId xmlns:a16="http://schemas.microsoft.com/office/drawing/2014/main" id="{E0FE0A1F-B17A-3310-209C-81DC007823E0}"/>
              </a:ext>
            </a:extLst>
          </p:cNvPr>
          <p:cNvSpPr/>
          <p:nvPr/>
        </p:nvSpPr>
        <p:spPr>
          <a:xfrm>
            <a:off x="6735262" y="2254212"/>
            <a:ext cx="1221488"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a:t>ADP(</a:t>
            </a:r>
            <a:r>
              <a:rPr sz="2800" i="1"/>
              <a:t>x</a:t>
            </a:r>
            <a:r>
              <a:rPr sz="2800"/>
              <a:t>)</a:t>
            </a:r>
          </a:p>
        </p:txBody>
      </p:sp>
      <p:sp>
        <p:nvSpPr>
          <p:cNvPr id="14" name="F6P(y)">
            <a:extLst>
              <a:ext uri="{FF2B5EF4-FFF2-40B4-BE49-F238E27FC236}">
                <a16:creationId xmlns:a16="http://schemas.microsoft.com/office/drawing/2014/main" id="{468EE475-F9E0-BAD9-D0EF-605D11A441F1}"/>
              </a:ext>
            </a:extLst>
          </p:cNvPr>
          <p:cNvSpPr/>
          <p:nvPr/>
        </p:nvSpPr>
        <p:spPr>
          <a:xfrm>
            <a:off x="4361620" y="2254212"/>
            <a:ext cx="1082027"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a:t>F6P(</a:t>
            </a:r>
            <a:r>
              <a:rPr sz="2800" i="1"/>
              <a:t>y</a:t>
            </a:r>
            <a:r>
              <a:rPr sz="2800"/>
              <a:t>)</a:t>
            </a:r>
          </a:p>
        </p:txBody>
      </p:sp>
      <p:sp>
        <p:nvSpPr>
          <p:cNvPr id="15" name="PFK">
            <a:extLst>
              <a:ext uri="{FF2B5EF4-FFF2-40B4-BE49-F238E27FC236}">
                <a16:creationId xmlns:a16="http://schemas.microsoft.com/office/drawing/2014/main" id="{5CB8B007-2164-4082-6277-624204DBBCAA}"/>
              </a:ext>
            </a:extLst>
          </p:cNvPr>
          <p:cNvSpPr/>
          <p:nvPr/>
        </p:nvSpPr>
        <p:spPr>
          <a:xfrm>
            <a:off x="5690915" y="2686012"/>
            <a:ext cx="763029"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i="1">
                <a:latin typeface="Times New Roman"/>
                <a:ea typeface="Times New Roman"/>
                <a:cs typeface="Times New Roman"/>
                <a:sym typeface="Times New Roman"/>
              </a:defRPr>
            </a:lvl1pPr>
          </a:lstStyle>
          <a:p>
            <a:pPr>
              <a:defRPr i="0"/>
            </a:pPr>
            <a:r>
              <a:rPr sz="2800" dirty="0"/>
              <a:t>PFK</a:t>
            </a:r>
          </a:p>
        </p:txBody>
      </p:sp>
      <p:sp>
        <p:nvSpPr>
          <p:cNvPr id="16" name="線">
            <a:extLst>
              <a:ext uri="{FF2B5EF4-FFF2-40B4-BE49-F238E27FC236}">
                <a16:creationId xmlns:a16="http://schemas.microsoft.com/office/drawing/2014/main" id="{C81721D3-D01B-0912-9F7A-1F9C9B22C444}"/>
              </a:ext>
            </a:extLst>
          </p:cNvPr>
          <p:cNvSpPr/>
          <p:nvPr/>
        </p:nvSpPr>
        <p:spPr>
          <a:xfrm flipV="1">
            <a:off x="6083300" y="1587500"/>
            <a:ext cx="0" cy="508000"/>
          </a:xfrm>
          <a:prstGeom prst="line">
            <a:avLst/>
          </a:prstGeom>
          <a:ln w="3810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7" name="線">
            <a:extLst>
              <a:ext uri="{FF2B5EF4-FFF2-40B4-BE49-F238E27FC236}">
                <a16:creationId xmlns:a16="http://schemas.microsoft.com/office/drawing/2014/main" id="{500A5510-D244-94DE-CA8B-37331435892A}"/>
              </a:ext>
            </a:extLst>
          </p:cNvPr>
          <p:cNvSpPr/>
          <p:nvPr/>
        </p:nvSpPr>
        <p:spPr>
          <a:xfrm flipH="1">
            <a:off x="6083300" y="1587500"/>
            <a:ext cx="1168400" cy="2"/>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8" name="線">
            <a:extLst>
              <a:ext uri="{FF2B5EF4-FFF2-40B4-BE49-F238E27FC236}">
                <a16:creationId xmlns:a16="http://schemas.microsoft.com/office/drawing/2014/main" id="{9660F665-E00B-C431-6690-0CF145795319}"/>
              </a:ext>
            </a:extLst>
          </p:cNvPr>
          <p:cNvSpPr/>
          <p:nvPr/>
        </p:nvSpPr>
        <p:spPr>
          <a:xfrm flipV="1">
            <a:off x="7251700" y="1574800"/>
            <a:ext cx="0" cy="520700"/>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pic>
        <p:nvPicPr>
          <p:cNvPr id="19" name="図 18">
            <a:extLst>
              <a:ext uri="{FF2B5EF4-FFF2-40B4-BE49-F238E27FC236}">
                <a16:creationId xmlns:a16="http://schemas.microsoft.com/office/drawing/2014/main" id="{AED86729-4452-A7C5-6B81-0D7A5A2EE7EE}"/>
              </a:ext>
            </a:extLst>
          </p:cNvPr>
          <p:cNvPicPr>
            <a:picLocks noChangeAspect="1"/>
          </p:cNvPicPr>
          <p:nvPr/>
        </p:nvPicPr>
        <p:blipFill>
          <a:blip r:embed="rId2"/>
          <a:stretch>
            <a:fillRect/>
          </a:stretch>
        </p:blipFill>
        <p:spPr>
          <a:xfrm>
            <a:off x="1334315" y="2909770"/>
            <a:ext cx="3027305" cy="169397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解糖系の振動とは？"/>
          <p:cNvSpPr txBox="1">
            <a:spLocks noGrp="1"/>
          </p:cNvSpPr>
          <p:nvPr>
            <p:ph type="title"/>
          </p:nvPr>
        </p:nvSpPr>
        <p:spPr>
          <a:prstGeom prst="rect">
            <a:avLst/>
          </a:prstGeom>
        </p:spPr>
        <p:txBody>
          <a:bodyPr/>
          <a:lstStyle/>
          <a:p>
            <a:r>
              <a:t>解糖系の振動とは？</a:t>
            </a:r>
          </a:p>
        </p:txBody>
      </p:sp>
      <p:sp>
        <p:nvSpPr>
          <p:cNvPr id="195" name="代謝物質濃度の時間的振動…"/>
          <p:cNvSpPr txBox="1">
            <a:spLocks noGrp="1"/>
          </p:cNvSpPr>
          <p:nvPr>
            <p:ph type="body" sz="half" idx="4294967295"/>
          </p:nvPr>
        </p:nvSpPr>
        <p:spPr>
          <a:xfrm>
            <a:off x="674556" y="1655763"/>
            <a:ext cx="6280879" cy="4381500"/>
          </a:xfrm>
          <a:prstGeom prst="rect">
            <a:avLst/>
          </a:prstGeom>
        </p:spPr>
        <p:txBody>
          <a:bodyPr>
            <a:normAutofit/>
          </a:bodyPr>
          <a:lstStyle/>
          <a:p>
            <a:pPr marL="383540">
              <a:buClr>
                <a:srgbClr val="000000"/>
              </a:buClr>
              <a:buSzPct val="100000"/>
              <a:buFont typeface="Arial"/>
              <a:defRPr sz="2400"/>
            </a:pPr>
            <a:r>
              <a:rPr sz="3600" dirty="0" err="1"/>
              <a:t>代謝物質濃度の時間的振動</a:t>
            </a:r>
            <a:endParaRPr sz="3600" dirty="0"/>
          </a:p>
          <a:p>
            <a:pPr marL="383540">
              <a:buClr>
                <a:srgbClr val="000000"/>
              </a:buClr>
              <a:buSzPct val="100000"/>
              <a:buFont typeface="Arial"/>
              <a:defRPr sz="2400"/>
            </a:pPr>
            <a:endParaRPr dirty="0"/>
          </a:p>
          <a:p>
            <a:pPr marL="783590" lvl="1">
              <a:buClr>
                <a:srgbClr val="000000"/>
              </a:buClr>
              <a:buSzPct val="100000"/>
              <a:buFont typeface="Arial"/>
              <a:defRPr sz="2400"/>
            </a:pPr>
            <a:r>
              <a:rPr sz="3200" dirty="0" err="1"/>
              <a:t>グルコース</a:t>
            </a:r>
            <a:endParaRPr sz="3200" dirty="0"/>
          </a:p>
          <a:p>
            <a:pPr marL="383540">
              <a:buClr>
                <a:srgbClr val="000000"/>
              </a:buClr>
              <a:buSzPct val="100000"/>
              <a:buFont typeface="Arial"/>
              <a:defRPr sz="2400"/>
            </a:pPr>
            <a:endParaRPr dirty="0"/>
          </a:p>
          <a:p>
            <a:pPr marL="783590" lvl="1">
              <a:buClr>
                <a:srgbClr val="000000"/>
              </a:buClr>
              <a:buSzPct val="100000"/>
              <a:buFont typeface="Arial"/>
              <a:defRPr sz="2400"/>
            </a:pPr>
            <a:r>
              <a:rPr sz="3200" dirty="0" err="1"/>
              <a:t>酸素</a:t>
            </a:r>
            <a:endParaRPr sz="3200" dirty="0"/>
          </a:p>
        </p:txBody>
      </p:sp>
      <p:pic>
        <p:nvPicPr>
          <p:cNvPr id="196" name="image.png" descr="image.png"/>
          <p:cNvPicPr>
            <a:picLocks/>
          </p:cNvPicPr>
          <p:nvPr/>
        </p:nvPicPr>
        <p:blipFill>
          <a:blip r:embed="rId2"/>
          <a:stretch>
            <a:fillRect/>
          </a:stretch>
        </p:blipFill>
        <p:spPr>
          <a:xfrm>
            <a:off x="7085349" y="1484313"/>
            <a:ext cx="4279900" cy="4724401"/>
          </a:xfrm>
          <a:prstGeom prst="rect">
            <a:avLst/>
          </a:prstGeom>
          <a:ln w="12700">
            <a:miter lim="400000"/>
          </a:ln>
        </p:spPr>
      </p:pic>
      <p:sp>
        <p:nvSpPr>
          <p:cNvPr id="197" name="Kennedy et al. (2007)"/>
          <p:cNvSpPr/>
          <p:nvPr/>
        </p:nvSpPr>
        <p:spPr>
          <a:xfrm>
            <a:off x="8075498" y="6124270"/>
            <a:ext cx="2941511"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pPr>
            <a:r>
              <a:rPr sz="2400"/>
              <a:t>Kennedy </a:t>
            </a:r>
            <a:r>
              <a:rPr sz="2400" i="1">
                <a:latin typeface="Arial"/>
                <a:ea typeface="Arial"/>
                <a:cs typeface="Arial"/>
                <a:sym typeface="Arial"/>
              </a:rPr>
              <a:t>et al. </a:t>
            </a:r>
            <a:r>
              <a:rPr sz="2400"/>
              <a:t>(2007)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D51FB-49C9-53B6-F20A-C74106620FE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F49E60-4CE5-33C5-C3EC-A63F6C7B95EE}"/>
              </a:ext>
            </a:extLst>
          </p:cNvPr>
          <p:cNvSpPr>
            <a:spLocks noGrp="1"/>
          </p:cNvSpPr>
          <p:nvPr>
            <p:ph type="title"/>
          </p:nvPr>
        </p:nvSpPr>
        <p:spPr/>
        <p:txBody>
          <a:bodyPr/>
          <a:lstStyle/>
          <a:p>
            <a:r>
              <a:rPr kumimoji="1" lang="ja-JP" altLang="en-US"/>
              <a:t>力学系の七つ道具</a:t>
            </a:r>
          </a:p>
        </p:txBody>
      </p:sp>
      <p:sp>
        <p:nvSpPr>
          <p:cNvPr id="4" name="テキスト ボックス 3">
            <a:extLst>
              <a:ext uri="{FF2B5EF4-FFF2-40B4-BE49-F238E27FC236}">
                <a16:creationId xmlns:a16="http://schemas.microsoft.com/office/drawing/2014/main" id="{1A18ACDA-E0C1-2AF4-AB98-5D38E429CFFF}"/>
              </a:ext>
            </a:extLst>
          </p:cNvPr>
          <p:cNvSpPr txBox="1"/>
          <p:nvPr/>
        </p:nvSpPr>
        <p:spPr>
          <a:xfrm>
            <a:off x="3036094" y="1898913"/>
            <a:ext cx="6129336" cy="4108817"/>
          </a:xfrm>
          <a:prstGeom prst="rect">
            <a:avLst/>
          </a:prstGeom>
          <a:noFill/>
        </p:spPr>
        <p:txBody>
          <a:bodyPr wrap="square">
            <a:spAutoFit/>
          </a:bodyPr>
          <a:lstStyle/>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相平面</a:t>
            </a:r>
            <a:endParaRPr lang="ja-JP" altLang="en-US" sz="2800">
              <a:solidFill>
                <a:srgbClr val="000000"/>
              </a:solidFill>
              <a:effectLst/>
              <a:latin typeface="Gill Sans" panose="020B0502020104020203" pitchFamily="34" charset="-79"/>
              <a:cs typeface="Gill Sans" panose="020B0502020104020203" pitchFamily="34" charset="-79"/>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ヌルクライン</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ベクトル場</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latin typeface="Hiragino Sans" panose="020B0400000000000000" pitchFamily="34" charset="-128"/>
                <a:ea typeface="Hiragino Sans" panose="020B0400000000000000" pitchFamily="34" charset="-128"/>
              </a:rPr>
              <a:t>固定点</a:t>
            </a:r>
            <a:endParaRPr lang="ja-JP" altLang="en-US" sz="280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ヤコビ行列</a:t>
            </a:r>
          </a:p>
          <a:p>
            <a:pPr>
              <a:spcAft>
                <a:spcPts val="1275"/>
              </a:spcAft>
              <a:buFont typeface="+mj-lt"/>
              <a:buAutoNum type="arabicPeriod"/>
            </a:pPr>
            <a:r>
              <a:rPr lang="ja-JP" altLang="en-US" sz="2800">
                <a:solidFill>
                  <a:srgbClr val="C00000"/>
                </a:solidFill>
                <a:effectLst/>
                <a:latin typeface="Hiragino Sans" panose="020B0400000000000000" pitchFamily="34" charset="-128"/>
                <a:ea typeface="Hiragino Sans" panose="020B0400000000000000" pitchFamily="34" charset="-128"/>
              </a:rPr>
              <a:t>固有値による安定性解析</a:t>
            </a: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分岐図</a:t>
            </a:r>
            <a:r>
              <a:rPr lang="ja-JP" altLang="en-US" sz="2800">
                <a:latin typeface="Hiragino Sans" panose="020B0400000000000000" pitchFamily="34" charset="-128"/>
                <a:ea typeface="Hiragino Sans" panose="020B0400000000000000" pitchFamily="34" charset="-128"/>
                <a:cs typeface="Gill Sans" panose="020B0502020104020203" pitchFamily="34" charset="-79"/>
              </a:rPr>
              <a:t>・相図</a:t>
            </a:r>
            <a:endParaRPr lang="ja-JP" altLang="en-US" sz="2800">
              <a:effectLst/>
              <a:latin typeface="Gill Sans" panose="020B0502020104020203" pitchFamily="34" charset="-79"/>
              <a:cs typeface="Gill Sans" panose="020B0502020104020203" pitchFamily="34" charset="-79"/>
            </a:endParaRPr>
          </a:p>
        </p:txBody>
      </p:sp>
    </p:spTree>
    <p:extLst>
      <p:ext uri="{BB962C8B-B14F-4D97-AF65-F5344CB8AC3E}">
        <p14:creationId xmlns:p14="http://schemas.microsoft.com/office/powerpoint/2010/main" val="3199002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 name="すべての固有値が実数である固定点"/>
          <p:cNvSpPr txBox="1">
            <a:spLocks noGrp="1"/>
          </p:cNvSpPr>
          <p:nvPr>
            <p:ph type="title"/>
          </p:nvPr>
        </p:nvSpPr>
        <p:spPr>
          <a:prstGeom prst="rect">
            <a:avLst/>
          </a:prstGeom>
        </p:spPr>
        <p:txBody>
          <a:bodyPr/>
          <a:lstStyle/>
          <a:p>
            <a:r>
              <a:t>すべての固有値が実数である固定点</a:t>
            </a:r>
          </a:p>
        </p:txBody>
      </p:sp>
      <p:sp>
        <p:nvSpPr>
          <p:cNvPr id="572" name="ノード (Node)…"/>
          <p:cNvSpPr txBox="1">
            <a:spLocks noGrp="1"/>
          </p:cNvSpPr>
          <p:nvPr>
            <p:ph type="body" idx="4294967295"/>
          </p:nvPr>
        </p:nvSpPr>
        <p:spPr>
          <a:xfrm>
            <a:off x="287384" y="1600200"/>
            <a:ext cx="6032501" cy="5257800"/>
          </a:xfrm>
          <a:prstGeom prst="rect">
            <a:avLst/>
          </a:prstGeom>
        </p:spPr>
        <p:txBody>
          <a:bodyPr/>
          <a:lstStyle/>
          <a:p>
            <a:pPr marL="383540">
              <a:buClr>
                <a:srgbClr val="000000"/>
              </a:buClr>
              <a:buSzPct val="100000"/>
              <a:buFont typeface="Arial"/>
            </a:pPr>
            <a:r>
              <a:rPr dirty="0" err="1"/>
              <a:t>ノード</a:t>
            </a:r>
            <a:r>
              <a:rPr dirty="0"/>
              <a:t> (Node)</a:t>
            </a:r>
          </a:p>
          <a:p>
            <a:pPr marL="783590" lvl="1">
              <a:buClr>
                <a:srgbClr val="000000"/>
              </a:buClr>
              <a:buSzPct val="100000"/>
              <a:buFont typeface="Arial"/>
            </a:pPr>
            <a:r>
              <a:rPr dirty="0" err="1"/>
              <a:t>すべての固有値の符号が同じ</a:t>
            </a:r>
            <a:endParaRPr dirty="0"/>
          </a:p>
          <a:p>
            <a:pPr marL="1183639" lvl="2">
              <a:buClr>
                <a:srgbClr val="000000"/>
              </a:buClr>
              <a:buSzPct val="100000"/>
              <a:buFont typeface="Arial"/>
            </a:pPr>
            <a:r>
              <a:rPr dirty="0" err="1"/>
              <a:t>負</a:t>
            </a:r>
            <a:r>
              <a:rPr dirty="0"/>
              <a:t>: </a:t>
            </a:r>
            <a:r>
              <a:rPr dirty="0" err="1"/>
              <a:t>安定ノード</a:t>
            </a:r>
            <a:r>
              <a:rPr dirty="0"/>
              <a:t>     (attractor)</a:t>
            </a:r>
          </a:p>
          <a:p>
            <a:pPr marL="1183639" lvl="2">
              <a:buClr>
                <a:srgbClr val="000000"/>
              </a:buClr>
              <a:buSzPct val="100000"/>
              <a:buFont typeface="Arial"/>
            </a:pPr>
            <a:r>
              <a:rPr dirty="0" err="1"/>
              <a:t>正</a:t>
            </a:r>
            <a:r>
              <a:rPr dirty="0"/>
              <a:t>: </a:t>
            </a:r>
            <a:r>
              <a:rPr dirty="0" err="1"/>
              <a:t>不安定ノード</a:t>
            </a:r>
            <a:r>
              <a:rPr dirty="0"/>
              <a:t> (</a:t>
            </a:r>
            <a:r>
              <a:rPr dirty="0" err="1"/>
              <a:t>repellor</a:t>
            </a:r>
            <a:r>
              <a:rPr dirty="0"/>
              <a:t>)</a:t>
            </a:r>
          </a:p>
          <a:p>
            <a:pPr marL="1183639" lvl="2">
              <a:buClr>
                <a:srgbClr val="000000"/>
              </a:buClr>
              <a:buSzPct val="100000"/>
              <a:buFont typeface="Arial"/>
            </a:pPr>
            <a:endParaRPr dirty="0"/>
          </a:p>
          <a:p>
            <a:pPr marL="383540">
              <a:buClr>
                <a:srgbClr val="000000"/>
              </a:buClr>
              <a:buSzPct val="100000"/>
              <a:buFont typeface="Arial"/>
            </a:pPr>
            <a:r>
              <a:rPr dirty="0" err="1"/>
              <a:t>サドル</a:t>
            </a:r>
            <a:r>
              <a:rPr dirty="0"/>
              <a:t> (Saddle)</a:t>
            </a:r>
          </a:p>
          <a:p>
            <a:pPr marL="783590" lvl="1">
              <a:buClr>
                <a:srgbClr val="000000"/>
              </a:buClr>
              <a:buSzPct val="100000"/>
              <a:buFont typeface="Arial"/>
            </a:pPr>
            <a:r>
              <a:rPr dirty="0" err="1"/>
              <a:t>固有値の符号がまちまち</a:t>
            </a:r>
            <a:endParaRPr dirty="0"/>
          </a:p>
          <a:p>
            <a:pPr marL="783590" lvl="1">
              <a:buClr>
                <a:srgbClr val="000000"/>
              </a:buClr>
              <a:buSzPct val="100000"/>
              <a:buFont typeface="Arial"/>
            </a:pPr>
            <a:r>
              <a:rPr dirty="0" err="1"/>
              <a:t>収束方向</a:t>
            </a:r>
            <a:r>
              <a:rPr dirty="0"/>
              <a:t>: </a:t>
            </a:r>
            <a:r>
              <a:rPr dirty="0" err="1"/>
              <a:t>安定多様体</a:t>
            </a:r>
            <a:endParaRPr dirty="0"/>
          </a:p>
          <a:p>
            <a:pPr marL="783590" lvl="1">
              <a:buClr>
                <a:srgbClr val="000000"/>
              </a:buClr>
              <a:buSzPct val="100000"/>
              <a:buFont typeface="Arial"/>
            </a:pPr>
            <a:r>
              <a:rPr dirty="0" err="1"/>
              <a:t>発散方向</a:t>
            </a:r>
            <a:r>
              <a:rPr dirty="0"/>
              <a:t>: </a:t>
            </a:r>
            <a:r>
              <a:rPr dirty="0" err="1"/>
              <a:t>不安定多様体</a:t>
            </a:r>
            <a:endParaRPr dirty="0"/>
          </a:p>
        </p:txBody>
      </p:sp>
      <p:sp>
        <p:nvSpPr>
          <p:cNvPr id="573" name="線"/>
          <p:cNvSpPr/>
          <p:nvPr/>
        </p:nvSpPr>
        <p:spPr>
          <a:xfrm>
            <a:off x="7367587" y="4710113"/>
            <a:ext cx="1588" cy="576263"/>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74" name="線"/>
          <p:cNvSpPr/>
          <p:nvPr/>
        </p:nvSpPr>
        <p:spPr>
          <a:xfrm flipV="1">
            <a:off x="7367587" y="5429250"/>
            <a:ext cx="1588" cy="6492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75" name="線"/>
          <p:cNvSpPr/>
          <p:nvPr/>
        </p:nvSpPr>
        <p:spPr>
          <a:xfrm>
            <a:off x="6719888" y="5357812"/>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76" name="線"/>
          <p:cNvSpPr/>
          <p:nvPr/>
        </p:nvSpPr>
        <p:spPr>
          <a:xfrm flipH="1">
            <a:off x="7440613" y="5357812"/>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77" name="円形"/>
          <p:cNvSpPr/>
          <p:nvPr/>
        </p:nvSpPr>
        <p:spPr>
          <a:xfrm>
            <a:off x="7296151" y="5286376"/>
            <a:ext cx="144463" cy="144463"/>
          </a:xfrm>
          <a:prstGeom prst="ellips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578" name="線"/>
          <p:cNvSpPr/>
          <p:nvPr/>
        </p:nvSpPr>
        <p:spPr>
          <a:xfrm>
            <a:off x="9599612" y="4710113"/>
            <a:ext cx="1588" cy="576263"/>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79" name="線"/>
          <p:cNvSpPr/>
          <p:nvPr/>
        </p:nvSpPr>
        <p:spPr>
          <a:xfrm flipV="1">
            <a:off x="9599612" y="5429250"/>
            <a:ext cx="1588" cy="6492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80" name="線"/>
          <p:cNvSpPr/>
          <p:nvPr/>
        </p:nvSpPr>
        <p:spPr>
          <a:xfrm>
            <a:off x="9672638" y="5357812"/>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81" name="線"/>
          <p:cNvSpPr/>
          <p:nvPr/>
        </p:nvSpPr>
        <p:spPr>
          <a:xfrm flipH="1">
            <a:off x="8951913" y="5357812"/>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82" name="円形"/>
          <p:cNvSpPr/>
          <p:nvPr/>
        </p:nvSpPr>
        <p:spPr>
          <a:xfrm>
            <a:off x="9528176" y="5286376"/>
            <a:ext cx="144463" cy="1444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583" name="Stable Node"/>
          <p:cNvSpPr/>
          <p:nvPr/>
        </p:nvSpPr>
        <p:spPr>
          <a:xfrm>
            <a:off x="6648132" y="6162675"/>
            <a:ext cx="1367930" cy="406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Stable Node</a:t>
            </a:r>
          </a:p>
        </p:txBody>
      </p:sp>
      <p:sp>
        <p:nvSpPr>
          <p:cNvPr id="584" name="Saddle"/>
          <p:cNvSpPr/>
          <p:nvPr/>
        </p:nvSpPr>
        <p:spPr>
          <a:xfrm>
            <a:off x="9116694" y="6175375"/>
            <a:ext cx="804244" cy="406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Saddle</a:t>
            </a:r>
          </a:p>
        </p:txBody>
      </p:sp>
      <p:pic>
        <p:nvPicPr>
          <p:cNvPr id="586" name="droppedImage.pdf" descr="droppedImage.pdf"/>
          <p:cNvPicPr>
            <a:picLocks noChangeAspect="1"/>
          </p:cNvPicPr>
          <p:nvPr/>
        </p:nvPicPr>
        <p:blipFill>
          <a:blip r:embed="rId2"/>
          <a:stretch>
            <a:fillRect/>
          </a:stretch>
        </p:blipFill>
        <p:spPr>
          <a:xfrm>
            <a:off x="6282130" y="1568591"/>
            <a:ext cx="1957788" cy="705933"/>
          </a:xfrm>
          <a:prstGeom prst="rect">
            <a:avLst/>
          </a:prstGeom>
          <a:ln w="12700">
            <a:miter lim="400000"/>
          </a:ln>
        </p:spPr>
      </p:pic>
      <p:pic>
        <p:nvPicPr>
          <p:cNvPr id="587" name="droppedImage.pdf" descr="droppedImage.pdf"/>
          <p:cNvPicPr>
            <a:picLocks noChangeAspect="1"/>
          </p:cNvPicPr>
          <p:nvPr/>
        </p:nvPicPr>
        <p:blipFill>
          <a:blip r:embed="rId3"/>
          <a:stretch>
            <a:fillRect/>
          </a:stretch>
        </p:blipFill>
        <p:spPr>
          <a:xfrm>
            <a:off x="6285517" y="2628461"/>
            <a:ext cx="5619099" cy="723252"/>
          </a:xfrm>
          <a:prstGeom prst="rect">
            <a:avLst/>
          </a:prstGeom>
          <a:ln w="12700">
            <a:miter lim="400000"/>
          </a:ln>
        </p:spPr>
      </p:pic>
      <p:sp>
        <p:nvSpPr>
          <p:cNvPr id="588" name="線"/>
          <p:cNvSpPr/>
          <p:nvPr/>
        </p:nvSpPr>
        <p:spPr>
          <a:xfrm>
            <a:off x="6502400" y="4683125"/>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89" name="線"/>
          <p:cNvSpPr/>
          <p:nvPr/>
        </p:nvSpPr>
        <p:spPr>
          <a:xfrm>
            <a:off x="6502396" y="6193627"/>
            <a:ext cx="1606558" cy="2"/>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90" name="x"/>
          <p:cNvSpPr/>
          <p:nvPr/>
        </p:nvSpPr>
        <p:spPr>
          <a:xfrm>
            <a:off x="8174657" y="5967988"/>
            <a:ext cx="25006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x</a:t>
            </a:r>
          </a:p>
        </p:txBody>
      </p:sp>
      <p:sp>
        <p:nvSpPr>
          <p:cNvPr id="591" name="y"/>
          <p:cNvSpPr/>
          <p:nvPr/>
        </p:nvSpPr>
        <p:spPr>
          <a:xfrm>
            <a:off x="6369050" y="4164588"/>
            <a:ext cx="24526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y</a:t>
            </a:r>
          </a:p>
        </p:txBody>
      </p:sp>
      <p:sp>
        <p:nvSpPr>
          <p:cNvPr id="592" name="線"/>
          <p:cNvSpPr/>
          <p:nvPr/>
        </p:nvSpPr>
        <p:spPr>
          <a:xfrm>
            <a:off x="8731250" y="4679950"/>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93" name="線"/>
          <p:cNvSpPr/>
          <p:nvPr/>
        </p:nvSpPr>
        <p:spPr>
          <a:xfrm>
            <a:off x="8718550" y="6196020"/>
            <a:ext cx="1606559" cy="1"/>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94" name="x"/>
          <p:cNvSpPr/>
          <p:nvPr/>
        </p:nvSpPr>
        <p:spPr>
          <a:xfrm>
            <a:off x="10394950" y="5967988"/>
            <a:ext cx="25006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x</a:t>
            </a:r>
          </a:p>
        </p:txBody>
      </p:sp>
      <p:sp>
        <p:nvSpPr>
          <p:cNvPr id="595" name="y"/>
          <p:cNvSpPr/>
          <p:nvPr/>
        </p:nvSpPr>
        <p:spPr>
          <a:xfrm>
            <a:off x="8591550" y="4164588"/>
            <a:ext cx="24526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y</a:t>
            </a:r>
          </a:p>
        </p:txBody>
      </p:sp>
      <p:sp>
        <p:nvSpPr>
          <p:cNvPr id="2" name="x(TMG)">
            <a:extLst>
              <a:ext uri="{FF2B5EF4-FFF2-40B4-BE49-F238E27FC236}">
                <a16:creationId xmlns:a16="http://schemas.microsoft.com/office/drawing/2014/main" id="{730D29A9-A7CE-A16C-641E-EAE752FA77DE}"/>
              </a:ext>
            </a:extLst>
          </p:cNvPr>
          <p:cNvSpPr/>
          <p:nvPr/>
        </p:nvSpPr>
        <p:spPr>
          <a:xfrm>
            <a:off x="6210300" y="3545241"/>
            <a:ext cx="6152607"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spcBef>
                <a:spcPts val="1700"/>
              </a:spcBef>
              <a:defRPr sz="2400"/>
            </a:pPr>
            <a:r>
              <a:rPr lang="en-US" altLang="ja-JP" sz="2400" dirty="0">
                <a:latin typeface="Times New Roman"/>
                <a:cs typeface="Times New Roman"/>
                <a:sym typeface="Times New Roman"/>
              </a:rPr>
              <a:t>v</a:t>
            </a:r>
            <a:r>
              <a:rPr lang="en-US" altLang="ja-JP" sz="2400" baseline="-25000" dirty="0">
                <a:latin typeface="Times New Roman"/>
                <a:cs typeface="Times New Roman"/>
                <a:sym typeface="Times New Roman"/>
              </a:rPr>
              <a:t>1</a:t>
            </a:r>
            <a:r>
              <a:rPr lang="ja-JP" altLang="en-US" sz="2400">
                <a:latin typeface="Times New Roman"/>
                <a:cs typeface="Times New Roman"/>
                <a:sym typeface="Times New Roman"/>
              </a:rPr>
              <a:t>･･･</a:t>
            </a:r>
            <a:r>
              <a:rPr lang="en-US" altLang="ja-JP" sz="2400" dirty="0" err="1">
                <a:latin typeface="Times New Roman"/>
                <a:cs typeface="Times New Roman"/>
                <a:sym typeface="Times New Roman"/>
              </a:rPr>
              <a:t>v</a:t>
            </a:r>
            <a:r>
              <a:rPr lang="en-US" altLang="ja-JP" sz="2400" baseline="-25000" dirty="0" err="1">
                <a:latin typeface="Times New Roman"/>
                <a:cs typeface="Times New Roman"/>
                <a:sym typeface="Times New Roman"/>
              </a:rPr>
              <a:t>n</a:t>
            </a:r>
            <a:r>
              <a:rPr lang="en-US" altLang="ja-JP" sz="2400" baseline="-25000" dirty="0">
                <a:latin typeface="Times New Roman"/>
                <a:cs typeface="Times New Roman"/>
                <a:sym typeface="Times New Roman"/>
              </a:rPr>
              <a:t> </a:t>
            </a:r>
            <a:r>
              <a:rPr lang="ja-JP" altLang="en-US" sz="2400">
                <a:latin typeface="Times New Roman"/>
                <a:cs typeface="Times New Roman"/>
                <a:sym typeface="Times New Roman"/>
              </a:rPr>
              <a:t>は</a:t>
            </a:r>
            <a:r>
              <a:rPr lang="en-US" altLang="ja-JP" sz="2400" dirty="0">
                <a:latin typeface="Times New Roman"/>
                <a:cs typeface="Times New Roman"/>
                <a:sym typeface="Times New Roman"/>
              </a:rPr>
              <a:t> λ</a:t>
            </a:r>
            <a:r>
              <a:rPr lang="en-US" altLang="ja-JP" sz="2400" baseline="-25000" dirty="0">
                <a:latin typeface="Times New Roman"/>
                <a:cs typeface="Times New Roman"/>
                <a:sym typeface="Times New Roman"/>
              </a:rPr>
              <a:t>1</a:t>
            </a:r>
            <a:r>
              <a:rPr lang="ja-JP" altLang="en-US" sz="2400">
                <a:latin typeface="Times New Roman"/>
                <a:cs typeface="Times New Roman"/>
                <a:sym typeface="Times New Roman"/>
              </a:rPr>
              <a:t>･･･</a:t>
            </a:r>
            <a:r>
              <a:rPr lang="en-US" altLang="ja-JP" sz="2400" dirty="0" err="1">
                <a:latin typeface="Times New Roman"/>
                <a:cs typeface="Times New Roman"/>
                <a:sym typeface="Times New Roman"/>
              </a:rPr>
              <a:t>λ</a:t>
            </a:r>
            <a:r>
              <a:rPr lang="en-US" altLang="ja-JP" sz="2400" baseline="-25000" dirty="0" err="1">
                <a:latin typeface="Times New Roman"/>
                <a:cs typeface="Times New Roman"/>
                <a:sym typeface="Times New Roman"/>
              </a:rPr>
              <a:t>n</a:t>
            </a:r>
            <a:r>
              <a:rPr lang="en-US" altLang="ja-JP" sz="2400" baseline="-25000" dirty="0">
                <a:latin typeface="Times New Roman"/>
                <a:cs typeface="Times New Roman"/>
                <a:sym typeface="Times New Roman"/>
              </a:rPr>
              <a:t> </a:t>
            </a:r>
            <a:r>
              <a:rPr lang="ja-JP" altLang="en-US" sz="2400">
                <a:latin typeface="Times New Roman"/>
                <a:cs typeface="Times New Roman"/>
                <a:sym typeface="Times New Roman"/>
              </a:rPr>
              <a:t>に対応する固有ベクトル</a:t>
            </a:r>
            <a:endParaRPr lang="en-US" altLang="ja-JP" sz="2400" dirty="0"/>
          </a:p>
        </p:txBody>
      </p:sp>
      <p:sp>
        <p:nvSpPr>
          <p:cNvPr id="3" name="テキスト ボックス 2">
            <a:extLst>
              <a:ext uri="{FF2B5EF4-FFF2-40B4-BE49-F238E27FC236}">
                <a16:creationId xmlns:a16="http://schemas.microsoft.com/office/drawing/2014/main" id="{E485E3FF-750B-2A0F-8347-CB538F010DDC}"/>
              </a:ext>
            </a:extLst>
          </p:cNvPr>
          <p:cNvSpPr txBox="1"/>
          <p:nvPr/>
        </p:nvSpPr>
        <p:spPr>
          <a:xfrm>
            <a:off x="8455486" y="1693015"/>
            <a:ext cx="885910" cy="461665"/>
          </a:xfrm>
          <a:prstGeom prst="rect">
            <a:avLst/>
          </a:prstGeom>
          <a:noFill/>
        </p:spPr>
        <p:txBody>
          <a:bodyPr wrap="square" rtlCol="0">
            <a:spAutoFit/>
          </a:bodyPr>
          <a:lstStyle/>
          <a:p>
            <a:r>
              <a:rPr kumimoji="1" lang="ja-JP" altLang="en-US" sz="2400"/>
              <a:t>の解</a:t>
            </a:r>
            <a:endParaRPr kumimoji="1" lang="en-US" altLang="ja-JP"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 name="線"/>
          <p:cNvSpPr/>
          <p:nvPr/>
        </p:nvSpPr>
        <p:spPr>
          <a:xfrm flipV="1">
            <a:off x="2406650" y="3865563"/>
            <a:ext cx="1588" cy="2233613"/>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77" name="線"/>
          <p:cNvSpPr/>
          <p:nvPr/>
        </p:nvSpPr>
        <p:spPr>
          <a:xfrm>
            <a:off x="2406651" y="6099175"/>
            <a:ext cx="2663825" cy="1588"/>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78" name="線"/>
          <p:cNvSpPr/>
          <p:nvPr/>
        </p:nvSpPr>
        <p:spPr>
          <a:xfrm flipV="1">
            <a:off x="7496175" y="3852863"/>
            <a:ext cx="1588" cy="2233613"/>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79" name="線"/>
          <p:cNvSpPr/>
          <p:nvPr/>
        </p:nvSpPr>
        <p:spPr>
          <a:xfrm>
            <a:off x="7496176" y="6086475"/>
            <a:ext cx="2663825" cy="1588"/>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80" name="v1"/>
          <p:cNvSpPr/>
          <p:nvPr/>
        </p:nvSpPr>
        <p:spPr>
          <a:xfrm>
            <a:off x="2734468" y="3602613"/>
            <a:ext cx="370294"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defRPr sz="2400"/>
            </a:pPr>
            <a:r>
              <a:rPr sz="2400" b="1">
                <a:latin typeface="Times New Roman"/>
                <a:ea typeface="Times New Roman"/>
                <a:cs typeface="Times New Roman"/>
                <a:sym typeface="Times New Roman"/>
              </a:rPr>
              <a:t>v</a:t>
            </a:r>
            <a:r>
              <a:rPr sz="2400" baseline="-5999"/>
              <a:t>1</a:t>
            </a:r>
          </a:p>
        </p:txBody>
      </p:sp>
      <p:sp>
        <p:nvSpPr>
          <p:cNvPr id="681" name="円形"/>
          <p:cNvSpPr/>
          <p:nvPr/>
        </p:nvSpPr>
        <p:spPr>
          <a:xfrm>
            <a:off x="3317875" y="5359401"/>
            <a:ext cx="142876" cy="144463"/>
          </a:xfrm>
          <a:prstGeom prst="ellipse">
            <a:avLst/>
          </a:prstGeom>
          <a:solidFill>
            <a:srgbClr val="000000"/>
          </a:solidFill>
          <a:ln w="127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82" name="線"/>
          <p:cNvSpPr/>
          <p:nvPr/>
        </p:nvSpPr>
        <p:spPr>
          <a:xfrm>
            <a:off x="3459162" y="5451476"/>
            <a:ext cx="1152526" cy="360363"/>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83" name="線"/>
          <p:cNvSpPr/>
          <p:nvPr/>
        </p:nvSpPr>
        <p:spPr>
          <a:xfrm flipV="1">
            <a:off x="3459163" y="4948238"/>
            <a:ext cx="576263" cy="431801"/>
          </a:xfrm>
          <a:prstGeom prst="line">
            <a:avLst/>
          </a:prstGeom>
          <a:ln w="25400">
            <a:solidFill>
              <a:srgbClr val="0433FF"/>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84" name="xss+Δx0"/>
          <p:cNvSpPr/>
          <p:nvPr/>
        </p:nvSpPr>
        <p:spPr>
          <a:xfrm>
            <a:off x="4105738" y="4136371"/>
            <a:ext cx="1298432" cy="5950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Times New Roman"/>
            </a:pPr>
            <a:r>
              <a:rPr sz="3200" i="1">
                <a:latin typeface="Times New Roman"/>
                <a:ea typeface="Times New Roman"/>
                <a:cs typeface="Times New Roman"/>
                <a:sym typeface="Times New Roman"/>
              </a:rPr>
              <a:t>x</a:t>
            </a:r>
            <a:r>
              <a:rPr sz="3200" i="1" baseline="-25000">
                <a:latin typeface="Times New Roman"/>
                <a:ea typeface="Times New Roman"/>
                <a:cs typeface="Times New Roman"/>
                <a:sym typeface="Times New Roman"/>
              </a:rPr>
              <a:t>ss</a:t>
            </a:r>
            <a:r>
              <a:rPr sz="3200">
                <a:latin typeface="Times New Roman"/>
                <a:ea typeface="Times New Roman"/>
                <a:cs typeface="Times New Roman"/>
                <a:sym typeface="Times New Roman"/>
              </a:rPr>
              <a:t>+</a:t>
            </a:r>
            <a:r>
              <a:rPr sz="3200">
                <a:latin typeface="Symbol"/>
                <a:ea typeface="Symbol"/>
                <a:cs typeface="Symbol"/>
                <a:sym typeface="Symbol"/>
              </a:rPr>
              <a:t>D</a:t>
            </a:r>
            <a:r>
              <a:rPr sz="3200" i="1">
                <a:latin typeface="Times New Roman"/>
                <a:ea typeface="Times New Roman"/>
                <a:cs typeface="Times New Roman"/>
                <a:sym typeface="Times New Roman"/>
              </a:rPr>
              <a:t>x</a:t>
            </a:r>
            <a:r>
              <a:rPr sz="3200" i="1" baseline="-25000">
                <a:latin typeface="Times New Roman"/>
                <a:ea typeface="Times New Roman"/>
                <a:cs typeface="Times New Roman"/>
                <a:sym typeface="Times New Roman"/>
              </a:rPr>
              <a:t>0</a:t>
            </a:r>
          </a:p>
        </p:txBody>
      </p:sp>
      <p:sp>
        <p:nvSpPr>
          <p:cNvPr id="685" name="線"/>
          <p:cNvSpPr/>
          <p:nvPr/>
        </p:nvSpPr>
        <p:spPr>
          <a:xfrm flipH="1" flipV="1">
            <a:off x="2982912" y="4083050"/>
            <a:ext cx="358776" cy="1296988"/>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86" name="円形"/>
          <p:cNvSpPr/>
          <p:nvPr/>
        </p:nvSpPr>
        <p:spPr>
          <a:xfrm>
            <a:off x="8331200" y="5348287"/>
            <a:ext cx="142876" cy="144464"/>
          </a:xfrm>
          <a:prstGeom prst="ellips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87" name="線"/>
          <p:cNvSpPr/>
          <p:nvPr/>
        </p:nvSpPr>
        <p:spPr>
          <a:xfrm>
            <a:off x="8472487" y="5440363"/>
            <a:ext cx="1152526" cy="360363"/>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88" name="線"/>
          <p:cNvSpPr/>
          <p:nvPr/>
        </p:nvSpPr>
        <p:spPr>
          <a:xfrm flipH="1" flipV="1">
            <a:off x="8040687" y="4071937"/>
            <a:ext cx="358776" cy="1296988"/>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89" name="円形"/>
          <p:cNvSpPr/>
          <p:nvPr/>
        </p:nvSpPr>
        <p:spPr>
          <a:xfrm>
            <a:off x="4035426" y="4875212"/>
            <a:ext cx="144463" cy="144464"/>
          </a:xfrm>
          <a:prstGeom prst="ellipse">
            <a:avLst/>
          </a:prstGeom>
          <a:solidFill>
            <a:srgbClr val="FFFDA9"/>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0" name="円形"/>
          <p:cNvSpPr/>
          <p:nvPr/>
        </p:nvSpPr>
        <p:spPr>
          <a:xfrm>
            <a:off x="9009062" y="4862512"/>
            <a:ext cx="144464" cy="144464"/>
          </a:xfrm>
          <a:prstGeom prst="ellipse">
            <a:avLst/>
          </a:prstGeom>
          <a:solidFill>
            <a:srgbClr val="FFFDA9"/>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1" name="線"/>
          <p:cNvSpPr/>
          <p:nvPr/>
        </p:nvSpPr>
        <p:spPr>
          <a:xfrm>
            <a:off x="8577263" y="4935537"/>
            <a:ext cx="431801" cy="28733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4374" y="835"/>
                  <a:pt x="7147" y="1790"/>
                  <a:pt x="3574" y="5370"/>
                </a:cubicBezTo>
                <a:cubicBezTo>
                  <a:pt x="0" y="8950"/>
                  <a:pt x="0" y="15275"/>
                  <a:pt x="0" y="21600"/>
                </a:cubicBezTo>
              </a:path>
            </a:pathLst>
          </a:custGeom>
          <a:ln w="25400">
            <a:solidFill>
              <a:srgbClr val="000000"/>
            </a:solidFill>
            <a:tailEnd type="triangle"/>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2" name="λ1&lt;0, λ2&lt;0"/>
          <p:cNvSpPr/>
          <p:nvPr/>
        </p:nvSpPr>
        <p:spPr>
          <a:xfrm>
            <a:off x="8527091" y="3944055"/>
            <a:ext cx="1086836"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Symbol"/>
              <a:defRPr>
                <a:latin typeface="Times New Roman"/>
                <a:ea typeface="Times New Roman"/>
                <a:cs typeface="Times New Roman"/>
                <a:sym typeface="Times New Roman"/>
              </a:defRPr>
            </a:pPr>
            <a:r>
              <a:t>λ</a:t>
            </a:r>
            <a:r>
              <a:rPr baseline="-25000"/>
              <a:t>1</a:t>
            </a:r>
            <a:r>
              <a:t>&lt;0, λ</a:t>
            </a:r>
            <a:r>
              <a:rPr baseline="-25000"/>
              <a:t>2</a:t>
            </a:r>
            <a:r>
              <a:t>&lt;0</a:t>
            </a:r>
          </a:p>
        </p:txBody>
      </p:sp>
      <p:sp>
        <p:nvSpPr>
          <p:cNvPr id="693" name="固定点に収束する"/>
          <p:cNvSpPr/>
          <p:nvPr/>
        </p:nvSpPr>
        <p:spPr>
          <a:xfrm>
            <a:off x="7781925" y="3124776"/>
            <a:ext cx="2564805"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400"/>
            </a:lvl1pPr>
          </a:lstStyle>
          <a:p>
            <a:r>
              <a:t>固定点に収束する</a:t>
            </a:r>
          </a:p>
        </p:txBody>
      </p:sp>
      <p:sp>
        <p:nvSpPr>
          <p:cNvPr id="694" name="xss"/>
          <p:cNvSpPr/>
          <p:nvPr/>
        </p:nvSpPr>
        <p:spPr>
          <a:xfrm>
            <a:off x="2811099" y="5361921"/>
            <a:ext cx="496931" cy="5950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Times New Roman"/>
            </a:pPr>
            <a:r>
              <a:rPr sz="3200" i="1">
                <a:latin typeface="Times New Roman"/>
                <a:ea typeface="Times New Roman"/>
                <a:cs typeface="Times New Roman"/>
                <a:sym typeface="Times New Roman"/>
              </a:rPr>
              <a:t>x</a:t>
            </a:r>
            <a:r>
              <a:rPr sz="3200" i="1" baseline="-25000">
                <a:latin typeface="Times New Roman"/>
                <a:ea typeface="Times New Roman"/>
                <a:cs typeface="Times New Roman"/>
                <a:sym typeface="Times New Roman"/>
              </a:rPr>
              <a:t>ss</a:t>
            </a:r>
          </a:p>
        </p:txBody>
      </p:sp>
      <p:sp>
        <p:nvSpPr>
          <p:cNvPr id="695" name="固有値と解軌道の収束・発散"/>
          <p:cNvSpPr txBox="1">
            <a:spLocks noGrp="1"/>
          </p:cNvSpPr>
          <p:nvPr>
            <p:ph type="title"/>
          </p:nvPr>
        </p:nvSpPr>
        <p:spPr>
          <a:prstGeom prst="rect">
            <a:avLst/>
          </a:prstGeom>
        </p:spPr>
        <p:txBody>
          <a:bodyPr/>
          <a:lstStyle/>
          <a:p>
            <a:r>
              <a:t>固有値と解軌道の収束・発散</a:t>
            </a:r>
          </a:p>
        </p:txBody>
      </p:sp>
      <p:pic>
        <p:nvPicPr>
          <p:cNvPr id="696" name="droppedImage.pdf" descr="droppedImage.pdf"/>
          <p:cNvPicPr>
            <a:picLocks noChangeAspect="1"/>
          </p:cNvPicPr>
          <p:nvPr/>
        </p:nvPicPr>
        <p:blipFill>
          <a:blip r:embed="rId2"/>
          <a:stretch>
            <a:fillRect/>
          </a:stretch>
        </p:blipFill>
        <p:spPr>
          <a:xfrm>
            <a:off x="2476501" y="1727201"/>
            <a:ext cx="6709509" cy="863601"/>
          </a:xfrm>
          <a:prstGeom prst="rect">
            <a:avLst/>
          </a:prstGeom>
          <a:ln w="12700">
            <a:miter lim="400000"/>
          </a:ln>
        </p:spPr>
      </p:pic>
      <p:sp>
        <p:nvSpPr>
          <p:cNvPr id="697" name="x(TMG)"/>
          <p:cNvSpPr/>
          <p:nvPr/>
        </p:nvSpPr>
        <p:spPr>
          <a:xfrm>
            <a:off x="4038600" y="6075938"/>
            <a:ext cx="1038746"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x</a:t>
            </a:r>
            <a:r>
              <a:rPr sz="2400"/>
              <a:t>(TMG)</a:t>
            </a:r>
          </a:p>
        </p:txBody>
      </p:sp>
      <p:sp>
        <p:nvSpPr>
          <p:cNvPr id="698" name="y(LacY-GFP)"/>
          <p:cNvSpPr/>
          <p:nvPr/>
        </p:nvSpPr>
        <p:spPr>
          <a:xfrm rot="16200000">
            <a:off x="1217197" y="4374138"/>
            <a:ext cx="181088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y</a:t>
            </a:r>
            <a:r>
              <a:rPr sz="2400"/>
              <a:t>(LacY-GFP) </a:t>
            </a:r>
          </a:p>
        </p:txBody>
      </p:sp>
      <p:sp>
        <p:nvSpPr>
          <p:cNvPr id="699" name="v2"/>
          <p:cNvSpPr/>
          <p:nvPr/>
        </p:nvSpPr>
        <p:spPr>
          <a:xfrm>
            <a:off x="4915525" y="5529838"/>
            <a:ext cx="370294"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defRPr sz="2400"/>
            </a:pPr>
            <a:r>
              <a:rPr sz="2400" b="1">
                <a:latin typeface="Times New Roman"/>
                <a:ea typeface="Times New Roman"/>
                <a:cs typeface="Times New Roman"/>
                <a:sym typeface="Times New Roman"/>
              </a:rPr>
              <a:t>v</a:t>
            </a:r>
            <a:r>
              <a:rPr sz="2400" baseline="-5999"/>
              <a:t>2</a:t>
            </a:r>
          </a:p>
        </p:txBody>
      </p:sp>
      <p:sp>
        <p:nvSpPr>
          <p:cNvPr id="700" name="摂動Δx0 により、固定点から離れた"/>
          <p:cNvSpPr/>
          <p:nvPr/>
        </p:nvSpPr>
        <p:spPr>
          <a:xfrm>
            <a:off x="1604992" y="3105150"/>
            <a:ext cx="4996756"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defRPr sz="2400"/>
            </a:pPr>
            <a:r>
              <a:rPr sz="2400"/>
              <a:t>摂動Δ</a:t>
            </a:r>
            <a:r>
              <a:rPr sz="2400" b="1">
                <a:latin typeface="Times New Roman"/>
                <a:ea typeface="Times New Roman"/>
                <a:cs typeface="Times New Roman"/>
                <a:sym typeface="Times New Roman"/>
              </a:rPr>
              <a:t>x</a:t>
            </a:r>
            <a:r>
              <a:rPr sz="2400" baseline="-5999"/>
              <a:t>0 </a:t>
            </a:r>
            <a:r>
              <a:rPr sz="2400"/>
              <a:t>により、固定点から離れた</a:t>
            </a:r>
          </a:p>
        </p:txBody>
      </p:sp>
      <p:sp>
        <p:nvSpPr>
          <p:cNvPr id="701" name="x(TMG)"/>
          <p:cNvSpPr/>
          <p:nvPr/>
        </p:nvSpPr>
        <p:spPr>
          <a:xfrm>
            <a:off x="9105900" y="6025138"/>
            <a:ext cx="1038746"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x</a:t>
            </a:r>
            <a:r>
              <a:rPr sz="2400"/>
              <a:t>(TMG)</a:t>
            </a:r>
          </a:p>
        </p:txBody>
      </p:sp>
      <p:sp>
        <p:nvSpPr>
          <p:cNvPr id="702" name="y(LacY-GFP)"/>
          <p:cNvSpPr/>
          <p:nvPr/>
        </p:nvSpPr>
        <p:spPr>
          <a:xfrm rot="16200000">
            <a:off x="6282760" y="4325075"/>
            <a:ext cx="181088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y</a:t>
            </a:r>
            <a:r>
              <a:rPr sz="2400"/>
              <a:t>(LacY-GFP) </a:t>
            </a:r>
          </a:p>
        </p:txBody>
      </p:sp>
      <p:sp>
        <p:nvSpPr>
          <p:cNvPr id="703" name="矢印"/>
          <p:cNvSpPr/>
          <p:nvPr/>
        </p:nvSpPr>
        <p:spPr>
          <a:xfrm>
            <a:off x="5867400" y="4711700"/>
            <a:ext cx="596900" cy="723900"/>
          </a:xfrm>
          <a:prstGeom prst="rightArrow">
            <a:avLst>
              <a:gd name="adj1" fmla="val 40351"/>
              <a:gd name="adj2" fmla="val 57447"/>
            </a:avLst>
          </a:prstGeom>
          <a:blipFill>
            <a:blip r:embed="rId3"/>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4" name="線"/>
          <p:cNvSpPr/>
          <p:nvPr/>
        </p:nvSpPr>
        <p:spPr>
          <a:xfrm>
            <a:off x="6273800" y="2552700"/>
            <a:ext cx="2209800" cy="144780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21600"/>
                  <a:pt x="11621" y="8780"/>
                  <a:pt x="0" y="0"/>
                </a:cubicBezTo>
              </a:path>
            </a:pathLst>
          </a:custGeom>
          <a:ln w="38100">
            <a:solidFill>
              <a:srgbClr val="FF7E79"/>
            </a:solidFill>
            <a:miter lim="400000"/>
            <a:headEnd type="triangle"/>
            <a:tailEnd type="triangle"/>
          </a:ln>
        </p:spPr>
        <p:txBody>
          <a:bodyPr lIns="50800" tIns="50800" rIns="50800" bIns="50800" anchor="ctr"/>
          <a:lstStyle/>
          <a:p>
            <a:endParaRPr/>
          </a:p>
        </p:txBody>
      </p:sp>
      <p:sp>
        <p:nvSpPr>
          <p:cNvPr id="705" name="楕円"/>
          <p:cNvSpPr/>
          <p:nvPr/>
        </p:nvSpPr>
        <p:spPr>
          <a:xfrm>
            <a:off x="8445500" y="3848100"/>
            <a:ext cx="889000" cy="533400"/>
          </a:xfrm>
          <a:prstGeom prst="ellipse">
            <a:avLst/>
          </a:prstGeom>
          <a:ln w="25400">
            <a:solidFill>
              <a:srgbClr val="FF7E79"/>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6" name="角丸四角形"/>
          <p:cNvSpPr/>
          <p:nvPr/>
        </p:nvSpPr>
        <p:spPr>
          <a:xfrm>
            <a:off x="4127500" y="2146300"/>
            <a:ext cx="2171700" cy="533400"/>
          </a:xfrm>
          <a:prstGeom prst="roundRect">
            <a:avLst>
              <a:gd name="adj" fmla="val 35714"/>
            </a:avLst>
          </a:prstGeom>
          <a:ln w="25400">
            <a:solidFill>
              <a:srgbClr val="FF7E79"/>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2" name="角丸四角形吹き出し 1">
            <a:extLst>
              <a:ext uri="{FF2B5EF4-FFF2-40B4-BE49-F238E27FC236}">
                <a16:creationId xmlns:a16="http://schemas.microsoft.com/office/drawing/2014/main" id="{4B37D46B-B7A8-7799-6AF5-AD42FD6D743D}"/>
              </a:ext>
            </a:extLst>
          </p:cNvPr>
          <p:cNvSpPr/>
          <p:nvPr/>
        </p:nvSpPr>
        <p:spPr>
          <a:xfrm>
            <a:off x="6464300" y="1271588"/>
            <a:ext cx="3408363" cy="657225"/>
          </a:xfrm>
          <a:prstGeom prst="wedgeRoundRectCallout">
            <a:avLst>
              <a:gd name="adj1" fmla="val -58560"/>
              <a:gd name="adj2" fmla="val 97283"/>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altLang="ja-JP" sz="2400" dirty="0">
                <a:solidFill>
                  <a:srgbClr val="C00000"/>
                </a:solidFill>
                <a:latin typeface="Times New Roman"/>
                <a:ea typeface="Times New Roman"/>
                <a:cs typeface="Times New Roman"/>
                <a:sym typeface="Times New Roman"/>
              </a:rPr>
              <a:t>λ</a:t>
            </a:r>
            <a:r>
              <a:rPr lang="el-GR" altLang="ja-JP" sz="2400" baseline="-25000" dirty="0">
                <a:solidFill>
                  <a:srgbClr val="C00000"/>
                </a:solidFill>
                <a:latin typeface="Times New Roman"/>
                <a:ea typeface="Times New Roman"/>
                <a:cs typeface="Times New Roman"/>
                <a:sym typeface="Times New Roman"/>
              </a:rPr>
              <a:t>1</a:t>
            </a:r>
            <a:r>
              <a:rPr lang="el-GR" altLang="ja-JP" sz="2400" dirty="0">
                <a:solidFill>
                  <a:srgbClr val="C00000"/>
                </a:solidFill>
                <a:latin typeface="Times New Roman"/>
                <a:ea typeface="Times New Roman"/>
                <a:cs typeface="Times New Roman"/>
                <a:sym typeface="Times New Roman"/>
              </a:rPr>
              <a:t>&lt;0 </a:t>
            </a:r>
            <a:r>
              <a:rPr lang="ja-JP" altLang="en-US" sz="2400">
                <a:solidFill>
                  <a:srgbClr val="C00000"/>
                </a:solidFill>
              </a:rPr>
              <a:t>ならこの項は減衰</a:t>
            </a:r>
            <a:endParaRPr lang="ja-JP" altLang="en-US" sz="2400" dirty="0">
              <a:solidFill>
                <a:srgbClr val="C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 name="線"/>
          <p:cNvSpPr/>
          <p:nvPr/>
        </p:nvSpPr>
        <p:spPr>
          <a:xfrm flipV="1">
            <a:off x="7539355" y="3510977"/>
            <a:ext cx="1588" cy="2233613"/>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0" name="線"/>
          <p:cNvSpPr/>
          <p:nvPr/>
        </p:nvSpPr>
        <p:spPr>
          <a:xfrm>
            <a:off x="7539356" y="5744589"/>
            <a:ext cx="2663825" cy="1588"/>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1" name="円形"/>
          <p:cNvSpPr/>
          <p:nvPr/>
        </p:nvSpPr>
        <p:spPr>
          <a:xfrm>
            <a:off x="8374380" y="5006401"/>
            <a:ext cx="142876" cy="144464"/>
          </a:xfrm>
          <a:prstGeom prst="ellipse">
            <a:avLst/>
          </a:prstGeom>
          <a:solidFill>
            <a:srgbClr val="FFFFFF"/>
          </a:solidFill>
          <a:ln w="254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12" name="線"/>
          <p:cNvSpPr/>
          <p:nvPr/>
        </p:nvSpPr>
        <p:spPr>
          <a:xfrm>
            <a:off x="8515667" y="5098477"/>
            <a:ext cx="1152526" cy="360363"/>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3" name="線"/>
          <p:cNvSpPr/>
          <p:nvPr/>
        </p:nvSpPr>
        <p:spPr>
          <a:xfrm flipH="1" flipV="1">
            <a:off x="8083867" y="3730051"/>
            <a:ext cx="358776" cy="1296988"/>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4" name="円形"/>
          <p:cNvSpPr/>
          <p:nvPr/>
        </p:nvSpPr>
        <p:spPr>
          <a:xfrm>
            <a:off x="9052242" y="4520626"/>
            <a:ext cx="144464" cy="144464"/>
          </a:xfrm>
          <a:prstGeom prst="ellipse">
            <a:avLst/>
          </a:prstGeom>
          <a:solidFill>
            <a:srgbClr val="FFFDA9"/>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15" name="λ1&gt;0, λ2&gt;0"/>
          <p:cNvSpPr/>
          <p:nvPr/>
        </p:nvSpPr>
        <p:spPr>
          <a:xfrm>
            <a:off x="8948096" y="2957644"/>
            <a:ext cx="1086836" cy="379591"/>
          </a:xfrm>
          <a:prstGeom prst="rect">
            <a:avLst/>
          </a:prstGeom>
          <a:ln w="25400">
            <a:solidFill>
              <a:srgbClr val="7A81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Symbol"/>
              <a:defRPr>
                <a:latin typeface="Times New Roman"/>
                <a:ea typeface="Times New Roman"/>
                <a:cs typeface="Times New Roman"/>
                <a:sym typeface="Times New Roman"/>
              </a:defRPr>
            </a:pPr>
            <a:r>
              <a:t>λ</a:t>
            </a:r>
            <a:r>
              <a:rPr baseline="-25000"/>
              <a:t>1</a:t>
            </a:r>
            <a:r>
              <a:t>&gt;0, λ</a:t>
            </a:r>
            <a:r>
              <a:rPr baseline="-25000"/>
              <a:t>2</a:t>
            </a:r>
            <a:r>
              <a:t>&gt;0</a:t>
            </a:r>
          </a:p>
        </p:txBody>
      </p:sp>
      <p:sp>
        <p:nvSpPr>
          <p:cNvPr id="716" name="線"/>
          <p:cNvSpPr/>
          <p:nvPr/>
        </p:nvSpPr>
        <p:spPr>
          <a:xfrm flipV="1">
            <a:off x="1974850" y="3518915"/>
            <a:ext cx="1588" cy="2233613"/>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7" name="線"/>
          <p:cNvSpPr/>
          <p:nvPr/>
        </p:nvSpPr>
        <p:spPr>
          <a:xfrm>
            <a:off x="1974851" y="5752526"/>
            <a:ext cx="2663825" cy="1588"/>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8" name="円形"/>
          <p:cNvSpPr/>
          <p:nvPr/>
        </p:nvSpPr>
        <p:spPr>
          <a:xfrm>
            <a:off x="2809875" y="5014340"/>
            <a:ext cx="142876" cy="144463"/>
          </a:xfrm>
          <a:prstGeom prst="ellipse">
            <a:avLst/>
          </a:prstGeom>
          <a:solidFill>
            <a:srgbClr val="FFFFFF"/>
          </a:solidFill>
          <a:ln w="254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19" name="線"/>
          <p:cNvSpPr/>
          <p:nvPr/>
        </p:nvSpPr>
        <p:spPr>
          <a:xfrm>
            <a:off x="2951162" y="5106415"/>
            <a:ext cx="1152526" cy="360363"/>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20" name="線"/>
          <p:cNvSpPr/>
          <p:nvPr/>
        </p:nvSpPr>
        <p:spPr>
          <a:xfrm flipH="1" flipV="1">
            <a:off x="2519362" y="3737989"/>
            <a:ext cx="358776" cy="1296988"/>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21" name="円形"/>
          <p:cNvSpPr/>
          <p:nvPr/>
        </p:nvSpPr>
        <p:spPr>
          <a:xfrm>
            <a:off x="3487737" y="4528565"/>
            <a:ext cx="144464" cy="144463"/>
          </a:xfrm>
          <a:prstGeom prst="ellipse">
            <a:avLst/>
          </a:prstGeom>
          <a:solidFill>
            <a:srgbClr val="FFFDA9"/>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22" name="λ1&gt;0, λ2&lt;0"/>
          <p:cNvSpPr/>
          <p:nvPr/>
        </p:nvSpPr>
        <p:spPr>
          <a:xfrm>
            <a:off x="3496303" y="3049719"/>
            <a:ext cx="1086836" cy="379591"/>
          </a:xfrm>
          <a:prstGeom prst="rect">
            <a:avLst/>
          </a:prstGeom>
          <a:ln w="25400">
            <a:solidFill>
              <a:srgbClr val="7A81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Symbol"/>
              <a:defRPr>
                <a:latin typeface="Times New Roman"/>
                <a:ea typeface="Times New Roman"/>
                <a:cs typeface="Times New Roman"/>
                <a:sym typeface="Times New Roman"/>
              </a:defRPr>
            </a:pPr>
            <a:r>
              <a:t>λ</a:t>
            </a:r>
            <a:r>
              <a:rPr baseline="-25000"/>
              <a:t>1</a:t>
            </a:r>
            <a:r>
              <a:t>&gt;0, λ</a:t>
            </a:r>
            <a:r>
              <a:rPr baseline="-25000"/>
              <a:t>2</a:t>
            </a:r>
            <a:r>
              <a:t>&lt;0</a:t>
            </a:r>
          </a:p>
        </p:txBody>
      </p:sp>
      <p:sp>
        <p:nvSpPr>
          <p:cNvPr id="723" name="線"/>
          <p:cNvSpPr/>
          <p:nvPr/>
        </p:nvSpPr>
        <p:spPr>
          <a:xfrm>
            <a:off x="2713037" y="3922140"/>
            <a:ext cx="790576" cy="911123"/>
          </a:xfrm>
          <a:custGeom>
            <a:avLst/>
            <a:gdLst/>
            <a:ahLst/>
            <a:cxnLst>
              <a:cxn ang="0">
                <a:pos x="wd2" y="hd2"/>
              </a:cxn>
              <a:cxn ang="5400000">
                <a:pos x="wd2" y="hd2"/>
              </a:cxn>
              <a:cxn ang="10800000">
                <a:pos x="wd2" y="hd2"/>
              </a:cxn>
              <a:cxn ang="16200000">
                <a:pos x="wd2" y="hd2"/>
              </a:cxn>
            </a:cxnLst>
            <a:rect l="0" t="0" r="r" b="b"/>
            <a:pathLst>
              <a:path w="21600" h="19995" extrusionOk="0">
                <a:moveTo>
                  <a:pt x="21600" y="15817"/>
                </a:moveTo>
                <a:cubicBezTo>
                  <a:pt x="17480" y="18708"/>
                  <a:pt x="13402" y="21600"/>
                  <a:pt x="9802" y="18952"/>
                </a:cubicBezTo>
                <a:cubicBezTo>
                  <a:pt x="6202" y="16305"/>
                  <a:pt x="3080" y="8152"/>
                  <a:pt x="0" y="0"/>
                </a:cubicBezTo>
              </a:path>
            </a:pathLst>
          </a:custGeom>
          <a:ln w="25400">
            <a:solidFill>
              <a:srgbClr val="000000"/>
            </a:solidFill>
            <a:tailEnd type="triangle"/>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24" name="線"/>
          <p:cNvSpPr/>
          <p:nvPr/>
        </p:nvSpPr>
        <p:spPr>
          <a:xfrm>
            <a:off x="9112568" y="3650676"/>
            <a:ext cx="576263" cy="86518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2261" y="16210"/>
                  <a:pt x="4522" y="10820"/>
                  <a:pt x="8093" y="7213"/>
                </a:cubicBezTo>
                <a:cubicBezTo>
                  <a:pt x="11663" y="3607"/>
                  <a:pt x="16602" y="1783"/>
                  <a:pt x="21600" y="0"/>
                </a:cubicBezTo>
              </a:path>
            </a:pathLst>
          </a:custGeom>
          <a:ln w="25400">
            <a:solidFill>
              <a:srgbClr val="000000"/>
            </a:solidFill>
            <a:tailEnd type="triangle"/>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25" name="xss+Δx0"/>
          <p:cNvSpPr/>
          <p:nvPr/>
        </p:nvSpPr>
        <p:spPr>
          <a:xfrm>
            <a:off x="3470738" y="3911960"/>
            <a:ext cx="1298432" cy="5950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Times New Roman"/>
            </a:pPr>
            <a:r>
              <a:rPr sz="3200" i="1">
                <a:latin typeface="Times New Roman"/>
                <a:ea typeface="Times New Roman"/>
                <a:cs typeface="Times New Roman"/>
                <a:sym typeface="Times New Roman"/>
              </a:rPr>
              <a:t>x</a:t>
            </a:r>
            <a:r>
              <a:rPr sz="3200" i="1" baseline="-25000">
                <a:latin typeface="Times New Roman"/>
                <a:ea typeface="Times New Roman"/>
                <a:cs typeface="Times New Roman"/>
                <a:sym typeface="Times New Roman"/>
              </a:rPr>
              <a:t>ss</a:t>
            </a:r>
            <a:r>
              <a:rPr sz="3200">
                <a:latin typeface="Times New Roman"/>
                <a:ea typeface="Times New Roman"/>
                <a:cs typeface="Times New Roman"/>
                <a:sym typeface="Times New Roman"/>
              </a:rPr>
              <a:t>+</a:t>
            </a:r>
            <a:r>
              <a:rPr sz="3200">
                <a:latin typeface="Symbol"/>
                <a:ea typeface="Symbol"/>
                <a:cs typeface="Symbol"/>
                <a:sym typeface="Symbol"/>
              </a:rPr>
              <a:t>D</a:t>
            </a:r>
            <a:r>
              <a:rPr sz="3200" i="1">
                <a:latin typeface="Times New Roman"/>
                <a:ea typeface="Times New Roman"/>
                <a:cs typeface="Times New Roman"/>
                <a:sym typeface="Times New Roman"/>
              </a:rPr>
              <a:t>x</a:t>
            </a:r>
            <a:r>
              <a:rPr sz="3200" i="1" baseline="-25000">
                <a:latin typeface="Times New Roman"/>
                <a:ea typeface="Times New Roman"/>
                <a:cs typeface="Times New Roman"/>
                <a:sym typeface="Times New Roman"/>
              </a:rPr>
              <a:t>0</a:t>
            </a:r>
          </a:p>
        </p:txBody>
      </p:sp>
      <p:sp>
        <p:nvSpPr>
          <p:cNvPr id="726" name="xss"/>
          <p:cNvSpPr/>
          <p:nvPr/>
        </p:nvSpPr>
        <p:spPr>
          <a:xfrm>
            <a:off x="2298337" y="5007335"/>
            <a:ext cx="496931" cy="5950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Times New Roman"/>
            </a:pPr>
            <a:r>
              <a:rPr sz="3200" i="1">
                <a:latin typeface="Times New Roman"/>
                <a:ea typeface="Times New Roman"/>
                <a:cs typeface="Times New Roman"/>
                <a:sym typeface="Times New Roman"/>
              </a:rPr>
              <a:t>x</a:t>
            </a:r>
            <a:r>
              <a:rPr sz="3200" i="1" baseline="-25000">
                <a:latin typeface="Times New Roman"/>
                <a:ea typeface="Times New Roman"/>
                <a:cs typeface="Times New Roman"/>
                <a:sym typeface="Times New Roman"/>
              </a:rPr>
              <a:t>ss</a:t>
            </a:r>
          </a:p>
        </p:txBody>
      </p:sp>
      <p:sp>
        <p:nvSpPr>
          <p:cNvPr id="727" name="正の固有値を一つでも含むと発散"/>
          <p:cNvSpPr txBox="1">
            <a:spLocks noGrp="1"/>
          </p:cNvSpPr>
          <p:nvPr>
            <p:ph type="title"/>
          </p:nvPr>
        </p:nvSpPr>
        <p:spPr>
          <a:prstGeom prst="rect">
            <a:avLst/>
          </a:prstGeom>
        </p:spPr>
        <p:txBody>
          <a:bodyPr>
            <a:normAutofit/>
          </a:bodyPr>
          <a:lstStyle/>
          <a:p>
            <a:r>
              <a:t>正の固有値を一つでも含むと発散</a:t>
            </a:r>
          </a:p>
        </p:txBody>
      </p:sp>
      <p:sp>
        <p:nvSpPr>
          <p:cNvPr id="728" name="v1"/>
          <p:cNvSpPr/>
          <p:nvPr/>
        </p:nvSpPr>
        <p:spPr>
          <a:xfrm>
            <a:off x="2251868" y="3257552"/>
            <a:ext cx="370294"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defRPr sz="2400"/>
            </a:pPr>
            <a:r>
              <a:rPr sz="2400" b="1">
                <a:latin typeface="Times New Roman"/>
                <a:ea typeface="Times New Roman"/>
                <a:cs typeface="Times New Roman"/>
                <a:sym typeface="Times New Roman"/>
              </a:rPr>
              <a:t>v</a:t>
            </a:r>
            <a:r>
              <a:rPr sz="2400" baseline="-5999"/>
              <a:t>1</a:t>
            </a:r>
          </a:p>
        </p:txBody>
      </p:sp>
      <p:sp>
        <p:nvSpPr>
          <p:cNvPr id="729" name="x(TMG)"/>
          <p:cNvSpPr/>
          <p:nvPr/>
        </p:nvSpPr>
        <p:spPr>
          <a:xfrm>
            <a:off x="3632200" y="5794377"/>
            <a:ext cx="1038746"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x</a:t>
            </a:r>
            <a:r>
              <a:rPr sz="2400"/>
              <a:t>(TMG)</a:t>
            </a:r>
          </a:p>
        </p:txBody>
      </p:sp>
      <p:sp>
        <p:nvSpPr>
          <p:cNvPr id="730" name="y(LacY-GFP)"/>
          <p:cNvSpPr/>
          <p:nvPr/>
        </p:nvSpPr>
        <p:spPr>
          <a:xfrm rot="16200000">
            <a:off x="810797" y="4092577"/>
            <a:ext cx="181088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y</a:t>
            </a:r>
            <a:r>
              <a:rPr sz="2400"/>
              <a:t>(LacY-GFP) </a:t>
            </a:r>
          </a:p>
        </p:txBody>
      </p:sp>
      <p:sp>
        <p:nvSpPr>
          <p:cNvPr id="731" name="v2"/>
          <p:cNvSpPr/>
          <p:nvPr/>
        </p:nvSpPr>
        <p:spPr>
          <a:xfrm>
            <a:off x="4204325" y="5235577"/>
            <a:ext cx="370294"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defRPr sz="2400"/>
            </a:pPr>
            <a:r>
              <a:rPr sz="2400" b="1">
                <a:latin typeface="Times New Roman"/>
                <a:ea typeface="Times New Roman"/>
                <a:cs typeface="Times New Roman"/>
                <a:sym typeface="Times New Roman"/>
              </a:rPr>
              <a:t>v</a:t>
            </a:r>
            <a:r>
              <a:rPr sz="2400" baseline="-5999"/>
              <a:t>2</a:t>
            </a:r>
          </a:p>
        </p:txBody>
      </p:sp>
      <p:sp>
        <p:nvSpPr>
          <p:cNvPr id="732" name="λ1&gt;0 の場合はλ1に対応する固有ベクトルv1 の方向に発散"/>
          <p:cNvSpPr/>
          <p:nvPr/>
        </p:nvSpPr>
        <p:spPr>
          <a:xfrm>
            <a:off x="1019811" y="1738156"/>
            <a:ext cx="4819987" cy="9643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buClr>
                <a:srgbClr val="000000"/>
              </a:buClr>
              <a:buFont typeface="Arial"/>
              <a:defRPr sz="2400"/>
            </a:pPr>
            <a:r>
              <a:rPr sz="2800" dirty="0">
                <a:latin typeface="Times New Roman"/>
                <a:ea typeface="Times New Roman"/>
                <a:cs typeface="Times New Roman"/>
                <a:sym typeface="Times New Roman"/>
              </a:rPr>
              <a:t>λ</a:t>
            </a:r>
            <a:r>
              <a:rPr sz="2800" baseline="-25000" dirty="0">
                <a:latin typeface="Times New Roman"/>
                <a:ea typeface="Times New Roman"/>
                <a:cs typeface="Times New Roman"/>
                <a:sym typeface="Times New Roman"/>
              </a:rPr>
              <a:t>1</a:t>
            </a:r>
            <a:r>
              <a:rPr sz="2800" dirty="0">
                <a:latin typeface="Times New Roman"/>
                <a:ea typeface="Times New Roman"/>
                <a:cs typeface="Times New Roman"/>
                <a:sym typeface="Times New Roman"/>
              </a:rPr>
              <a:t>&gt;0 </a:t>
            </a:r>
            <a:r>
              <a:rPr sz="2800" dirty="0"/>
              <a:t>の場合は</a:t>
            </a:r>
            <a:r>
              <a:rPr sz="2800" dirty="0">
                <a:latin typeface="Times New Roman"/>
                <a:ea typeface="Times New Roman"/>
                <a:cs typeface="Times New Roman"/>
                <a:sym typeface="Times New Roman"/>
              </a:rPr>
              <a:t>λ</a:t>
            </a:r>
            <a:r>
              <a:rPr sz="2800" baseline="-25000" dirty="0">
                <a:latin typeface="Times New Roman"/>
                <a:ea typeface="Times New Roman"/>
                <a:cs typeface="Times New Roman"/>
                <a:sym typeface="Times New Roman"/>
              </a:rPr>
              <a:t>1</a:t>
            </a:r>
            <a:r>
              <a:rPr sz="2800" dirty="0"/>
              <a:t>に対応する固有ベクトル</a:t>
            </a:r>
            <a:r>
              <a:rPr sz="2800" b="1" dirty="0">
                <a:latin typeface="Times New Roman"/>
                <a:ea typeface="Times New Roman"/>
                <a:cs typeface="Times New Roman"/>
                <a:sym typeface="Times New Roman"/>
              </a:rPr>
              <a:t>v</a:t>
            </a:r>
            <a:r>
              <a:rPr sz="2800" baseline="-25000" dirty="0"/>
              <a:t>1</a:t>
            </a:r>
            <a:r>
              <a:rPr sz="2800" baseline="-5999" dirty="0"/>
              <a:t> </a:t>
            </a:r>
            <a:r>
              <a:rPr sz="2800" dirty="0" err="1"/>
              <a:t>の方向に発散</a:t>
            </a:r>
            <a:endParaRPr sz="2800" dirty="0"/>
          </a:p>
        </p:txBody>
      </p:sp>
      <p:sp>
        <p:nvSpPr>
          <p:cNvPr id="733" name="x(TMG)"/>
          <p:cNvSpPr/>
          <p:nvPr/>
        </p:nvSpPr>
        <p:spPr>
          <a:xfrm>
            <a:off x="9212580" y="5718177"/>
            <a:ext cx="1038746"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x</a:t>
            </a:r>
            <a:r>
              <a:rPr sz="2400"/>
              <a:t>(TMG)</a:t>
            </a:r>
          </a:p>
        </p:txBody>
      </p:sp>
      <p:sp>
        <p:nvSpPr>
          <p:cNvPr id="734" name="y(LacY-GFP)"/>
          <p:cNvSpPr/>
          <p:nvPr/>
        </p:nvSpPr>
        <p:spPr>
          <a:xfrm rot="16200000">
            <a:off x="6389440" y="4018114"/>
            <a:ext cx="181088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y</a:t>
            </a:r>
            <a:r>
              <a:rPr sz="2400"/>
              <a:t>(LacY-GFP) </a:t>
            </a:r>
          </a:p>
        </p:txBody>
      </p:sp>
      <p:sp>
        <p:nvSpPr>
          <p:cNvPr id="735" name="λ1&gt;0, λ2&gt;0 の場合は…"/>
          <p:cNvSpPr/>
          <p:nvPr/>
        </p:nvSpPr>
        <p:spPr>
          <a:xfrm>
            <a:off x="6718299" y="1738156"/>
            <a:ext cx="4413681" cy="9643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buClr>
                <a:srgbClr val="000000"/>
              </a:buClr>
              <a:buFont typeface="Arial"/>
              <a:defRPr sz="2400"/>
            </a:pPr>
            <a:r>
              <a:rPr sz="2800" dirty="0">
                <a:latin typeface="Times New Roman"/>
                <a:ea typeface="Times New Roman"/>
                <a:cs typeface="Times New Roman"/>
                <a:sym typeface="Times New Roman"/>
              </a:rPr>
              <a:t>λ</a:t>
            </a:r>
            <a:r>
              <a:rPr sz="2800" baseline="-25000" dirty="0">
                <a:latin typeface="Times New Roman"/>
                <a:ea typeface="Times New Roman"/>
                <a:cs typeface="Times New Roman"/>
                <a:sym typeface="Times New Roman"/>
              </a:rPr>
              <a:t>1</a:t>
            </a:r>
            <a:r>
              <a:rPr sz="2800" dirty="0">
                <a:latin typeface="Times New Roman"/>
                <a:ea typeface="Times New Roman"/>
                <a:cs typeface="Times New Roman"/>
                <a:sym typeface="Times New Roman"/>
              </a:rPr>
              <a:t>&gt;0, λ</a:t>
            </a:r>
            <a:r>
              <a:rPr sz="2800" baseline="-25000" dirty="0">
                <a:latin typeface="Times New Roman"/>
                <a:ea typeface="Times New Roman"/>
                <a:cs typeface="Times New Roman"/>
                <a:sym typeface="Times New Roman"/>
              </a:rPr>
              <a:t>2</a:t>
            </a:r>
            <a:r>
              <a:rPr sz="2800" dirty="0">
                <a:latin typeface="Times New Roman"/>
                <a:ea typeface="Times New Roman"/>
                <a:cs typeface="Times New Roman"/>
                <a:sym typeface="Times New Roman"/>
              </a:rPr>
              <a:t>&gt;0 </a:t>
            </a:r>
            <a:r>
              <a:rPr sz="2800" dirty="0" err="1"/>
              <a:t>の場合は</a:t>
            </a:r>
            <a:endParaRPr sz="2800" dirty="0"/>
          </a:p>
          <a:p>
            <a:pPr>
              <a:buClr>
                <a:srgbClr val="000000"/>
              </a:buClr>
              <a:buFont typeface="Arial"/>
              <a:defRPr sz="2400"/>
            </a:pPr>
            <a:r>
              <a:rPr sz="2800" b="1" dirty="0">
                <a:latin typeface="Times New Roman"/>
                <a:ea typeface="Times New Roman"/>
                <a:cs typeface="Times New Roman"/>
                <a:sym typeface="Times New Roman"/>
              </a:rPr>
              <a:t>v</a:t>
            </a:r>
            <a:r>
              <a:rPr sz="2800" baseline="-5999" dirty="0"/>
              <a:t>1 </a:t>
            </a:r>
            <a:r>
              <a:rPr sz="2800" dirty="0"/>
              <a:t>, </a:t>
            </a:r>
            <a:r>
              <a:rPr sz="2800" b="1" dirty="0">
                <a:latin typeface="Times New Roman"/>
                <a:ea typeface="Times New Roman"/>
                <a:cs typeface="Times New Roman"/>
                <a:sym typeface="Times New Roman"/>
              </a:rPr>
              <a:t>v</a:t>
            </a:r>
            <a:r>
              <a:rPr sz="2800" baseline="-5999" dirty="0"/>
              <a:t>2</a:t>
            </a:r>
            <a:r>
              <a:rPr sz="2800" dirty="0"/>
              <a:t>両方向について発散</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 name="相平面と時系列の対応"/>
          <p:cNvSpPr txBox="1">
            <a:spLocks noGrp="1"/>
          </p:cNvSpPr>
          <p:nvPr>
            <p:ph type="title"/>
          </p:nvPr>
        </p:nvSpPr>
        <p:spPr>
          <a:prstGeom prst="rect">
            <a:avLst/>
          </a:prstGeom>
        </p:spPr>
        <p:txBody>
          <a:bodyPr/>
          <a:lstStyle/>
          <a:p>
            <a:r>
              <a:t>相平面と時系列の対応</a:t>
            </a:r>
          </a:p>
        </p:txBody>
      </p:sp>
      <p:sp>
        <p:nvSpPr>
          <p:cNvPr id="738" name="線"/>
          <p:cNvSpPr/>
          <p:nvPr/>
        </p:nvSpPr>
        <p:spPr>
          <a:xfrm>
            <a:off x="3434068" y="1628776"/>
            <a:ext cx="1588" cy="576263"/>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39" name="線"/>
          <p:cNvSpPr/>
          <p:nvPr/>
        </p:nvSpPr>
        <p:spPr>
          <a:xfrm flipV="1">
            <a:off x="3434068" y="2347912"/>
            <a:ext cx="1588" cy="6492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0" name="線"/>
          <p:cNvSpPr/>
          <p:nvPr/>
        </p:nvSpPr>
        <p:spPr>
          <a:xfrm>
            <a:off x="2786369" y="2276475"/>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1" name="線"/>
          <p:cNvSpPr/>
          <p:nvPr/>
        </p:nvSpPr>
        <p:spPr>
          <a:xfrm flipH="1">
            <a:off x="3507094" y="2276475"/>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2" name="円形"/>
          <p:cNvSpPr/>
          <p:nvPr/>
        </p:nvSpPr>
        <p:spPr>
          <a:xfrm>
            <a:off x="3362630" y="2205037"/>
            <a:ext cx="144464" cy="144464"/>
          </a:xfrm>
          <a:prstGeom prst="ellips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43" name="Stable Node"/>
          <p:cNvSpPr/>
          <p:nvPr/>
        </p:nvSpPr>
        <p:spPr>
          <a:xfrm>
            <a:off x="2808280" y="3093642"/>
            <a:ext cx="1476366"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000"/>
            </a:lvl1pPr>
          </a:lstStyle>
          <a:p>
            <a:r>
              <a:t>Stable Node</a:t>
            </a:r>
          </a:p>
        </p:txBody>
      </p:sp>
      <p:sp>
        <p:nvSpPr>
          <p:cNvPr id="744" name="線"/>
          <p:cNvSpPr/>
          <p:nvPr/>
        </p:nvSpPr>
        <p:spPr>
          <a:xfrm>
            <a:off x="2495855" y="4868863"/>
            <a:ext cx="1588" cy="576263"/>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5" name="線"/>
          <p:cNvSpPr/>
          <p:nvPr/>
        </p:nvSpPr>
        <p:spPr>
          <a:xfrm flipV="1">
            <a:off x="2491093" y="4076700"/>
            <a:ext cx="1588" cy="6492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6" name="線"/>
          <p:cNvSpPr/>
          <p:nvPr/>
        </p:nvSpPr>
        <p:spPr>
          <a:xfrm>
            <a:off x="2562531" y="4797425"/>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7" name="線"/>
          <p:cNvSpPr/>
          <p:nvPr/>
        </p:nvSpPr>
        <p:spPr>
          <a:xfrm flipH="1">
            <a:off x="1841806" y="4797425"/>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8" name="円形"/>
          <p:cNvSpPr/>
          <p:nvPr/>
        </p:nvSpPr>
        <p:spPr>
          <a:xfrm>
            <a:off x="2424419" y="4714876"/>
            <a:ext cx="144463" cy="1444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49" name="Unstable Node"/>
          <p:cNvSpPr/>
          <p:nvPr/>
        </p:nvSpPr>
        <p:spPr>
          <a:xfrm>
            <a:off x="1792678" y="5603479"/>
            <a:ext cx="1752083"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000"/>
            </a:lvl1pPr>
          </a:lstStyle>
          <a:p>
            <a:r>
              <a:t>Unstable Node</a:t>
            </a:r>
          </a:p>
        </p:txBody>
      </p:sp>
      <p:sp>
        <p:nvSpPr>
          <p:cNvPr id="750" name="線"/>
          <p:cNvSpPr/>
          <p:nvPr/>
        </p:nvSpPr>
        <p:spPr>
          <a:xfrm>
            <a:off x="7288448" y="1557337"/>
            <a:ext cx="1588" cy="2016126"/>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51" name="線"/>
          <p:cNvSpPr/>
          <p:nvPr/>
        </p:nvSpPr>
        <p:spPr>
          <a:xfrm>
            <a:off x="7288448" y="3573462"/>
            <a:ext cx="3168650"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52" name="線"/>
          <p:cNvSpPr/>
          <p:nvPr/>
        </p:nvSpPr>
        <p:spPr>
          <a:xfrm>
            <a:off x="7288449" y="1698416"/>
            <a:ext cx="3025775" cy="1082885"/>
          </a:xfrm>
          <a:custGeom>
            <a:avLst/>
            <a:gdLst/>
            <a:ahLst/>
            <a:cxnLst>
              <a:cxn ang="0">
                <a:pos x="wd2" y="hd2"/>
              </a:cxn>
              <a:cxn ang="5400000">
                <a:pos x="wd2" y="hd2"/>
              </a:cxn>
              <a:cxn ang="10800000">
                <a:pos x="wd2" y="hd2"/>
              </a:cxn>
              <a:cxn ang="16200000">
                <a:pos x="wd2" y="hd2"/>
              </a:cxn>
            </a:cxnLst>
            <a:rect l="0" t="0" r="r" b="b"/>
            <a:pathLst>
              <a:path w="21600" h="20929" extrusionOk="0">
                <a:moveTo>
                  <a:pt x="0" y="20929"/>
                </a:moveTo>
                <a:cubicBezTo>
                  <a:pt x="1417" y="20591"/>
                  <a:pt x="2833" y="20254"/>
                  <a:pt x="3604" y="16756"/>
                </a:cubicBezTo>
                <a:cubicBezTo>
                  <a:pt x="4374" y="13259"/>
                  <a:pt x="3694" y="740"/>
                  <a:pt x="4635" y="35"/>
                </a:cubicBezTo>
                <a:cubicBezTo>
                  <a:pt x="5576" y="-671"/>
                  <a:pt x="7888" y="9577"/>
                  <a:pt x="9259" y="12584"/>
                </a:cubicBezTo>
                <a:cubicBezTo>
                  <a:pt x="10630" y="15590"/>
                  <a:pt x="10800" y="16756"/>
                  <a:pt x="12851" y="18137"/>
                </a:cubicBezTo>
                <a:cubicBezTo>
                  <a:pt x="14902" y="19518"/>
                  <a:pt x="18246" y="20223"/>
                  <a:pt x="21600" y="20929"/>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53" name="線"/>
          <p:cNvSpPr/>
          <p:nvPr/>
        </p:nvSpPr>
        <p:spPr>
          <a:xfrm>
            <a:off x="7288448" y="4005262"/>
            <a:ext cx="1588" cy="2016126"/>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54" name="線"/>
          <p:cNvSpPr/>
          <p:nvPr/>
        </p:nvSpPr>
        <p:spPr>
          <a:xfrm>
            <a:off x="7288448" y="6021387"/>
            <a:ext cx="3168650"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55" name="双方向矢印"/>
          <p:cNvSpPr/>
          <p:nvPr/>
        </p:nvSpPr>
        <p:spPr>
          <a:xfrm>
            <a:off x="5980283" y="2133601"/>
            <a:ext cx="720725" cy="792163"/>
          </a:xfrm>
          <a:prstGeom prst="leftRightArrow">
            <a:avLst>
              <a:gd name="adj1" fmla="val 50000"/>
              <a:gd name="adj2" fmla="val 20000"/>
            </a:avLst>
          </a:prstGeom>
          <a:blipFill>
            <a:blip r:embed="rId2"/>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56" name="双方向矢印"/>
          <p:cNvSpPr/>
          <p:nvPr/>
        </p:nvSpPr>
        <p:spPr>
          <a:xfrm>
            <a:off x="5980283" y="4365626"/>
            <a:ext cx="720725" cy="792163"/>
          </a:xfrm>
          <a:prstGeom prst="leftRightArrow">
            <a:avLst>
              <a:gd name="adj1" fmla="val 50000"/>
              <a:gd name="adj2" fmla="val 20000"/>
            </a:avLst>
          </a:prstGeom>
          <a:blipFill>
            <a:blip r:embed="rId2"/>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57" name="time"/>
          <p:cNvSpPr/>
          <p:nvPr/>
        </p:nvSpPr>
        <p:spPr>
          <a:xfrm>
            <a:off x="10125208" y="3577343"/>
            <a:ext cx="52738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time</a:t>
            </a:r>
          </a:p>
        </p:txBody>
      </p:sp>
      <p:sp>
        <p:nvSpPr>
          <p:cNvPr id="758" name="time"/>
          <p:cNvSpPr/>
          <p:nvPr/>
        </p:nvSpPr>
        <p:spPr>
          <a:xfrm>
            <a:off x="10072820" y="6069718"/>
            <a:ext cx="52738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time</a:t>
            </a:r>
          </a:p>
        </p:txBody>
      </p:sp>
      <p:sp>
        <p:nvSpPr>
          <p:cNvPr id="759" name="安定な定常状態"/>
          <p:cNvSpPr/>
          <p:nvPr/>
        </p:nvSpPr>
        <p:spPr>
          <a:xfrm>
            <a:off x="7568528" y="2928055"/>
            <a:ext cx="1718419"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安定な定常状態</a:t>
            </a:r>
          </a:p>
        </p:txBody>
      </p:sp>
      <p:sp>
        <p:nvSpPr>
          <p:cNvPr id="760" name="不安定な定常状態"/>
          <p:cNvSpPr/>
          <p:nvPr/>
        </p:nvSpPr>
        <p:spPr>
          <a:xfrm>
            <a:off x="7556848" y="5383918"/>
            <a:ext cx="4394201"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buClr>
                <a:srgbClr val="000000"/>
              </a:buClr>
              <a:buFont typeface="Arial"/>
            </a:lvl1pPr>
          </a:lstStyle>
          <a:p>
            <a:r>
              <a:t>不安定な定常状態</a:t>
            </a:r>
          </a:p>
        </p:txBody>
      </p:sp>
      <p:sp>
        <p:nvSpPr>
          <p:cNvPr id="761" name="線"/>
          <p:cNvSpPr/>
          <p:nvPr/>
        </p:nvSpPr>
        <p:spPr>
          <a:xfrm>
            <a:off x="7288448" y="4365626"/>
            <a:ext cx="3022602" cy="864249"/>
          </a:xfrm>
          <a:custGeom>
            <a:avLst/>
            <a:gdLst/>
            <a:ahLst/>
            <a:cxnLst>
              <a:cxn ang="0">
                <a:pos x="wd2" y="hd2"/>
              </a:cxn>
              <a:cxn ang="5400000">
                <a:pos x="wd2" y="hd2"/>
              </a:cxn>
              <a:cxn ang="10800000">
                <a:pos x="wd2" y="hd2"/>
              </a:cxn>
              <a:cxn ang="16200000">
                <a:pos x="wd2" y="hd2"/>
              </a:cxn>
            </a:cxnLst>
            <a:rect l="0" t="0" r="r" b="b"/>
            <a:pathLst>
              <a:path w="21589" h="20999" extrusionOk="0">
                <a:moveTo>
                  <a:pt x="0" y="20688"/>
                </a:moveTo>
                <a:cubicBezTo>
                  <a:pt x="7196" y="21144"/>
                  <a:pt x="14392" y="21600"/>
                  <a:pt x="17996" y="18123"/>
                </a:cubicBezTo>
                <a:cubicBezTo>
                  <a:pt x="21600" y="14647"/>
                  <a:pt x="21589" y="7295"/>
                  <a:pt x="21589" y="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62" name="線"/>
          <p:cNvSpPr/>
          <p:nvPr/>
        </p:nvSpPr>
        <p:spPr>
          <a:xfrm>
            <a:off x="4585005" y="4149726"/>
            <a:ext cx="1588" cy="576263"/>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63" name="線"/>
          <p:cNvSpPr/>
          <p:nvPr/>
        </p:nvSpPr>
        <p:spPr>
          <a:xfrm flipV="1">
            <a:off x="4585005" y="4868862"/>
            <a:ext cx="1588" cy="6492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64" name="線"/>
          <p:cNvSpPr/>
          <p:nvPr/>
        </p:nvSpPr>
        <p:spPr>
          <a:xfrm>
            <a:off x="4658031" y="4797425"/>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65" name="線"/>
          <p:cNvSpPr/>
          <p:nvPr/>
        </p:nvSpPr>
        <p:spPr>
          <a:xfrm flipH="1">
            <a:off x="3937306" y="4797425"/>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66" name="円形"/>
          <p:cNvSpPr/>
          <p:nvPr/>
        </p:nvSpPr>
        <p:spPr>
          <a:xfrm>
            <a:off x="4513569" y="4725987"/>
            <a:ext cx="144463" cy="144464"/>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67" name="Saddle"/>
          <p:cNvSpPr/>
          <p:nvPr/>
        </p:nvSpPr>
        <p:spPr>
          <a:xfrm>
            <a:off x="4215054" y="5639992"/>
            <a:ext cx="873637"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000"/>
            </a:lvl1pPr>
          </a:lstStyle>
          <a:p>
            <a:r>
              <a:t>Saddle</a:t>
            </a:r>
          </a:p>
        </p:txBody>
      </p:sp>
      <p:sp>
        <p:nvSpPr>
          <p:cNvPr id="768" name="線"/>
          <p:cNvSpPr/>
          <p:nvPr/>
        </p:nvSpPr>
        <p:spPr>
          <a:xfrm>
            <a:off x="2497443" y="1628775"/>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69" name="線"/>
          <p:cNvSpPr/>
          <p:nvPr/>
        </p:nvSpPr>
        <p:spPr>
          <a:xfrm>
            <a:off x="2497444" y="3141662"/>
            <a:ext cx="1871663"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70" name="線"/>
          <p:cNvSpPr/>
          <p:nvPr/>
        </p:nvSpPr>
        <p:spPr>
          <a:xfrm>
            <a:off x="1560818" y="4076700"/>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71" name="線"/>
          <p:cNvSpPr/>
          <p:nvPr/>
        </p:nvSpPr>
        <p:spPr>
          <a:xfrm>
            <a:off x="1560819" y="5589587"/>
            <a:ext cx="1871663"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72" name="線"/>
          <p:cNvSpPr/>
          <p:nvPr/>
        </p:nvSpPr>
        <p:spPr>
          <a:xfrm>
            <a:off x="3721405" y="4076700"/>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73" name="線"/>
          <p:cNvSpPr/>
          <p:nvPr/>
        </p:nvSpPr>
        <p:spPr>
          <a:xfrm>
            <a:off x="3721406" y="5589587"/>
            <a:ext cx="1871663"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74" name="線"/>
          <p:cNvSpPr/>
          <p:nvPr/>
        </p:nvSpPr>
        <p:spPr>
          <a:xfrm>
            <a:off x="7720248" y="1555751"/>
            <a:ext cx="1588" cy="720725"/>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75" name="摂動"/>
          <p:cNvSpPr/>
          <p:nvPr/>
        </p:nvSpPr>
        <p:spPr>
          <a:xfrm>
            <a:off x="7368137" y="1113413"/>
            <a:ext cx="718145"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400"/>
            </a:lvl1pPr>
          </a:lstStyle>
          <a:p>
            <a:r>
              <a:t>摂動</a:t>
            </a:r>
          </a:p>
        </p:txBody>
      </p:sp>
      <p:sp>
        <p:nvSpPr>
          <p:cNvPr id="776" name="摂動"/>
          <p:cNvSpPr/>
          <p:nvPr/>
        </p:nvSpPr>
        <p:spPr>
          <a:xfrm>
            <a:off x="8397215" y="3837693"/>
            <a:ext cx="564257"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摂動</a:t>
            </a:r>
          </a:p>
        </p:txBody>
      </p:sp>
      <p:sp>
        <p:nvSpPr>
          <p:cNvPr id="777" name="線"/>
          <p:cNvSpPr/>
          <p:nvPr/>
        </p:nvSpPr>
        <p:spPr>
          <a:xfrm>
            <a:off x="9017235" y="4364037"/>
            <a:ext cx="1588" cy="720726"/>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 name="複素数の固有値を含む固定点"/>
          <p:cNvSpPr txBox="1">
            <a:spLocks noGrp="1"/>
          </p:cNvSpPr>
          <p:nvPr>
            <p:ph type="title"/>
          </p:nvPr>
        </p:nvSpPr>
        <p:spPr>
          <a:prstGeom prst="rect">
            <a:avLst/>
          </a:prstGeom>
        </p:spPr>
        <p:txBody>
          <a:bodyPr/>
          <a:lstStyle/>
          <a:p>
            <a:r>
              <a:t>複素数の固有値を含む固定点</a:t>
            </a:r>
          </a:p>
        </p:txBody>
      </p:sp>
      <p:sp>
        <p:nvSpPr>
          <p:cNvPr id="597" name="スパイラル (Spiral) または  フォーカス  (Focus)…"/>
          <p:cNvSpPr txBox="1">
            <a:spLocks noGrp="1"/>
          </p:cNvSpPr>
          <p:nvPr>
            <p:ph type="body" sz="half" idx="4294967295"/>
          </p:nvPr>
        </p:nvSpPr>
        <p:spPr>
          <a:xfrm>
            <a:off x="330738" y="1600200"/>
            <a:ext cx="7566028" cy="4978400"/>
          </a:xfrm>
          <a:prstGeom prst="rect">
            <a:avLst/>
          </a:prstGeom>
        </p:spPr>
        <p:txBody>
          <a:bodyPr>
            <a:normAutofit/>
          </a:bodyPr>
          <a:lstStyle/>
          <a:p>
            <a:pPr marL="383540">
              <a:buClr>
                <a:srgbClr val="000000"/>
              </a:buClr>
              <a:buSzPct val="100000"/>
              <a:buFont typeface="Arial"/>
            </a:pPr>
            <a:r>
              <a:rPr dirty="0" err="1"/>
              <a:t>スパイラル</a:t>
            </a:r>
            <a:r>
              <a:rPr dirty="0"/>
              <a:t> (Spiral) </a:t>
            </a:r>
            <a:r>
              <a:rPr dirty="0" err="1"/>
              <a:t>または</a:t>
            </a:r>
            <a:r>
              <a:rPr lang="ja-JP" altLang="en-US"/>
              <a:t>　　　　　　</a:t>
            </a:r>
            <a:r>
              <a:rPr dirty="0" err="1"/>
              <a:t>フォーカス</a:t>
            </a:r>
            <a:r>
              <a:rPr dirty="0"/>
              <a:t>  (Focus) </a:t>
            </a:r>
          </a:p>
          <a:p>
            <a:pPr marL="783590" lvl="1">
              <a:buClr>
                <a:srgbClr val="000000"/>
              </a:buClr>
              <a:buSzPct val="100000"/>
              <a:buFont typeface="Arial"/>
            </a:pPr>
            <a:r>
              <a:rPr dirty="0" err="1"/>
              <a:t>すべての固有値の実部が負</a:t>
            </a:r>
            <a:endParaRPr dirty="0"/>
          </a:p>
          <a:p>
            <a:pPr marL="1183639" lvl="2">
              <a:buClr>
                <a:srgbClr val="000000"/>
              </a:buClr>
              <a:buSzPct val="100000"/>
              <a:buFont typeface="Arial"/>
            </a:pPr>
            <a:r>
              <a:rPr dirty="0" err="1"/>
              <a:t>安定</a:t>
            </a:r>
            <a:endParaRPr dirty="0"/>
          </a:p>
          <a:p>
            <a:pPr marL="783590" lvl="1">
              <a:buClr>
                <a:srgbClr val="000000"/>
              </a:buClr>
              <a:buSzPct val="100000"/>
              <a:buFont typeface="Arial"/>
            </a:pPr>
            <a:r>
              <a:rPr dirty="0" err="1"/>
              <a:t>すべての固有値の実部が正</a:t>
            </a:r>
            <a:endParaRPr dirty="0"/>
          </a:p>
          <a:p>
            <a:pPr marL="1183639" lvl="2">
              <a:buClr>
                <a:srgbClr val="000000"/>
              </a:buClr>
              <a:buSzPct val="100000"/>
              <a:buFont typeface="Arial"/>
            </a:pPr>
            <a:r>
              <a:rPr dirty="0" err="1"/>
              <a:t>不安定</a:t>
            </a:r>
            <a:endParaRPr dirty="0"/>
          </a:p>
          <a:p>
            <a:pPr marL="383540">
              <a:buClr>
                <a:srgbClr val="000000"/>
              </a:buClr>
              <a:buSzPct val="100000"/>
              <a:buFont typeface="Arial"/>
            </a:pPr>
            <a:r>
              <a:rPr dirty="0" err="1"/>
              <a:t>センタ</a:t>
            </a:r>
            <a:r>
              <a:rPr dirty="0"/>
              <a:t>ー (Center)</a:t>
            </a:r>
          </a:p>
          <a:p>
            <a:pPr marL="783590" lvl="1">
              <a:buClr>
                <a:srgbClr val="000000"/>
              </a:buClr>
              <a:buSzPct val="100000"/>
              <a:buFont typeface="Arial"/>
            </a:pPr>
            <a:r>
              <a:rPr dirty="0" err="1"/>
              <a:t>すべての固有値が純虚数</a:t>
            </a:r>
            <a:endParaRPr dirty="0"/>
          </a:p>
          <a:p>
            <a:pPr marL="783590" lvl="1">
              <a:buClr>
                <a:srgbClr val="000000"/>
              </a:buClr>
              <a:buSzPct val="100000"/>
              <a:buFont typeface="Arial"/>
            </a:pPr>
            <a:r>
              <a:rPr dirty="0" err="1"/>
              <a:t>解が三角関数で書ける</a:t>
            </a:r>
            <a:r>
              <a:rPr lang="en-US" dirty="0"/>
              <a:t> (</a:t>
            </a:r>
            <a:r>
              <a:rPr lang="en-US" dirty="0" err="1"/>
              <a:t>Eulerの公式より</a:t>
            </a:r>
            <a:r>
              <a:rPr lang="en-US" dirty="0"/>
              <a:t>)</a:t>
            </a:r>
            <a:endParaRPr dirty="0"/>
          </a:p>
        </p:txBody>
      </p:sp>
      <p:sp>
        <p:nvSpPr>
          <p:cNvPr id="598" name="楕円"/>
          <p:cNvSpPr/>
          <p:nvPr/>
        </p:nvSpPr>
        <p:spPr>
          <a:xfrm>
            <a:off x="8534547" y="4140201"/>
            <a:ext cx="2520951" cy="1895475"/>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599" name="楕円"/>
          <p:cNvSpPr/>
          <p:nvPr/>
        </p:nvSpPr>
        <p:spPr>
          <a:xfrm>
            <a:off x="8750446" y="4378325"/>
            <a:ext cx="2033588" cy="1441450"/>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00" name="楕円"/>
          <p:cNvSpPr/>
          <p:nvPr/>
        </p:nvSpPr>
        <p:spPr>
          <a:xfrm>
            <a:off x="9007622" y="4621213"/>
            <a:ext cx="1543051" cy="9826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01" name="三角形"/>
          <p:cNvSpPr/>
          <p:nvPr/>
        </p:nvSpPr>
        <p:spPr>
          <a:xfrm rot="16200000">
            <a:off x="9686530" y="5672733"/>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02" name="三角形"/>
          <p:cNvSpPr/>
          <p:nvPr/>
        </p:nvSpPr>
        <p:spPr>
          <a:xfrm rot="16200000">
            <a:off x="9686530" y="5888633"/>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03" name="三角形"/>
          <p:cNvSpPr/>
          <p:nvPr/>
        </p:nvSpPr>
        <p:spPr>
          <a:xfrm rot="16200000">
            <a:off x="9686530" y="5456833"/>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04" name="円形"/>
          <p:cNvSpPr/>
          <p:nvPr/>
        </p:nvSpPr>
        <p:spPr>
          <a:xfrm>
            <a:off x="9687071" y="5027612"/>
            <a:ext cx="144464" cy="144464"/>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grpSp>
        <p:nvGrpSpPr>
          <p:cNvPr id="613" name="グループ"/>
          <p:cNvGrpSpPr/>
          <p:nvPr/>
        </p:nvGrpSpPr>
        <p:grpSpPr>
          <a:xfrm>
            <a:off x="7556647" y="2071688"/>
            <a:ext cx="1655763" cy="1081089"/>
            <a:chOff x="0" y="0"/>
            <a:chExt cx="1655762" cy="1081087"/>
          </a:xfrm>
        </p:grpSpPr>
        <p:grpSp>
          <p:nvGrpSpPr>
            <p:cNvPr id="611" name="グループ"/>
            <p:cNvGrpSpPr/>
            <p:nvPr/>
          </p:nvGrpSpPr>
          <p:grpSpPr>
            <a:xfrm>
              <a:off x="0" y="0"/>
              <a:ext cx="1655763" cy="1081088"/>
              <a:chOff x="0" y="0"/>
              <a:chExt cx="1655762" cy="1081087"/>
            </a:xfrm>
          </p:grpSpPr>
          <p:sp>
            <p:nvSpPr>
              <p:cNvPr id="605" name="線"/>
              <p:cNvSpPr/>
              <p:nvPr/>
            </p:nvSpPr>
            <p:spPr>
              <a:xfrm flipH="1">
                <a:off x="0" y="0"/>
                <a:ext cx="919160" cy="57626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06" name="線"/>
              <p:cNvSpPr/>
              <p:nvPr/>
            </p:nvSpPr>
            <p:spPr>
              <a:xfrm>
                <a:off x="919083" y="0"/>
                <a:ext cx="736680" cy="57626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07" name="線"/>
              <p:cNvSpPr/>
              <p:nvPr/>
            </p:nvSpPr>
            <p:spPr>
              <a:xfrm rot="10800000" flipH="1">
                <a:off x="981261" y="576262"/>
                <a:ext cx="674502" cy="50323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08" name="線"/>
              <p:cNvSpPr/>
              <p:nvPr/>
            </p:nvSpPr>
            <p:spPr>
              <a:xfrm rot="10800000">
                <a:off x="367647" y="576262"/>
                <a:ext cx="613675" cy="504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09" name="線"/>
              <p:cNvSpPr/>
              <p:nvPr/>
            </p:nvSpPr>
            <p:spPr>
              <a:xfrm flipH="1">
                <a:off x="367646" y="288924"/>
                <a:ext cx="540679" cy="287339"/>
              </a:xfrm>
              <a:custGeom>
                <a:avLst/>
                <a:gdLst/>
                <a:ahLst/>
                <a:cxnLst>
                  <a:cxn ang="0">
                    <a:pos x="wd2" y="hd2"/>
                  </a:cxn>
                  <a:cxn ang="5400000">
                    <a:pos x="wd2" y="hd2"/>
                  </a:cxn>
                  <a:cxn ang="10800000">
                    <a:pos x="wd2" y="hd2"/>
                  </a:cxn>
                  <a:cxn ang="16200000">
                    <a:pos x="wd2" y="hd2"/>
                  </a:cxn>
                </a:cxnLst>
                <a:rect l="0" t="0" r="r" b="b"/>
                <a:pathLst>
                  <a:path w="21600" h="21599" extrusionOk="0">
                    <a:moveTo>
                      <a:pt x="0" y="728"/>
                    </a:moveTo>
                    <a:cubicBezTo>
                      <a:pt x="1443" y="244"/>
                      <a:pt x="2930" y="-1"/>
                      <a:pt x="4424" y="0"/>
                    </a:cubicBezTo>
                    <a:cubicBezTo>
                      <a:pt x="13910" y="0"/>
                      <a:pt x="21600" y="9670"/>
                      <a:pt x="21600" y="21599"/>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10" name="線"/>
              <p:cNvSpPr/>
              <p:nvPr/>
            </p:nvSpPr>
            <p:spPr>
              <a:xfrm>
                <a:off x="858273" y="288925"/>
                <a:ext cx="429843" cy="2159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grpSp>
        <p:sp>
          <p:nvSpPr>
            <p:cNvPr id="612" name="線"/>
            <p:cNvSpPr/>
            <p:nvPr/>
          </p:nvSpPr>
          <p:spPr>
            <a:xfrm rot="10800000" flipH="1">
              <a:off x="847463" y="506412"/>
              <a:ext cx="440653" cy="215901"/>
            </a:xfrm>
            <a:custGeom>
              <a:avLst/>
              <a:gdLst/>
              <a:ahLst/>
              <a:cxnLst>
                <a:cxn ang="0">
                  <a:pos x="wd2" y="hd2"/>
                </a:cxn>
                <a:cxn ang="5400000">
                  <a:pos x="wd2" y="hd2"/>
                </a:cxn>
                <a:cxn ang="10800000">
                  <a:pos x="wd2" y="hd2"/>
                </a:cxn>
                <a:cxn ang="16200000">
                  <a:pos x="wd2" y="hd2"/>
                </a:cxn>
              </a:cxnLst>
              <a:rect l="0" t="0" r="r" b="b"/>
              <a:pathLst>
                <a:path w="21600" h="21599" extrusionOk="0">
                  <a:moveTo>
                    <a:pt x="0" y="436"/>
                  </a:moveTo>
                  <a:cubicBezTo>
                    <a:pt x="1186" y="146"/>
                    <a:pt x="2392" y="-1"/>
                    <a:pt x="3602" y="0"/>
                  </a:cubicBezTo>
                  <a:cubicBezTo>
                    <a:pt x="13542" y="0"/>
                    <a:pt x="21600" y="9670"/>
                    <a:pt x="21600" y="21599"/>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grpSp>
      <p:sp>
        <p:nvSpPr>
          <p:cNvPr id="614" name="三角形"/>
          <p:cNvSpPr/>
          <p:nvPr/>
        </p:nvSpPr>
        <p:spPr>
          <a:xfrm rot="16200000">
            <a:off x="8419705" y="2646958"/>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15" name="円形"/>
          <p:cNvSpPr/>
          <p:nvPr/>
        </p:nvSpPr>
        <p:spPr>
          <a:xfrm>
            <a:off x="8275785" y="2720976"/>
            <a:ext cx="144463" cy="144463"/>
          </a:xfrm>
          <a:prstGeom prst="ellips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16" name="Stable Spiral"/>
          <p:cNvSpPr/>
          <p:nvPr/>
        </p:nvSpPr>
        <p:spPr>
          <a:xfrm>
            <a:off x="7648404" y="3297238"/>
            <a:ext cx="1381944"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Stable Spiral</a:t>
            </a:r>
          </a:p>
        </p:txBody>
      </p:sp>
      <p:sp>
        <p:nvSpPr>
          <p:cNvPr id="617" name="Center"/>
          <p:cNvSpPr/>
          <p:nvPr/>
        </p:nvSpPr>
        <p:spPr>
          <a:xfrm>
            <a:off x="9337503" y="6323013"/>
            <a:ext cx="804492"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Center</a:t>
            </a:r>
          </a:p>
        </p:txBody>
      </p:sp>
      <p:grpSp>
        <p:nvGrpSpPr>
          <p:cNvPr id="621" name="グループ"/>
          <p:cNvGrpSpPr/>
          <p:nvPr/>
        </p:nvGrpSpPr>
        <p:grpSpPr>
          <a:xfrm>
            <a:off x="9852166" y="1844671"/>
            <a:ext cx="1439874" cy="1295179"/>
            <a:chOff x="0" y="0"/>
            <a:chExt cx="1439872" cy="1295177"/>
          </a:xfrm>
        </p:grpSpPr>
        <p:sp>
          <p:nvSpPr>
            <p:cNvPr id="618" name="線"/>
            <p:cNvSpPr/>
            <p:nvPr/>
          </p:nvSpPr>
          <p:spPr>
            <a:xfrm>
              <a:off x="-1" y="-1"/>
              <a:ext cx="1439874" cy="1295179"/>
            </a:xfrm>
            <a:custGeom>
              <a:avLst/>
              <a:gdLst/>
              <a:ahLst/>
              <a:cxnLst>
                <a:cxn ang="0">
                  <a:pos x="wd2" y="hd2"/>
                </a:cxn>
                <a:cxn ang="5400000">
                  <a:pos x="wd2" y="hd2"/>
                </a:cxn>
                <a:cxn ang="10800000">
                  <a:pos x="wd2" y="hd2"/>
                </a:cxn>
                <a:cxn ang="16200000">
                  <a:pos x="wd2" y="hd2"/>
                </a:cxn>
              </a:cxnLst>
              <a:rect l="0" t="0" r="r" b="b"/>
              <a:pathLst>
                <a:path w="21296" h="21447" extrusionOk="0">
                  <a:moveTo>
                    <a:pt x="10366" y="21447"/>
                  </a:moveTo>
                  <a:lnTo>
                    <a:pt x="10366" y="21447"/>
                  </a:lnTo>
                  <a:cubicBezTo>
                    <a:pt x="4487" y="21290"/>
                    <a:pt x="-152" y="16363"/>
                    <a:pt x="4" y="10442"/>
                  </a:cubicBezTo>
                  <a:cubicBezTo>
                    <a:pt x="159" y="4520"/>
                    <a:pt x="5051" y="-153"/>
                    <a:pt x="10930" y="4"/>
                  </a:cubicBezTo>
                  <a:cubicBezTo>
                    <a:pt x="16809" y="161"/>
                    <a:pt x="21448" y="5088"/>
                    <a:pt x="21292" y="11009"/>
                  </a:cubicBezTo>
                  <a:cubicBezTo>
                    <a:pt x="21283" y="11358"/>
                    <a:pt x="21257" y="11707"/>
                    <a:pt x="21214" y="12053"/>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19" name="線"/>
            <p:cNvSpPr/>
            <p:nvPr/>
          </p:nvSpPr>
          <p:spPr>
            <a:xfrm>
              <a:off x="781747" y="360361"/>
              <a:ext cx="381907" cy="358783"/>
            </a:xfrm>
            <a:custGeom>
              <a:avLst/>
              <a:gdLst/>
              <a:ahLst/>
              <a:cxnLst>
                <a:cxn ang="0">
                  <a:pos x="wd2" y="hd2"/>
                </a:cxn>
                <a:cxn ang="5400000">
                  <a:pos x="wd2" y="hd2"/>
                </a:cxn>
                <a:cxn ang="10800000">
                  <a:pos x="wd2" y="hd2"/>
                </a:cxn>
                <a:cxn ang="16200000">
                  <a:pos x="wd2" y="hd2"/>
                </a:cxn>
              </a:cxnLst>
              <a:rect l="0" t="0" r="r" b="b"/>
              <a:pathLst>
                <a:path w="20983" h="21263" extrusionOk="0">
                  <a:moveTo>
                    <a:pt x="0" y="20"/>
                  </a:moveTo>
                  <a:lnTo>
                    <a:pt x="0" y="20"/>
                  </a:lnTo>
                  <a:cubicBezTo>
                    <a:pt x="10915" y="-331"/>
                    <a:pt x="20293" y="4136"/>
                    <a:pt x="20947" y="9997"/>
                  </a:cubicBezTo>
                  <a:cubicBezTo>
                    <a:pt x="21600" y="15858"/>
                    <a:pt x="13281" y="20894"/>
                    <a:pt x="2366" y="21245"/>
                  </a:cubicBezTo>
                  <a:cubicBezTo>
                    <a:pt x="1732" y="21265"/>
                    <a:pt x="1096" y="21269"/>
                    <a:pt x="461" y="21257"/>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20" name="線"/>
            <p:cNvSpPr/>
            <p:nvPr/>
          </p:nvSpPr>
          <p:spPr>
            <a:xfrm>
              <a:off x="276139" y="362128"/>
              <a:ext cx="1156020" cy="645990"/>
            </a:xfrm>
            <a:custGeom>
              <a:avLst/>
              <a:gdLst/>
              <a:ahLst/>
              <a:cxnLst>
                <a:cxn ang="0">
                  <a:pos x="wd2" y="hd2"/>
                </a:cxn>
                <a:cxn ang="5400000">
                  <a:pos x="wd2" y="hd2"/>
                </a:cxn>
                <a:cxn ang="10800000">
                  <a:pos x="wd2" y="hd2"/>
                </a:cxn>
                <a:cxn ang="16200000">
                  <a:pos x="wd2" y="hd2"/>
                </a:cxn>
              </a:cxnLst>
              <a:rect l="0" t="0" r="r" b="b"/>
              <a:pathLst>
                <a:path w="20802" h="20805" extrusionOk="0">
                  <a:moveTo>
                    <a:pt x="20802" y="12066"/>
                  </a:moveTo>
                  <a:lnTo>
                    <a:pt x="20802" y="12066"/>
                  </a:lnTo>
                  <a:cubicBezTo>
                    <a:pt x="19864" y="17750"/>
                    <a:pt x="14478" y="21600"/>
                    <a:pt x="8772" y="20665"/>
                  </a:cubicBezTo>
                  <a:cubicBezTo>
                    <a:pt x="3067" y="19731"/>
                    <a:pt x="-798" y="14365"/>
                    <a:pt x="140" y="8681"/>
                  </a:cubicBezTo>
                  <a:cubicBezTo>
                    <a:pt x="905" y="4044"/>
                    <a:pt x="4689" y="489"/>
                    <a:pt x="9381" y="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grpSp>
      <p:sp>
        <p:nvSpPr>
          <p:cNvPr id="622" name="円形"/>
          <p:cNvSpPr/>
          <p:nvPr/>
        </p:nvSpPr>
        <p:spPr>
          <a:xfrm>
            <a:off x="10501460" y="2492376"/>
            <a:ext cx="144463" cy="144463"/>
          </a:xfrm>
          <a:prstGeom prst="ellipse">
            <a:avLst/>
          </a:prstGeom>
          <a:ln w="254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23" name="三角形"/>
          <p:cNvSpPr/>
          <p:nvPr/>
        </p:nvSpPr>
        <p:spPr>
          <a:xfrm rot="5400000">
            <a:off x="10427495" y="2994621"/>
            <a:ext cx="144356"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24" name="Unstable Spiral"/>
          <p:cNvSpPr/>
          <p:nvPr/>
        </p:nvSpPr>
        <p:spPr>
          <a:xfrm>
            <a:off x="9728029" y="3357563"/>
            <a:ext cx="1658145"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Unstable Spiral</a:t>
            </a:r>
          </a:p>
        </p:txBody>
      </p:sp>
      <p:sp>
        <p:nvSpPr>
          <p:cNvPr id="627" name="線"/>
          <p:cNvSpPr/>
          <p:nvPr/>
        </p:nvSpPr>
        <p:spPr>
          <a:xfrm>
            <a:off x="7367734" y="1831975"/>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28" name="線"/>
          <p:cNvSpPr/>
          <p:nvPr/>
        </p:nvSpPr>
        <p:spPr>
          <a:xfrm>
            <a:off x="7367735" y="3344862"/>
            <a:ext cx="1871663"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29" name="x"/>
          <p:cNvSpPr/>
          <p:nvPr/>
        </p:nvSpPr>
        <p:spPr>
          <a:xfrm>
            <a:off x="9281291" y="3091438"/>
            <a:ext cx="25006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x</a:t>
            </a:r>
          </a:p>
        </p:txBody>
      </p:sp>
      <p:sp>
        <p:nvSpPr>
          <p:cNvPr id="630" name="y"/>
          <p:cNvSpPr/>
          <p:nvPr/>
        </p:nvSpPr>
        <p:spPr>
          <a:xfrm>
            <a:off x="7234384" y="1313438"/>
            <a:ext cx="24526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y</a:t>
            </a:r>
          </a:p>
        </p:txBody>
      </p:sp>
      <p:sp>
        <p:nvSpPr>
          <p:cNvPr id="631" name="線"/>
          <p:cNvSpPr/>
          <p:nvPr/>
        </p:nvSpPr>
        <p:spPr>
          <a:xfrm>
            <a:off x="9685484" y="1841500"/>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32" name="線"/>
          <p:cNvSpPr/>
          <p:nvPr/>
        </p:nvSpPr>
        <p:spPr>
          <a:xfrm>
            <a:off x="9662625" y="3352801"/>
            <a:ext cx="1627823" cy="1595"/>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33" name="x"/>
          <p:cNvSpPr/>
          <p:nvPr/>
        </p:nvSpPr>
        <p:spPr>
          <a:xfrm>
            <a:off x="11323784" y="3104138"/>
            <a:ext cx="25006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x</a:t>
            </a:r>
          </a:p>
        </p:txBody>
      </p:sp>
      <p:sp>
        <p:nvSpPr>
          <p:cNvPr id="634" name="y"/>
          <p:cNvSpPr/>
          <p:nvPr/>
        </p:nvSpPr>
        <p:spPr>
          <a:xfrm>
            <a:off x="9545784" y="1326138"/>
            <a:ext cx="24526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y</a:t>
            </a:r>
          </a:p>
        </p:txBody>
      </p:sp>
      <p:sp>
        <p:nvSpPr>
          <p:cNvPr id="635" name="線"/>
          <p:cNvSpPr/>
          <p:nvPr/>
        </p:nvSpPr>
        <p:spPr>
          <a:xfrm>
            <a:off x="8275784" y="4185920"/>
            <a:ext cx="1588" cy="207676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36" name="線"/>
          <p:cNvSpPr/>
          <p:nvPr/>
        </p:nvSpPr>
        <p:spPr>
          <a:xfrm flipV="1">
            <a:off x="8275784" y="6258535"/>
            <a:ext cx="2814320" cy="2567"/>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37" name="x"/>
          <p:cNvSpPr/>
          <p:nvPr/>
        </p:nvSpPr>
        <p:spPr>
          <a:xfrm>
            <a:off x="11171384" y="6037838"/>
            <a:ext cx="25006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x</a:t>
            </a:r>
          </a:p>
        </p:txBody>
      </p:sp>
      <p:sp>
        <p:nvSpPr>
          <p:cNvPr id="638" name="y"/>
          <p:cNvSpPr/>
          <p:nvPr/>
        </p:nvSpPr>
        <p:spPr>
          <a:xfrm>
            <a:off x="7843984" y="4005838"/>
            <a:ext cx="24526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y</a:t>
            </a:r>
          </a:p>
        </p:txBody>
      </p:sp>
    </p:spTree>
    <p:extLst>
      <p:ext uri="{BB962C8B-B14F-4D97-AF65-F5344CB8AC3E}">
        <p14:creationId xmlns:p14="http://schemas.microsoft.com/office/powerpoint/2010/main" val="187737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0" name="相平面と時系列の対応"/>
          <p:cNvSpPr txBox="1">
            <a:spLocks noGrp="1"/>
          </p:cNvSpPr>
          <p:nvPr>
            <p:ph type="title"/>
          </p:nvPr>
        </p:nvSpPr>
        <p:spPr>
          <a:prstGeom prst="rect">
            <a:avLst/>
          </a:prstGeom>
        </p:spPr>
        <p:txBody>
          <a:bodyPr/>
          <a:lstStyle/>
          <a:p>
            <a:r>
              <a:t>相平面と時系列の対応</a:t>
            </a:r>
          </a:p>
        </p:txBody>
      </p:sp>
      <p:sp>
        <p:nvSpPr>
          <p:cNvPr id="811" name="楕円"/>
          <p:cNvSpPr/>
          <p:nvPr/>
        </p:nvSpPr>
        <p:spPr>
          <a:xfrm>
            <a:off x="2782887" y="3603626"/>
            <a:ext cx="2160588" cy="154781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2" name="楕円"/>
          <p:cNvSpPr/>
          <p:nvPr/>
        </p:nvSpPr>
        <p:spPr>
          <a:xfrm>
            <a:off x="2998787" y="3759200"/>
            <a:ext cx="1743076" cy="1176338"/>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3" name="楕円"/>
          <p:cNvSpPr/>
          <p:nvPr/>
        </p:nvSpPr>
        <p:spPr>
          <a:xfrm>
            <a:off x="3255962" y="3917950"/>
            <a:ext cx="1322388" cy="801688"/>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4" name="三角形"/>
          <p:cNvSpPr/>
          <p:nvPr/>
        </p:nvSpPr>
        <p:spPr>
          <a:xfrm rot="16200000">
            <a:off x="3927783" y="4823619"/>
            <a:ext cx="116861" cy="247651"/>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5" name="三角形"/>
          <p:cNvSpPr/>
          <p:nvPr/>
        </p:nvSpPr>
        <p:spPr>
          <a:xfrm rot="16200000">
            <a:off x="3927783" y="5039519"/>
            <a:ext cx="116861" cy="247651"/>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6" name="三角形"/>
          <p:cNvSpPr/>
          <p:nvPr/>
        </p:nvSpPr>
        <p:spPr>
          <a:xfrm rot="16200000">
            <a:off x="3927783" y="4607719"/>
            <a:ext cx="116861" cy="247651"/>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7" name="楕円"/>
          <p:cNvSpPr/>
          <p:nvPr/>
        </p:nvSpPr>
        <p:spPr>
          <a:xfrm>
            <a:off x="3811587" y="4278312"/>
            <a:ext cx="123826" cy="117476"/>
          </a:xfrm>
          <a:prstGeom prst="ellipse">
            <a:avLst/>
          </a:prstGeom>
          <a:blipFill>
            <a:blip r:embed="rId2"/>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8" name="線"/>
          <p:cNvSpPr/>
          <p:nvPr/>
        </p:nvSpPr>
        <p:spPr>
          <a:xfrm flipH="1">
            <a:off x="2855913" y="1344613"/>
            <a:ext cx="1079501" cy="57626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9" name="線"/>
          <p:cNvSpPr/>
          <p:nvPr/>
        </p:nvSpPr>
        <p:spPr>
          <a:xfrm>
            <a:off x="3935412" y="1344613"/>
            <a:ext cx="865188" cy="57626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0" name="線"/>
          <p:cNvSpPr/>
          <p:nvPr/>
        </p:nvSpPr>
        <p:spPr>
          <a:xfrm rot="10800000" flipH="1">
            <a:off x="4008438" y="1920875"/>
            <a:ext cx="792163" cy="50323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1" name="線"/>
          <p:cNvSpPr/>
          <p:nvPr/>
        </p:nvSpPr>
        <p:spPr>
          <a:xfrm rot="10800000">
            <a:off x="3287712" y="1920876"/>
            <a:ext cx="720726" cy="50482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2" name="線"/>
          <p:cNvSpPr/>
          <p:nvPr/>
        </p:nvSpPr>
        <p:spPr>
          <a:xfrm flipH="1">
            <a:off x="3287713" y="1633466"/>
            <a:ext cx="635003" cy="287410"/>
          </a:xfrm>
          <a:custGeom>
            <a:avLst/>
            <a:gdLst/>
            <a:ahLst/>
            <a:cxnLst>
              <a:cxn ang="0">
                <a:pos x="wd2" y="hd2"/>
              </a:cxn>
              <a:cxn ang="5400000">
                <a:pos x="wd2" y="hd2"/>
              </a:cxn>
              <a:cxn ang="10800000">
                <a:pos x="wd2" y="hd2"/>
              </a:cxn>
              <a:cxn ang="16200000">
                <a:pos x="wd2" y="hd2"/>
              </a:cxn>
            </a:cxnLst>
            <a:rect l="0" t="0" r="r" b="b"/>
            <a:pathLst>
              <a:path w="21600" h="19491" extrusionOk="0">
                <a:moveTo>
                  <a:pt x="0" y="663"/>
                </a:moveTo>
                <a:cubicBezTo>
                  <a:pt x="9166" y="-2109"/>
                  <a:pt x="18577" y="4074"/>
                  <a:pt x="21021" y="14472"/>
                </a:cubicBezTo>
                <a:cubicBezTo>
                  <a:pt x="21405" y="16110"/>
                  <a:pt x="21600" y="17797"/>
                  <a:pt x="21600" y="19491"/>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3" name="線"/>
          <p:cNvSpPr/>
          <p:nvPr/>
        </p:nvSpPr>
        <p:spPr>
          <a:xfrm>
            <a:off x="3863976" y="1633538"/>
            <a:ext cx="504825" cy="2159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4" name="線"/>
          <p:cNvSpPr/>
          <p:nvPr/>
        </p:nvSpPr>
        <p:spPr>
          <a:xfrm rot="10800000" flipH="1">
            <a:off x="3851274" y="1851026"/>
            <a:ext cx="517526" cy="215943"/>
          </a:xfrm>
          <a:custGeom>
            <a:avLst/>
            <a:gdLst/>
            <a:ahLst/>
            <a:cxnLst>
              <a:cxn ang="0">
                <a:pos x="wd2" y="hd2"/>
              </a:cxn>
              <a:cxn ang="5400000">
                <a:pos x="wd2" y="hd2"/>
              </a:cxn>
              <a:cxn ang="10800000">
                <a:pos x="wd2" y="hd2"/>
              </a:cxn>
              <a:cxn ang="16200000">
                <a:pos x="wd2" y="hd2"/>
              </a:cxn>
            </a:cxnLst>
            <a:rect l="0" t="0" r="r" b="b"/>
            <a:pathLst>
              <a:path w="21600" h="19815" extrusionOk="0">
                <a:moveTo>
                  <a:pt x="0" y="404"/>
                </a:moveTo>
                <a:cubicBezTo>
                  <a:pt x="9739" y="-1785"/>
                  <a:pt x="19247" y="5131"/>
                  <a:pt x="21236" y="15851"/>
                </a:cubicBezTo>
                <a:cubicBezTo>
                  <a:pt x="21478" y="17155"/>
                  <a:pt x="21600" y="18484"/>
                  <a:pt x="21600" y="19815"/>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5" name="三角形"/>
          <p:cNvSpPr/>
          <p:nvPr/>
        </p:nvSpPr>
        <p:spPr>
          <a:xfrm rot="16200000">
            <a:off x="3934871" y="1919883"/>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6" name="円形"/>
          <p:cNvSpPr/>
          <p:nvPr/>
        </p:nvSpPr>
        <p:spPr>
          <a:xfrm>
            <a:off x="3721101" y="1993901"/>
            <a:ext cx="144463" cy="144463"/>
          </a:xfrm>
          <a:prstGeom prst="ellips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7" name="Stable Spiral"/>
          <p:cNvSpPr/>
          <p:nvPr/>
        </p:nvSpPr>
        <p:spPr>
          <a:xfrm>
            <a:off x="3196189" y="2545954"/>
            <a:ext cx="1490793"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000"/>
            </a:lvl1pPr>
          </a:lstStyle>
          <a:p>
            <a:r>
              <a:t>Stable Spiral</a:t>
            </a:r>
          </a:p>
        </p:txBody>
      </p:sp>
      <p:sp>
        <p:nvSpPr>
          <p:cNvPr id="828" name="Center"/>
          <p:cNvSpPr/>
          <p:nvPr/>
        </p:nvSpPr>
        <p:spPr>
          <a:xfrm>
            <a:off x="3454901" y="5424092"/>
            <a:ext cx="843180"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000"/>
            </a:lvl1pPr>
          </a:lstStyle>
          <a:p>
            <a:r>
              <a:t>Center</a:t>
            </a:r>
          </a:p>
        </p:txBody>
      </p:sp>
      <p:sp>
        <p:nvSpPr>
          <p:cNvPr id="829" name="線"/>
          <p:cNvSpPr/>
          <p:nvPr/>
        </p:nvSpPr>
        <p:spPr>
          <a:xfrm>
            <a:off x="6743700" y="1201737"/>
            <a:ext cx="1588" cy="2016126"/>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830" name="線"/>
          <p:cNvSpPr/>
          <p:nvPr/>
        </p:nvSpPr>
        <p:spPr>
          <a:xfrm>
            <a:off x="6743700" y="3217862"/>
            <a:ext cx="3168650"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831" name="線"/>
          <p:cNvSpPr/>
          <p:nvPr/>
        </p:nvSpPr>
        <p:spPr>
          <a:xfrm>
            <a:off x="6743700" y="3675062"/>
            <a:ext cx="1588" cy="2016126"/>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832" name="線"/>
          <p:cNvSpPr/>
          <p:nvPr/>
        </p:nvSpPr>
        <p:spPr>
          <a:xfrm>
            <a:off x="6743700" y="5691187"/>
            <a:ext cx="3168650"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833" name="双方向矢印"/>
          <p:cNvSpPr/>
          <p:nvPr/>
        </p:nvSpPr>
        <p:spPr>
          <a:xfrm>
            <a:off x="5375276" y="1778001"/>
            <a:ext cx="720725" cy="792163"/>
          </a:xfrm>
          <a:prstGeom prst="leftRightArrow">
            <a:avLst>
              <a:gd name="adj1" fmla="val 50000"/>
              <a:gd name="adj2" fmla="val 20000"/>
            </a:avLst>
          </a:prstGeom>
          <a:blipFill>
            <a:blip r:embed="rId2"/>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34" name="双方向矢印"/>
          <p:cNvSpPr/>
          <p:nvPr/>
        </p:nvSpPr>
        <p:spPr>
          <a:xfrm>
            <a:off x="5375276" y="4035426"/>
            <a:ext cx="720725" cy="792163"/>
          </a:xfrm>
          <a:prstGeom prst="leftRightArrow">
            <a:avLst>
              <a:gd name="adj1" fmla="val 50000"/>
              <a:gd name="adj2" fmla="val 20000"/>
            </a:avLst>
          </a:prstGeom>
          <a:blipFill>
            <a:blip r:embed="rId2"/>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35" name="time"/>
          <p:cNvSpPr/>
          <p:nvPr/>
        </p:nvSpPr>
        <p:spPr>
          <a:xfrm>
            <a:off x="9194748" y="3196343"/>
            <a:ext cx="52738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time</a:t>
            </a:r>
          </a:p>
        </p:txBody>
      </p:sp>
      <p:sp>
        <p:nvSpPr>
          <p:cNvPr id="836" name="time"/>
          <p:cNvSpPr/>
          <p:nvPr/>
        </p:nvSpPr>
        <p:spPr>
          <a:xfrm>
            <a:off x="9205861" y="5726818"/>
            <a:ext cx="52738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time</a:t>
            </a:r>
          </a:p>
        </p:txBody>
      </p:sp>
      <p:sp>
        <p:nvSpPr>
          <p:cNvPr id="837" name="三角関数"/>
          <p:cNvSpPr/>
          <p:nvPr/>
        </p:nvSpPr>
        <p:spPr>
          <a:xfrm>
            <a:off x="8094890" y="5261680"/>
            <a:ext cx="1025922"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三角関数</a:t>
            </a:r>
          </a:p>
        </p:txBody>
      </p:sp>
      <p:sp>
        <p:nvSpPr>
          <p:cNvPr id="838" name="減衰振動"/>
          <p:cNvSpPr/>
          <p:nvPr/>
        </p:nvSpPr>
        <p:spPr>
          <a:xfrm>
            <a:off x="8072609" y="2775655"/>
            <a:ext cx="1025922"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減衰振動</a:t>
            </a:r>
          </a:p>
        </p:txBody>
      </p:sp>
      <p:sp>
        <p:nvSpPr>
          <p:cNvPr id="839" name="線"/>
          <p:cNvSpPr/>
          <p:nvPr/>
        </p:nvSpPr>
        <p:spPr>
          <a:xfrm>
            <a:off x="6743700" y="3885631"/>
            <a:ext cx="2952750" cy="1244412"/>
          </a:xfrm>
          <a:custGeom>
            <a:avLst/>
            <a:gdLst/>
            <a:ahLst/>
            <a:cxnLst>
              <a:cxn ang="0">
                <a:pos x="wd2" y="hd2"/>
              </a:cxn>
              <a:cxn ang="5400000">
                <a:pos x="wd2" y="hd2"/>
              </a:cxn>
              <a:cxn ang="10800000">
                <a:pos x="wd2" y="hd2"/>
              </a:cxn>
              <a:cxn ang="16200000">
                <a:pos x="wd2" y="hd2"/>
              </a:cxn>
            </a:cxnLst>
            <a:rect l="0" t="0" r="r" b="b"/>
            <a:pathLst>
              <a:path w="21600" h="19484" extrusionOk="0">
                <a:moveTo>
                  <a:pt x="0" y="13605"/>
                </a:moveTo>
                <a:cubicBezTo>
                  <a:pt x="917" y="6372"/>
                  <a:pt x="1835" y="-861"/>
                  <a:pt x="3159" y="84"/>
                </a:cubicBezTo>
                <a:cubicBezTo>
                  <a:pt x="4483" y="1028"/>
                  <a:pt x="6329" y="19248"/>
                  <a:pt x="7908" y="19248"/>
                </a:cubicBezTo>
                <a:cubicBezTo>
                  <a:pt x="9488" y="19248"/>
                  <a:pt x="10986" y="84"/>
                  <a:pt x="12646" y="84"/>
                </a:cubicBezTo>
                <a:cubicBezTo>
                  <a:pt x="14307" y="84"/>
                  <a:pt x="16421" y="17756"/>
                  <a:pt x="17907" y="19248"/>
                </a:cubicBezTo>
                <a:cubicBezTo>
                  <a:pt x="19394" y="20739"/>
                  <a:pt x="20497" y="14923"/>
                  <a:pt x="21600" y="9106"/>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40" name="線"/>
          <p:cNvSpPr/>
          <p:nvPr/>
        </p:nvSpPr>
        <p:spPr>
          <a:xfrm>
            <a:off x="6743700" y="1410244"/>
            <a:ext cx="3024188" cy="1235784"/>
          </a:xfrm>
          <a:custGeom>
            <a:avLst/>
            <a:gdLst/>
            <a:ahLst/>
            <a:cxnLst>
              <a:cxn ang="0">
                <a:pos x="wd2" y="hd2"/>
              </a:cxn>
              <a:cxn ang="5400000">
                <a:pos x="wd2" y="hd2"/>
              </a:cxn>
              <a:cxn ang="10800000">
                <a:pos x="wd2" y="hd2"/>
              </a:cxn>
              <a:cxn ang="16200000">
                <a:pos x="wd2" y="hd2"/>
              </a:cxn>
            </a:cxnLst>
            <a:rect l="0" t="0" r="r" b="b"/>
            <a:pathLst>
              <a:path w="21600" h="19349" extrusionOk="0">
                <a:moveTo>
                  <a:pt x="0" y="13637"/>
                </a:moveTo>
                <a:cubicBezTo>
                  <a:pt x="896" y="13637"/>
                  <a:pt x="1803" y="13637"/>
                  <a:pt x="2574" y="11375"/>
                </a:cubicBezTo>
                <a:cubicBezTo>
                  <a:pt x="3345" y="9113"/>
                  <a:pt x="3776" y="-1202"/>
                  <a:pt x="4626" y="115"/>
                </a:cubicBezTo>
                <a:cubicBezTo>
                  <a:pt x="5477" y="1433"/>
                  <a:pt x="6860" y="18161"/>
                  <a:pt x="7722" y="19279"/>
                </a:cubicBezTo>
                <a:cubicBezTo>
                  <a:pt x="8583" y="20398"/>
                  <a:pt x="9003" y="7622"/>
                  <a:pt x="9774" y="6876"/>
                </a:cubicBezTo>
                <a:cubicBezTo>
                  <a:pt x="10545" y="6131"/>
                  <a:pt x="11316" y="14010"/>
                  <a:pt x="12348" y="14756"/>
                </a:cubicBezTo>
                <a:cubicBezTo>
                  <a:pt x="13380" y="15501"/>
                  <a:pt x="14740" y="11549"/>
                  <a:pt x="15942" y="11375"/>
                </a:cubicBezTo>
                <a:cubicBezTo>
                  <a:pt x="17144" y="11201"/>
                  <a:pt x="18607" y="13438"/>
                  <a:pt x="19548" y="13637"/>
                </a:cubicBezTo>
                <a:cubicBezTo>
                  <a:pt x="20489" y="13836"/>
                  <a:pt x="21044" y="13165"/>
                  <a:pt x="21600" y="12519"/>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pic>
        <p:nvPicPr>
          <p:cNvPr id="841" name="image.pdf" descr="image.pdf"/>
          <p:cNvPicPr>
            <a:picLocks/>
          </p:cNvPicPr>
          <p:nvPr/>
        </p:nvPicPr>
        <p:blipFill>
          <a:blip r:embed="rId3"/>
          <a:stretch>
            <a:fillRect/>
          </a:stretch>
        </p:blipFill>
        <p:spPr>
          <a:xfrm>
            <a:off x="2244725" y="5884863"/>
            <a:ext cx="2844800" cy="800101"/>
          </a:xfrm>
          <a:prstGeom prst="rect">
            <a:avLst/>
          </a:prstGeom>
          <a:ln w="12700">
            <a:miter lim="400000"/>
          </a:ln>
        </p:spPr>
      </p:pic>
      <p:sp>
        <p:nvSpPr>
          <p:cNvPr id="842" name="固有値の虚数部分が三角関数になる"/>
          <p:cNvSpPr/>
          <p:nvPr/>
        </p:nvSpPr>
        <p:spPr>
          <a:xfrm>
            <a:off x="5386833" y="6202938"/>
            <a:ext cx="5027017"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400"/>
            </a:lvl1pPr>
          </a:lstStyle>
          <a:p>
            <a:r>
              <a:t>固有値の虚数部分が三角関数になる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49774-2979-8F73-AA32-7F3992CD089C}"/>
            </a:ext>
          </a:extLst>
        </p:cNvPr>
        <p:cNvGrpSpPr/>
        <p:nvPr/>
      </p:nvGrpSpPr>
      <p:grpSpPr>
        <a:xfrm>
          <a:off x="0" y="0"/>
          <a:ext cx="0" cy="0"/>
          <a:chOff x="0" y="0"/>
          <a:chExt cx="0" cy="0"/>
        </a:xfrm>
      </p:grpSpPr>
      <p:sp>
        <p:nvSpPr>
          <p:cNvPr id="647" name="演習5: Sel’kovモデルの固定点の分類">
            <a:extLst>
              <a:ext uri="{FF2B5EF4-FFF2-40B4-BE49-F238E27FC236}">
                <a16:creationId xmlns:a16="http://schemas.microsoft.com/office/drawing/2014/main" id="{443F65BB-8E3A-B8FD-1FB9-BA826C686C37}"/>
              </a:ext>
            </a:extLst>
          </p:cNvPr>
          <p:cNvSpPr txBox="1">
            <a:spLocks noGrp="1"/>
          </p:cNvSpPr>
          <p:nvPr>
            <p:ph type="title"/>
          </p:nvPr>
        </p:nvSpPr>
        <p:spPr>
          <a:prstGeom prst="rect">
            <a:avLst/>
          </a:prstGeom>
        </p:spPr>
        <p:txBody>
          <a:bodyPr/>
          <a:lstStyle/>
          <a:p>
            <a:r>
              <a:rPr dirty="0"/>
              <a:t>演習</a:t>
            </a:r>
            <a:r>
              <a:rPr lang="en-US" dirty="0"/>
              <a:t>6</a:t>
            </a:r>
            <a:r>
              <a:rPr dirty="0"/>
              <a:t>: </a:t>
            </a:r>
            <a:r>
              <a:rPr dirty="0" err="1"/>
              <a:t>Sel’kovモデルの固定点の分類</a:t>
            </a:r>
            <a:endParaRPr dirty="0"/>
          </a:p>
        </p:txBody>
      </p:sp>
      <p:sp>
        <p:nvSpPr>
          <p:cNvPr id="640" name="Sel’kovモデルのヤコビ行列の固有値を虚実・正負を調べ、固定点を分類しなさい(紙と鉛筆)。ただし、a=0.06, b=0.6とする。…">
            <a:extLst>
              <a:ext uri="{FF2B5EF4-FFF2-40B4-BE49-F238E27FC236}">
                <a16:creationId xmlns:a16="http://schemas.microsoft.com/office/drawing/2014/main" id="{FB72CC88-BFC0-F401-F2F5-D1302608A5D9}"/>
              </a:ext>
            </a:extLst>
          </p:cNvPr>
          <p:cNvSpPr txBox="1">
            <a:spLocks noGrp="1"/>
          </p:cNvSpPr>
          <p:nvPr>
            <p:ph type="body" idx="4294967295"/>
          </p:nvPr>
        </p:nvSpPr>
        <p:spPr>
          <a:xfrm>
            <a:off x="1108362" y="1821873"/>
            <a:ext cx="10210801" cy="2473036"/>
          </a:xfrm>
          <a:prstGeom prst="rect">
            <a:avLst/>
          </a:prstGeom>
        </p:spPr>
        <p:txBody>
          <a:bodyPr>
            <a:noAutofit/>
          </a:bodyPr>
          <a:lstStyle/>
          <a:p>
            <a:pPr marL="544424" indent="-514350" defTabSz="300736">
              <a:lnSpc>
                <a:spcPct val="90000"/>
              </a:lnSpc>
              <a:spcBef>
                <a:spcPts val="1200"/>
              </a:spcBef>
              <a:buClr>
                <a:srgbClr val="000000"/>
              </a:buClr>
              <a:buSzPct val="100000"/>
              <a:buFont typeface="+mj-lt"/>
              <a:buAutoNum type="arabicPeriod"/>
              <a:defRPr sz="1332"/>
            </a:pPr>
            <a:r>
              <a:rPr sz="2800" dirty="0" err="1"/>
              <a:t>Sel’kovモデルのヤコビ行列の固有値を虚実・正負を調べ、固定点を分類しなさい。ただし、a</a:t>
            </a:r>
            <a:r>
              <a:rPr sz="2800" dirty="0"/>
              <a:t>=0.06, b=0.6とする。</a:t>
            </a:r>
            <a:endParaRPr lang="en-US" sz="2800" dirty="0"/>
          </a:p>
          <a:p>
            <a:pPr marL="544424" indent="-514350" defTabSz="300736">
              <a:lnSpc>
                <a:spcPct val="90000"/>
              </a:lnSpc>
              <a:spcBef>
                <a:spcPts val="1200"/>
              </a:spcBef>
              <a:buClr>
                <a:srgbClr val="000000"/>
              </a:buClr>
              <a:buSzPct val="100000"/>
              <a:buFont typeface="+mj-lt"/>
              <a:buAutoNum type="arabicPeriod"/>
              <a:defRPr sz="1332"/>
            </a:pPr>
            <a:endParaRPr lang="en-US" altLang="ja-JP" sz="2800" dirty="0"/>
          </a:p>
          <a:p>
            <a:pPr marL="544424" indent="-514350" defTabSz="300736">
              <a:lnSpc>
                <a:spcPct val="90000"/>
              </a:lnSpc>
              <a:spcBef>
                <a:spcPts val="1200"/>
              </a:spcBef>
              <a:buClr>
                <a:srgbClr val="000000"/>
              </a:buClr>
              <a:buSzPct val="100000"/>
              <a:buFont typeface="+mj-lt"/>
              <a:buAutoNum type="arabicPeriod"/>
              <a:defRPr sz="1332"/>
            </a:pPr>
            <a:r>
              <a:rPr lang="ja-JP" altLang="en-US" sz="2800"/>
              <a:t>この固定点は安定か、それとも不安定か答えなさい。</a:t>
            </a:r>
            <a:endParaRPr sz="2800" dirty="0"/>
          </a:p>
          <a:p>
            <a:pPr marL="283819" indent="-253745" defTabSz="300736">
              <a:lnSpc>
                <a:spcPct val="90000"/>
              </a:lnSpc>
              <a:spcBef>
                <a:spcPts val="1200"/>
              </a:spcBef>
              <a:buClr>
                <a:srgbClr val="000000"/>
              </a:buClr>
              <a:buSzPct val="100000"/>
              <a:buFont typeface="Arial"/>
              <a:defRPr sz="1776"/>
            </a:pPr>
            <a:endParaRPr sz="2800" dirty="0"/>
          </a:p>
          <a:p>
            <a:pPr marL="283819" indent="-253745" defTabSz="300736">
              <a:lnSpc>
                <a:spcPct val="90000"/>
              </a:lnSpc>
              <a:spcBef>
                <a:spcPts val="1200"/>
              </a:spcBef>
              <a:buClr>
                <a:srgbClr val="000000"/>
              </a:buClr>
              <a:buSzPct val="100000"/>
              <a:buFont typeface="Arial"/>
              <a:defRPr sz="1776"/>
            </a:pPr>
            <a:endParaRPr sz="2800" dirty="0"/>
          </a:p>
        </p:txBody>
      </p:sp>
    </p:spTree>
    <p:extLst>
      <p:ext uri="{BB962C8B-B14F-4D97-AF65-F5344CB8AC3E}">
        <p14:creationId xmlns:p14="http://schemas.microsoft.com/office/powerpoint/2010/main" val="2961875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091C5-63BC-A413-814C-BAFDF5D8338D}"/>
            </a:ext>
          </a:extLst>
        </p:cNvPr>
        <p:cNvGrpSpPr/>
        <p:nvPr/>
      </p:nvGrpSpPr>
      <p:grpSpPr>
        <a:xfrm>
          <a:off x="0" y="0"/>
          <a:ext cx="0" cy="0"/>
          <a:chOff x="0" y="0"/>
          <a:chExt cx="0" cy="0"/>
        </a:xfrm>
      </p:grpSpPr>
      <p:sp>
        <p:nvSpPr>
          <p:cNvPr id="709" name="固定点を回る周期解の正体">
            <a:extLst>
              <a:ext uri="{FF2B5EF4-FFF2-40B4-BE49-F238E27FC236}">
                <a16:creationId xmlns:a16="http://schemas.microsoft.com/office/drawing/2014/main" id="{5E043FE4-CCB8-BED2-140E-13D89FE37229}"/>
              </a:ext>
            </a:extLst>
          </p:cNvPr>
          <p:cNvSpPr txBox="1">
            <a:spLocks noGrp="1"/>
          </p:cNvSpPr>
          <p:nvPr>
            <p:ph type="title"/>
          </p:nvPr>
        </p:nvSpPr>
        <p:spPr>
          <a:prstGeom prst="rect">
            <a:avLst/>
          </a:prstGeom>
        </p:spPr>
        <p:txBody>
          <a:bodyPr/>
          <a:lstStyle/>
          <a:p>
            <a:r>
              <a:t>固定点を回る周期解の正体</a:t>
            </a:r>
          </a:p>
        </p:txBody>
      </p:sp>
      <p:sp>
        <p:nvSpPr>
          <p:cNvPr id="688" name="リミットサイクル (limit cycle)…">
            <a:extLst>
              <a:ext uri="{FF2B5EF4-FFF2-40B4-BE49-F238E27FC236}">
                <a16:creationId xmlns:a16="http://schemas.microsoft.com/office/drawing/2014/main" id="{8207D5BF-4BDE-9329-333B-88BC8266A278}"/>
              </a:ext>
            </a:extLst>
          </p:cNvPr>
          <p:cNvSpPr txBox="1">
            <a:spLocks noGrp="1"/>
          </p:cNvSpPr>
          <p:nvPr>
            <p:ph type="body" idx="4294967295"/>
          </p:nvPr>
        </p:nvSpPr>
        <p:spPr>
          <a:xfrm>
            <a:off x="247650" y="1400175"/>
            <a:ext cx="8575670" cy="5351463"/>
          </a:xfrm>
          <a:prstGeom prst="rect">
            <a:avLst/>
          </a:prstGeom>
        </p:spPr>
        <p:txBody>
          <a:bodyPr>
            <a:noAutofit/>
          </a:bodyPr>
          <a:lstStyle/>
          <a:p>
            <a:pPr marL="268477" indent="-240029" defTabSz="284479">
              <a:lnSpc>
                <a:spcPct val="90000"/>
              </a:lnSpc>
              <a:spcBef>
                <a:spcPts val="1100"/>
              </a:spcBef>
              <a:buClr>
                <a:srgbClr val="000000"/>
              </a:buClr>
              <a:buSzPct val="100000"/>
              <a:buFont typeface="Arial"/>
              <a:defRPr sz="1679"/>
            </a:pPr>
            <a:r>
              <a:rPr sz="2800" dirty="0" err="1"/>
              <a:t>リミットサイクル</a:t>
            </a:r>
            <a:r>
              <a:rPr sz="2800" dirty="0"/>
              <a:t> (limit cycle)</a:t>
            </a:r>
          </a:p>
          <a:p>
            <a:pPr marL="548512" lvl="1" indent="-200025" defTabSz="284479">
              <a:lnSpc>
                <a:spcPct val="90000"/>
              </a:lnSpc>
              <a:spcBef>
                <a:spcPts val="1100"/>
              </a:spcBef>
              <a:buClr>
                <a:srgbClr val="000000"/>
              </a:buClr>
              <a:buSzPct val="100000"/>
              <a:buFont typeface="Arial"/>
              <a:defRPr sz="1679"/>
            </a:pPr>
            <a:r>
              <a:rPr sz="2400" dirty="0" err="1"/>
              <a:t>閉曲線になっている解軌道</a:t>
            </a:r>
            <a:r>
              <a:rPr sz="2400" dirty="0"/>
              <a:t>(trajectory)</a:t>
            </a:r>
            <a:r>
              <a:rPr sz="2400" dirty="0" err="1"/>
              <a:t>のこと</a:t>
            </a:r>
            <a:endParaRPr sz="2400" dirty="0"/>
          </a:p>
          <a:p>
            <a:pPr marL="548512" lvl="1" indent="-200025" defTabSz="284479">
              <a:lnSpc>
                <a:spcPct val="90000"/>
              </a:lnSpc>
              <a:spcBef>
                <a:spcPts val="1100"/>
              </a:spcBef>
              <a:buClr>
                <a:srgbClr val="000000"/>
              </a:buClr>
              <a:buSzPct val="100000"/>
              <a:buFont typeface="Arial"/>
              <a:defRPr sz="1679"/>
            </a:pPr>
            <a:r>
              <a:rPr sz="2400" dirty="0" err="1"/>
              <a:t>非線形現象</a:t>
            </a:r>
            <a:endParaRPr sz="2400" dirty="0"/>
          </a:p>
          <a:p>
            <a:pPr marL="548512" lvl="1" indent="-200025" defTabSz="284479">
              <a:lnSpc>
                <a:spcPct val="90000"/>
              </a:lnSpc>
              <a:spcBef>
                <a:spcPts val="1100"/>
              </a:spcBef>
              <a:buClr>
                <a:srgbClr val="000000"/>
              </a:buClr>
              <a:buSzPct val="100000"/>
              <a:buFont typeface="Arial"/>
              <a:defRPr sz="1679"/>
            </a:pPr>
            <a:r>
              <a:rPr sz="2400" dirty="0"/>
              <a:t>Center (</a:t>
            </a:r>
            <a:r>
              <a:rPr sz="2400" dirty="0" err="1"/>
              <a:t>純虚数の固有値</a:t>
            </a:r>
            <a:r>
              <a:rPr sz="2400" dirty="0"/>
              <a:t>) </a:t>
            </a:r>
            <a:r>
              <a:rPr sz="2400" dirty="0" err="1"/>
              <a:t>とは異なる</a:t>
            </a:r>
            <a:endParaRPr sz="2400" dirty="0"/>
          </a:p>
          <a:p>
            <a:pPr marL="268477" indent="-240029" defTabSz="284479">
              <a:lnSpc>
                <a:spcPct val="90000"/>
              </a:lnSpc>
              <a:spcBef>
                <a:spcPts val="1100"/>
              </a:spcBef>
              <a:buClr>
                <a:srgbClr val="000000"/>
              </a:buClr>
              <a:buSzPct val="100000"/>
              <a:buFont typeface="Arial"/>
              <a:defRPr sz="1679"/>
            </a:pPr>
            <a:endParaRPr sz="2800" dirty="0"/>
          </a:p>
          <a:p>
            <a:pPr marL="268477" indent="-240029" defTabSz="284479">
              <a:lnSpc>
                <a:spcPct val="90000"/>
              </a:lnSpc>
              <a:spcBef>
                <a:spcPts val="1100"/>
              </a:spcBef>
              <a:buClr>
                <a:srgbClr val="000000"/>
              </a:buClr>
              <a:buSzPct val="100000"/>
              <a:buFont typeface="Arial"/>
              <a:defRPr sz="1679"/>
            </a:pPr>
            <a:r>
              <a:rPr sz="2800" dirty="0" err="1"/>
              <a:t>隣接する軌道は閉曲線ではない</a:t>
            </a:r>
            <a:endParaRPr sz="2800" dirty="0"/>
          </a:p>
          <a:p>
            <a:pPr marL="548512" lvl="1" indent="-200025" defTabSz="284479">
              <a:lnSpc>
                <a:spcPct val="90000"/>
              </a:lnSpc>
              <a:spcBef>
                <a:spcPts val="1100"/>
              </a:spcBef>
              <a:buClr>
                <a:srgbClr val="000000"/>
              </a:buClr>
              <a:buSzPct val="100000"/>
              <a:buFont typeface="Arial"/>
              <a:defRPr sz="1679"/>
            </a:pPr>
            <a:r>
              <a:rPr sz="2400" dirty="0" err="1"/>
              <a:t>Centerとはこの点で異なる</a:t>
            </a:r>
            <a:endParaRPr sz="2400" dirty="0"/>
          </a:p>
          <a:p>
            <a:pPr marL="268477" indent="-240029" defTabSz="284479">
              <a:lnSpc>
                <a:spcPct val="90000"/>
              </a:lnSpc>
              <a:spcBef>
                <a:spcPts val="1100"/>
              </a:spcBef>
              <a:buClr>
                <a:srgbClr val="000000"/>
              </a:buClr>
              <a:buSzPct val="100000"/>
              <a:buFont typeface="Arial"/>
              <a:defRPr sz="1679"/>
            </a:pPr>
            <a:endParaRPr sz="2800" dirty="0"/>
          </a:p>
          <a:p>
            <a:pPr marL="268477" indent="-240029" defTabSz="284479">
              <a:lnSpc>
                <a:spcPct val="90000"/>
              </a:lnSpc>
              <a:spcBef>
                <a:spcPts val="1100"/>
              </a:spcBef>
              <a:buClr>
                <a:srgbClr val="000000"/>
              </a:buClr>
              <a:buSzPct val="100000"/>
              <a:buFont typeface="Arial"/>
              <a:defRPr sz="1679"/>
            </a:pPr>
            <a:r>
              <a:rPr sz="2800" dirty="0" err="1"/>
              <a:t>生物学</a:t>
            </a:r>
            <a:r>
              <a:rPr lang="ja-JP" altLang="en-US" sz="2800"/>
              <a:t>では</a:t>
            </a:r>
            <a:r>
              <a:rPr sz="2800" dirty="0" err="1"/>
              <a:t>振動現象</a:t>
            </a:r>
            <a:r>
              <a:rPr lang="en-US" sz="2800" dirty="0"/>
              <a:t>、</a:t>
            </a:r>
            <a:r>
              <a:rPr lang="ja-JP" altLang="en-US" sz="2800"/>
              <a:t>マクロ経済学では景気循環</a:t>
            </a:r>
            <a:endParaRPr sz="2800" dirty="0"/>
          </a:p>
        </p:txBody>
      </p:sp>
      <p:sp>
        <p:nvSpPr>
          <p:cNvPr id="689" name="楕円">
            <a:extLst>
              <a:ext uri="{FF2B5EF4-FFF2-40B4-BE49-F238E27FC236}">
                <a16:creationId xmlns:a16="http://schemas.microsoft.com/office/drawing/2014/main" id="{1C16A06B-FB9B-710B-221D-8D109F9FC30C}"/>
              </a:ext>
            </a:extLst>
          </p:cNvPr>
          <p:cNvSpPr/>
          <p:nvPr/>
        </p:nvSpPr>
        <p:spPr>
          <a:xfrm>
            <a:off x="8809038" y="4162426"/>
            <a:ext cx="2520951" cy="1895475"/>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0" name="楕円">
            <a:extLst>
              <a:ext uri="{FF2B5EF4-FFF2-40B4-BE49-F238E27FC236}">
                <a16:creationId xmlns:a16="http://schemas.microsoft.com/office/drawing/2014/main" id="{47B7A868-C681-1067-2A87-6840537D8D39}"/>
              </a:ext>
            </a:extLst>
          </p:cNvPr>
          <p:cNvSpPr/>
          <p:nvPr/>
        </p:nvSpPr>
        <p:spPr>
          <a:xfrm>
            <a:off x="9024937" y="4400550"/>
            <a:ext cx="2033588" cy="1441450"/>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1" name="楕円">
            <a:extLst>
              <a:ext uri="{FF2B5EF4-FFF2-40B4-BE49-F238E27FC236}">
                <a16:creationId xmlns:a16="http://schemas.microsoft.com/office/drawing/2014/main" id="{35245687-2C78-9073-24D2-327CA75F644A}"/>
              </a:ext>
            </a:extLst>
          </p:cNvPr>
          <p:cNvSpPr/>
          <p:nvPr/>
        </p:nvSpPr>
        <p:spPr>
          <a:xfrm>
            <a:off x="9282113" y="4643438"/>
            <a:ext cx="1543051" cy="9826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2" name="三角形">
            <a:extLst>
              <a:ext uri="{FF2B5EF4-FFF2-40B4-BE49-F238E27FC236}">
                <a16:creationId xmlns:a16="http://schemas.microsoft.com/office/drawing/2014/main" id="{100CA7C0-8B78-2DDE-4810-FF8C50419E2D}"/>
              </a:ext>
            </a:extLst>
          </p:cNvPr>
          <p:cNvSpPr/>
          <p:nvPr/>
        </p:nvSpPr>
        <p:spPr>
          <a:xfrm rot="16200000">
            <a:off x="9961021" y="5694958"/>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3" name="三角形">
            <a:extLst>
              <a:ext uri="{FF2B5EF4-FFF2-40B4-BE49-F238E27FC236}">
                <a16:creationId xmlns:a16="http://schemas.microsoft.com/office/drawing/2014/main" id="{38A89E71-5B00-4DB7-B949-873EC08BDE9C}"/>
              </a:ext>
            </a:extLst>
          </p:cNvPr>
          <p:cNvSpPr/>
          <p:nvPr/>
        </p:nvSpPr>
        <p:spPr>
          <a:xfrm rot="16200000">
            <a:off x="9961021" y="5910858"/>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4" name="三角形">
            <a:extLst>
              <a:ext uri="{FF2B5EF4-FFF2-40B4-BE49-F238E27FC236}">
                <a16:creationId xmlns:a16="http://schemas.microsoft.com/office/drawing/2014/main" id="{7891CF30-7B9E-C857-8E5D-1F8168A5893A}"/>
              </a:ext>
            </a:extLst>
          </p:cNvPr>
          <p:cNvSpPr/>
          <p:nvPr/>
        </p:nvSpPr>
        <p:spPr>
          <a:xfrm rot="16200000">
            <a:off x="9961021" y="5479058"/>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5" name="円形">
            <a:extLst>
              <a:ext uri="{FF2B5EF4-FFF2-40B4-BE49-F238E27FC236}">
                <a16:creationId xmlns:a16="http://schemas.microsoft.com/office/drawing/2014/main" id="{6B4FE9E4-D04E-973A-F363-BF5D51748D62}"/>
              </a:ext>
            </a:extLst>
          </p:cNvPr>
          <p:cNvSpPr/>
          <p:nvPr/>
        </p:nvSpPr>
        <p:spPr>
          <a:xfrm>
            <a:off x="9961562" y="5049837"/>
            <a:ext cx="144464" cy="144464"/>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6" name="Center">
            <a:extLst>
              <a:ext uri="{FF2B5EF4-FFF2-40B4-BE49-F238E27FC236}">
                <a16:creationId xmlns:a16="http://schemas.microsoft.com/office/drawing/2014/main" id="{E22E3BBA-C6D1-6336-1737-7EA1213724F6}"/>
              </a:ext>
            </a:extLst>
          </p:cNvPr>
          <p:cNvSpPr/>
          <p:nvPr/>
        </p:nvSpPr>
        <p:spPr>
          <a:xfrm>
            <a:off x="9611994" y="6345238"/>
            <a:ext cx="804492"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Center</a:t>
            </a:r>
          </a:p>
        </p:txBody>
      </p:sp>
      <p:sp>
        <p:nvSpPr>
          <p:cNvPr id="697" name="楕円">
            <a:extLst>
              <a:ext uri="{FF2B5EF4-FFF2-40B4-BE49-F238E27FC236}">
                <a16:creationId xmlns:a16="http://schemas.microsoft.com/office/drawing/2014/main" id="{8AD35AEC-FEF9-1782-A815-AC2681FC8D61}"/>
              </a:ext>
            </a:extLst>
          </p:cNvPr>
          <p:cNvSpPr/>
          <p:nvPr/>
        </p:nvSpPr>
        <p:spPr>
          <a:xfrm>
            <a:off x="8809038" y="1628776"/>
            <a:ext cx="2590801" cy="1800225"/>
          </a:xfrm>
          <a:prstGeom prst="ellipse">
            <a:avLst/>
          </a:prstGeom>
          <a:ln w="25400">
            <a:solidFill>
              <a:srgbClr val="FF9292"/>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grpSp>
        <p:nvGrpSpPr>
          <p:cNvPr id="701" name="グループ">
            <a:extLst>
              <a:ext uri="{FF2B5EF4-FFF2-40B4-BE49-F238E27FC236}">
                <a16:creationId xmlns:a16="http://schemas.microsoft.com/office/drawing/2014/main" id="{40E3B3B7-6069-DAC6-1D4D-2DC7C9BFD413}"/>
              </a:ext>
            </a:extLst>
          </p:cNvPr>
          <p:cNvGrpSpPr/>
          <p:nvPr/>
        </p:nvGrpSpPr>
        <p:grpSpPr>
          <a:xfrm>
            <a:off x="9169393" y="1917696"/>
            <a:ext cx="1873264" cy="1295179"/>
            <a:chOff x="0" y="0"/>
            <a:chExt cx="1873262" cy="1295177"/>
          </a:xfrm>
        </p:grpSpPr>
        <p:sp>
          <p:nvSpPr>
            <p:cNvPr id="698" name="線">
              <a:extLst>
                <a:ext uri="{FF2B5EF4-FFF2-40B4-BE49-F238E27FC236}">
                  <a16:creationId xmlns:a16="http://schemas.microsoft.com/office/drawing/2014/main" id="{360CC53D-F70F-BCCD-DFFD-561FB593B858}"/>
                </a:ext>
              </a:extLst>
            </p:cNvPr>
            <p:cNvSpPr/>
            <p:nvPr/>
          </p:nvSpPr>
          <p:spPr>
            <a:xfrm>
              <a:off x="0" y="-1"/>
              <a:ext cx="1873263" cy="1295179"/>
            </a:xfrm>
            <a:custGeom>
              <a:avLst/>
              <a:gdLst/>
              <a:ahLst/>
              <a:cxnLst>
                <a:cxn ang="0">
                  <a:pos x="wd2" y="hd2"/>
                </a:cxn>
                <a:cxn ang="5400000">
                  <a:pos x="wd2" y="hd2"/>
                </a:cxn>
                <a:cxn ang="10800000">
                  <a:pos x="wd2" y="hd2"/>
                </a:cxn>
                <a:cxn ang="16200000">
                  <a:pos x="wd2" y="hd2"/>
                </a:cxn>
              </a:cxnLst>
              <a:rect l="0" t="0" r="r" b="b"/>
              <a:pathLst>
                <a:path w="21296" h="21447" extrusionOk="0">
                  <a:moveTo>
                    <a:pt x="10366" y="21447"/>
                  </a:moveTo>
                  <a:lnTo>
                    <a:pt x="10366" y="21447"/>
                  </a:lnTo>
                  <a:cubicBezTo>
                    <a:pt x="4487" y="21290"/>
                    <a:pt x="-152" y="16363"/>
                    <a:pt x="4" y="10442"/>
                  </a:cubicBezTo>
                  <a:cubicBezTo>
                    <a:pt x="159" y="4520"/>
                    <a:pt x="5051" y="-153"/>
                    <a:pt x="10930" y="4"/>
                  </a:cubicBezTo>
                  <a:cubicBezTo>
                    <a:pt x="16809" y="161"/>
                    <a:pt x="21448" y="5088"/>
                    <a:pt x="21292" y="11009"/>
                  </a:cubicBezTo>
                  <a:cubicBezTo>
                    <a:pt x="21283" y="11358"/>
                    <a:pt x="21257" y="11707"/>
                    <a:pt x="21214" y="12053"/>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99" name="線">
              <a:extLst>
                <a:ext uri="{FF2B5EF4-FFF2-40B4-BE49-F238E27FC236}">
                  <a16:creationId xmlns:a16="http://schemas.microsoft.com/office/drawing/2014/main" id="{18CB217C-29A4-0333-956C-4E96618A0934}"/>
                </a:ext>
              </a:extLst>
            </p:cNvPr>
            <p:cNvSpPr/>
            <p:nvPr/>
          </p:nvSpPr>
          <p:spPr>
            <a:xfrm>
              <a:off x="1016568" y="360361"/>
              <a:ext cx="496341" cy="358783"/>
            </a:xfrm>
            <a:custGeom>
              <a:avLst/>
              <a:gdLst/>
              <a:ahLst/>
              <a:cxnLst>
                <a:cxn ang="0">
                  <a:pos x="wd2" y="hd2"/>
                </a:cxn>
                <a:cxn ang="5400000">
                  <a:pos x="wd2" y="hd2"/>
                </a:cxn>
                <a:cxn ang="10800000">
                  <a:pos x="wd2" y="hd2"/>
                </a:cxn>
                <a:cxn ang="16200000">
                  <a:pos x="wd2" y="hd2"/>
                </a:cxn>
              </a:cxnLst>
              <a:rect l="0" t="0" r="r" b="b"/>
              <a:pathLst>
                <a:path w="20982" h="21263" extrusionOk="0">
                  <a:moveTo>
                    <a:pt x="0" y="19"/>
                  </a:moveTo>
                  <a:lnTo>
                    <a:pt x="0" y="19"/>
                  </a:lnTo>
                  <a:cubicBezTo>
                    <a:pt x="10914" y="-332"/>
                    <a:pt x="20292" y="4135"/>
                    <a:pt x="20946" y="9995"/>
                  </a:cubicBezTo>
                  <a:cubicBezTo>
                    <a:pt x="21600" y="15856"/>
                    <a:pt x="13283" y="20892"/>
                    <a:pt x="2368" y="21244"/>
                  </a:cubicBezTo>
                  <a:cubicBezTo>
                    <a:pt x="1734" y="21264"/>
                    <a:pt x="1097" y="21268"/>
                    <a:pt x="462" y="21256"/>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700" name="線">
              <a:extLst>
                <a:ext uri="{FF2B5EF4-FFF2-40B4-BE49-F238E27FC236}">
                  <a16:creationId xmlns:a16="http://schemas.microsoft.com/office/drawing/2014/main" id="{50299EE0-53C6-40E3-239D-24AC8A4806DF}"/>
                </a:ext>
              </a:extLst>
            </p:cNvPr>
            <p:cNvSpPr/>
            <p:nvPr/>
          </p:nvSpPr>
          <p:spPr>
            <a:xfrm>
              <a:off x="360252" y="362130"/>
              <a:ext cx="1502996" cy="645988"/>
            </a:xfrm>
            <a:custGeom>
              <a:avLst/>
              <a:gdLst/>
              <a:ahLst/>
              <a:cxnLst>
                <a:cxn ang="0">
                  <a:pos x="wd2" y="hd2"/>
                </a:cxn>
                <a:cxn ang="5400000">
                  <a:pos x="wd2" y="hd2"/>
                </a:cxn>
                <a:cxn ang="10800000">
                  <a:pos x="wd2" y="hd2"/>
                </a:cxn>
                <a:cxn ang="16200000">
                  <a:pos x="wd2" y="hd2"/>
                </a:cxn>
              </a:cxnLst>
              <a:rect l="0" t="0" r="r" b="b"/>
              <a:pathLst>
                <a:path w="20803" h="20806" extrusionOk="0">
                  <a:moveTo>
                    <a:pt x="20803" y="12065"/>
                  </a:moveTo>
                  <a:lnTo>
                    <a:pt x="20803" y="12065"/>
                  </a:lnTo>
                  <a:cubicBezTo>
                    <a:pt x="19865" y="17749"/>
                    <a:pt x="14480" y="21600"/>
                    <a:pt x="8774" y="20666"/>
                  </a:cubicBezTo>
                  <a:cubicBezTo>
                    <a:pt x="3068" y="19732"/>
                    <a:pt x="-797" y="14367"/>
                    <a:pt x="141" y="8682"/>
                  </a:cubicBezTo>
                  <a:cubicBezTo>
                    <a:pt x="905" y="4045"/>
                    <a:pt x="4689" y="490"/>
                    <a:pt x="9381" y="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grpSp>
      <p:sp>
        <p:nvSpPr>
          <p:cNvPr id="702" name="円形">
            <a:extLst>
              <a:ext uri="{FF2B5EF4-FFF2-40B4-BE49-F238E27FC236}">
                <a16:creationId xmlns:a16="http://schemas.microsoft.com/office/drawing/2014/main" id="{66864F98-8FAE-ADC0-842E-ABC890149116}"/>
              </a:ext>
            </a:extLst>
          </p:cNvPr>
          <p:cNvSpPr/>
          <p:nvPr/>
        </p:nvSpPr>
        <p:spPr>
          <a:xfrm>
            <a:off x="10042526" y="2565401"/>
            <a:ext cx="144463" cy="144463"/>
          </a:xfrm>
          <a:prstGeom prst="ellipse">
            <a:avLst/>
          </a:prstGeom>
          <a:ln w="254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3" name="三角形">
            <a:extLst>
              <a:ext uri="{FF2B5EF4-FFF2-40B4-BE49-F238E27FC236}">
                <a16:creationId xmlns:a16="http://schemas.microsoft.com/office/drawing/2014/main" id="{CD816D84-1A83-9C29-E638-3B02D46B5851}"/>
              </a:ext>
            </a:extLst>
          </p:cNvPr>
          <p:cNvSpPr/>
          <p:nvPr/>
        </p:nvSpPr>
        <p:spPr>
          <a:xfrm rot="5400000">
            <a:off x="10032061" y="3067646"/>
            <a:ext cx="144356"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4" name="Limit cycle">
            <a:extLst>
              <a:ext uri="{FF2B5EF4-FFF2-40B4-BE49-F238E27FC236}">
                <a16:creationId xmlns:a16="http://schemas.microsoft.com/office/drawing/2014/main" id="{4C1AC549-6B1E-C000-E4A5-FC5C20D1C75E}"/>
              </a:ext>
            </a:extLst>
          </p:cNvPr>
          <p:cNvSpPr/>
          <p:nvPr/>
        </p:nvSpPr>
        <p:spPr>
          <a:xfrm>
            <a:off x="9261158" y="3573463"/>
            <a:ext cx="1194297"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Limit cycle</a:t>
            </a:r>
          </a:p>
        </p:txBody>
      </p:sp>
      <p:sp>
        <p:nvSpPr>
          <p:cNvPr id="705" name="線">
            <a:extLst>
              <a:ext uri="{FF2B5EF4-FFF2-40B4-BE49-F238E27FC236}">
                <a16:creationId xmlns:a16="http://schemas.microsoft.com/office/drawing/2014/main" id="{B17CD833-14E4-45CE-D53D-28D28A333AE0}"/>
              </a:ext>
            </a:extLst>
          </p:cNvPr>
          <p:cNvSpPr/>
          <p:nvPr/>
        </p:nvSpPr>
        <p:spPr>
          <a:xfrm>
            <a:off x="8809031" y="1447764"/>
            <a:ext cx="797544" cy="709884"/>
          </a:xfrm>
          <a:custGeom>
            <a:avLst/>
            <a:gdLst/>
            <a:ahLst/>
            <a:cxnLst>
              <a:cxn ang="0">
                <a:pos x="wd2" y="hd2"/>
              </a:cxn>
              <a:cxn ang="5400000">
                <a:pos x="wd2" y="hd2"/>
              </a:cxn>
              <a:cxn ang="10800000">
                <a:pos x="wd2" y="hd2"/>
              </a:cxn>
              <a:cxn ang="16200000">
                <a:pos x="wd2" y="hd2"/>
              </a:cxn>
            </a:cxnLst>
            <a:rect l="0" t="0" r="r" b="b"/>
            <a:pathLst>
              <a:path w="21148" h="21600" extrusionOk="0">
                <a:moveTo>
                  <a:pt x="19" y="21600"/>
                </a:moveTo>
                <a:lnTo>
                  <a:pt x="19" y="21600"/>
                </a:lnTo>
                <a:cubicBezTo>
                  <a:pt x="-452" y="11824"/>
                  <a:pt x="8171" y="3008"/>
                  <a:pt x="21148" y="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6" name="三角形">
            <a:extLst>
              <a:ext uri="{FF2B5EF4-FFF2-40B4-BE49-F238E27FC236}">
                <a16:creationId xmlns:a16="http://schemas.microsoft.com/office/drawing/2014/main" id="{859EB887-3CD7-DA49-FAD1-D8D9E056F5C0}"/>
              </a:ext>
            </a:extLst>
          </p:cNvPr>
          <p:cNvSpPr/>
          <p:nvPr/>
        </p:nvSpPr>
        <p:spPr>
          <a:xfrm rot="10800000">
            <a:off x="8734584" y="2060178"/>
            <a:ext cx="145732" cy="289322"/>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7" name="線">
            <a:extLst>
              <a:ext uri="{FF2B5EF4-FFF2-40B4-BE49-F238E27FC236}">
                <a16:creationId xmlns:a16="http://schemas.microsoft.com/office/drawing/2014/main" id="{C7EC3296-0B4A-BCCA-A6B2-FA43C6CEE532}"/>
              </a:ext>
            </a:extLst>
          </p:cNvPr>
          <p:cNvSpPr/>
          <p:nvPr/>
        </p:nvSpPr>
        <p:spPr>
          <a:xfrm rot="10800000">
            <a:off x="10602300" y="2828690"/>
            <a:ext cx="797545" cy="709885"/>
          </a:xfrm>
          <a:custGeom>
            <a:avLst/>
            <a:gdLst/>
            <a:ahLst/>
            <a:cxnLst>
              <a:cxn ang="0">
                <a:pos x="wd2" y="hd2"/>
              </a:cxn>
              <a:cxn ang="5400000">
                <a:pos x="wd2" y="hd2"/>
              </a:cxn>
              <a:cxn ang="10800000">
                <a:pos x="wd2" y="hd2"/>
              </a:cxn>
              <a:cxn ang="16200000">
                <a:pos x="wd2" y="hd2"/>
              </a:cxn>
            </a:cxnLst>
            <a:rect l="0" t="0" r="r" b="b"/>
            <a:pathLst>
              <a:path w="21148" h="21600" extrusionOk="0">
                <a:moveTo>
                  <a:pt x="19" y="21600"/>
                </a:moveTo>
                <a:lnTo>
                  <a:pt x="19" y="21600"/>
                </a:lnTo>
                <a:cubicBezTo>
                  <a:pt x="-452" y="11824"/>
                  <a:pt x="8171" y="3008"/>
                  <a:pt x="21148" y="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8" name="三角形">
            <a:extLst>
              <a:ext uri="{FF2B5EF4-FFF2-40B4-BE49-F238E27FC236}">
                <a16:creationId xmlns:a16="http://schemas.microsoft.com/office/drawing/2014/main" id="{5AF9B324-9629-E1C3-0A3C-E18260E7B39C}"/>
              </a:ext>
            </a:extLst>
          </p:cNvPr>
          <p:cNvSpPr/>
          <p:nvPr/>
        </p:nvSpPr>
        <p:spPr>
          <a:xfrm>
            <a:off x="11326973" y="2563812"/>
            <a:ext cx="145731" cy="288132"/>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Tree>
    <p:extLst>
      <p:ext uri="{BB962C8B-B14F-4D97-AF65-F5344CB8AC3E}">
        <p14:creationId xmlns:p14="http://schemas.microsoft.com/office/powerpoint/2010/main" val="3412454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4028A-A88D-570F-34B3-671055B9D65D}"/>
            </a:ext>
          </a:extLst>
        </p:cNvPr>
        <p:cNvGrpSpPr/>
        <p:nvPr/>
      </p:nvGrpSpPr>
      <p:grpSpPr>
        <a:xfrm>
          <a:off x="0" y="0"/>
          <a:ext cx="0" cy="0"/>
          <a:chOff x="0" y="0"/>
          <a:chExt cx="0" cy="0"/>
        </a:xfrm>
      </p:grpSpPr>
      <p:sp>
        <p:nvSpPr>
          <p:cNvPr id="723" name="Supercritical Hopf 分岐の定義">
            <a:extLst>
              <a:ext uri="{FF2B5EF4-FFF2-40B4-BE49-F238E27FC236}">
                <a16:creationId xmlns:a16="http://schemas.microsoft.com/office/drawing/2014/main" id="{5028B852-610B-B1F6-17B5-F4DF8AC9CAFC}"/>
              </a:ext>
            </a:extLst>
          </p:cNvPr>
          <p:cNvSpPr txBox="1">
            <a:spLocks noGrp="1"/>
          </p:cNvSpPr>
          <p:nvPr>
            <p:ph type="title"/>
          </p:nvPr>
        </p:nvSpPr>
        <p:spPr>
          <a:prstGeom prst="rect">
            <a:avLst/>
          </a:prstGeom>
        </p:spPr>
        <p:txBody>
          <a:bodyPr/>
          <a:lstStyle/>
          <a:p>
            <a:r>
              <a:rPr sz="3600" dirty="0"/>
              <a:t>Supercritical Hopf </a:t>
            </a:r>
            <a:r>
              <a:rPr sz="3600" dirty="0" err="1"/>
              <a:t>分岐</a:t>
            </a:r>
            <a:r>
              <a:rPr lang="ja-JP" altLang="en-US" sz="3600"/>
              <a:t>（以下「</a:t>
            </a:r>
            <a:r>
              <a:rPr lang="en-US" altLang="ja-JP" sz="3600" dirty="0"/>
              <a:t>Hopf </a:t>
            </a:r>
            <a:r>
              <a:rPr lang="ja-JP" altLang="en-US" sz="3600"/>
              <a:t>分岐」）</a:t>
            </a:r>
            <a:r>
              <a:rPr sz="3600" dirty="0" err="1"/>
              <a:t>の定義</a:t>
            </a:r>
            <a:endParaRPr sz="3600" dirty="0"/>
          </a:p>
        </p:txBody>
      </p:sp>
      <p:sp>
        <p:nvSpPr>
          <p:cNvPr id="711" name="互いに共役な複素固有値が虚軸を左から右に横切る…">
            <a:extLst>
              <a:ext uri="{FF2B5EF4-FFF2-40B4-BE49-F238E27FC236}">
                <a16:creationId xmlns:a16="http://schemas.microsoft.com/office/drawing/2014/main" id="{949AB8E8-150D-3DD9-A2FA-7E97FC35F316}"/>
              </a:ext>
            </a:extLst>
          </p:cNvPr>
          <p:cNvSpPr txBox="1">
            <a:spLocks noGrp="1"/>
          </p:cNvSpPr>
          <p:nvPr>
            <p:ph type="body" sz="quarter" idx="4294967295"/>
          </p:nvPr>
        </p:nvSpPr>
        <p:spPr>
          <a:xfrm>
            <a:off x="202306" y="1333235"/>
            <a:ext cx="8463162" cy="2792676"/>
          </a:xfrm>
          <a:prstGeom prst="rect">
            <a:avLst/>
          </a:prstGeom>
        </p:spPr>
        <p:txBody>
          <a:bodyPr>
            <a:noAutofit/>
          </a:bodyPr>
          <a:lstStyle/>
          <a:p>
            <a:pPr marL="383540">
              <a:buClr>
                <a:srgbClr val="000000"/>
              </a:buClr>
              <a:buSzPct val="100000"/>
              <a:buFont typeface="Arial"/>
            </a:pPr>
            <a:r>
              <a:rPr sz="2800" dirty="0" err="1"/>
              <a:t>互いに共役な複素固有値</a:t>
            </a:r>
            <a:r>
              <a:rPr lang="en-US" sz="2800" dirty="0"/>
              <a:t> </a:t>
            </a:r>
            <a:r>
              <a:rPr lang="en-US" sz="2800" i="1" dirty="0">
                <a:latin typeface="Times New Roman" panose="02020603050405020304" pitchFamily="18" charset="0"/>
                <a:cs typeface="Times New Roman" panose="02020603050405020304" pitchFamily="18" charset="0"/>
              </a:rPr>
              <a:t>a </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bi </a:t>
            </a:r>
            <a:r>
              <a:rPr sz="2800" dirty="0" err="1"/>
              <a:t>が</a:t>
            </a:r>
            <a:r>
              <a:rPr lang="ja-JP" altLang="en-US" sz="2800"/>
              <a:t>、複素平面上で</a:t>
            </a:r>
            <a:r>
              <a:rPr sz="2800" dirty="0" err="1"/>
              <a:t>虚軸を左から右に横切る</a:t>
            </a:r>
            <a:endParaRPr sz="2800" dirty="0"/>
          </a:p>
          <a:p>
            <a:pPr marL="383540">
              <a:buClr>
                <a:srgbClr val="000000"/>
              </a:buClr>
              <a:buSzPct val="100000"/>
              <a:buFont typeface="Arial"/>
            </a:pPr>
            <a:endParaRPr lang="en-US" sz="2800" dirty="0"/>
          </a:p>
          <a:p>
            <a:pPr marL="383540">
              <a:buClr>
                <a:srgbClr val="000000"/>
              </a:buClr>
              <a:buSzPct val="100000"/>
              <a:buFont typeface="Arial"/>
            </a:pPr>
            <a:r>
              <a:rPr sz="2800" dirty="0" err="1"/>
              <a:t>左半平面は</a:t>
            </a:r>
            <a:r>
              <a:rPr lang="ja-JP" altLang="en-US" sz="2800"/>
              <a:t>固有値の実部が負なので</a:t>
            </a:r>
            <a:r>
              <a:rPr sz="2800" dirty="0" err="1"/>
              <a:t>安定</a:t>
            </a:r>
            <a:endParaRPr lang="en-US" sz="2800" dirty="0"/>
          </a:p>
          <a:p>
            <a:pPr marL="383540">
              <a:buClr>
                <a:srgbClr val="000000"/>
              </a:buClr>
              <a:buSzPct val="100000"/>
              <a:buFont typeface="Arial"/>
            </a:pPr>
            <a:endParaRPr lang="en-US" sz="2800" dirty="0"/>
          </a:p>
          <a:p>
            <a:pPr marL="383540">
              <a:buClr>
                <a:srgbClr val="000000"/>
              </a:buClr>
              <a:buSzPct val="100000"/>
              <a:buFont typeface="Arial"/>
            </a:pPr>
            <a:r>
              <a:rPr lang="ja-JP" altLang="en-US" sz="2800">
                <a:solidFill>
                  <a:srgbClr val="C00000"/>
                </a:solidFill>
              </a:rPr>
              <a:t>分岐</a:t>
            </a:r>
            <a:r>
              <a:rPr lang="ja-JP" altLang="en-US" sz="2800"/>
              <a:t>の仕組み</a:t>
            </a:r>
            <a:endParaRPr sz="2800" dirty="0"/>
          </a:p>
        </p:txBody>
      </p:sp>
      <p:sp>
        <p:nvSpPr>
          <p:cNvPr id="712" name="線">
            <a:extLst>
              <a:ext uri="{FF2B5EF4-FFF2-40B4-BE49-F238E27FC236}">
                <a16:creationId xmlns:a16="http://schemas.microsoft.com/office/drawing/2014/main" id="{EED94248-2D7F-2A53-E0A5-15265EE5710C}"/>
              </a:ext>
            </a:extLst>
          </p:cNvPr>
          <p:cNvSpPr/>
          <p:nvPr/>
        </p:nvSpPr>
        <p:spPr>
          <a:xfrm>
            <a:off x="8881370" y="3058102"/>
            <a:ext cx="2089151"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3" name="線">
            <a:extLst>
              <a:ext uri="{FF2B5EF4-FFF2-40B4-BE49-F238E27FC236}">
                <a16:creationId xmlns:a16="http://schemas.microsoft.com/office/drawing/2014/main" id="{C2956B55-4B8D-F639-CCD1-115C745CDEB5}"/>
              </a:ext>
            </a:extLst>
          </p:cNvPr>
          <p:cNvSpPr/>
          <p:nvPr/>
        </p:nvSpPr>
        <p:spPr>
          <a:xfrm>
            <a:off x="10033894" y="1834139"/>
            <a:ext cx="1588" cy="23764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4" name="Re λ">
            <a:extLst>
              <a:ext uri="{FF2B5EF4-FFF2-40B4-BE49-F238E27FC236}">
                <a16:creationId xmlns:a16="http://schemas.microsoft.com/office/drawing/2014/main" id="{81DFA41B-9A9A-44BB-F378-B932C0290C59}"/>
              </a:ext>
            </a:extLst>
          </p:cNvPr>
          <p:cNvSpPr/>
          <p:nvPr/>
        </p:nvSpPr>
        <p:spPr>
          <a:xfrm>
            <a:off x="11114982" y="2877127"/>
            <a:ext cx="876300" cy="419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buClr>
                <a:srgbClr val="000000"/>
              </a:buClr>
              <a:buFont typeface="Calibri"/>
            </a:pPr>
            <a:r>
              <a:rPr sz="2000">
                <a:latin typeface="Calibri"/>
                <a:ea typeface="Calibri"/>
                <a:cs typeface="Calibri"/>
                <a:sym typeface="Calibri"/>
              </a:rPr>
              <a:t>Re </a:t>
            </a:r>
            <a:r>
              <a:rPr sz="2000">
                <a:latin typeface="Symbol"/>
                <a:ea typeface="Symbol"/>
                <a:cs typeface="Symbol"/>
                <a:sym typeface="Symbol"/>
              </a:rPr>
              <a:t>l</a:t>
            </a:r>
          </a:p>
        </p:txBody>
      </p:sp>
      <p:sp>
        <p:nvSpPr>
          <p:cNvPr id="715" name="Im λ">
            <a:extLst>
              <a:ext uri="{FF2B5EF4-FFF2-40B4-BE49-F238E27FC236}">
                <a16:creationId xmlns:a16="http://schemas.microsoft.com/office/drawing/2014/main" id="{E089054D-FC7B-26E3-7BBD-E05ECEA97DDE}"/>
              </a:ext>
            </a:extLst>
          </p:cNvPr>
          <p:cNvSpPr/>
          <p:nvPr/>
        </p:nvSpPr>
        <p:spPr>
          <a:xfrm>
            <a:off x="9673532" y="1473777"/>
            <a:ext cx="876300" cy="419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buClr>
                <a:srgbClr val="000000"/>
              </a:buClr>
              <a:buFont typeface="Calibri"/>
            </a:pPr>
            <a:r>
              <a:rPr sz="2000">
                <a:latin typeface="Calibri"/>
                <a:ea typeface="Calibri"/>
                <a:cs typeface="Calibri"/>
                <a:sym typeface="Calibri"/>
              </a:rPr>
              <a:t>Im </a:t>
            </a:r>
            <a:r>
              <a:rPr sz="2000">
                <a:latin typeface="Symbol"/>
                <a:ea typeface="Symbol"/>
                <a:cs typeface="Symbol"/>
                <a:sym typeface="Symbol"/>
              </a:rPr>
              <a:t>l</a:t>
            </a:r>
          </a:p>
        </p:txBody>
      </p:sp>
      <p:sp>
        <p:nvSpPr>
          <p:cNvPr id="716" name="円形">
            <a:extLst>
              <a:ext uri="{FF2B5EF4-FFF2-40B4-BE49-F238E27FC236}">
                <a16:creationId xmlns:a16="http://schemas.microsoft.com/office/drawing/2014/main" id="{9AA9C7D2-5AFE-59EF-F9C5-2A4CCBAB914F}"/>
              </a:ext>
            </a:extLst>
          </p:cNvPr>
          <p:cNvSpPr/>
          <p:nvPr/>
        </p:nvSpPr>
        <p:spPr>
          <a:xfrm>
            <a:off x="9240144" y="3489903"/>
            <a:ext cx="144464" cy="1444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17" name="円形">
            <a:extLst>
              <a:ext uri="{FF2B5EF4-FFF2-40B4-BE49-F238E27FC236}">
                <a16:creationId xmlns:a16="http://schemas.microsoft.com/office/drawing/2014/main" id="{0B6C4311-65D8-3E3D-D4F1-041C657B1D25}"/>
              </a:ext>
            </a:extLst>
          </p:cNvPr>
          <p:cNvSpPr/>
          <p:nvPr/>
        </p:nvSpPr>
        <p:spPr>
          <a:xfrm>
            <a:off x="9240144" y="2408814"/>
            <a:ext cx="144464" cy="144464"/>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18" name="線">
            <a:extLst>
              <a:ext uri="{FF2B5EF4-FFF2-40B4-BE49-F238E27FC236}">
                <a16:creationId xmlns:a16="http://schemas.microsoft.com/office/drawing/2014/main" id="{67F8DA52-AF6B-D26A-00C6-7569973E5EE6}"/>
              </a:ext>
            </a:extLst>
          </p:cNvPr>
          <p:cNvSpPr/>
          <p:nvPr/>
        </p:nvSpPr>
        <p:spPr>
          <a:xfrm>
            <a:off x="9600507" y="2481839"/>
            <a:ext cx="865188"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9" name="線">
            <a:extLst>
              <a:ext uri="{FF2B5EF4-FFF2-40B4-BE49-F238E27FC236}">
                <a16:creationId xmlns:a16="http://schemas.microsoft.com/office/drawing/2014/main" id="{012868EF-F5CA-1ACB-1274-7050CA0C5BE9}"/>
              </a:ext>
            </a:extLst>
          </p:cNvPr>
          <p:cNvSpPr/>
          <p:nvPr/>
        </p:nvSpPr>
        <p:spPr>
          <a:xfrm>
            <a:off x="9600507" y="3561339"/>
            <a:ext cx="865188"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2" name="三角形 1">
            <a:extLst>
              <a:ext uri="{FF2B5EF4-FFF2-40B4-BE49-F238E27FC236}">
                <a16:creationId xmlns:a16="http://schemas.microsoft.com/office/drawing/2014/main" id="{2AA198C0-A0E3-6B0B-D24B-3B7079D256F1}"/>
              </a:ext>
            </a:extLst>
          </p:cNvPr>
          <p:cNvSpPr/>
          <p:nvPr/>
        </p:nvSpPr>
        <p:spPr>
          <a:xfrm rot="10800000">
            <a:off x="2650128" y="4957053"/>
            <a:ext cx="620560" cy="232086"/>
          </a:xfrm>
          <a:prstGeom prst="triangle">
            <a:avLst/>
          </a:prstGeom>
          <a:solidFill>
            <a:srgbClr val="0118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p>
        </p:txBody>
      </p:sp>
      <p:sp>
        <p:nvSpPr>
          <p:cNvPr id="3" name="テキスト ボックス 2">
            <a:extLst>
              <a:ext uri="{FF2B5EF4-FFF2-40B4-BE49-F238E27FC236}">
                <a16:creationId xmlns:a16="http://schemas.microsoft.com/office/drawing/2014/main" id="{6FCCAD21-95E0-545D-FE42-35852928A99D}"/>
              </a:ext>
            </a:extLst>
          </p:cNvPr>
          <p:cNvSpPr txBox="1"/>
          <p:nvPr/>
        </p:nvSpPr>
        <p:spPr>
          <a:xfrm>
            <a:off x="942413" y="4396052"/>
            <a:ext cx="5153587" cy="461665"/>
          </a:xfrm>
          <a:prstGeom prst="rect">
            <a:avLst/>
          </a:prstGeom>
          <a:noFill/>
        </p:spPr>
        <p:txBody>
          <a:bodyPr wrap="square" rtlCol="0">
            <a:spAutoFit/>
          </a:bodyPr>
          <a:lstStyle/>
          <a:p>
            <a:r>
              <a:rPr lang="en-US" altLang="ja-JP" sz="2400" dirty="0"/>
              <a:t>1. </a:t>
            </a:r>
            <a:r>
              <a:rPr lang="ja-JP" altLang="en-US" sz="2400"/>
              <a:t>モデルのパラメータの値が変わる</a:t>
            </a:r>
            <a:endParaRPr kumimoji="1" lang="en-US" altLang="ja-JP" sz="2400" dirty="0"/>
          </a:p>
        </p:txBody>
      </p:sp>
      <p:sp>
        <p:nvSpPr>
          <p:cNvPr id="4" name="テキスト ボックス 3">
            <a:extLst>
              <a:ext uri="{FF2B5EF4-FFF2-40B4-BE49-F238E27FC236}">
                <a16:creationId xmlns:a16="http://schemas.microsoft.com/office/drawing/2014/main" id="{C9FB4E23-B7B5-9700-2407-7375152BE841}"/>
              </a:ext>
            </a:extLst>
          </p:cNvPr>
          <p:cNvSpPr txBox="1"/>
          <p:nvPr/>
        </p:nvSpPr>
        <p:spPr>
          <a:xfrm>
            <a:off x="942413" y="5288475"/>
            <a:ext cx="2802406" cy="461665"/>
          </a:xfrm>
          <a:prstGeom prst="rect">
            <a:avLst/>
          </a:prstGeom>
          <a:noFill/>
        </p:spPr>
        <p:txBody>
          <a:bodyPr wrap="square" rtlCol="0">
            <a:spAutoFit/>
          </a:bodyPr>
          <a:lstStyle/>
          <a:p>
            <a:r>
              <a:rPr lang="en-US" altLang="ja-JP" sz="2400" dirty="0"/>
              <a:t>2. </a:t>
            </a:r>
            <a:r>
              <a:rPr lang="ja-JP" altLang="en-US" sz="2400"/>
              <a:t>固有値が変わる</a:t>
            </a:r>
            <a:endParaRPr kumimoji="1" lang="en-US" altLang="ja-JP" sz="2400" dirty="0"/>
          </a:p>
        </p:txBody>
      </p:sp>
      <p:sp>
        <p:nvSpPr>
          <p:cNvPr id="5" name="テキスト ボックス 4">
            <a:extLst>
              <a:ext uri="{FF2B5EF4-FFF2-40B4-BE49-F238E27FC236}">
                <a16:creationId xmlns:a16="http://schemas.microsoft.com/office/drawing/2014/main" id="{63740F78-7739-A117-E261-758DB3CE091B}"/>
              </a:ext>
            </a:extLst>
          </p:cNvPr>
          <p:cNvSpPr txBox="1"/>
          <p:nvPr/>
        </p:nvSpPr>
        <p:spPr>
          <a:xfrm>
            <a:off x="942413" y="6180898"/>
            <a:ext cx="7067054" cy="461665"/>
          </a:xfrm>
          <a:prstGeom prst="rect">
            <a:avLst/>
          </a:prstGeom>
          <a:noFill/>
        </p:spPr>
        <p:txBody>
          <a:bodyPr wrap="square" rtlCol="0">
            <a:spAutoFit/>
          </a:bodyPr>
          <a:lstStyle/>
          <a:p>
            <a:r>
              <a:rPr kumimoji="1" lang="en-US" altLang="ja-JP" sz="2400" dirty="0"/>
              <a:t>3. </a:t>
            </a:r>
            <a:r>
              <a:rPr kumimoji="1" lang="ja-JP" altLang="en-US" sz="2400">
                <a:solidFill>
                  <a:srgbClr val="C00000"/>
                </a:solidFill>
              </a:rPr>
              <a:t>分岐</a:t>
            </a:r>
            <a:r>
              <a:rPr kumimoji="1" lang="ja-JP" altLang="en-US" sz="2400"/>
              <a:t>点をこえると生化学反応系の挙動が変わる</a:t>
            </a:r>
            <a:endParaRPr kumimoji="1" lang="en-US" altLang="ja-JP" sz="2400" dirty="0"/>
          </a:p>
        </p:txBody>
      </p:sp>
      <p:sp>
        <p:nvSpPr>
          <p:cNvPr id="6" name="三角形 5">
            <a:extLst>
              <a:ext uri="{FF2B5EF4-FFF2-40B4-BE49-F238E27FC236}">
                <a16:creationId xmlns:a16="http://schemas.microsoft.com/office/drawing/2014/main" id="{26969D1D-D64F-FAB9-1486-5D19AE14DE6E}"/>
              </a:ext>
            </a:extLst>
          </p:cNvPr>
          <p:cNvSpPr/>
          <p:nvPr/>
        </p:nvSpPr>
        <p:spPr>
          <a:xfrm rot="10800000">
            <a:off x="2650127" y="5849476"/>
            <a:ext cx="620560" cy="232086"/>
          </a:xfrm>
          <a:prstGeom prst="triangle">
            <a:avLst/>
          </a:prstGeom>
          <a:solidFill>
            <a:srgbClr val="0118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p>
        </p:txBody>
      </p:sp>
    </p:spTree>
    <p:extLst>
      <p:ext uri="{BB962C8B-B14F-4D97-AF65-F5344CB8AC3E}">
        <p14:creationId xmlns:p14="http://schemas.microsoft.com/office/powerpoint/2010/main" val="3977642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DCD5A-185E-8EB4-81A4-87D71CC1AB5D}"/>
            </a:ext>
          </a:extLst>
        </p:cNvPr>
        <p:cNvGrpSpPr/>
        <p:nvPr/>
      </p:nvGrpSpPr>
      <p:grpSpPr>
        <a:xfrm>
          <a:off x="0" y="0"/>
          <a:ext cx="0" cy="0"/>
          <a:chOff x="0" y="0"/>
          <a:chExt cx="0" cy="0"/>
        </a:xfrm>
      </p:grpSpPr>
      <p:sp>
        <p:nvSpPr>
          <p:cNvPr id="742" name="Hopf 分岐に伴って起こる現象">
            <a:extLst>
              <a:ext uri="{FF2B5EF4-FFF2-40B4-BE49-F238E27FC236}">
                <a16:creationId xmlns:a16="http://schemas.microsoft.com/office/drawing/2014/main" id="{374F3180-AFBA-5870-BFE5-009DF5BB7DC7}"/>
              </a:ext>
            </a:extLst>
          </p:cNvPr>
          <p:cNvSpPr txBox="1">
            <a:spLocks noGrp="1"/>
          </p:cNvSpPr>
          <p:nvPr>
            <p:ph type="title"/>
          </p:nvPr>
        </p:nvSpPr>
        <p:spPr>
          <a:prstGeom prst="rect">
            <a:avLst/>
          </a:prstGeom>
        </p:spPr>
        <p:txBody>
          <a:bodyPr/>
          <a:lstStyle/>
          <a:p>
            <a:r>
              <a:t>Hopf 分岐に伴って起こる現象</a:t>
            </a:r>
          </a:p>
        </p:txBody>
      </p:sp>
      <p:sp>
        <p:nvSpPr>
          <p:cNvPr id="725" name="Stable Spiral が Unstable Spiral に変化…">
            <a:extLst>
              <a:ext uri="{FF2B5EF4-FFF2-40B4-BE49-F238E27FC236}">
                <a16:creationId xmlns:a16="http://schemas.microsoft.com/office/drawing/2014/main" id="{AB36A75D-8726-2977-1430-6DA30CDE28E1}"/>
              </a:ext>
            </a:extLst>
          </p:cNvPr>
          <p:cNvSpPr txBox="1">
            <a:spLocks noGrp="1"/>
          </p:cNvSpPr>
          <p:nvPr>
            <p:ph type="body" sz="half" idx="4294967295"/>
          </p:nvPr>
        </p:nvSpPr>
        <p:spPr>
          <a:xfrm>
            <a:off x="1103874" y="1614574"/>
            <a:ext cx="10072126" cy="1925642"/>
          </a:xfrm>
          <a:prstGeom prst="rect">
            <a:avLst/>
          </a:prstGeom>
        </p:spPr>
        <p:txBody>
          <a:bodyPr>
            <a:normAutofit/>
          </a:bodyPr>
          <a:lstStyle/>
          <a:p>
            <a:pPr marL="383540">
              <a:buClr>
                <a:srgbClr val="000000"/>
              </a:buClr>
              <a:buSzPct val="100000"/>
              <a:buFont typeface="Arial"/>
              <a:defRPr sz="2400"/>
            </a:pPr>
            <a:r>
              <a:rPr sz="2800" dirty="0"/>
              <a:t>Stable Spiral </a:t>
            </a:r>
            <a:r>
              <a:rPr sz="2800" dirty="0" err="1"/>
              <a:t>が</a:t>
            </a:r>
            <a:r>
              <a:rPr sz="2800" dirty="0"/>
              <a:t> Unstable Spiral </a:t>
            </a:r>
            <a:r>
              <a:rPr sz="2800" dirty="0" err="1"/>
              <a:t>に変化</a:t>
            </a:r>
            <a:endParaRPr sz="2800" dirty="0"/>
          </a:p>
          <a:p>
            <a:pPr marL="383540">
              <a:buClr>
                <a:srgbClr val="000000"/>
              </a:buClr>
              <a:buSzPct val="100000"/>
              <a:buFont typeface="Arial"/>
              <a:defRPr sz="2400"/>
            </a:pPr>
            <a:endParaRPr sz="2800" dirty="0"/>
          </a:p>
          <a:p>
            <a:pPr marL="383540">
              <a:buClr>
                <a:srgbClr val="000000"/>
              </a:buClr>
              <a:buSzPct val="100000"/>
              <a:buFont typeface="Arial"/>
              <a:defRPr sz="2400"/>
            </a:pPr>
            <a:r>
              <a:rPr sz="2800" dirty="0" err="1"/>
              <a:t>そのUnstable</a:t>
            </a:r>
            <a:r>
              <a:rPr sz="2800" dirty="0"/>
              <a:t> Spiral </a:t>
            </a:r>
            <a:r>
              <a:rPr sz="2800" dirty="0" err="1"/>
              <a:t>は</a:t>
            </a:r>
            <a:r>
              <a:rPr sz="2800" dirty="0" err="1">
                <a:solidFill>
                  <a:srgbClr val="C00000"/>
                </a:solidFill>
              </a:rPr>
              <a:t>リミットサイクル</a:t>
            </a:r>
            <a:r>
              <a:rPr sz="2800" dirty="0" err="1"/>
              <a:t>に囲まれている</a:t>
            </a:r>
            <a:endParaRPr sz="2800" dirty="0"/>
          </a:p>
        </p:txBody>
      </p:sp>
      <p:sp>
        <p:nvSpPr>
          <p:cNvPr id="726" name="矢印">
            <a:extLst>
              <a:ext uri="{FF2B5EF4-FFF2-40B4-BE49-F238E27FC236}">
                <a16:creationId xmlns:a16="http://schemas.microsoft.com/office/drawing/2014/main" id="{38AC5389-3CAC-D89D-C116-1B9F0DACDE96}"/>
              </a:ext>
            </a:extLst>
          </p:cNvPr>
          <p:cNvSpPr/>
          <p:nvPr/>
        </p:nvSpPr>
        <p:spPr>
          <a:xfrm>
            <a:off x="5375276" y="4941887"/>
            <a:ext cx="1152525" cy="935038"/>
          </a:xfrm>
          <a:prstGeom prst="rightArrow">
            <a:avLst>
              <a:gd name="adj1" fmla="val 50000"/>
              <a:gd name="adj2" fmla="val 50000"/>
            </a:avLst>
          </a:prstGeom>
          <a:blipFill>
            <a:blip r:embed="rId2"/>
          </a:blipFill>
          <a:ln w="25400">
            <a:solidFill>
              <a:srgbClr val="47719C"/>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27" name="楕円">
            <a:extLst>
              <a:ext uri="{FF2B5EF4-FFF2-40B4-BE49-F238E27FC236}">
                <a16:creationId xmlns:a16="http://schemas.microsoft.com/office/drawing/2014/main" id="{1719AEDF-FCC6-716B-D567-0B2043077301}"/>
              </a:ext>
            </a:extLst>
          </p:cNvPr>
          <p:cNvSpPr/>
          <p:nvPr/>
        </p:nvSpPr>
        <p:spPr>
          <a:xfrm>
            <a:off x="7104062" y="4437062"/>
            <a:ext cx="2879726" cy="1944688"/>
          </a:xfrm>
          <a:prstGeom prst="ellipse">
            <a:avLst/>
          </a:prstGeom>
          <a:ln w="25400">
            <a:solidFill>
              <a:srgbClr val="FF9292"/>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grpSp>
        <p:nvGrpSpPr>
          <p:cNvPr id="731" name="グループ">
            <a:extLst>
              <a:ext uri="{FF2B5EF4-FFF2-40B4-BE49-F238E27FC236}">
                <a16:creationId xmlns:a16="http://schemas.microsoft.com/office/drawing/2014/main" id="{62A47870-28EE-12AB-ECEA-6E868766F787}"/>
              </a:ext>
            </a:extLst>
          </p:cNvPr>
          <p:cNvGrpSpPr/>
          <p:nvPr/>
        </p:nvGrpSpPr>
        <p:grpSpPr>
          <a:xfrm>
            <a:off x="7535855" y="4797421"/>
            <a:ext cx="1873264" cy="1295179"/>
            <a:chOff x="0" y="0"/>
            <a:chExt cx="1873262" cy="1295177"/>
          </a:xfrm>
        </p:grpSpPr>
        <p:sp>
          <p:nvSpPr>
            <p:cNvPr id="728" name="線">
              <a:extLst>
                <a:ext uri="{FF2B5EF4-FFF2-40B4-BE49-F238E27FC236}">
                  <a16:creationId xmlns:a16="http://schemas.microsoft.com/office/drawing/2014/main" id="{04FEA2D4-D755-4EB5-6304-EAE0B30B4C50}"/>
                </a:ext>
              </a:extLst>
            </p:cNvPr>
            <p:cNvSpPr/>
            <p:nvPr/>
          </p:nvSpPr>
          <p:spPr>
            <a:xfrm>
              <a:off x="0" y="-1"/>
              <a:ext cx="1873263" cy="1295179"/>
            </a:xfrm>
            <a:custGeom>
              <a:avLst/>
              <a:gdLst/>
              <a:ahLst/>
              <a:cxnLst>
                <a:cxn ang="0">
                  <a:pos x="wd2" y="hd2"/>
                </a:cxn>
                <a:cxn ang="5400000">
                  <a:pos x="wd2" y="hd2"/>
                </a:cxn>
                <a:cxn ang="10800000">
                  <a:pos x="wd2" y="hd2"/>
                </a:cxn>
                <a:cxn ang="16200000">
                  <a:pos x="wd2" y="hd2"/>
                </a:cxn>
              </a:cxnLst>
              <a:rect l="0" t="0" r="r" b="b"/>
              <a:pathLst>
                <a:path w="21296" h="21447" extrusionOk="0">
                  <a:moveTo>
                    <a:pt x="10366" y="21447"/>
                  </a:moveTo>
                  <a:lnTo>
                    <a:pt x="10366" y="21447"/>
                  </a:lnTo>
                  <a:cubicBezTo>
                    <a:pt x="4487" y="21290"/>
                    <a:pt x="-152" y="16363"/>
                    <a:pt x="4" y="10442"/>
                  </a:cubicBezTo>
                  <a:cubicBezTo>
                    <a:pt x="159" y="4520"/>
                    <a:pt x="5051" y="-153"/>
                    <a:pt x="10930" y="4"/>
                  </a:cubicBezTo>
                  <a:cubicBezTo>
                    <a:pt x="16809" y="161"/>
                    <a:pt x="21448" y="5088"/>
                    <a:pt x="21292" y="11009"/>
                  </a:cubicBezTo>
                  <a:cubicBezTo>
                    <a:pt x="21283" y="11358"/>
                    <a:pt x="21257" y="11707"/>
                    <a:pt x="21214" y="12053"/>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729" name="線">
              <a:extLst>
                <a:ext uri="{FF2B5EF4-FFF2-40B4-BE49-F238E27FC236}">
                  <a16:creationId xmlns:a16="http://schemas.microsoft.com/office/drawing/2014/main" id="{21D289CD-D7F3-AC7C-6C72-16A7954BF169}"/>
                </a:ext>
              </a:extLst>
            </p:cNvPr>
            <p:cNvSpPr/>
            <p:nvPr/>
          </p:nvSpPr>
          <p:spPr>
            <a:xfrm>
              <a:off x="1016567" y="360361"/>
              <a:ext cx="496340" cy="358782"/>
            </a:xfrm>
            <a:custGeom>
              <a:avLst/>
              <a:gdLst/>
              <a:ahLst/>
              <a:cxnLst>
                <a:cxn ang="0">
                  <a:pos x="wd2" y="hd2"/>
                </a:cxn>
                <a:cxn ang="5400000">
                  <a:pos x="wd2" y="hd2"/>
                </a:cxn>
                <a:cxn ang="10800000">
                  <a:pos x="wd2" y="hd2"/>
                </a:cxn>
                <a:cxn ang="16200000">
                  <a:pos x="wd2" y="hd2"/>
                </a:cxn>
              </a:cxnLst>
              <a:rect l="0" t="0" r="r" b="b"/>
              <a:pathLst>
                <a:path w="20982" h="21263" extrusionOk="0">
                  <a:moveTo>
                    <a:pt x="0" y="19"/>
                  </a:moveTo>
                  <a:lnTo>
                    <a:pt x="0" y="19"/>
                  </a:lnTo>
                  <a:cubicBezTo>
                    <a:pt x="10914" y="-332"/>
                    <a:pt x="20292" y="4135"/>
                    <a:pt x="20946" y="9995"/>
                  </a:cubicBezTo>
                  <a:cubicBezTo>
                    <a:pt x="21600" y="15856"/>
                    <a:pt x="13283" y="20892"/>
                    <a:pt x="2368" y="21244"/>
                  </a:cubicBezTo>
                  <a:cubicBezTo>
                    <a:pt x="1734" y="21264"/>
                    <a:pt x="1097" y="21268"/>
                    <a:pt x="462" y="21256"/>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730" name="線">
              <a:extLst>
                <a:ext uri="{FF2B5EF4-FFF2-40B4-BE49-F238E27FC236}">
                  <a16:creationId xmlns:a16="http://schemas.microsoft.com/office/drawing/2014/main" id="{27C62759-AC5C-6155-75EE-8EEE49B678A1}"/>
                </a:ext>
              </a:extLst>
            </p:cNvPr>
            <p:cNvSpPr/>
            <p:nvPr/>
          </p:nvSpPr>
          <p:spPr>
            <a:xfrm>
              <a:off x="360252" y="362129"/>
              <a:ext cx="1502996" cy="645988"/>
            </a:xfrm>
            <a:custGeom>
              <a:avLst/>
              <a:gdLst/>
              <a:ahLst/>
              <a:cxnLst>
                <a:cxn ang="0">
                  <a:pos x="wd2" y="hd2"/>
                </a:cxn>
                <a:cxn ang="5400000">
                  <a:pos x="wd2" y="hd2"/>
                </a:cxn>
                <a:cxn ang="10800000">
                  <a:pos x="wd2" y="hd2"/>
                </a:cxn>
                <a:cxn ang="16200000">
                  <a:pos x="wd2" y="hd2"/>
                </a:cxn>
              </a:cxnLst>
              <a:rect l="0" t="0" r="r" b="b"/>
              <a:pathLst>
                <a:path w="20803" h="20806" extrusionOk="0">
                  <a:moveTo>
                    <a:pt x="20803" y="12065"/>
                  </a:moveTo>
                  <a:lnTo>
                    <a:pt x="20803" y="12065"/>
                  </a:lnTo>
                  <a:cubicBezTo>
                    <a:pt x="19865" y="17749"/>
                    <a:pt x="14480" y="21600"/>
                    <a:pt x="8774" y="20666"/>
                  </a:cubicBezTo>
                  <a:cubicBezTo>
                    <a:pt x="3068" y="19732"/>
                    <a:pt x="-797" y="14367"/>
                    <a:pt x="141" y="8682"/>
                  </a:cubicBezTo>
                  <a:cubicBezTo>
                    <a:pt x="905" y="4045"/>
                    <a:pt x="4689" y="490"/>
                    <a:pt x="9381" y="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grpSp>
      <p:sp>
        <p:nvSpPr>
          <p:cNvPr id="732" name="円形">
            <a:extLst>
              <a:ext uri="{FF2B5EF4-FFF2-40B4-BE49-F238E27FC236}">
                <a16:creationId xmlns:a16="http://schemas.microsoft.com/office/drawing/2014/main" id="{BE8F8604-7F72-ABFF-8630-36A972BDF068}"/>
              </a:ext>
            </a:extLst>
          </p:cNvPr>
          <p:cNvSpPr/>
          <p:nvPr/>
        </p:nvSpPr>
        <p:spPr>
          <a:xfrm>
            <a:off x="8472487" y="5445126"/>
            <a:ext cx="144464" cy="144463"/>
          </a:xfrm>
          <a:prstGeom prst="ellipse">
            <a:avLst/>
          </a:prstGeom>
          <a:ln w="254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33" name="三角形">
            <a:extLst>
              <a:ext uri="{FF2B5EF4-FFF2-40B4-BE49-F238E27FC236}">
                <a16:creationId xmlns:a16="http://schemas.microsoft.com/office/drawing/2014/main" id="{C937DCE2-A080-8A24-518C-756578CFD66D}"/>
              </a:ext>
            </a:extLst>
          </p:cNvPr>
          <p:cNvSpPr/>
          <p:nvPr/>
        </p:nvSpPr>
        <p:spPr>
          <a:xfrm rot="5400000">
            <a:off x="8398524" y="5947371"/>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pic>
        <p:nvPicPr>
          <p:cNvPr id="734" name="imagedDrawable.pdf" descr="imagedDrawable.pdf">
            <a:extLst>
              <a:ext uri="{FF2B5EF4-FFF2-40B4-BE49-F238E27FC236}">
                <a16:creationId xmlns:a16="http://schemas.microsoft.com/office/drawing/2014/main" id="{F62F06F7-95B6-B2BA-FEF9-6E9EBA2843A3}"/>
              </a:ext>
            </a:extLst>
          </p:cNvPr>
          <p:cNvPicPr>
            <a:picLocks/>
          </p:cNvPicPr>
          <p:nvPr/>
        </p:nvPicPr>
        <p:blipFill>
          <a:blip r:embed="rId3"/>
          <a:stretch>
            <a:fillRect/>
          </a:stretch>
        </p:blipFill>
        <p:spPr>
          <a:xfrm>
            <a:off x="8347075" y="4302125"/>
            <a:ext cx="469900" cy="254000"/>
          </a:xfrm>
          <a:prstGeom prst="rect">
            <a:avLst/>
          </a:prstGeom>
          <a:ln w="12700">
            <a:miter lim="400000"/>
          </a:ln>
          <a:effectLst>
            <a:outerShdw blurRad="63500" dist="25400" dir="5400000" rotWithShape="0">
              <a:srgbClr val="000000">
                <a:alpha val="34997"/>
              </a:srgbClr>
            </a:outerShdw>
          </a:effectLst>
        </p:spPr>
      </p:pic>
      <p:grpSp>
        <p:nvGrpSpPr>
          <p:cNvPr id="738" name="グループ">
            <a:extLst>
              <a:ext uri="{FF2B5EF4-FFF2-40B4-BE49-F238E27FC236}">
                <a16:creationId xmlns:a16="http://schemas.microsoft.com/office/drawing/2014/main" id="{FCA666F9-B861-631A-43CB-B9A30D8ECC04}"/>
              </a:ext>
            </a:extLst>
          </p:cNvPr>
          <p:cNvGrpSpPr/>
          <p:nvPr/>
        </p:nvGrpSpPr>
        <p:grpSpPr>
          <a:xfrm>
            <a:off x="2782882" y="4581521"/>
            <a:ext cx="1873263" cy="1295179"/>
            <a:chOff x="0" y="0"/>
            <a:chExt cx="1873262" cy="1295177"/>
          </a:xfrm>
        </p:grpSpPr>
        <p:sp>
          <p:nvSpPr>
            <p:cNvPr id="735" name="線">
              <a:extLst>
                <a:ext uri="{FF2B5EF4-FFF2-40B4-BE49-F238E27FC236}">
                  <a16:creationId xmlns:a16="http://schemas.microsoft.com/office/drawing/2014/main" id="{B1A09A3F-6195-2DF5-34B7-CFE1EFDEA7C0}"/>
                </a:ext>
              </a:extLst>
            </p:cNvPr>
            <p:cNvSpPr/>
            <p:nvPr/>
          </p:nvSpPr>
          <p:spPr>
            <a:xfrm>
              <a:off x="0" y="-1"/>
              <a:ext cx="1873263" cy="1295179"/>
            </a:xfrm>
            <a:custGeom>
              <a:avLst/>
              <a:gdLst/>
              <a:ahLst/>
              <a:cxnLst>
                <a:cxn ang="0">
                  <a:pos x="wd2" y="hd2"/>
                </a:cxn>
                <a:cxn ang="5400000">
                  <a:pos x="wd2" y="hd2"/>
                </a:cxn>
                <a:cxn ang="10800000">
                  <a:pos x="wd2" y="hd2"/>
                </a:cxn>
                <a:cxn ang="16200000">
                  <a:pos x="wd2" y="hd2"/>
                </a:cxn>
              </a:cxnLst>
              <a:rect l="0" t="0" r="r" b="b"/>
              <a:pathLst>
                <a:path w="21296" h="21447" extrusionOk="0">
                  <a:moveTo>
                    <a:pt x="10366" y="21447"/>
                  </a:moveTo>
                  <a:lnTo>
                    <a:pt x="10366" y="21447"/>
                  </a:lnTo>
                  <a:cubicBezTo>
                    <a:pt x="4487" y="21290"/>
                    <a:pt x="-152" y="16363"/>
                    <a:pt x="4" y="10442"/>
                  </a:cubicBezTo>
                  <a:cubicBezTo>
                    <a:pt x="159" y="4520"/>
                    <a:pt x="5051" y="-153"/>
                    <a:pt x="10930" y="4"/>
                  </a:cubicBezTo>
                  <a:cubicBezTo>
                    <a:pt x="16809" y="161"/>
                    <a:pt x="21448" y="5088"/>
                    <a:pt x="21292" y="11009"/>
                  </a:cubicBezTo>
                  <a:cubicBezTo>
                    <a:pt x="21283" y="11358"/>
                    <a:pt x="21257" y="11707"/>
                    <a:pt x="21214" y="12053"/>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736" name="線">
              <a:extLst>
                <a:ext uri="{FF2B5EF4-FFF2-40B4-BE49-F238E27FC236}">
                  <a16:creationId xmlns:a16="http://schemas.microsoft.com/office/drawing/2014/main" id="{0B799372-5AC7-CF36-1B42-4447FD0EEF78}"/>
                </a:ext>
              </a:extLst>
            </p:cNvPr>
            <p:cNvSpPr/>
            <p:nvPr/>
          </p:nvSpPr>
          <p:spPr>
            <a:xfrm>
              <a:off x="1016567" y="360361"/>
              <a:ext cx="496341" cy="358782"/>
            </a:xfrm>
            <a:custGeom>
              <a:avLst/>
              <a:gdLst/>
              <a:ahLst/>
              <a:cxnLst>
                <a:cxn ang="0">
                  <a:pos x="wd2" y="hd2"/>
                </a:cxn>
                <a:cxn ang="5400000">
                  <a:pos x="wd2" y="hd2"/>
                </a:cxn>
                <a:cxn ang="10800000">
                  <a:pos x="wd2" y="hd2"/>
                </a:cxn>
                <a:cxn ang="16200000">
                  <a:pos x="wd2" y="hd2"/>
                </a:cxn>
              </a:cxnLst>
              <a:rect l="0" t="0" r="r" b="b"/>
              <a:pathLst>
                <a:path w="20982" h="21263" extrusionOk="0">
                  <a:moveTo>
                    <a:pt x="0" y="19"/>
                  </a:moveTo>
                  <a:lnTo>
                    <a:pt x="0" y="19"/>
                  </a:lnTo>
                  <a:cubicBezTo>
                    <a:pt x="10914" y="-332"/>
                    <a:pt x="20292" y="4135"/>
                    <a:pt x="20946" y="9995"/>
                  </a:cubicBezTo>
                  <a:cubicBezTo>
                    <a:pt x="21600" y="15856"/>
                    <a:pt x="13283" y="20892"/>
                    <a:pt x="2368" y="21244"/>
                  </a:cubicBezTo>
                  <a:cubicBezTo>
                    <a:pt x="1734" y="21264"/>
                    <a:pt x="1097" y="21268"/>
                    <a:pt x="462" y="21256"/>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737" name="線">
              <a:extLst>
                <a:ext uri="{FF2B5EF4-FFF2-40B4-BE49-F238E27FC236}">
                  <a16:creationId xmlns:a16="http://schemas.microsoft.com/office/drawing/2014/main" id="{FD8EAC0C-60A1-AC29-C918-42C117A5143D}"/>
                </a:ext>
              </a:extLst>
            </p:cNvPr>
            <p:cNvSpPr/>
            <p:nvPr/>
          </p:nvSpPr>
          <p:spPr>
            <a:xfrm>
              <a:off x="360253" y="362129"/>
              <a:ext cx="1502995" cy="645988"/>
            </a:xfrm>
            <a:custGeom>
              <a:avLst/>
              <a:gdLst/>
              <a:ahLst/>
              <a:cxnLst>
                <a:cxn ang="0">
                  <a:pos x="wd2" y="hd2"/>
                </a:cxn>
                <a:cxn ang="5400000">
                  <a:pos x="wd2" y="hd2"/>
                </a:cxn>
                <a:cxn ang="10800000">
                  <a:pos x="wd2" y="hd2"/>
                </a:cxn>
                <a:cxn ang="16200000">
                  <a:pos x="wd2" y="hd2"/>
                </a:cxn>
              </a:cxnLst>
              <a:rect l="0" t="0" r="r" b="b"/>
              <a:pathLst>
                <a:path w="20803" h="20806" extrusionOk="0">
                  <a:moveTo>
                    <a:pt x="20803" y="12065"/>
                  </a:moveTo>
                  <a:lnTo>
                    <a:pt x="20803" y="12065"/>
                  </a:lnTo>
                  <a:cubicBezTo>
                    <a:pt x="19865" y="17749"/>
                    <a:pt x="14480" y="21600"/>
                    <a:pt x="8774" y="20666"/>
                  </a:cubicBezTo>
                  <a:cubicBezTo>
                    <a:pt x="3068" y="19732"/>
                    <a:pt x="-797" y="14367"/>
                    <a:pt x="141" y="8682"/>
                  </a:cubicBezTo>
                  <a:cubicBezTo>
                    <a:pt x="905" y="4045"/>
                    <a:pt x="4689" y="490"/>
                    <a:pt x="9381" y="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grpSp>
      <p:sp>
        <p:nvSpPr>
          <p:cNvPr id="739" name="円形">
            <a:extLst>
              <a:ext uri="{FF2B5EF4-FFF2-40B4-BE49-F238E27FC236}">
                <a16:creationId xmlns:a16="http://schemas.microsoft.com/office/drawing/2014/main" id="{1937EB9C-68C3-AF68-AEA7-FD87059EAF29}"/>
              </a:ext>
            </a:extLst>
          </p:cNvPr>
          <p:cNvSpPr/>
          <p:nvPr/>
        </p:nvSpPr>
        <p:spPr>
          <a:xfrm>
            <a:off x="3719512" y="5229226"/>
            <a:ext cx="144464" cy="144463"/>
          </a:xfrm>
          <a:prstGeom prst="ellipse">
            <a:avLst/>
          </a:prstGeom>
          <a:ln w="254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40" name="三角形">
            <a:extLst>
              <a:ext uri="{FF2B5EF4-FFF2-40B4-BE49-F238E27FC236}">
                <a16:creationId xmlns:a16="http://schemas.microsoft.com/office/drawing/2014/main" id="{FB8308EE-7C9D-21B3-5F35-5A1D69AE7799}"/>
              </a:ext>
            </a:extLst>
          </p:cNvPr>
          <p:cNvSpPr/>
          <p:nvPr/>
        </p:nvSpPr>
        <p:spPr>
          <a:xfrm rot="15720000" flipH="1">
            <a:off x="3934146" y="5137655"/>
            <a:ext cx="144357" cy="286941"/>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41" name="Hopf 分岐">
            <a:extLst>
              <a:ext uri="{FF2B5EF4-FFF2-40B4-BE49-F238E27FC236}">
                <a16:creationId xmlns:a16="http://schemas.microsoft.com/office/drawing/2014/main" id="{6C087992-7C5D-97D1-EF7D-6D58CCC8FCD3}"/>
              </a:ext>
            </a:extLst>
          </p:cNvPr>
          <p:cNvSpPr/>
          <p:nvPr/>
        </p:nvSpPr>
        <p:spPr>
          <a:xfrm>
            <a:off x="5059882" y="4203661"/>
            <a:ext cx="1673535"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pPr>
            <a:r>
              <a:rPr sz="2800"/>
              <a:t>Hopf </a:t>
            </a:r>
            <a:r>
              <a:rPr sz="2800">
                <a:latin typeface="Heiti TC Light"/>
                <a:ea typeface="Heiti TC Light"/>
                <a:cs typeface="Heiti TC Light"/>
                <a:sym typeface="Heiti TC Light"/>
              </a:rPr>
              <a:t>分岐</a:t>
            </a:r>
          </a:p>
        </p:txBody>
      </p:sp>
    </p:spTree>
    <p:extLst>
      <p:ext uri="{BB962C8B-B14F-4D97-AF65-F5344CB8AC3E}">
        <p14:creationId xmlns:p14="http://schemas.microsoft.com/office/powerpoint/2010/main" val="1695138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82AF3-61E9-E02E-F1A1-2B01DFCDDBD1}"/>
            </a:ext>
          </a:extLst>
        </p:cNvPr>
        <p:cNvGrpSpPr/>
        <p:nvPr/>
      </p:nvGrpSpPr>
      <p:grpSpPr>
        <a:xfrm>
          <a:off x="0" y="0"/>
          <a:ext cx="0" cy="0"/>
          <a:chOff x="0" y="0"/>
          <a:chExt cx="0" cy="0"/>
        </a:xfrm>
      </p:grpSpPr>
      <p:sp>
        <p:nvSpPr>
          <p:cNvPr id="745" name="演習6: Sel’kovモデルとHopf分岐">
            <a:extLst>
              <a:ext uri="{FF2B5EF4-FFF2-40B4-BE49-F238E27FC236}">
                <a16:creationId xmlns:a16="http://schemas.microsoft.com/office/drawing/2014/main" id="{A412DAE7-C6F0-254A-F922-25676CA38D68}"/>
              </a:ext>
            </a:extLst>
          </p:cNvPr>
          <p:cNvSpPr txBox="1">
            <a:spLocks noGrp="1"/>
          </p:cNvSpPr>
          <p:nvPr>
            <p:ph type="title"/>
          </p:nvPr>
        </p:nvSpPr>
        <p:spPr>
          <a:prstGeom prst="rect">
            <a:avLst/>
          </a:prstGeom>
        </p:spPr>
        <p:txBody>
          <a:bodyPr/>
          <a:lstStyle/>
          <a:p>
            <a:r>
              <a:rPr dirty="0"/>
              <a:t>演習</a:t>
            </a:r>
            <a:r>
              <a:rPr lang="en-US" dirty="0"/>
              <a:t>7</a:t>
            </a:r>
            <a:r>
              <a:rPr dirty="0"/>
              <a:t>: </a:t>
            </a:r>
            <a:r>
              <a:rPr dirty="0" err="1"/>
              <a:t>Sel’kovモデルとHopf分岐</a:t>
            </a:r>
            <a:endParaRPr dirty="0"/>
          </a:p>
        </p:txBody>
      </p:sp>
      <p:sp>
        <p:nvSpPr>
          <p:cNvPr id="744" name="Sel’kov モデルにおいて、以下2つの条件の間でHopf 分岐が起こることを、固有値から示しなさい。(紙と鉛筆)…">
            <a:extLst>
              <a:ext uri="{FF2B5EF4-FFF2-40B4-BE49-F238E27FC236}">
                <a16:creationId xmlns:a16="http://schemas.microsoft.com/office/drawing/2014/main" id="{A51EDFC2-B07C-DC40-3495-A7F5B64CDE4C}"/>
              </a:ext>
            </a:extLst>
          </p:cNvPr>
          <p:cNvSpPr txBox="1">
            <a:spLocks noGrp="1"/>
          </p:cNvSpPr>
          <p:nvPr>
            <p:ph type="body" idx="4294967295"/>
          </p:nvPr>
        </p:nvSpPr>
        <p:spPr>
          <a:xfrm>
            <a:off x="523875" y="1371600"/>
            <a:ext cx="11290754" cy="5257800"/>
          </a:xfrm>
          <a:prstGeom prst="rect">
            <a:avLst/>
          </a:prstGeom>
        </p:spPr>
        <p:txBody>
          <a:bodyPr>
            <a:normAutofit/>
          </a:bodyPr>
          <a:lstStyle/>
          <a:p>
            <a:pPr marL="553770" indent="-514350" defTabSz="394208">
              <a:spcBef>
                <a:spcPts val="1600"/>
              </a:spcBef>
              <a:buClr>
                <a:srgbClr val="000000"/>
              </a:buClr>
              <a:buSzPct val="100000"/>
              <a:buFont typeface="+mj-lt"/>
              <a:buAutoNum type="arabicPeriod"/>
              <a:defRPr sz="1746"/>
            </a:pPr>
            <a:r>
              <a:rPr sz="3104" dirty="0" err="1"/>
              <a:t>Sel’kov</a:t>
            </a:r>
            <a:r>
              <a:rPr sz="3104" dirty="0"/>
              <a:t> モデルにおいて、以下2つの条件の間で</a:t>
            </a:r>
            <a:r>
              <a:rPr lang="en-US" sz="3104" dirty="0"/>
              <a:t> </a:t>
            </a:r>
            <a:r>
              <a:rPr sz="3104" dirty="0"/>
              <a:t>Hopf </a:t>
            </a:r>
            <a:r>
              <a:rPr sz="3104" dirty="0" err="1"/>
              <a:t>分岐が起こることを、固有値から示しなさい</a:t>
            </a:r>
            <a:r>
              <a:rPr sz="3104" dirty="0"/>
              <a:t>。</a:t>
            </a:r>
          </a:p>
          <a:p>
            <a:pPr marL="760082" lvl="1" indent="-277177" defTabSz="394208">
              <a:spcBef>
                <a:spcPts val="1600"/>
              </a:spcBef>
              <a:buClr>
                <a:srgbClr val="000000"/>
              </a:buClr>
              <a:buSzPct val="100000"/>
              <a:buFont typeface="Arial"/>
              <a:defRPr sz="2328"/>
            </a:pPr>
            <a:r>
              <a:rPr sz="3200" dirty="0"/>
              <a:t>条件1: 	a=0.14, b=0.6</a:t>
            </a:r>
          </a:p>
          <a:p>
            <a:pPr marL="760082" lvl="1" indent="-277177" defTabSz="394208">
              <a:spcBef>
                <a:spcPts val="1600"/>
              </a:spcBef>
              <a:buClr>
                <a:srgbClr val="000000"/>
              </a:buClr>
              <a:buSzPct val="100000"/>
              <a:buFont typeface="Arial"/>
              <a:defRPr sz="2328"/>
            </a:pPr>
            <a:r>
              <a:rPr sz="3200" dirty="0"/>
              <a:t>条件2: 	a=0.06, b=0.6</a:t>
            </a:r>
          </a:p>
          <a:p>
            <a:pPr marL="1591614" lvl="3" indent="-221742" defTabSz="394208">
              <a:spcBef>
                <a:spcPts val="1600"/>
              </a:spcBef>
              <a:buClr>
                <a:srgbClr val="000000"/>
              </a:buClr>
              <a:buSzPct val="100000"/>
              <a:buFont typeface="Arial"/>
              <a:buChar char="–"/>
              <a:defRPr sz="2716"/>
            </a:pPr>
            <a:endParaRPr dirty="0"/>
          </a:p>
          <a:p>
            <a:pPr marL="553770" indent="-514350" defTabSz="394208">
              <a:spcBef>
                <a:spcPts val="1600"/>
              </a:spcBef>
              <a:buClr>
                <a:srgbClr val="000000"/>
              </a:buClr>
              <a:buSzPct val="100000"/>
              <a:buFont typeface="+mj-lt"/>
              <a:buAutoNum type="arabicPeriod"/>
              <a:defRPr sz="1746"/>
            </a:pPr>
            <a:r>
              <a:rPr sz="3104" dirty="0" err="1"/>
              <a:t>それぞれの条件で振動</a:t>
            </a:r>
            <a:r>
              <a:rPr lang="ja-JP" altLang="en-US" sz="3104"/>
              <a:t>が持続</a:t>
            </a:r>
            <a:r>
              <a:rPr sz="3104" dirty="0" err="1"/>
              <a:t>するかどうか</a:t>
            </a:r>
            <a:r>
              <a:rPr lang="en-US" sz="3104" dirty="0"/>
              <a:t>、</a:t>
            </a:r>
            <a:r>
              <a:rPr lang="ja-JP" altLang="en-US" sz="3104"/>
              <a:t>　　　　　　</a:t>
            </a:r>
            <a:r>
              <a:rPr lang="en-US" sz="3104" dirty="0" err="1"/>
              <a:t>シミュレーションで</a:t>
            </a:r>
            <a:r>
              <a:rPr sz="3104" dirty="0" err="1"/>
              <a:t>確認しなさい</a:t>
            </a:r>
            <a:r>
              <a:rPr sz="3104" dirty="0"/>
              <a:t>。</a:t>
            </a:r>
          </a:p>
        </p:txBody>
      </p:sp>
    </p:spTree>
    <p:extLst>
      <p:ext uri="{BB962C8B-B14F-4D97-AF65-F5344CB8AC3E}">
        <p14:creationId xmlns:p14="http://schemas.microsoft.com/office/powerpoint/2010/main" val="42196296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14365744-C5CD-CF27-3A6D-04829423DD21}"/>
              </a:ext>
            </a:extLst>
          </p:cNvPr>
          <p:cNvPicPr>
            <a:picLocks noChangeAspect="1"/>
          </p:cNvPicPr>
          <p:nvPr/>
        </p:nvPicPr>
        <p:blipFill>
          <a:blip r:embed="rId2"/>
          <a:stretch>
            <a:fillRect/>
          </a:stretch>
        </p:blipFill>
        <p:spPr>
          <a:xfrm>
            <a:off x="1304229" y="1375896"/>
            <a:ext cx="3775770" cy="2831827"/>
          </a:xfrm>
          <a:prstGeom prst="rect">
            <a:avLst/>
          </a:prstGeom>
        </p:spPr>
      </p:pic>
      <p:sp>
        <p:nvSpPr>
          <p:cNvPr id="752" name="出力例"/>
          <p:cNvSpPr txBox="1">
            <a:spLocks noGrp="1"/>
          </p:cNvSpPr>
          <p:nvPr>
            <p:ph type="title"/>
          </p:nvPr>
        </p:nvSpPr>
        <p:spPr>
          <a:prstGeom prst="rect">
            <a:avLst/>
          </a:prstGeom>
        </p:spPr>
        <p:txBody>
          <a:bodyPr/>
          <a:lstStyle/>
          <a:p>
            <a:r>
              <a:rPr dirty="0" err="1"/>
              <a:t>出力例</a:t>
            </a:r>
            <a:endParaRPr dirty="0"/>
          </a:p>
        </p:txBody>
      </p:sp>
      <p:sp>
        <p:nvSpPr>
          <p:cNvPr id="757" name="a=0.14, b=0.6"/>
          <p:cNvSpPr/>
          <p:nvPr/>
        </p:nvSpPr>
        <p:spPr>
          <a:xfrm>
            <a:off x="1772434" y="1212908"/>
            <a:ext cx="3104366"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lgn="l">
              <a:buClr>
                <a:srgbClr val="000000"/>
              </a:buClr>
              <a:buFont typeface="Arial"/>
            </a:lvl1pPr>
          </a:lstStyle>
          <a:p>
            <a:r>
              <a:rPr lang="ja-JP" altLang="en-US" sz="2400"/>
              <a:t>条件</a:t>
            </a:r>
            <a:r>
              <a:rPr lang="en-US" altLang="ja-JP" sz="2400" dirty="0"/>
              <a:t>1: </a:t>
            </a:r>
            <a:r>
              <a:rPr sz="2400" dirty="0"/>
              <a:t>a=0.14, b=0.6</a:t>
            </a:r>
          </a:p>
        </p:txBody>
      </p:sp>
      <p:pic>
        <p:nvPicPr>
          <p:cNvPr id="4" name="図 3">
            <a:extLst>
              <a:ext uri="{FF2B5EF4-FFF2-40B4-BE49-F238E27FC236}">
                <a16:creationId xmlns:a16="http://schemas.microsoft.com/office/drawing/2014/main" id="{AEEAD43B-3671-DF44-AAE3-2BBF404FC52B}"/>
              </a:ext>
            </a:extLst>
          </p:cNvPr>
          <p:cNvPicPr>
            <a:picLocks noChangeAspect="1"/>
          </p:cNvPicPr>
          <p:nvPr/>
        </p:nvPicPr>
        <p:blipFill>
          <a:blip r:embed="rId3"/>
          <a:srcRect t="8462"/>
          <a:stretch>
            <a:fillRect/>
          </a:stretch>
        </p:blipFill>
        <p:spPr>
          <a:xfrm>
            <a:off x="1305257" y="4136291"/>
            <a:ext cx="3773714" cy="2590801"/>
          </a:xfrm>
          <a:prstGeom prst="rect">
            <a:avLst/>
          </a:prstGeom>
        </p:spPr>
      </p:pic>
      <p:pic>
        <p:nvPicPr>
          <p:cNvPr id="6" name="図 5">
            <a:extLst>
              <a:ext uri="{FF2B5EF4-FFF2-40B4-BE49-F238E27FC236}">
                <a16:creationId xmlns:a16="http://schemas.microsoft.com/office/drawing/2014/main" id="{B3089D81-947D-2546-8457-100D227F19C2}"/>
              </a:ext>
            </a:extLst>
          </p:cNvPr>
          <p:cNvPicPr>
            <a:picLocks noChangeAspect="1"/>
          </p:cNvPicPr>
          <p:nvPr/>
        </p:nvPicPr>
        <p:blipFill>
          <a:blip r:embed="rId4"/>
          <a:stretch>
            <a:fillRect/>
          </a:stretch>
        </p:blipFill>
        <p:spPr>
          <a:xfrm>
            <a:off x="7200904" y="1375895"/>
            <a:ext cx="3775771" cy="2831828"/>
          </a:xfrm>
          <a:prstGeom prst="rect">
            <a:avLst/>
          </a:prstGeom>
        </p:spPr>
      </p:pic>
      <p:sp>
        <p:nvSpPr>
          <p:cNvPr id="7" name="a=0.06, b=0.6">
            <a:extLst>
              <a:ext uri="{FF2B5EF4-FFF2-40B4-BE49-F238E27FC236}">
                <a16:creationId xmlns:a16="http://schemas.microsoft.com/office/drawing/2014/main" id="{DFBB85AD-9C7A-BF23-0D0E-57AAD0A661B7}"/>
              </a:ext>
            </a:extLst>
          </p:cNvPr>
          <p:cNvSpPr/>
          <p:nvPr/>
        </p:nvSpPr>
        <p:spPr>
          <a:xfrm>
            <a:off x="7636172" y="1212908"/>
            <a:ext cx="2962349"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l">
              <a:buClr>
                <a:srgbClr val="000000"/>
              </a:buClr>
              <a:buFont typeface="Arial"/>
            </a:lvl1pPr>
          </a:lstStyle>
          <a:p>
            <a:r>
              <a:rPr lang="ja-JP" altLang="en-US" sz="2400"/>
              <a:t>条件</a:t>
            </a:r>
            <a:r>
              <a:rPr lang="en-US" altLang="ja-JP" sz="2400" dirty="0"/>
              <a:t>2: </a:t>
            </a:r>
            <a:r>
              <a:rPr sz="2400" dirty="0"/>
              <a:t>a=0.06, b=0.6</a:t>
            </a:r>
          </a:p>
        </p:txBody>
      </p:sp>
      <p:pic>
        <p:nvPicPr>
          <p:cNvPr id="8" name="図 7">
            <a:extLst>
              <a:ext uri="{FF2B5EF4-FFF2-40B4-BE49-F238E27FC236}">
                <a16:creationId xmlns:a16="http://schemas.microsoft.com/office/drawing/2014/main" id="{3822E4AC-9024-3DE7-591A-141A30A2932D}"/>
              </a:ext>
            </a:extLst>
          </p:cNvPr>
          <p:cNvPicPr>
            <a:picLocks noChangeAspect="1"/>
          </p:cNvPicPr>
          <p:nvPr/>
        </p:nvPicPr>
        <p:blipFill>
          <a:blip r:embed="rId5"/>
          <a:srcRect t="7938"/>
          <a:stretch>
            <a:fillRect/>
          </a:stretch>
        </p:blipFill>
        <p:spPr>
          <a:xfrm>
            <a:off x="7201932" y="4128879"/>
            <a:ext cx="3773715" cy="2605624"/>
          </a:xfrm>
          <a:prstGeom prst="rect">
            <a:avLst/>
          </a:prstGeom>
        </p:spPr>
      </p:pic>
    </p:spTree>
    <p:extLst>
      <p:ext uri="{BB962C8B-B14F-4D97-AF65-F5344CB8AC3E}">
        <p14:creationId xmlns:p14="http://schemas.microsoft.com/office/powerpoint/2010/main" val="3942427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95138-BDEE-073E-2BD8-20E6B46B8E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88B47FE-387F-9091-57CD-CFC6C5C1187E}"/>
              </a:ext>
            </a:extLst>
          </p:cNvPr>
          <p:cNvSpPr>
            <a:spLocks noGrp="1"/>
          </p:cNvSpPr>
          <p:nvPr>
            <p:ph type="title"/>
          </p:nvPr>
        </p:nvSpPr>
        <p:spPr/>
        <p:txBody>
          <a:bodyPr/>
          <a:lstStyle/>
          <a:p>
            <a:r>
              <a:rPr kumimoji="1" lang="ja-JP" altLang="en-US"/>
              <a:t>力学系の七つ道具</a:t>
            </a:r>
          </a:p>
        </p:txBody>
      </p:sp>
      <p:sp>
        <p:nvSpPr>
          <p:cNvPr id="4" name="テキスト ボックス 3">
            <a:extLst>
              <a:ext uri="{FF2B5EF4-FFF2-40B4-BE49-F238E27FC236}">
                <a16:creationId xmlns:a16="http://schemas.microsoft.com/office/drawing/2014/main" id="{E6A9D454-40BA-717B-6155-B7B2B97C5664}"/>
              </a:ext>
            </a:extLst>
          </p:cNvPr>
          <p:cNvSpPr txBox="1"/>
          <p:nvPr/>
        </p:nvSpPr>
        <p:spPr>
          <a:xfrm>
            <a:off x="3036094" y="1898913"/>
            <a:ext cx="6129336" cy="4108817"/>
          </a:xfrm>
          <a:prstGeom prst="rect">
            <a:avLst/>
          </a:prstGeom>
          <a:noFill/>
        </p:spPr>
        <p:txBody>
          <a:bodyPr wrap="square">
            <a:spAutoFit/>
          </a:bodyPr>
          <a:lstStyle/>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相平面</a:t>
            </a:r>
            <a:endParaRPr lang="ja-JP" altLang="en-US" sz="2800">
              <a:solidFill>
                <a:srgbClr val="000000"/>
              </a:solidFill>
              <a:effectLst/>
              <a:latin typeface="Gill Sans" panose="020B0502020104020203" pitchFamily="34" charset="-79"/>
              <a:cs typeface="Gill Sans" panose="020B0502020104020203" pitchFamily="34" charset="-79"/>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ヌルクライン</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ベクトル場</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latin typeface="Hiragino Sans" panose="020B0400000000000000" pitchFamily="34" charset="-128"/>
                <a:ea typeface="Hiragino Sans" panose="020B0400000000000000" pitchFamily="34" charset="-128"/>
              </a:rPr>
              <a:t>固定点</a:t>
            </a:r>
            <a:endParaRPr lang="ja-JP" altLang="en-US" sz="280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ヤコビ行列</a:t>
            </a:r>
          </a:p>
          <a:p>
            <a:pPr>
              <a:spcAft>
                <a:spcPts val="1275"/>
              </a:spcAft>
              <a:buFont typeface="+mj-lt"/>
              <a:buAutoNum type="arabicPeriod"/>
            </a:pPr>
            <a:r>
              <a:rPr lang="ja-JP" altLang="en-US" sz="2800">
                <a:effectLst/>
                <a:latin typeface="Hiragino Sans" panose="020B0400000000000000" pitchFamily="34" charset="-128"/>
                <a:ea typeface="Hiragino Sans" panose="020B0400000000000000" pitchFamily="34" charset="-128"/>
              </a:rPr>
              <a:t>固有値による安定性解析</a:t>
            </a:r>
          </a:p>
          <a:p>
            <a:pPr>
              <a:spcAft>
                <a:spcPts val="1275"/>
              </a:spcAft>
              <a:buFont typeface="+mj-lt"/>
              <a:buAutoNum type="arabicPeriod"/>
            </a:pPr>
            <a:r>
              <a:rPr lang="ja-JP" altLang="en-US" sz="2800">
                <a:solidFill>
                  <a:srgbClr val="C00000"/>
                </a:solidFill>
                <a:effectLst/>
                <a:latin typeface="Hiragino Sans" panose="020B0400000000000000" pitchFamily="34" charset="-128"/>
                <a:ea typeface="Hiragino Sans" panose="020B0400000000000000" pitchFamily="34" charset="-128"/>
                <a:cs typeface="Gill Sans" panose="020B0502020104020203" pitchFamily="34" charset="-79"/>
              </a:rPr>
              <a:t>分岐図・相図</a:t>
            </a:r>
            <a:endParaRPr lang="ja-JP" altLang="en-US" sz="2800">
              <a:solidFill>
                <a:srgbClr val="C00000"/>
              </a:solidFill>
              <a:effectLst/>
              <a:latin typeface="Gill Sans" panose="020B0502020104020203" pitchFamily="34" charset="-79"/>
              <a:cs typeface="Gill Sans" panose="020B0502020104020203" pitchFamily="34" charset="-79"/>
            </a:endParaRPr>
          </a:p>
        </p:txBody>
      </p:sp>
    </p:spTree>
    <p:extLst>
      <p:ext uri="{BB962C8B-B14F-4D97-AF65-F5344CB8AC3E}">
        <p14:creationId xmlns:p14="http://schemas.microsoft.com/office/powerpoint/2010/main" val="35135929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 name="分岐図(bifurcation diagram)から…"/>
          <p:cNvSpPr txBox="1">
            <a:spLocks noGrp="1"/>
          </p:cNvSpPr>
          <p:nvPr>
            <p:ph type="title"/>
          </p:nvPr>
        </p:nvSpPr>
        <p:spPr>
          <a:prstGeom prst="rect">
            <a:avLst/>
          </a:prstGeom>
        </p:spPr>
        <p:txBody>
          <a:bodyPr/>
          <a:lstStyle/>
          <a:p>
            <a:r>
              <a:rPr sz="4000" dirty="0" err="1"/>
              <a:t>分岐図</a:t>
            </a:r>
            <a:r>
              <a:rPr sz="4000" dirty="0"/>
              <a:t>(bifurcation diagram)</a:t>
            </a:r>
            <a:r>
              <a:rPr lang="ja-JP" altLang="en-US" sz="4000"/>
              <a:t>と</a:t>
            </a:r>
            <a:r>
              <a:rPr sz="4000" dirty="0" err="1"/>
              <a:t>相図</a:t>
            </a:r>
            <a:r>
              <a:rPr sz="4000" dirty="0"/>
              <a:t>(phase diagram)</a:t>
            </a:r>
          </a:p>
        </p:txBody>
      </p:sp>
      <p:sp>
        <p:nvSpPr>
          <p:cNvPr id="797" name="前回はパラメータを1つ振った (ρ)…"/>
          <p:cNvSpPr txBox="1">
            <a:spLocks noGrp="1"/>
          </p:cNvSpPr>
          <p:nvPr>
            <p:ph type="body" sz="quarter" idx="4294967295"/>
          </p:nvPr>
        </p:nvSpPr>
        <p:spPr>
          <a:xfrm>
            <a:off x="778580" y="1286517"/>
            <a:ext cx="7939970" cy="1257300"/>
          </a:xfrm>
          <a:prstGeom prst="rect">
            <a:avLst/>
          </a:prstGeom>
        </p:spPr>
        <p:txBody>
          <a:bodyPr>
            <a:normAutofit/>
          </a:bodyPr>
          <a:lstStyle/>
          <a:p>
            <a:r>
              <a:rPr lang="ja-JP" altLang="en-US"/>
              <a:t>分岐図</a:t>
            </a:r>
            <a:r>
              <a:rPr lang="en-US" altLang="ja-JP" dirty="0"/>
              <a:t>: </a:t>
            </a:r>
            <a:r>
              <a:rPr dirty="0"/>
              <a:t>パラメータを1つ振</a:t>
            </a:r>
            <a:r>
              <a:rPr lang="ja-JP" altLang="en-US"/>
              <a:t>る</a:t>
            </a:r>
            <a:r>
              <a:rPr dirty="0"/>
              <a:t> (</a:t>
            </a:r>
            <a:r>
              <a:rPr dirty="0" err="1"/>
              <a:t>ρ</a:t>
            </a:r>
            <a:r>
              <a:rPr dirty="0"/>
              <a:t>)</a:t>
            </a:r>
          </a:p>
          <a:p>
            <a:r>
              <a:rPr lang="ja-JP" altLang="en-US"/>
              <a:t>相図</a:t>
            </a:r>
            <a:r>
              <a:rPr lang="en-US" altLang="ja-JP" dirty="0"/>
              <a:t>: </a:t>
            </a:r>
            <a:r>
              <a:rPr lang="ja-JP" altLang="en-US"/>
              <a:t>パラメータ</a:t>
            </a:r>
            <a:r>
              <a:rPr dirty="0"/>
              <a:t>2つ</a:t>
            </a:r>
            <a:r>
              <a:rPr lang="ja-JP" altLang="en-US"/>
              <a:t>を</a:t>
            </a:r>
            <a:r>
              <a:rPr dirty="0" err="1"/>
              <a:t>同時に振る</a:t>
            </a:r>
            <a:r>
              <a:rPr dirty="0"/>
              <a:t>(</a:t>
            </a:r>
            <a:r>
              <a:rPr i="1" dirty="0">
                <a:latin typeface="Times New Roman"/>
                <a:ea typeface="Times New Roman"/>
                <a:cs typeface="Times New Roman"/>
                <a:sym typeface="Times New Roman"/>
              </a:rPr>
              <a:t>a, b</a:t>
            </a:r>
            <a:r>
              <a:rPr dirty="0"/>
              <a:t>)</a:t>
            </a:r>
          </a:p>
        </p:txBody>
      </p:sp>
      <p:pic>
        <p:nvPicPr>
          <p:cNvPr id="798" name="image.pdf" descr="image.pdf"/>
          <p:cNvPicPr>
            <a:picLocks/>
          </p:cNvPicPr>
          <p:nvPr/>
        </p:nvPicPr>
        <p:blipFill>
          <a:blip r:embed="rId2"/>
          <a:stretch>
            <a:fillRect/>
          </a:stretch>
        </p:blipFill>
        <p:spPr>
          <a:xfrm>
            <a:off x="6824843" y="3052403"/>
            <a:ext cx="3728154" cy="3219811"/>
          </a:xfrm>
          <a:prstGeom prst="rect">
            <a:avLst/>
          </a:prstGeom>
          <a:ln w="12700">
            <a:miter lim="400000"/>
          </a:ln>
        </p:spPr>
      </p:pic>
      <p:sp>
        <p:nvSpPr>
          <p:cNvPr id="799" name="ρ"/>
          <p:cNvSpPr/>
          <p:nvPr/>
        </p:nvSpPr>
        <p:spPr>
          <a:xfrm>
            <a:off x="3716124" y="6057861"/>
            <a:ext cx="309380"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sz="2800" dirty="0" err="1"/>
              <a:t>ρ</a:t>
            </a:r>
            <a:endParaRPr sz="2800" dirty="0"/>
          </a:p>
        </p:txBody>
      </p:sp>
      <p:pic>
        <p:nvPicPr>
          <p:cNvPr id="800" name="droppedImage.tiff" descr="droppedImage.tiff"/>
          <p:cNvPicPr>
            <a:picLocks noChangeAspect="1"/>
          </p:cNvPicPr>
          <p:nvPr/>
        </p:nvPicPr>
        <p:blipFill>
          <a:blip r:embed="rId3"/>
          <a:stretch>
            <a:fillRect/>
          </a:stretch>
        </p:blipFill>
        <p:spPr>
          <a:xfrm>
            <a:off x="1981201" y="3538547"/>
            <a:ext cx="3568701" cy="2671755"/>
          </a:xfrm>
          <a:prstGeom prst="rect">
            <a:avLst/>
          </a:prstGeom>
          <a:ln w="12700">
            <a:miter lim="400000"/>
          </a:ln>
        </p:spPr>
      </p:pic>
      <p:sp>
        <p:nvSpPr>
          <p:cNvPr id="801" name="LacY-GFP"/>
          <p:cNvSpPr/>
          <p:nvPr/>
        </p:nvSpPr>
        <p:spPr>
          <a:xfrm rot="16200000">
            <a:off x="1084957" y="4483062"/>
            <a:ext cx="1664110"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sz="2800"/>
              <a:t>LacY-GFP</a:t>
            </a:r>
          </a:p>
        </p:txBody>
      </p:sp>
      <p:sp>
        <p:nvSpPr>
          <p:cNvPr id="802" name="b"/>
          <p:cNvSpPr/>
          <p:nvPr/>
        </p:nvSpPr>
        <p:spPr>
          <a:xfrm rot="16200000">
            <a:off x="6653436" y="4285219"/>
            <a:ext cx="282129"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i="1">
                <a:latin typeface="Times New Roman"/>
                <a:ea typeface="Times New Roman"/>
                <a:cs typeface="Times New Roman"/>
                <a:sym typeface="Times New Roman"/>
              </a:defRPr>
            </a:lvl1pPr>
          </a:lstStyle>
          <a:p>
            <a:r>
              <a:rPr sz="2800"/>
              <a:t>b</a:t>
            </a:r>
          </a:p>
        </p:txBody>
      </p:sp>
      <p:sp>
        <p:nvSpPr>
          <p:cNvPr id="803" name="a"/>
          <p:cNvSpPr/>
          <p:nvPr/>
        </p:nvSpPr>
        <p:spPr>
          <a:xfrm>
            <a:off x="8629873" y="6057861"/>
            <a:ext cx="282129"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i="1">
                <a:latin typeface="Times New Roman"/>
                <a:ea typeface="Times New Roman"/>
                <a:cs typeface="Times New Roman"/>
                <a:sym typeface="Times New Roman"/>
              </a:defRPr>
            </a:lvl1pPr>
          </a:lstStyle>
          <a:p>
            <a:r>
              <a:rPr sz="2800"/>
              <a:t>a</a:t>
            </a:r>
          </a:p>
        </p:txBody>
      </p:sp>
      <p:sp>
        <p:nvSpPr>
          <p:cNvPr id="2" name="a=0.14, b=0.6">
            <a:extLst>
              <a:ext uri="{FF2B5EF4-FFF2-40B4-BE49-F238E27FC236}">
                <a16:creationId xmlns:a16="http://schemas.microsoft.com/office/drawing/2014/main" id="{12D972DB-31D6-BE9F-C402-729DEF1EFF59}"/>
              </a:ext>
            </a:extLst>
          </p:cNvPr>
          <p:cNvSpPr/>
          <p:nvPr/>
        </p:nvSpPr>
        <p:spPr>
          <a:xfrm>
            <a:off x="2167415" y="2636897"/>
            <a:ext cx="3568701"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lgn="l">
              <a:buClr>
                <a:srgbClr val="000000"/>
              </a:buClr>
              <a:buFont typeface="Arial"/>
            </a:lvl1pPr>
          </a:lstStyle>
          <a:p>
            <a:r>
              <a:rPr lang="en-US" sz="2400" dirty="0" err="1"/>
              <a:t>Ozbudakモデルの分岐図</a:t>
            </a:r>
            <a:endParaRPr sz="2400" dirty="0"/>
          </a:p>
        </p:txBody>
      </p:sp>
      <p:sp>
        <p:nvSpPr>
          <p:cNvPr id="3" name="a=0.06, b=0.6">
            <a:extLst>
              <a:ext uri="{FF2B5EF4-FFF2-40B4-BE49-F238E27FC236}">
                <a16:creationId xmlns:a16="http://schemas.microsoft.com/office/drawing/2014/main" id="{7278A033-3BF8-852A-C759-1B8C540A197F}"/>
              </a:ext>
            </a:extLst>
          </p:cNvPr>
          <p:cNvSpPr/>
          <p:nvPr/>
        </p:nvSpPr>
        <p:spPr>
          <a:xfrm>
            <a:off x="7110326" y="2636897"/>
            <a:ext cx="2914259"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l">
              <a:buClr>
                <a:srgbClr val="000000"/>
              </a:buClr>
              <a:buFont typeface="Arial"/>
            </a:lvl1pPr>
          </a:lstStyle>
          <a:p>
            <a:r>
              <a:rPr lang="en-US" sz="2400" dirty="0" err="1"/>
              <a:t>Sel’kovモデルの相図</a:t>
            </a:r>
            <a:endParaRPr sz="2400" dirty="0"/>
          </a:p>
        </p:txBody>
      </p:sp>
    </p:spTree>
    <p:extLst>
      <p:ext uri="{BB962C8B-B14F-4D97-AF65-F5344CB8AC3E}">
        <p14:creationId xmlns:p14="http://schemas.microsoft.com/office/powerpoint/2010/main" val="3548165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 name="a"/>
          <p:cNvSpPr/>
          <p:nvPr/>
        </p:nvSpPr>
        <p:spPr>
          <a:xfrm>
            <a:off x="5076507" y="5717908"/>
            <a:ext cx="282129"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Times New Roman"/>
              <a:defRPr i="1">
                <a:latin typeface="Times New Roman"/>
                <a:ea typeface="Times New Roman"/>
                <a:cs typeface="Times New Roman"/>
                <a:sym typeface="Times New Roman"/>
              </a:defRPr>
            </a:lvl1pPr>
          </a:lstStyle>
          <a:p>
            <a:r>
              <a:rPr sz="2800"/>
              <a:t>a</a:t>
            </a:r>
          </a:p>
        </p:txBody>
      </p:sp>
      <p:sp>
        <p:nvSpPr>
          <p:cNvPr id="807" name="b"/>
          <p:cNvSpPr/>
          <p:nvPr/>
        </p:nvSpPr>
        <p:spPr>
          <a:xfrm>
            <a:off x="2412682" y="3701783"/>
            <a:ext cx="282129"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Times New Roman"/>
              <a:defRPr i="1">
                <a:latin typeface="Times New Roman"/>
                <a:ea typeface="Times New Roman"/>
                <a:cs typeface="Times New Roman"/>
                <a:sym typeface="Times New Roman"/>
              </a:defRPr>
            </a:lvl1pPr>
          </a:lstStyle>
          <a:p>
            <a:r>
              <a:rPr sz="2800"/>
              <a:t>b</a:t>
            </a:r>
          </a:p>
        </p:txBody>
      </p:sp>
      <p:sp>
        <p:nvSpPr>
          <p:cNvPr id="809" name="演習8: Sel’kovモデルの相図を…"/>
          <p:cNvSpPr txBox="1">
            <a:spLocks noGrp="1"/>
          </p:cNvSpPr>
          <p:nvPr>
            <p:ph type="title"/>
          </p:nvPr>
        </p:nvSpPr>
        <p:spPr>
          <a:prstGeom prst="rect">
            <a:avLst/>
          </a:prstGeom>
        </p:spPr>
        <p:txBody>
          <a:bodyPr/>
          <a:lstStyle/>
          <a:p>
            <a:r>
              <a:rPr sz="3600" dirty="0"/>
              <a:t>演習8: </a:t>
            </a:r>
            <a:r>
              <a:rPr sz="3600" dirty="0" err="1"/>
              <a:t>Sel’kovモデルの相図を描きなさい</a:t>
            </a:r>
            <a:r>
              <a:rPr sz="3600" dirty="0"/>
              <a:t> (</a:t>
            </a:r>
            <a:r>
              <a:rPr sz="3600" dirty="0" err="1"/>
              <a:t>下は完成図</a:t>
            </a:r>
            <a:r>
              <a:rPr sz="3600" dirty="0"/>
              <a:t>)</a:t>
            </a:r>
          </a:p>
        </p:txBody>
      </p:sp>
      <p:sp>
        <p:nvSpPr>
          <p:cNvPr id="810" name="● 実数・安定…"/>
          <p:cNvSpPr/>
          <p:nvPr/>
        </p:nvSpPr>
        <p:spPr>
          <a:xfrm>
            <a:off x="7829552" y="4133561"/>
            <a:ext cx="2872581" cy="15799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a:buClr>
                <a:srgbClr val="000000"/>
              </a:buClr>
              <a:buFont typeface="Arial"/>
            </a:pPr>
            <a:r>
              <a:rPr sz="2400" dirty="0"/>
              <a:t>●　</a:t>
            </a:r>
            <a:r>
              <a:rPr sz="2400" dirty="0" err="1"/>
              <a:t>実数・安定</a:t>
            </a:r>
            <a:endParaRPr sz="2400" dirty="0"/>
          </a:p>
          <a:p>
            <a:pPr algn="l">
              <a:buClr>
                <a:srgbClr val="000000"/>
              </a:buClr>
              <a:buFont typeface="Arial"/>
            </a:pPr>
            <a:r>
              <a:rPr sz="2400" dirty="0"/>
              <a:t>○　</a:t>
            </a:r>
            <a:r>
              <a:rPr sz="2400" dirty="0" err="1"/>
              <a:t>実数・不安定</a:t>
            </a:r>
            <a:endParaRPr sz="2400" dirty="0"/>
          </a:p>
          <a:p>
            <a:pPr algn="l">
              <a:buClr>
                <a:srgbClr val="FF9292"/>
              </a:buClr>
              <a:buFont typeface="Arial"/>
            </a:pPr>
            <a:r>
              <a:rPr sz="2400" dirty="0">
                <a:solidFill>
                  <a:srgbClr val="FF9292"/>
                </a:solidFill>
                <a:uFill>
                  <a:solidFill>
                    <a:srgbClr val="FF9292"/>
                  </a:solidFill>
                </a:uFill>
              </a:rPr>
              <a:t>●</a:t>
            </a:r>
            <a:r>
              <a:rPr sz="2400" dirty="0"/>
              <a:t>　</a:t>
            </a:r>
            <a:r>
              <a:rPr sz="2400" dirty="0" err="1"/>
              <a:t>複素数・安定</a:t>
            </a:r>
            <a:endParaRPr sz="2400" dirty="0"/>
          </a:p>
          <a:p>
            <a:pPr algn="l">
              <a:buClr>
                <a:srgbClr val="FF9292"/>
              </a:buClr>
              <a:buFont typeface="Arial"/>
            </a:pPr>
            <a:r>
              <a:rPr sz="2400" dirty="0">
                <a:solidFill>
                  <a:srgbClr val="FF9292"/>
                </a:solidFill>
                <a:uFill>
                  <a:solidFill>
                    <a:srgbClr val="FF9292"/>
                  </a:solidFill>
                </a:uFill>
              </a:rPr>
              <a:t>○</a:t>
            </a:r>
            <a:r>
              <a:rPr sz="2400" dirty="0"/>
              <a:t>　</a:t>
            </a:r>
            <a:r>
              <a:rPr sz="2400" dirty="0" err="1"/>
              <a:t>複素数・不安定</a:t>
            </a:r>
            <a:endParaRPr sz="2400" dirty="0"/>
          </a:p>
        </p:txBody>
      </p:sp>
      <p:sp>
        <p:nvSpPr>
          <p:cNvPr id="2" name="a=0.14, b=0.6">
            <a:extLst>
              <a:ext uri="{FF2B5EF4-FFF2-40B4-BE49-F238E27FC236}">
                <a16:creationId xmlns:a16="http://schemas.microsoft.com/office/drawing/2014/main" id="{C5B587A5-4ED3-4C89-3FF0-591A559FEAF5}"/>
              </a:ext>
            </a:extLst>
          </p:cNvPr>
          <p:cNvSpPr/>
          <p:nvPr/>
        </p:nvSpPr>
        <p:spPr>
          <a:xfrm>
            <a:off x="711201" y="1401001"/>
            <a:ext cx="11088913"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lgn="l">
              <a:buClr>
                <a:srgbClr val="000000"/>
              </a:buClr>
              <a:buFont typeface="Arial"/>
            </a:lvl1pPr>
          </a:lstStyle>
          <a:p>
            <a:r>
              <a:rPr lang="en-US" sz="2800" dirty="0" err="1"/>
              <a:t>ドットの形と色で安定・不安定、実数・複素数が分かるようにする</a:t>
            </a:r>
            <a:endParaRPr sz="2800" dirty="0"/>
          </a:p>
        </p:txBody>
      </p:sp>
      <p:pic>
        <p:nvPicPr>
          <p:cNvPr id="3" name="図 2">
            <a:extLst>
              <a:ext uri="{FF2B5EF4-FFF2-40B4-BE49-F238E27FC236}">
                <a16:creationId xmlns:a16="http://schemas.microsoft.com/office/drawing/2014/main" id="{9623BB26-A894-2A42-C29A-99A5CE2ECC62}"/>
              </a:ext>
            </a:extLst>
          </p:cNvPr>
          <p:cNvPicPr>
            <a:picLocks noChangeAspect="1"/>
          </p:cNvPicPr>
          <p:nvPr/>
        </p:nvPicPr>
        <p:blipFill>
          <a:blip r:embed="rId2"/>
          <a:stretch>
            <a:fillRect/>
          </a:stretch>
        </p:blipFill>
        <p:spPr>
          <a:xfrm>
            <a:off x="2749358" y="2076214"/>
            <a:ext cx="4973001" cy="3729751"/>
          </a:xfrm>
          <a:prstGeom prst="rect">
            <a:avLst/>
          </a:prstGeom>
        </p:spPr>
      </p:pic>
    </p:spTree>
    <p:extLst>
      <p:ext uri="{BB962C8B-B14F-4D97-AF65-F5344CB8AC3E}">
        <p14:creationId xmlns:p14="http://schemas.microsoft.com/office/powerpoint/2010/main" val="176882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 name="ヒント1"/>
          <p:cNvSpPr txBox="1">
            <a:spLocks noGrp="1"/>
          </p:cNvSpPr>
          <p:nvPr>
            <p:ph type="title"/>
          </p:nvPr>
        </p:nvSpPr>
        <p:spPr>
          <a:prstGeom prst="rect">
            <a:avLst/>
          </a:prstGeom>
        </p:spPr>
        <p:txBody>
          <a:bodyPr/>
          <a:lstStyle/>
          <a:p>
            <a:r>
              <a:rPr dirty="0" err="1"/>
              <a:t>ヒント</a:t>
            </a:r>
            <a:endParaRPr dirty="0"/>
          </a:p>
        </p:txBody>
      </p:sp>
      <p:sp>
        <p:nvSpPr>
          <p:cNvPr id="812" name="プロットの際、点に色を付けるには…"/>
          <p:cNvSpPr txBox="1">
            <a:spLocks noGrp="1"/>
          </p:cNvSpPr>
          <p:nvPr>
            <p:ph type="body" idx="4294967295"/>
          </p:nvPr>
        </p:nvSpPr>
        <p:spPr>
          <a:xfrm>
            <a:off x="387926" y="1422399"/>
            <a:ext cx="11097491" cy="4756727"/>
          </a:xfrm>
          <a:prstGeom prst="rect">
            <a:avLst/>
          </a:prstGeom>
        </p:spPr>
        <p:txBody>
          <a:bodyPr>
            <a:noAutofit/>
          </a:bodyPr>
          <a:lstStyle/>
          <a:p>
            <a:pPr marL="253745" indent="-253745" defTabSz="300736">
              <a:spcBef>
                <a:spcPts val="1200"/>
              </a:spcBef>
              <a:buClr>
                <a:srgbClr val="000000"/>
              </a:buClr>
              <a:buSzPct val="100000"/>
              <a:buFont typeface="Arial"/>
              <a:defRPr sz="1776"/>
            </a:pPr>
            <a:r>
              <a:rPr lang="en-US" sz="2400" dirty="0" err="1"/>
              <a:t>SymPyの道具</a:t>
            </a:r>
            <a:endParaRPr sz="2400" dirty="0"/>
          </a:p>
          <a:p>
            <a:pPr marL="579856" lvl="1" indent="-211454" defTabSz="300736">
              <a:spcBef>
                <a:spcPts val="1200"/>
              </a:spcBef>
              <a:buClr>
                <a:srgbClr val="000000"/>
              </a:buClr>
              <a:buSzPct val="100000"/>
              <a:buFont typeface="Arial"/>
              <a:defRPr sz="1776"/>
            </a:pPr>
            <a:r>
              <a:rPr lang="en-US" sz="2400" dirty="0" err="1"/>
              <a:t>変数</a:t>
            </a:r>
            <a:r>
              <a:rPr lang="en-US" sz="2400" dirty="0"/>
              <a:t> r </a:t>
            </a:r>
            <a:r>
              <a:rPr lang="en-US" sz="2400" dirty="0" err="1"/>
              <a:t>の値が</a:t>
            </a:r>
            <a:r>
              <a:rPr sz="2400" dirty="0" err="1"/>
              <a:t>実数なら</a:t>
            </a:r>
            <a:r>
              <a:rPr lang="en-US" sz="2400" dirty="0"/>
              <a:t> true</a:t>
            </a:r>
            <a:r>
              <a:rPr sz="2400" dirty="0"/>
              <a:t> </a:t>
            </a:r>
            <a:r>
              <a:rPr lang="ja-JP" altLang="en-US" sz="2400"/>
              <a:t>となる</a:t>
            </a:r>
            <a:r>
              <a:rPr sz="2400" dirty="0"/>
              <a:t> </a:t>
            </a:r>
            <a:r>
              <a:rPr lang="en-US" sz="2400" dirty="0" err="1"/>
              <a:t>r.</a:t>
            </a:r>
            <a:r>
              <a:rPr sz="2400" dirty="0" err="1">
                <a:solidFill>
                  <a:srgbClr val="0085CC"/>
                </a:solidFill>
                <a:uFill>
                  <a:solidFill>
                    <a:srgbClr val="0085CC"/>
                  </a:solidFill>
                </a:uFill>
              </a:rPr>
              <a:t>is</a:t>
            </a:r>
            <a:r>
              <a:rPr lang="en-US" sz="2400" dirty="0" err="1">
                <a:solidFill>
                  <a:srgbClr val="0085CC"/>
                </a:solidFill>
                <a:uFill>
                  <a:solidFill>
                    <a:srgbClr val="0085CC"/>
                  </a:solidFill>
                </a:uFill>
              </a:rPr>
              <a:t>_</a:t>
            </a:r>
            <a:r>
              <a:rPr sz="2400" dirty="0" err="1">
                <a:solidFill>
                  <a:srgbClr val="0085CC"/>
                </a:solidFill>
                <a:uFill>
                  <a:solidFill>
                    <a:srgbClr val="0085CC"/>
                  </a:solidFill>
                </a:uFill>
              </a:rPr>
              <a:t>real</a:t>
            </a:r>
            <a:r>
              <a:rPr lang="en-GB" altLang="ja-JP" sz="2400" dirty="0"/>
              <a:t> ( if </a:t>
            </a:r>
            <a:r>
              <a:rPr lang="en-GB" altLang="ja-JP" sz="2400" dirty="0" err="1"/>
              <a:t>r.is_real</a:t>
            </a:r>
            <a:r>
              <a:rPr lang="en-GB" altLang="ja-JP" sz="2400" dirty="0"/>
              <a:t> : </a:t>
            </a:r>
            <a:r>
              <a:rPr lang="ja-JP" altLang="en-US" sz="2400"/>
              <a:t>のように書けばよい</a:t>
            </a:r>
            <a:r>
              <a:rPr lang="en-GB" altLang="ja-JP" sz="2400" dirty="0"/>
              <a:t>)</a:t>
            </a:r>
            <a:endParaRPr sz="2400" dirty="0"/>
          </a:p>
          <a:p>
            <a:pPr marL="579856" lvl="1" indent="-211454" defTabSz="300736">
              <a:spcBef>
                <a:spcPts val="1200"/>
              </a:spcBef>
              <a:buClr>
                <a:srgbClr val="000000"/>
              </a:buClr>
              <a:buSzPct val="100000"/>
              <a:buFont typeface="Arial"/>
              <a:defRPr sz="1776"/>
            </a:pPr>
            <a:r>
              <a:rPr sz="2400" dirty="0" err="1"/>
              <a:t>複素数</a:t>
            </a:r>
            <a:r>
              <a:rPr lang="en-US" sz="2400" dirty="0"/>
              <a:t> c </a:t>
            </a:r>
            <a:r>
              <a:rPr sz="2400" dirty="0" err="1"/>
              <a:t>の実部を返す関数</a:t>
            </a:r>
            <a:r>
              <a:rPr sz="2400" dirty="0"/>
              <a:t>  </a:t>
            </a:r>
            <a:r>
              <a:rPr sz="2400" dirty="0">
                <a:solidFill>
                  <a:srgbClr val="0085CC"/>
                </a:solidFill>
                <a:uFill>
                  <a:solidFill>
                    <a:srgbClr val="0085CC"/>
                  </a:solidFill>
                </a:uFill>
              </a:rPr>
              <a:t>re</a:t>
            </a:r>
            <a:r>
              <a:rPr sz="2400" dirty="0"/>
              <a:t>(c)</a:t>
            </a:r>
            <a:endParaRPr lang="en-US" sz="2400" dirty="0"/>
          </a:p>
          <a:p>
            <a:pPr marL="179806" indent="-211454" defTabSz="300736">
              <a:spcBef>
                <a:spcPts val="1200"/>
              </a:spcBef>
              <a:buClr>
                <a:srgbClr val="000000"/>
              </a:buClr>
              <a:buSzPct val="100000"/>
              <a:buFont typeface="Arial"/>
              <a:defRPr sz="1776"/>
            </a:pPr>
            <a:endParaRPr lang="en-GB" altLang="ja-JP" sz="2800" dirty="0"/>
          </a:p>
          <a:p>
            <a:pPr marL="179806" indent="-211454" defTabSz="300736">
              <a:spcBef>
                <a:spcPts val="1200"/>
              </a:spcBef>
              <a:buClr>
                <a:srgbClr val="000000"/>
              </a:buClr>
              <a:buSzPct val="100000"/>
              <a:buFont typeface="Arial"/>
              <a:defRPr sz="1776"/>
            </a:pPr>
            <a:r>
              <a:rPr lang="en-GB" altLang="ja-JP" sz="2800" dirty="0"/>
              <a:t>for</a:t>
            </a:r>
            <a:r>
              <a:rPr lang="ja-JP" altLang="en-US" sz="2800"/>
              <a:t>ループで </a:t>
            </a:r>
            <a:r>
              <a:rPr lang="en-GB" altLang="ja-JP" sz="2800" dirty="0"/>
              <a:t>a , b </a:t>
            </a:r>
            <a:r>
              <a:rPr lang="ja-JP" altLang="en-US" sz="2800"/>
              <a:t>の値を振る</a:t>
            </a:r>
            <a:endParaRPr lang="en-US" altLang="ja-JP" sz="2800" dirty="0"/>
          </a:p>
          <a:p>
            <a:pPr marL="579856" lvl="1" indent="-211454" defTabSz="300736">
              <a:spcBef>
                <a:spcPts val="1200"/>
              </a:spcBef>
              <a:buClr>
                <a:srgbClr val="000000"/>
              </a:buClr>
              <a:buSzPct val="100000"/>
              <a:buFont typeface="Arial"/>
              <a:defRPr sz="1776"/>
            </a:pPr>
            <a:r>
              <a:rPr lang="en-GB" altLang="ja-JP" sz="2400" dirty="0"/>
              <a:t>if</a:t>
            </a:r>
            <a:r>
              <a:rPr lang="ja-JP" altLang="en-US" sz="2400"/>
              <a:t>文で固有値の実数・複素数を判定</a:t>
            </a:r>
            <a:endParaRPr lang="en-US" altLang="ja-JP" sz="1400" dirty="0"/>
          </a:p>
          <a:p>
            <a:pPr marL="579856" lvl="1" indent="-211454" defTabSz="300736">
              <a:spcBef>
                <a:spcPts val="1200"/>
              </a:spcBef>
              <a:buClr>
                <a:srgbClr val="000000"/>
              </a:buClr>
              <a:buSzPct val="100000"/>
              <a:buFont typeface="Arial"/>
              <a:defRPr sz="1776"/>
            </a:pPr>
            <a:r>
              <a:rPr lang="ja-JP" altLang="en-US" sz="2400"/>
              <a:t>片方の固有値だけ見れば</a:t>
            </a:r>
            <a:r>
              <a:rPr lang="en-GB" altLang="ja-JP" sz="2400" dirty="0"/>
              <a:t>OK  (∵</a:t>
            </a:r>
            <a:r>
              <a:rPr lang="ja-JP" altLang="en-US" sz="2400"/>
              <a:t>共役複素数</a:t>
            </a:r>
            <a:r>
              <a:rPr lang="en-US" altLang="ja-JP" sz="2400" dirty="0"/>
              <a:t>) </a:t>
            </a:r>
          </a:p>
          <a:p>
            <a:pPr marL="579856" lvl="1" indent="-211454" defTabSz="300736">
              <a:spcBef>
                <a:spcPts val="1200"/>
              </a:spcBef>
              <a:buClr>
                <a:srgbClr val="000000"/>
              </a:buClr>
              <a:buSzPct val="100000"/>
              <a:buFont typeface="Arial"/>
              <a:defRPr sz="1776"/>
            </a:pPr>
            <a:r>
              <a:rPr lang="en-US" altLang="ja-JP" sz="2400" dirty="0"/>
              <a:t>if</a:t>
            </a:r>
            <a:r>
              <a:rPr lang="ja-JP" altLang="en-US" sz="2400"/>
              <a:t>文で実部が負か正か判定</a:t>
            </a:r>
            <a:r>
              <a:rPr lang="en-US" altLang="ja-JP" sz="2400" dirty="0"/>
              <a:t> </a:t>
            </a:r>
            <a:r>
              <a:rPr lang="ja-JP" altLang="en-US" sz="2400"/>
              <a:t>→</a:t>
            </a:r>
            <a:r>
              <a:rPr lang="en-US" altLang="ja-JP" sz="2400" dirty="0"/>
              <a:t> </a:t>
            </a:r>
            <a:r>
              <a:rPr lang="ja-JP" altLang="en-US" sz="2400"/>
              <a:t>安定</a:t>
            </a:r>
            <a:r>
              <a:rPr lang="en-US" altLang="ja-JP" sz="2400" dirty="0"/>
              <a:t> or </a:t>
            </a:r>
            <a:r>
              <a:rPr lang="ja-JP" altLang="en-US" sz="2400"/>
              <a:t>不安定の判定</a:t>
            </a:r>
          </a:p>
          <a:p>
            <a:pPr marL="579856" lvl="1" indent="-211454" defTabSz="300736">
              <a:spcBef>
                <a:spcPts val="1200"/>
              </a:spcBef>
              <a:buClr>
                <a:srgbClr val="000000"/>
              </a:buClr>
              <a:buSzPct val="100000"/>
              <a:buFont typeface="Arial"/>
              <a:defRPr sz="1776"/>
            </a:pPr>
            <a:endParaRPr lang="en-US" altLang="ja-JP" sz="2400" dirty="0"/>
          </a:p>
          <a:p>
            <a:pPr marL="579856" lvl="1" indent="-211454" defTabSz="300736">
              <a:spcBef>
                <a:spcPts val="1200"/>
              </a:spcBef>
              <a:buClr>
                <a:srgbClr val="000000"/>
              </a:buClr>
              <a:buSzPct val="100000"/>
              <a:buFont typeface="Arial"/>
              <a:defRPr sz="1776"/>
            </a:pPr>
            <a:endParaRPr lang="en-US" altLang="ja-JP" sz="2400" dirty="0"/>
          </a:p>
          <a:p>
            <a:pPr marL="979906" lvl="2" indent="-211454" defTabSz="300736">
              <a:spcBef>
                <a:spcPts val="1200"/>
              </a:spcBef>
              <a:buClr>
                <a:srgbClr val="000000"/>
              </a:buClr>
              <a:buSzPct val="100000"/>
              <a:buFont typeface="Arial"/>
              <a:buChar char="–"/>
              <a:defRPr sz="1776"/>
            </a:pPr>
            <a:endParaRPr lang="en-US" altLang="ja-JP" sz="2000" dirty="0"/>
          </a:p>
          <a:p>
            <a:pPr marL="440284" lvl="1" indent="0" defTabSz="402336">
              <a:spcBef>
                <a:spcPts val="1600"/>
              </a:spcBef>
              <a:buClr>
                <a:srgbClr val="000000"/>
              </a:buClr>
              <a:buSzPct val="100000"/>
              <a:buNone/>
              <a:defRPr sz="1782"/>
            </a:pPr>
            <a:endParaRPr lang="ja-JP" altLang="en-US" sz="2000"/>
          </a:p>
          <a:p>
            <a:pPr marL="379704" indent="-339470" defTabSz="402336">
              <a:spcBef>
                <a:spcPts val="1600"/>
              </a:spcBef>
              <a:buClr>
                <a:srgbClr val="000000"/>
              </a:buClr>
              <a:buSzPct val="100000"/>
              <a:buFont typeface="Arial"/>
              <a:defRPr sz="1782"/>
            </a:pPr>
            <a:endParaRPr lang="ja-JP" altLang="en-US"/>
          </a:p>
          <a:p>
            <a:pPr marL="1171803" lvl="2" indent="-226313" defTabSz="402336">
              <a:spcBef>
                <a:spcPts val="1600"/>
              </a:spcBef>
              <a:buClr>
                <a:srgbClr val="000000"/>
              </a:buClr>
              <a:buSzPct val="100000"/>
              <a:buFont typeface="Arial"/>
              <a:buChar char="–"/>
              <a:defRPr sz="1386"/>
            </a:pPr>
            <a:endParaRPr lang="en-US" altLang="ja-JP" dirty="0"/>
          </a:p>
          <a:p>
            <a:pPr marL="179806" indent="-211454" defTabSz="300736">
              <a:spcBef>
                <a:spcPts val="1200"/>
              </a:spcBef>
              <a:buClr>
                <a:srgbClr val="000000"/>
              </a:buClr>
              <a:buSzPct val="100000"/>
              <a:buFont typeface="Arial"/>
              <a:defRPr sz="1776"/>
            </a:pPr>
            <a:endParaRPr sz="2800" dirty="0"/>
          </a:p>
        </p:txBody>
      </p:sp>
    </p:spTree>
    <p:extLst>
      <p:ext uri="{BB962C8B-B14F-4D97-AF65-F5344CB8AC3E}">
        <p14:creationId xmlns:p14="http://schemas.microsoft.com/office/powerpoint/2010/main" val="24843128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 name="空欄を埋めなさい(1/2)"/>
          <p:cNvSpPr txBox="1">
            <a:spLocks noGrp="1"/>
          </p:cNvSpPr>
          <p:nvPr>
            <p:ph type="title"/>
          </p:nvPr>
        </p:nvSpPr>
        <p:spPr>
          <a:prstGeom prst="rect">
            <a:avLst/>
          </a:prstGeom>
        </p:spPr>
        <p:txBody>
          <a:bodyPr/>
          <a:lstStyle/>
          <a:p>
            <a:r>
              <a:rPr dirty="0" err="1"/>
              <a:t>空欄を埋めなさい</a:t>
            </a:r>
            <a:endParaRPr dirty="0"/>
          </a:p>
        </p:txBody>
      </p:sp>
      <p:sp>
        <p:nvSpPr>
          <p:cNvPr id="3" name="テキスト ボックス 2">
            <a:extLst>
              <a:ext uri="{FF2B5EF4-FFF2-40B4-BE49-F238E27FC236}">
                <a16:creationId xmlns:a16="http://schemas.microsoft.com/office/drawing/2014/main" id="{417B5334-C40B-2DD3-410B-52ACA9D1650E}"/>
              </a:ext>
            </a:extLst>
          </p:cNvPr>
          <p:cNvSpPr txBox="1"/>
          <p:nvPr/>
        </p:nvSpPr>
        <p:spPr>
          <a:xfrm>
            <a:off x="222586" y="1301376"/>
            <a:ext cx="4906975" cy="5355312"/>
          </a:xfrm>
          <a:prstGeom prst="rect">
            <a:avLst/>
          </a:prstGeom>
          <a:noFill/>
          <a:ln>
            <a:solidFill>
              <a:schemeClr val="tx1"/>
            </a:solidFill>
          </a:ln>
        </p:spPr>
        <p:txBody>
          <a:bodyPr wrap="square">
            <a:spAutoFit/>
          </a:bodyPr>
          <a:lstStyle/>
          <a:p>
            <a:r>
              <a:rPr lang="ja-JP" altLang="en-US" b="1">
                <a:solidFill>
                  <a:srgbClr val="000000"/>
                </a:solidFill>
                <a:latin typeface="Hiragino Kaku Gothic ProN W6" panose="020B0300000000000000" pitchFamily="34" charset="-128"/>
                <a:ea typeface="Hiragino Kaku Gothic ProN W6" panose="020B0300000000000000" pitchFamily="34" charset="-128"/>
              </a:rPr>
              <a:t>コード</a:t>
            </a:r>
            <a:r>
              <a:rPr lang="en-GB" altLang="ja-JP" dirty="0">
                <a:latin typeface="Courier New" panose="02070309020205020404" pitchFamily="49" charset="0"/>
                <a:cs typeface="Courier New" panose="02070309020205020404" pitchFamily="49" charset="0"/>
              </a:rPr>
              <a:t>(</a:t>
            </a:r>
            <a:r>
              <a:rPr lang="en-GB" altLang="ja-JP" dirty="0" err="1">
                <a:latin typeface="Courier New" panose="02070309020205020404" pitchFamily="49" charset="0"/>
                <a:cs typeface="Courier New" panose="02070309020205020404" pitchFamily="49" charset="0"/>
              </a:rPr>
              <a:t>selkov_phase_diagram.py</a:t>
            </a:r>
            <a:r>
              <a:rPr lang="en-GB" altLang="ja-JP" dirty="0">
                <a:latin typeface="Courier New" panose="02070309020205020404" pitchFamily="49" charset="0"/>
                <a:cs typeface="Courier New" panose="02070309020205020404" pitchFamily="49" charset="0"/>
              </a:rPr>
              <a:t>)</a:t>
            </a:r>
            <a:endParaRPr lang="en-US" altLang="ja-JP" dirty="0"/>
          </a:p>
          <a:p>
            <a:r>
              <a:rPr lang="ja-JP" altLang="en-US"/>
              <a:t>import matplotlib.pyplot as plt</a:t>
            </a:r>
          </a:p>
          <a:p>
            <a:r>
              <a:rPr lang="ja-JP" altLang="en-US"/>
              <a:t>import numpy as np</a:t>
            </a:r>
          </a:p>
          <a:p>
            <a:r>
              <a:rPr lang="ja-JP" altLang="en-US"/>
              <a:t>import sympy as sp</a:t>
            </a:r>
          </a:p>
          <a:p>
            <a:r>
              <a:rPr lang="ja-JP" altLang="en-US"/>
              <a:t>from sympy import re</a:t>
            </a:r>
            <a:r>
              <a:rPr lang="en-US" altLang="ja-JP" dirty="0"/>
              <a:t> </a:t>
            </a:r>
            <a:r>
              <a:rPr lang="en-US" altLang="ja-JP" dirty="0">
                <a:solidFill>
                  <a:srgbClr val="008F00"/>
                </a:solidFill>
              </a:rPr>
              <a:t># </a:t>
            </a:r>
            <a:r>
              <a:rPr lang="ja-JP" altLang="en-US">
                <a:solidFill>
                  <a:srgbClr val="008F00"/>
                </a:solidFill>
              </a:rPr>
              <a:t>複素数の実部を取得</a:t>
            </a:r>
          </a:p>
          <a:p>
            <a:endParaRPr lang="en-US" altLang="ja-JP" dirty="0"/>
          </a:p>
          <a:p>
            <a:r>
              <a:rPr lang="en-US" altLang="ja-JP" dirty="0"/>
              <a:t># </a:t>
            </a:r>
            <a:r>
              <a:rPr lang="ja-JP" altLang="en-US"/>
              <a:t>変数と定数</a:t>
            </a:r>
          </a:p>
          <a:p>
            <a:r>
              <a:rPr lang="en-US" altLang="ja-JP" dirty="0"/>
              <a:t>(</a:t>
            </a:r>
            <a:r>
              <a:rPr lang="ja-JP" altLang="en-US"/>
              <a:t>略</a:t>
            </a:r>
            <a:r>
              <a:rPr lang="en-US" altLang="ja-JP" dirty="0"/>
              <a:t>)</a:t>
            </a:r>
            <a:endParaRPr lang="ja-JP" altLang="en-US"/>
          </a:p>
          <a:p>
            <a:endParaRPr lang="en-GB" altLang="ja-JP" dirty="0"/>
          </a:p>
          <a:p>
            <a:r>
              <a:rPr lang="en-GB" altLang="ja-JP" dirty="0"/>
              <a:t># </a:t>
            </a:r>
            <a:r>
              <a:rPr lang="ja-JP" altLang="en-US"/>
              <a:t>ヌルクラインと固定点</a:t>
            </a:r>
          </a:p>
          <a:p>
            <a:r>
              <a:rPr lang="en-US" altLang="ja-JP" dirty="0"/>
              <a:t>(</a:t>
            </a:r>
            <a:r>
              <a:rPr lang="ja-JP" altLang="en-US"/>
              <a:t>略</a:t>
            </a:r>
            <a:r>
              <a:rPr lang="en-US" altLang="ja-JP" dirty="0"/>
              <a:t>)</a:t>
            </a:r>
            <a:endParaRPr lang="ja-JP" altLang="en-US"/>
          </a:p>
          <a:p>
            <a:endParaRPr lang="en-GB" altLang="ja-JP" dirty="0"/>
          </a:p>
          <a:p>
            <a:r>
              <a:rPr lang="en-GB" altLang="ja-JP" dirty="0"/>
              <a:t># </a:t>
            </a:r>
            <a:r>
              <a:rPr lang="ja-JP" altLang="en-US"/>
              <a:t>ヤコビ行列</a:t>
            </a:r>
          </a:p>
          <a:p>
            <a:r>
              <a:rPr lang="en-US" altLang="ja-JP" dirty="0"/>
              <a:t>(</a:t>
            </a:r>
            <a:r>
              <a:rPr lang="ja-JP" altLang="en-US"/>
              <a:t>略</a:t>
            </a:r>
            <a:r>
              <a:rPr lang="en-US" altLang="ja-JP" dirty="0"/>
              <a:t>)</a:t>
            </a:r>
            <a:endParaRPr lang="ja-JP" altLang="en-US"/>
          </a:p>
          <a:p>
            <a:endParaRPr lang="en-US" altLang="ja-JP" dirty="0"/>
          </a:p>
          <a:p>
            <a:r>
              <a:rPr lang="ja-JP" altLang="en-US"/>
              <a:t># 相図を描く</a:t>
            </a:r>
          </a:p>
          <a:p>
            <a:r>
              <a:rPr lang="ja-JP" altLang="en-US"/>
              <a:t>a_grid = np.linspace( 0, 0.15, 15 )</a:t>
            </a:r>
          </a:p>
          <a:p>
            <a:r>
              <a:rPr lang="ja-JP" altLang="en-US"/>
              <a:t>b_grid = np.linspace( 0, 1.0, 10 )</a:t>
            </a:r>
          </a:p>
          <a:p>
            <a:r>
              <a:rPr lang="ja-JP" altLang="en-US"/>
              <a:t>[A, B] = np.meshgrid( a_grid , b_grid )</a:t>
            </a:r>
          </a:p>
        </p:txBody>
      </p:sp>
      <p:sp>
        <p:nvSpPr>
          <p:cNvPr id="5" name="テキスト ボックス 4">
            <a:extLst>
              <a:ext uri="{FF2B5EF4-FFF2-40B4-BE49-F238E27FC236}">
                <a16:creationId xmlns:a16="http://schemas.microsoft.com/office/drawing/2014/main" id="{DEE6CDB4-9B65-B88A-9A41-2F6DF9ADB3F0}"/>
              </a:ext>
            </a:extLst>
          </p:cNvPr>
          <p:cNvSpPr txBox="1"/>
          <p:nvPr/>
        </p:nvSpPr>
        <p:spPr>
          <a:xfrm>
            <a:off x="5776638" y="1301376"/>
            <a:ext cx="6100010" cy="5355312"/>
          </a:xfrm>
          <a:prstGeom prst="rect">
            <a:avLst/>
          </a:prstGeom>
          <a:noFill/>
          <a:ln>
            <a:solidFill>
              <a:schemeClr val="tx1"/>
            </a:solidFill>
          </a:ln>
        </p:spPr>
        <p:txBody>
          <a:bodyPr wrap="square">
            <a:spAutoFit/>
          </a:bodyPr>
          <a:lstStyle/>
          <a:p>
            <a:r>
              <a:rPr lang="ja-JP" altLang="en-US"/>
              <a:t>for a_val , b_val in zip( A.flatten() , B.flatten() ):</a:t>
            </a:r>
          </a:p>
          <a:p>
            <a:r>
              <a:rPr lang="ja-JP" altLang="en-US"/>
              <a:t>    J_num = J_sym.subs( [ ( x , fix_x ) , ( y , fix_y ) , ( a , a_val ), ( b , b_val ) ] )</a:t>
            </a:r>
          </a:p>
          <a:p>
            <a:r>
              <a:rPr lang="ja-JP" altLang="en-US"/>
              <a:t>    eig1, eig2 = J_num.eigenvals().keys()</a:t>
            </a:r>
          </a:p>
          <a:p>
            <a:endParaRPr lang="ja-JP" altLang="en-US"/>
          </a:p>
          <a:p>
            <a:r>
              <a:rPr lang="ja-JP" altLang="en-US"/>
              <a:t>    if          : </a:t>
            </a:r>
            <a:r>
              <a:rPr lang="ja-JP" altLang="en-US">
                <a:solidFill>
                  <a:srgbClr val="008F00"/>
                </a:solidFill>
              </a:rPr>
              <a:t># eig1 が実数ならば if 節に入る</a:t>
            </a:r>
          </a:p>
          <a:p>
            <a:r>
              <a:rPr lang="ja-JP" altLang="en-US"/>
              <a:t>        if eig1 &lt; 0 and eig2 &lt; 0 : # 実数・安定</a:t>
            </a:r>
          </a:p>
          <a:p>
            <a:r>
              <a:rPr lang="ja-JP" altLang="en-US"/>
              <a:t>            plt.plot( a_val , b_val , 'ko' ) </a:t>
            </a:r>
          </a:p>
          <a:p>
            <a:r>
              <a:rPr lang="ja-JP" altLang="en-US"/>
              <a:t>        else : # 実数・不安定</a:t>
            </a:r>
          </a:p>
          <a:p>
            <a:r>
              <a:rPr lang="ja-JP" altLang="en-US"/>
              <a:t>            plt.plot( a_val , b_val , 'ko' , fillstyle='none') </a:t>
            </a:r>
          </a:p>
          <a:p>
            <a:r>
              <a:rPr lang="ja-JP" altLang="en-US"/>
              <a:t>    else :</a:t>
            </a:r>
          </a:p>
          <a:p>
            <a:r>
              <a:rPr lang="ja-JP" altLang="en-US"/>
              <a:t>        if         : </a:t>
            </a:r>
            <a:r>
              <a:rPr lang="ja-JP" altLang="en-US">
                <a:solidFill>
                  <a:srgbClr val="008F00"/>
                </a:solidFill>
              </a:rPr>
              <a:t># eig1 の実部が負であれば if 節に入る。すなわち複素数・安定の場合。</a:t>
            </a:r>
          </a:p>
          <a:p>
            <a:r>
              <a:rPr lang="ja-JP" altLang="en-US"/>
              <a:t>            plt.plot( a_val , b_val , 'ro' ) </a:t>
            </a:r>
          </a:p>
          <a:p>
            <a:r>
              <a:rPr lang="ja-JP" altLang="en-US"/>
              <a:t>        else : # 複素数・不安定</a:t>
            </a:r>
          </a:p>
          <a:p>
            <a:r>
              <a:rPr lang="ja-JP" altLang="en-US"/>
              <a:t>            plt.plot( a_val , b_val , 'ro' , fillstyle='none') </a:t>
            </a:r>
          </a:p>
          <a:p>
            <a:endParaRPr lang="ja-JP" altLang="en-US"/>
          </a:p>
          <a:p>
            <a:r>
              <a:rPr lang="en-US" altLang="ja-JP" dirty="0"/>
              <a:t>(</a:t>
            </a:r>
            <a:r>
              <a:rPr lang="ja-JP" altLang="en-US"/>
              <a:t>略</a:t>
            </a:r>
            <a:r>
              <a:rPr lang="en-US" altLang="ja-JP" dirty="0"/>
              <a:t>)</a:t>
            </a:r>
            <a:r>
              <a:rPr lang="ja-JP" altLang="en-US"/>
              <a:t>            </a:t>
            </a:r>
          </a:p>
          <a:p>
            <a:r>
              <a:rPr lang="ja-JP" altLang="en-US"/>
              <a:t>plt.show()</a:t>
            </a:r>
          </a:p>
        </p:txBody>
      </p:sp>
      <p:sp>
        <p:nvSpPr>
          <p:cNvPr id="6" name="正方形/長方形 5">
            <a:extLst>
              <a:ext uri="{FF2B5EF4-FFF2-40B4-BE49-F238E27FC236}">
                <a16:creationId xmlns:a16="http://schemas.microsoft.com/office/drawing/2014/main" id="{68CB047B-703B-1B1E-0188-50D27922D39B}"/>
              </a:ext>
            </a:extLst>
          </p:cNvPr>
          <p:cNvSpPr/>
          <p:nvPr/>
        </p:nvSpPr>
        <p:spPr>
          <a:xfrm>
            <a:off x="6555549" y="4378521"/>
            <a:ext cx="463317"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D3FB1DA9-1A0A-60F5-D7DC-B92BB9FD76EB}"/>
              </a:ext>
            </a:extLst>
          </p:cNvPr>
          <p:cNvSpPr/>
          <p:nvPr/>
        </p:nvSpPr>
        <p:spPr>
          <a:xfrm>
            <a:off x="6286969" y="2721361"/>
            <a:ext cx="537163"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71182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F0002A2C-416B-AE5C-3C8B-105D42E7D0C1}"/>
              </a:ext>
            </a:extLst>
          </p:cNvPr>
          <p:cNvPicPr>
            <a:picLocks noChangeAspect="1"/>
          </p:cNvPicPr>
          <p:nvPr/>
        </p:nvPicPr>
        <p:blipFill>
          <a:blip r:embed="rId2"/>
          <a:stretch>
            <a:fillRect/>
          </a:stretch>
        </p:blipFill>
        <p:spPr>
          <a:xfrm>
            <a:off x="2411124" y="1475772"/>
            <a:ext cx="6192233" cy="4644175"/>
          </a:xfrm>
          <a:prstGeom prst="rect">
            <a:avLst/>
          </a:prstGeom>
        </p:spPr>
      </p:pic>
      <p:sp>
        <p:nvSpPr>
          <p:cNvPr id="836" name="a"/>
          <p:cNvSpPr/>
          <p:nvPr/>
        </p:nvSpPr>
        <p:spPr>
          <a:xfrm>
            <a:off x="5398237" y="5504568"/>
            <a:ext cx="21800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Times New Roman"/>
              <a:defRPr i="1">
                <a:latin typeface="Times New Roman"/>
                <a:ea typeface="Times New Roman"/>
                <a:cs typeface="Times New Roman"/>
                <a:sym typeface="Times New Roman"/>
              </a:defRPr>
            </a:lvl1pPr>
          </a:lstStyle>
          <a:p>
            <a:r>
              <a:t>a</a:t>
            </a:r>
          </a:p>
        </p:txBody>
      </p:sp>
      <p:sp>
        <p:nvSpPr>
          <p:cNvPr id="837" name="b"/>
          <p:cNvSpPr/>
          <p:nvPr/>
        </p:nvSpPr>
        <p:spPr>
          <a:xfrm>
            <a:off x="2734412" y="3488443"/>
            <a:ext cx="21800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Times New Roman"/>
              <a:defRPr i="1">
                <a:latin typeface="Times New Roman"/>
                <a:ea typeface="Times New Roman"/>
                <a:cs typeface="Times New Roman"/>
                <a:sym typeface="Times New Roman"/>
              </a:defRPr>
            </a:lvl1pPr>
          </a:lstStyle>
          <a:p>
            <a:r>
              <a:t>b</a:t>
            </a:r>
          </a:p>
        </p:txBody>
      </p:sp>
      <p:sp>
        <p:nvSpPr>
          <p:cNvPr id="838" name="● 実数・安定…"/>
          <p:cNvSpPr/>
          <p:nvPr/>
        </p:nvSpPr>
        <p:spPr>
          <a:xfrm>
            <a:off x="8421121" y="5242131"/>
            <a:ext cx="2180084" cy="1210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a:buClr>
                <a:srgbClr val="000000"/>
              </a:buClr>
              <a:buFont typeface="Arial"/>
            </a:pPr>
            <a:r>
              <a:rPr dirty="0"/>
              <a:t>●　</a:t>
            </a:r>
            <a:r>
              <a:rPr dirty="0" err="1"/>
              <a:t>実数・安定</a:t>
            </a:r>
            <a:endParaRPr dirty="0"/>
          </a:p>
          <a:p>
            <a:pPr algn="l">
              <a:buClr>
                <a:srgbClr val="000000"/>
              </a:buClr>
              <a:buFont typeface="Arial"/>
            </a:pPr>
            <a:r>
              <a:rPr dirty="0"/>
              <a:t>○　</a:t>
            </a:r>
            <a:r>
              <a:rPr dirty="0" err="1"/>
              <a:t>実数・不安定</a:t>
            </a:r>
            <a:endParaRPr dirty="0"/>
          </a:p>
          <a:p>
            <a:pPr algn="l">
              <a:buClr>
                <a:srgbClr val="FF9292"/>
              </a:buClr>
              <a:buFont typeface="Arial"/>
            </a:pPr>
            <a:r>
              <a:rPr dirty="0">
                <a:solidFill>
                  <a:srgbClr val="FF9292"/>
                </a:solidFill>
                <a:uFill>
                  <a:solidFill>
                    <a:srgbClr val="FF9292"/>
                  </a:solidFill>
                </a:uFill>
              </a:rPr>
              <a:t>●</a:t>
            </a:r>
            <a:r>
              <a:rPr dirty="0"/>
              <a:t>　</a:t>
            </a:r>
            <a:r>
              <a:rPr dirty="0" err="1"/>
              <a:t>複素数・安定</a:t>
            </a:r>
            <a:endParaRPr dirty="0"/>
          </a:p>
          <a:p>
            <a:pPr algn="l">
              <a:buClr>
                <a:srgbClr val="FF9292"/>
              </a:buClr>
              <a:buFont typeface="Arial"/>
            </a:pPr>
            <a:r>
              <a:rPr dirty="0">
                <a:solidFill>
                  <a:srgbClr val="FF9292"/>
                </a:solidFill>
                <a:uFill>
                  <a:solidFill>
                    <a:srgbClr val="FF9292"/>
                  </a:solidFill>
                </a:uFill>
              </a:rPr>
              <a:t>○</a:t>
            </a:r>
            <a:r>
              <a:rPr dirty="0"/>
              <a:t>　</a:t>
            </a:r>
            <a:r>
              <a:rPr dirty="0" err="1"/>
              <a:t>複素数・不安定</a:t>
            </a:r>
            <a:endParaRPr dirty="0"/>
          </a:p>
        </p:txBody>
      </p:sp>
      <p:sp>
        <p:nvSpPr>
          <p:cNvPr id="840" name="線"/>
          <p:cNvSpPr/>
          <p:nvPr/>
        </p:nvSpPr>
        <p:spPr>
          <a:xfrm>
            <a:off x="3522131" y="1992313"/>
            <a:ext cx="3265615" cy="3276601"/>
          </a:xfrm>
          <a:custGeom>
            <a:avLst/>
            <a:gdLst/>
            <a:ahLst/>
            <a:cxnLst>
              <a:cxn ang="0">
                <a:pos x="wd2" y="hd2"/>
              </a:cxn>
              <a:cxn ang="5400000">
                <a:pos x="wd2" y="hd2"/>
              </a:cxn>
              <a:cxn ang="10800000">
                <a:pos x="wd2" y="hd2"/>
              </a:cxn>
              <a:cxn ang="16200000">
                <a:pos x="wd2" y="hd2"/>
              </a:cxn>
            </a:cxnLst>
            <a:rect l="0" t="0" r="r" b="b"/>
            <a:pathLst>
              <a:path w="21424" h="21600" extrusionOk="0">
                <a:moveTo>
                  <a:pt x="0" y="0"/>
                </a:moveTo>
                <a:cubicBezTo>
                  <a:pt x="10621" y="2972"/>
                  <a:pt x="21243" y="5944"/>
                  <a:pt x="21421" y="9544"/>
                </a:cubicBezTo>
                <a:cubicBezTo>
                  <a:pt x="21600" y="13144"/>
                  <a:pt x="11336" y="17372"/>
                  <a:pt x="1071" y="21600"/>
                </a:cubicBezTo>
              </a:path>
            </a:pathLst>
          </a:custGeom>
          <a:ln w="28575">
            <a:solidFill>
              <a:srgbClr val="5B92C7"/>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41" name="線"/>
          <p:cNvSpPr/>
          <p:nvPr/>
        </p:nvSpPr>
        <p:spPr>
          <a:xfrm flipH="1">
            <a:off x="4907426" y="1683536"/>
            <a:ext cx="1050029" cy="713907"/>
          </a:xfrm>
          <a:prstGeom prst="line">
            <a:avLst/>
          </a:prstGeom>
          <a:ln w="38100">
            <a:solidFill>
              <a:srgbClr val="5B92C7"/>
            </a:solidFill>
            <a:tailEnd type="triangle"/>
          </a:ln>
        </p:spPr>
        <p:txBody>
          <a:bodyPr lIns="0" tIns="0" rIns="0" bIns="0"/>
          <a:lstStyle/>
          <a:p>
            <a:pPr defTabSz="457200">
              <a:defRPr sz="1200">
                <a:latin typeface="Helvetica"/>
                <a:ea typeface="Helvetica"/>
                <a:cs typeface="Helvetica"/>
                <a:sym typeface="Helvetica"/>
              </a:defRPr>
            </a:pPr>
            <a:endParaRPr sz="1200"/>
          </a:p>
        </p:txBody>
      </p:sp>
      <p:sp>
        <p:nvSpPr>
          <p:cNvPr id="842" name="参考: 振動を起こすa, bの組合せ"/>
          <p:cNvSpPr txBox="1">
            <a:spLocks noGrp="1"/>
          </p:cNvSpPr>
          <p:nvPr>
            <p:ph type="title"/>
          </p:nvPr>
        </p:nvSpPr>
        <p:spPr>
          <a:prstGeom prst="rect">
            <a:avLst/>
          </a:prstGeom>
        </p:spPr>
        <p:txBody>
          <a:bodyPr/>
          <a:lstStyle/>
          <a:p>
            <a:r>
              <a:rPr dirty="0" err="1"/>
              <a:t>振動を起こす</a:t>
            </a:r>
            <a:r>
              <a:rPr i="1" dirty="0" err="1"/>
              <a:t>a</a:t>
            </a:r>
            <a:r>
              <a:rPr i="1" dirty="0"/>
              <a:t>, </a:t>
            </a:r>
            <a:r>
              <a:rPr i="1" dirty="0" err="1"/>
              <a:t>b</a:t>
            </a:r>
            <a:r>
              <a:rPr dirty="0" err="1"/>
              <a:t>の組合せ</a:t>
            </a:r>
            <a:endParaRPr dirty="0"/>
          </a:p>
        </p:txBody>
      </p:sp>
      <p:sp>
        <p:nvSpPr>
          <p:cNvPr id="843" name="この曲線上で…"/>
          <p:cNvSpPr/>
          <p:nvPr/>
        </p:nvSpPr>
        <p:spPr>
          <a:xfrm>
            <a:off x="4267693" y="1176199"/>
            <a:ext cx="444031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a:buClr>
                <a:srgbClr val="000000"/>
              </a:buClr>
              <a:buFont typeface="Arial"/>
            </a:pPr>
            <a:r>
              <a:rPr sz="2400" dirty="0" err="1"/>
              <a:t>この曲線上でHopf分岐が起きる</a:t>
            </a:r>
            <a:endParaRPr sz="2400" dirty="0"/>
          </a:p>
        </p:txBody>
      </p:sp>
      <p:sp>
        <p:nvSpPr>
          <p:cNvPr id="5" name="四角形吹き出し 4">
            <a:extLst>
              <a:ext uri="{FF2B5EF4-FFF2-40B4-BE49-F238E27FC236}">
                <a16:creationId xmlns:a16="http://schemas.microsoft.com/office/drawing/2014/main" id="{9CE35593-300A-CB57-FA5F-0D46B254AC7E}"/>
              </a:ext>
            </a:extLst>
          </p:cNvPr>
          <p:cNvSpPr/>
          <p:nvPr/>
        </p:nvSpPr>
        <p:spPr>
          <a:xfrm>
            <a:off x="69337" y="4396879"/>
            <a:ext cx="2665075" cy="2071341"/>
          </a:xfrm>
          <a:prstGeom prst="wedgeRectCallout">
            <a:avLst>
              <a:gd name="adj1" fmla="val 136894"/>
              <a:gd name="adj2" fmla="val -8752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図 3">
            <a:extLst>
              <a:ext uri="{FF2B5EF4-FFF2-40B4-BE49-F238E27FC236}">
                <a16:creationId xmlns:a16="http://schemas.microsoft.com/office/drawing/2014/main" id="{1D602B46-10F2-2282-FB4E-4B5E03884289}"/>
              </a:ext>
            </a:extLst>
          </p:cNvPr>
          <p:cNvPicPr>
            <a:picLocks noChangeAspect="1"/>
          </p:cNvPicPr>
          <p:nvPr/>
        </p:nvPicPr>
        <p:blipFill>
          <a:blip r:embed="rId3"/>
          <a:srcRect l="3952" t="7039" r="8607"/>
          <a:stretch>
            <a:fillRect/>
          </a:stretch>
        </p:blipFill>
        <p:spPr>
          <a:xfrm>
            <a:off x="194403" y="4503176"/>
            <a:ext cx="2414941" cy="1925548"/>
          </a:xfrm>
          <a:prstGeom prst="rect">
            <a:avLst/>
          </a:prstGeom>
        </p:spPr>
      </p:pic>
      <p:sp>
        <p:nvSpPr>
          <p:cNvPr id="6" name="四角形吹き出し 5">
            <a:extLst>
              <a:ext uri="{FF2B5EF4-FFF2-40B4-BE49-F238E27FC236}">
                <a16:creationId xmlns:a16="http://schemas.microsoft.com/office/drawing/2014/main" id="{2861FAF8-BE7D-DCAD-0916-A50A359D0D41}"/>
              </a:ext>
            </a:extLst>
          </p:cNvPr>
          <p:cNvSpPr/>
          <p:nvPr/>
        </p:nvSpPr>
        <p:spPr>
          <a:xfrm>
            <a:off x="9286422" y="1466455"/>
            <a:ext cx="2665075" cy="2071341"/>
          </a:xfrm>
          <a:prstGeom prst="wedgeRectCallout">
            <a:avLst>
              <a:gd name="adj1" fmla="val -113135"/>
              <a:gd name="adj2" fmla="val 4681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27948BB1-B8C1-6678-3DCC-118272D125D4}"/>
              </a:ext>
            </a:extLst>
          </p:cNvPr>
          <p:cNvPicPr>
            <a:picLocks noChangeAspect="1"/>
          </p:cNvPicPr>
          <p:nvPr/>
        </p:nvPicPr>
        <p:blipFill>
          <a:blip r:embed="rId4"/>
          <a:srcRect l="4507" t="8314" r="5463"/>
          <a:stretch>
            <a:fillRect/>
          </a:stretch>
        </p:blipFill>
        <p:spPr>
          <a:xfrm>
            <a:off x="9391076" y="1564266"/>
            <a:ext cx="2455768" cy="1875721"/>
          </a:xfrm>
          <a:prstGeom prst="rect">
            <a:avLst/>
          </a:prstGeom>
        </p:spPr>
      </p:pic>
    </p:spTree>
    <p:extLst>
      <p:ext uri="{BB962C8B-B14F-4D97-AF65-F5344CB8AC3E}">
        <p14:creationId xmlns:p14="http://schemas.microsoft.com/office/powerpoint/2010/main" val="3967587381"/>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iterate>
                                    <p:tmAbs val="0"/>
                                  </p:iterate>
                                  <p:childTnLst>
                                    <p:set>
                                      <p:cBhvr>
                                        <p:cTn id="6" fill="hold"/>
                                        <p:tgtEl>
                                          <p:spTgt spid="840"/>
                                        </p:tgtEl>
                                        <p:attrNameLst>
                                          <p:attrName>style.visibility</p:attrName>
                                        </p:attrNameLst>
                                      </p:cBhvr>
                                      <p:to>
                                        <p:strVal val="visible"/>
                                      </p:to>
                                    </p:set>
                                    <p:animEffect transition="in" filter="wipe(down)">
                                      <p:cBhvr>
                                        <p:cTn id="7" dur="500"/>
                                        <p:tgtEl>
                                          <p:spTgt spid="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 grpId="0" animBg="1" advAuto="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 name="Sel’kovモデルにおける分岐"/>
          <p:cNvSpPr txBox="1">
            <a:spLocks noGrp="1"/>
          </p:cNvSpPr>
          <p:nvPr>
            <p:ph type="title"/>
          </p:nvPr>
        </p:nvSpPr>
        <p:spPr>
          <a:prstGeom prst="rect">
            <a:avLst/>
          </a:prstGeom>
        </p:spPr>
        <p:txBody>
          <a:bodyPr/>
          <a:lstStyle/>
          <a:p>
            <a:r>
              <a:t>Sel’kovモデルにおける分岐</a:t>
            </a:r>
          </a:p>
        </p:txBody>
      </p:sp>
      <p:sp>
        <p:nvSpPr>
          <p:cNvPr id="845" name="振動の理由…"/>
          <p:cNvSpPr txBox="1">
            <a:spLocks noGrp="1"/>
          </p:cNvSpPr>
          <p:nvPr>
            <p:ph type="body" idx="4294967295"/>
          </p:nvPr>
        </p:nvSpPr>
        <p:spPr>
          <a:xfrm>
            <a:off x="962526" y="1870910"/>
            <a:ext cx="9804400" cy="4013200"/>
          </a:xfrm>
          <a:prstGeom prst="rect">
            <a:avLst/>
          </a:prstGeom>
        </p:spPr>
        <p:txBody>
          <a:bodyPr/>
          <a:lstStyle/>
          <a:p>
            <a:pPr marL="383540">
              <a:buClr>
                <a:srgbClr val="000000"/>
              </a:buClr>
              <a:buSzPct val="100000"/>
              <a:buFont typeface="Arial"/>
            </a:pPr>
            <a:r>
              <a:rPr dirty="0" err="1"/>
              <a:t>振動の理由</a:t>
            </a:r>
            <a:endParaRPr dirty="0"/>
          </a:p>
          <a:p>
            <a:pPr marL="783590" lvl="1">
              <a:buClr>
                <a:srgbClr val="000000"/>
              </a:buClr>
              <a:buSzPct val="100000"/>
              <a:buFont typeface="Arial"/>
            </a:pPr>
            <a:r>
              <a:rPr dirty="0" err="1"/>
              <a:t>反応系の構造そのもの</a:t>
            </a:r>
            <a:endParaRPr dirty="0"/>
          </a:p>
          <a:p>
            <a:pPr marL="783590" lvl="1">
              <a:buClr>
                <a:srgbClr val="000000"/>
              </a:buClr>
              <a:buSzPct val="100000"/>
              <a:buFont typeface="Arial"/>
            </a:pPr>
            <a:r>
              <a:rPr dirty="0" err="1"/>
              <a:t>リミットサイクルをつくるようなパラメータを自然が選んだ</a:t>
            </a:r>
            <a:endParaRPr dirty="0"/>
          </a:p>
          <a:p>
            <a:pPr marL="1183639" lvl="2">
              <a:buClr>
                <a:srgbClr val="000000"/>
              </a:buClr>
              <a:buSzPct val="100000"/>
              <a:buFont typeface="Arial"/>
              <a:buChar char="–"/>
            </a:pPr>
            <a:endParaRPr dirty="0"/>
          </a:p>
          <a:p>
            <a:pPr marL="383540">
              <a:buClr>
                <a:srgbClr val="000000"/>
              </a:buClr>
              <a:buSzPct val="100000"/>
              <a:buFont typeface="Arial"/>
            </a:pPr>
            <a:r>
              <a:rPr dirty="0" err="1"/>
              <a:t>振動</a:t>
            </a:r>
            <a:r>
              <a:rPr dirty="0"/>
              <a:t> ←→ </a:t>
            </a:r>
            <a:r>
              <a:rPr dirty="0" err="1"/>
              <a:t>定常状態</a:t>
            </a:r>
            <a:endParaRPr dirty="0"/>
          </a:p>
          <a:p>
            <a:pPr marL="783590" lvl="1">
              <a:buClr>
                <a:srgbClr val="000000"/>
              </a:buClr>
              <a:buSzPct val="100000"/>
              <a:buFont typeface="Arial"/>
            </a:pPr>
            <a:r>
              <a:rPr dirty="0"/>
              <a:t>Hopf </a:t>
            </a:r>
            <a:r>
              <a:rPr dirty="0" err="1"/>
              <a:t>分岐として説明できる</a:t>
            </a:r>
            <a:endParaRPr dirty="0"/>
          </a:p>
        </p:txBody>
      </p:sp>
    </p:spTree>
    <p:extLst>
      <p:ext uri="{BB962C8B-B14F-4D97-AF65-F5344CB8AC3E}">
        <p14:creationId xmlns:p14="http://schemas.microsoft.com/office/powerpoint/2010/main" val="12995469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 name="Hopf分岐は生化学的振動現象を 司る分岐である"/>
          <p:cNvSpPr txBox="1">
            <a:spLocks noGrp="1"/>
          </p:cNvSpPr>
          <p:nvPr>
            <p:ph type="title"/>
          </p:nvPr>
        </p:nvSpPr>
        <p:spPr>
          <a:prstGeom prst="rect">
            <a:avLst/>
          </a:prstGeom>
        </p:spPr>
        <p:txBody>
          <a:bodyPr/>
          <a:lstStyle/>
          <a:p>
            <a:r>
              <a:rPr sz="4000" dirty="0" err="1"/>
              <a:t>Hopf分岐は生化学的振動現象を司る分岐である</a:t>
            </a:r>
            <a:endParaRPr sz="4000" dirty="0"/>
          </a:p>
        </p:txBody>
      </p:sp>
      <p:sp>
        <p:nvSpPr>
          <p:cNvPr id="848" name="周期振動をつくる「エンジン」の正体…"/>
          <p:cNvSpPr txBox="1">
            <a:spLocks noGrp="1"/>
          </p:cNvSpPr>
          <p:nvPr>
            <p:ph type="body" idx="4294967295"/>
          </p:nvPr>
        </p:nvSpPr>
        <p:spPr>
          <a:xfrm>
            <a:off x="1193800" y="1991226"/>
            <a:ext cx="9804400" cy="4013200"/>
          </a:xfrm>
          <a:prstGeom prst="rect">
            <a:avLst/>
          </a:prstGeom>
        </p:spPr>
        <p:txBody>
          <a:bodyPr/>
          <a:lstStyle/>
          <a:p>
            <a:pPr marL="383540">
              <a:buClr>
                <a:srgbClr val="FF9292"/>
              </a:buClr>
              <a:buSzPct val="100000"/>
              <a:buFont typeface="Arial"/>
              <a:defRPr>
                <a:solidFill>
                  <a:srgbClr val="FF7E79"/>
                </a:solidFill>
                <a:uFill>
                  <a:solidFill>
                    <a:srgbClr val="FF7E79"/>
                  </a:solidFill>
                </a:uFill>
              </a:defRPr>
            </a:pPr>
            <a:r>
              <a:rPr dirty="0" err="1"/>
              <a:t>周期振動をつくる「エンジン」の正体</a:t>
            </a:r>
            <a:endParaRPr dirty="0"/>
          </a:p>
          <a:p>
            <a:pPr marL="783590" lvl="1">
              <a:buClr>
                <a:srgbClr val="000000"/>
              </a:buClr>
              <a:buSzPct val="100000"/>
              <a:buFont typeface="Arial"/>
            </a:pPr>
            <a:r>
              <a:rPr dirty="0" err="1">
                <a:uFill>
                  <a:solidFill>
                    <a:srgbClr val="000000"/>
                  </a:solidFill>
                </a:uFill>
              </a:rPr>
              <a:t>定常解</a:t>
            </a:r>
            <a:r>
              <a:rPr dirty="0">
                <a:uFill>
                  <a:solidFill>
                    <a:srgbClr val="000000"/>
                  </a:solidFill>
                </a:uFill>
              </a:rPr>
              <a:t> ←→ </a:t>
            </a:r>
            <a:r>
              <a:rPr dirty="0" err="1">
                <a:uFill>
                  <a:solidFill>
                    <a:srgbClr val="000000"/>
                  </a:solidFill>
                </a:uFill>
              </a:rPr>
              <a:t>リミットサイクル</a:t>
            </a:r>
            <a:endParaRPr dirty="0">
              <a:uFill>
                <a:solidFill>
                  <a:srgbClr val="000000"/>
                </a:solidFill>
              </a:uFill>
            </a:endParaRPr>
          </a:p>
          <a:p>
            <a:pPr marL="383540">
              <a:buClr>
                <a:srgbClr val="000000"/>
              </a:buClr>
              <a:buSzPct val="100000"/>
              <a:buFont typeface="Arial"/>
            </a:pPr>
            <a:endParaRPr dirty="0">
              <a:uFill>
                <a:solidFill>
                  <a:srgbClr val="000000"/>
                </a:solidFill>
              </a:uFill>
            </a:endParaRPr>
          </a:p>
          <a:p>
            <a:pPr marL="383540">
              <a:buClr>
                <a:srgbClr val="000000"/>
              </a:buClr>
              <a:buSzPct val="100000"/>
              <a:buFont typeface="Arial"/>
            </a:pPr>
            <a:r>
              <a:rPr dirty="0" err="1"/>
              <a:t>リミットサイクルの存在が保証されている</a:t>
            </a:r>
            <a:r>
              <a:rPr lang="ja-JP" altLang="en-US"/>
              <a:t>！</a:t>
            </a:r>
            <a:endParaRPr dirty="0"/>
          </a:p>
          <a:p>
            <a:pPr marL="783590" lvl="1">
              <a:buClr>
                <a:srgbClr val="000000"/>
              </a:buClr>
              <a:buSzPct val="100000"/>
              <a:buFont typeface="Arial"/>
            </a:pPr>
            <a:r>
              <a:rPr dirty="0" err="1"/>
              <a:t>固有値を調べるだけでよい</a:t>
            </a:r>
            <a:endParaRPr dirty="0"/>
          </a:p>
        </p:txBody>
      </p:sp>
    </p:spTree>
    <p:extLst>
      <p:ext uri="{BB962C8B-B14F-4D97-AF65-F5344CB8AC3E}">
        <p14:creationId xmlns:p14="http://schemas.microsoft.com/office/powerpoint/2010/main" val="2659934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2CF0B9-3765-2DB4-D518-2FD91DA06994}"/>
              </a:ext>
            </a:extLst>
          </p:cNvPr>
          <p:cNvSpPr>
            <a:spLocks noGrp="1"/>
          </p:cNvSpPr>
          <p:nvPr>
            <p:ph type="title"/>
          </p:nvPr>
        </p:nvSpPr>
        <p:spPr/>
        <p:txBody>
          <a:bodyPr/>
          <a:lstStyle/>
          <a:p>
            <a:r>
              <a:rPr lang="ja-JP" altLang="en-US"/>
              <a:t>発展課題：</a:t>
            </a:r>
            <a:r>
              <a:rPr lang="en-US" altLang="ja-JP" dirty="0"/>
              <a:t>Goodwin</a:t>
            </a:r>
            <a:r>
              <a:rPr lang="ja-JP" altLang="en-US"/>
              <a:t>の</a:t>
            </a:r>
            <a:r>
              <a:rPr kumimoji="1" lang="ja-JP" altLang="en-US"/>
              <a:t>景気循環モデル</a:t>
            </a:r>
          </a:p>
        </p:txBody>
      </p:sp>
      <p:pic>
        <p:nvPicPr>
          <p:cNvPr id="3" name="図 2">
            <a:extLst>
              <a:ext uri="{FF2B5EF4-FFF2-40B4-BE49-F238E27FC236}">
                <a16:creationId xmlns:a16="http://schemas.microsoft.com/office/drawing/2014/main" id="{52D2B6E8-3C1A-E772-57E9-68D83FABAB0C}"/>
              </a:ext>
            </a:extLst>
          </p:cNvPr>
          <p:cNvPicPr>
            <a:picLocks noChangeAspect="1"/>
          </p:cNvPicPr>
          <p:nvPr/>
        </p:nvPicPr>
        <p:blipFill>
          <a:blip r:embed="rId2"/>
          <a:stretch>
            <a:fillRect/>
          </a:stretch>
        </p:blipFill>
        <p:spPr>
          <a:xfrm>
            <a:off x="358488" y="1320800"/>
            <a:ext cx="7264400" cy="2108200"/>
          </a:xfrm>
          <a:prstGeom prst="rect">
            <a:avLst/>
          </a:prstGeom>
        </p:spPr>
      </p:pic>
      <p:sp>
        <p:nvSpPr>
          <p:cNvPr id="5" name="テキスト ボックス 4">
            <a:extLst>
              <a:ext uri="{FF2B5EF4-FFF2-40B4-BE49-F238E27FC236}">
                <a16:creationId xmlns:a16="http://schemas.microsoft.com/office/drawing/2014/main" id="{248A4FC2-0C05-E824-38A1-9619F59A92C7}"/>
              </a:ext>
            </a:extLst>
          </p:cNvPr>
          <p:cNvSpPr txBox="1"/>
          <p:nvPr/>
        </p:nvSpPr>
        <p:spPr>
          <a:xfrm>
            <a:off x="1247161" y="3587948"/>
            <a:ext cx="5402232" cy="461665"/>
          </a:xfrm>
          <a:prstGeom prst="rect">
            <a:avLst/>
          </a:prstGeom>
          <a:noFill/>
          <a:ln>
            <a:solidFill>
              <a:schemeClr val="tx1"/>
            </a:solidFill>
          </a:ln>
        </p:spPr>
        <p:txBody>
          <a:bodyPr wrap="square" rtlCol="0">
            <a:spAutoFit/>
          </a:bodyPr>
          <a:lstStyle/>
          <a:p>
            <a:r>
              <a:rPr lang="ja-JP" altLang="en-US" sz="2400" b="1">
                <a:latin typeface="Hiragino Kaku Gothic ProN W6" panose="020B0300000000000000" pitchFamily="34" charset="-128"/>
                <a:ea typeface="Hiragino Kaku Gothic ProN W6" panose="020B0300000000000000" pitchFamily="34" charset="-128"/>
              </a:rPr>
              <a:t>未知関数</a:t>
            </a:r>
            <a:r>
              <a:rPr lang="en-US" altLang="ja-JP" sz="2400" i="1" dirty="0">
                <a:latin typeface="Times New Roman" panose="02020603050405020304" pitchFamily="18" charset="0"/>
                <a:cs typeface="Times New Roman" panose="02020603050405020304" pitchFamily="18" charset="0"/>
              </a:rPr>
              <a:t>  v</a:t>
            </a:r>
            <a:r>
              <a:rPr lang="en-US" altLang="ja-JP" sz="2400" dirty="0"/>
              <a:t> : </a:t>
            </a:r>
            <a:r>
              <a:rPr lang="ja-JP" altLang="en-US" sz="2400"/>
              <a:t>雇用率</a:t>
            </a:r>
            <a:r>
              <a:rPr lang="en-US" altLang="ja-JP" sz="2400" dirty="0"/>
              <a:t> ; </a:t>
            </a:r>
            <a:r>
              <a:rPr kumimoji="1" lang="en-US" altLang="ja-JP" sz="2400" i="1" dirty="0">
                <a:latin typeface="Times New Roman" panose="02020603050405020304" pitchFamily="18" charset="0"/>
                <a:cs typeface="Times New Roman" panose="02020603050405020304" pitchFamily="18" charset="0"/>
              </a:rPr>
              <a:t> u</a:t>
            </a:r>
            <a:r>
              <a:rPr kumimoji="1" lang="en-US" altLang="ja-JP" sz="2400" dirty="0"/>
              <a:t> : </a:t>
            </a:r>
            <a:r>
              <a:rPr kumimoji="1" lang="ja-JP" altLang="en-US" sz="2400"/>
              <a:t>労働分配率</a:t>
            </a:r>
          </a:p>
        </p:txBody>
      </p:sp>
      <p:sp>
        <p:nvSpPr>
          <p:cNvPr id="6" name="テキスト ボックス 5">
            <a:extLst>
              <a:ext uri="{FF2B5EF4-FFF2-40B4-BE49-F238E27FC236}">
                <a16:creationId xmlns:a16="http://schemas.microsoft.com/office/drawing/2014/main" id="{85EE494A-4762-D657-0000-FDE9B6AC62EC}"/>
              </a:ext>
            </a:extLst>
          </p:cNvPr>
          <p:cNvSpPr txBox="1"/>
          <p:nvPr/>
        </p:nvSpPr>
        <p:spPr>
          <a:xfrm>
            <a:off x="8198004" y="1347053"/>
            <a:ext cx="3635508" cy="2308324"/>
          </a:xfrm>
          <a:prstGeom prst="rect">
            <a:avLst/>
          </a:prstGeom>
          <a:noFill/>
          <a:ln>
            <a:solidFill>
              <a:schemeClr val="tx1"/>
            </a:solidFill>
          </a:ln>
        </p:spPr>
        <p:txBody>
          <a:bodyPr wrap="square" rtlCol="0">
            <a:spAutoFit/>
          </a:bodyPr>
          <a:lstStyle/>
          <a:p>
            <a:r>
              <a:rPr lang="ja-JP" altLang="en-US" sz="2400" b="1">
                <a:latin typeface="Hiragino Kaku Gothic ProN W6" panose="020B0300000000000000" pitchFamily="34" charset="-128"/>
                <a:ea typeface="Hiragino Kaku Gothic ProN W6" panose="020B0300000000000000" pitchFamily="34" charset="-128"/>
              </a:rPr>
              <a:t>定数</a:t>
            </a:r>
          </a:p>
          <a:p>
            <a:r>
              <a:rPr lang="en-US" altLang="ja-JP" sz="2400" i="1" dirty="0">
                <a:latin typeface="Times New Roman" panose="02020603050405020304" pitchFamily="18" charset="0"/>
                <a:cs typeface="Times New Roman" panose="02020603050405020304" pitchFamily="18" charset="0"/>
              </a:rPr>
              <a:t>  </a:t>
            </a:r>
            <a:r>
              <a:rPr lang="en-US" altLang="ja-JP" sz="2400" dirty="0">
                <a:latin typeface="Times New Roman" panose="02020603050405020304" pitchFamily="18" charset="0"/>
                <a:cs typeface="Times New Roman" panose="02020603050405020304" pitchFamily="18" charset="0"/>
              </a:rPr>
              <a:t>α</a:t>
            </a:r>
            <a:r>
              <a:rPr lang="en-US" altLang="ja-JP" sz="2400" dirty="0"/>
              <a:t> : </a:t>
            </a:r>
            <a:r>
              <a:rPr lang="ja-JP" altLang="en-US" sz="2400"/>
              <a:t>労働生産性の成長率</a:t>
            </a:r>
            <a:endParaRPr kumimoji="1" lang="en-US" altLang="ja-JP" sz="2400" dirty="0"/>
          </a:p>
          <a:p>
            <a:r>
              <a:rPr kumimoji="1" lang="en-US" altLang="ja-JP" sz="2400" i="1" dirty="0">
                <a:latin typeface="Times New Roman" panose="02020603050405020304" pitchFamily="18" charset="0"/>
                <a:cs typeface="Times New Roman" panose="02020603050405020304" pitchFamily="18" charset="0"/>
              </a:rPr>
              <a:t>  </a:t>
            </a:r>
            <a:r>
              <a:rPr kumimoji="1" lang="en-US" altLang="ja-JP" sz="2400" dirty="0">
                <a:latin typeface="Times New Roman" panose="02020603050405020304" pitchFamily="18" charset="0"/>
                <a:cs typeface="Times New Roman" panose="02020603050405020304" pitchFamily="18" charset="0"/>
              </a:rPr>
              <a:t>β</a:t>
            </a:r>
            <a:r>
              <a:rPr kumimoji="1" lang="en-US" altLang="ja-JP" sz="2400" dirty="0"/>
              <a:t> : </a:t>
            </a:r>
            <a:r>
              <a:rPr kumimoji="1" lang="ja-JP" altLang="en-US" sz="2400"/>
              <a:t>労働力の成長率</a:t>
            </a:r>
            <a:endParaRPr kumimoji="1" lang="en-US" altLang="ja-JP" sz="2400" dirty="0"/>
          </a:p>
          <a:p>
            <a:r>
              <a:rPr lang="en-US" altLang="ja-JP" sz="2400" i="1" dirty="0">
                <a:latin typeface="Times New Roman" panose="02020603050405020304" pitchFamily="18" charset="0"/>
                <a:cs typeface="Times New Roman" panose="02020603050405020304" pitchFamily="18" charset="0"/>
              </a:rPr>
              <a:t> </a:t>
            </a:r>
            <a:r>
              <a:rPr lang="en-US" altLang="ja-JP" sz="2400" dirty="0">
                <a:latin typeface="Times New Roman" panose="02020603050405020304" pitchFamily="18" charset="0"/>
                <a:cs typeface="Times New Roman" panose="02020603050405020304" pitchFamily="18" charset="0"/>
              </a:rPr>
              <a:t> </a:t>
            </a:r>
            <a:r>
              <a:rPr lang="en-US" altLang="ja-JP" sz="2400" dirty="0" err="1">
                <a:latin typeface="Times New Roman" panose="02020603050405020304" pitchFamily="18" charset="0"/>
                <a:cs typeface="Times New Roman" panose="02020603050405020304" pitchFamily="18" charset="0"/>
              </a:rPr>
              <a:t>γ</a:t>
            </a:r>
            <a:r>
              <a:rPr lang="en-US" altLang="ja-JP" sz="2400" dirty="0"/>
              <a:t> : </a:t>
            </a:r>
            <a:r>
              <a:rPr lang="ja-JP" altLang="en-US" sz="2400"/>
              <a:t>実質賃金曲線の切片</a:t>
            </a:r>
            <a:endParaRPr lang="en-US" altLang="ja-JP" sz="2400" dirty="0"/>
          </a:p>
          <a:p>
            <a:r>
              <a:rPr lang="en-US" altLang="ja-JP" sz="2400" dirty="0">
                <a:latin typeface="Times New Roman" panose="02020603050405020304" pitchFamily="18" charset="0"/>
                <a:cs typeface="Times New Roman" panose="02020603050405020304" pitchFamily="18" charset="0"/>
              </a:rPr>
              <a:t>  </a:t>
            </a:r>
            <a:r>
              <a:rPr lang="en-US" altLang="ja-JP" sz="2400" dirty="0" err="1">
                <a:latin typeface="Times New Roman" panose="02020603050405020304" pitchFamily="18" charset="0"/>
                <a:cs typeface="Times New Roman" panose="02020603050405020304" pitchFamily="18" charset="0"/>
              </a:rPr>
              <a:t>ρ</a:t>
            </a:r>
            <a:r>
              <a:rPr lang="en-US" altLang="ja-JP" sz="2400" dirty="0"/>
              <a:t> : </a:t>
            </a:r>
            <a:r>
              <a:rPr lang="ja-JP" altLang="en-US" sz="2400"/>
              <a:t>実質賃金曲線の傾き</a:t>
            </a:r>
            <a:endParaRPr lang="en-US" altLang="ja-JP" sz="2400" dirty="0"/>
          </a:p>
          <a:p>
            <a:r>
              <a:rPr lang="en-US" altLang="ja-JP" sz="2400" dirty="0">
                <a:latin typeface="Times New Roman" panose="02020603050405020304" pitchFamily="18" charset="0"/>
                <a:cs typeface="Times New Roman" panose="02020603050405020304" pitchFamily="18" charset="0"/>
              </a:rPr>
              <a:t>  </a:t>
            </a:r>
            <a:r>
              <a:rPr lang="en-US" altLang="ja-JP" sz="2400" dirty="0" err="1">
                <a:latin typeface="Times New Roman" panose="02020603050405020304" pitchFamily="18" charset="0"/>
                <a:cs typeface="Times New Roman" panose="02020603050405020304" pitchFamily="18" charset="0"/>
              </a:rPr>
              <a:t>σ</a:t>
            </a:r>
            <a:r>
              <a:rPr lang="en-US" altLang="ja-JP" sz="2400" dirty="0">
                <a:latin typeface="Times New Roman" panose="02020603050405020304" pitchFamily="18" charset="0"/>
                <a:cs typeface="Times New Roman" panose="02020603050405020304" pitchFamily="18" charset="0"/>
              </a:rPr>
              <a:t> </a:t>
            </a:r>
            <a:r>
              <a:rPr lang="en-US" altLang="ja-JP" sz="2400" dirty="0"/>
              <a:t>: </a:t>
            </a:r>
            <a:r>
              <a:rPr lang="ja-JP" altLang="en-US" sz="2400"/>
              <a:t>資本</a:t>
            </a:r>
            <a:r>
              <a:rPr lang="en-US" altLang="ja-JP" sz="2400" dirty="0"/>
              <a:t>–</a:t>
            </a:r>
            <a:r>
              <a:rPr lang="ja-JP" altLang="en-US" sz="2400"/>
              <a:t>産出係数</a:t>
            </a:r>
            <a:endParaRPr kumimoji="1" lang="ja-JP" altLang="en-US" sz="2400"/>
          </a:p>
        </p:txBody>
      </p:sp>
      <p:sp>
        <p:nvSpPr>
          <p:cNvPr id="7" name="周期振動をつくる「エンジン」の正体…">
            <a:extLst>
              <a:ext uri="{FF2B5EF4-FFF2-40B4-BE49-F238E27FC236}">
                <a16:creationId xmlns:a16="http://schemas.microsoft.com/office/drawing/2014/main" id="{78681E8B-5ABD-E851-15F0-7E01DAF54732}"/>
              </a:ext>
            </a:extLst>
          </p:cNvPr>
          <p:cNvSpPr txBox="1">
            <a:spLocks/>
          </p:cNvSpPr>
          <p:nvPr/>
        </p:nvSpPr>
        <p:spPr>
          <a:xfrm>
            <a:off x="182880" y="5131891"/>
            <a:ext cx="12009120" cy="149532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kumimoji="1" sz="3200" b="0" i="0" kern="1200">
                <a:solidFill>
                  <a:schemeClr val="tx1"/>
                </a:solidFill>
                <a:latin typeface="Helvetica Neue Light"/>
                <a:ea typeface="Hiragino Kaku Gothic ProN W3" panose="020B0300000000000000" pitchFamily="34" charset="-128"/>
                <a:cs typeface="+mn-cs"/>
              </a:defRPr>
            </a:lvl1pPr>
            <a:lvl2pPr marL="742950" indent="-285750" algn="l" defTabSz="914400" rtl="0" eaLnBrk="1" latinLnBrk="0" hangingPunct="1">
              <a:spcBef>
                <a:spcPct val="20000"/>
              </a:spcBef>
              <a:buFont typeface="Arial" pitchFamily="34" charset="0"/>
              <a:buChar char="–"/>
              <a:defRPr kumimoji="1" sz="2800" b="0" i="0" kern="1200">
                <a:solidFill>
                  <a:schemeClr val="tx1"/>
                </a:solidFill>
                <a:latin typeface="Helvetica Neue Light"/>
                <a:ea typeface="Hiragino Kaku Gothic ProN W3" panose="020B0300000000000000" pitchFamily="34" charset="-128"/>
                <a:cs typeface="+mn-cs"/>
              </a:defRPr>
            </a:lvl2pPr>
            <a:lvl3pPr marL="1143000" indent="-228600" algn="l" defTabSz="914400" rtl="0" eaLnBrk="1" latinLnBrk="0" hangingPunct="1">
              <a:spcBef>
                <a:spcPct val="20000"/>
              </a:spcBef>
              <a:buFont typeface="Arial" pitchFamily="34" charset="0"/>
              <a:buChar char="•"/>
              <a:defRPr kumimoji="1" sz="2400" b="0" i="0" kern="1200">
                <a:solidFill>
                  <a:schemeClr val="tx1"/>
                </a:solidFill>
                <a:latin typeface="Helvetica Neue Light"/>
                <a:ea typeface="Hiragino Kaku Gothic ProN W3" panose="020B0300000000000000" pitchFamily="34" charset="-128"/>
                <a:cs typeface="+mn-cs"/>
              </a:defRPr>
            </a:lvl3pPr>
            <a:lvl4pPr marL="1600200" indent="-228600" algn="l" defTabSz="914400" rtl="0" eaLnBrk="1" latinLnBrk="0" hangingPunct="1">
              <a:spcBef>
                <a:spcPct val="20000"/>
              </a:spcBef>
              <a:buFont typeface="Arial" pitchFamily="34" charset="0"/>
              <a:buChar char="–"/>
              <a:defRPr kumimoji="1" sz="2000" b="0" i="0" kern="1200">
                <a:solidFill>
                  <a:schemeClr val="tx1"/>
                </a:solidFill>
                <a:latin typeface="Helvetica Neue Light"/>
                <a:ea typeface="Hiragino Kaku Gothic ProN W3" panose="020B0300000000000000" pitchFamily="34" charset="-128"/>
                <a:cs typeface="+mn-cs"/>
              </a:defRPr>
            </a:lvl4pPr>
            <a:lvl5pPr marL="2057400" indent="-228600" algn="l" defTabSz="914400" rtl="0" eaLnBrk="1" latinLnBrk="0" hangingPunct="1">
              <a:spcBef>
                <a:spcPct val="20000"/>
              </a:spcBef>
              <a:buFont typeface="Arial" pitchFamily="34" charset="0"/>
              <a:buChar char="»"/>
              <a:defRPr kumimoji="1" sz="2000" b="0" i="0" kern="1200">
                <a:solidFill>
                  <a:schemeClr val="tx1"/>
                </a:solidFill>
                <a:latin typeface="Helvetica Neue Light"/>
                <a:ea typeface="Hiragino Kaku Gothic ProN W3" panose="020B0300000000000000" pitchFamily="34"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83540">
              <a:buClr>
                <a:srgbClr val="000000"/>
              </a:buClr>
              <a:buSzPct val="100000"/>
              <a:buFont typeface="Arial"/>
              <a:buChar char="•"/>
            </a:pPr>
            <a:r>
              <a:rPr lang="ja-JP" altLang="en-US" sz="2800"/>
              <a:t>「力学系の七つ道具」を使ってモデルの性質を調べなさい。すなわち、相平面・ヌルクライン・ベクトル場を描画し、固定点・ヤコビ行列を　求め、固有値による安定性解析を行いなさい。</a:t>
            </a:r>
          </a:p>
        </p:txBody>
      </p:sp>
      <p:sp>
        <p:nvSpPr>
          <p:cNvPr id="10" name="テキスト ボックス 9">
            <a:extLst>
              <a:ext uri="{FF2B5EF4-FFF2-40B4-BE49-F238E27FC236}">
                <a16:creationId xmlns:a16="http://schemas.microsoft.com/office/drawing/2014/main" id="{3064D2D2-CDB7-5257-9ACE-170A1EE97E91}"/>
              </a:ext>
            </a:extLst>
          </p:cNvPr>
          <p:cNvSpPr txBox="1"/>
          <p:nvPr/>
        </p:nvSpPr>
        <p:spPr>
          <a:xfrm>
            <a:off x="6096000" y="4141946"/>
            <a:ext cx="5859296" cy="369332"/>
          </a:xfrm>
          <a:prstGeom prst="rect">
            <a:avLst/>
          </a:prstGeom>
          <a:noFill/>
        </p:spPr>
        <p:txBody>
          <a:bodyPr wrap="none" rtlCol="0">
            <a:spAutoFit/>
          </a:bodyPr>
          <a:lstStyle/>
          <a:p>
            <a:r>
              <a:rPr kumimoji="1" lang="en-US" altLang="ja-JP" dirty="0"/>
              <a:t>(</a:t>
            </a:r>
            <a:r>
              <a:rPr kumimoji="1" lang="ja-JP" altLang="en-US"/>
              <a:t>吉田博之「景気循環の数理」名古屋大学出版会</a:t>
            </a:r>
            <a:r>
              <a:rPr lang="en-US" altLang="ja-JP" dirty="0"/>
              <a:t>, pp.54)</a:t>
            </a:r>
            <a:endParaRPr kumimoji="1" lang="ja-JP" altLang="en-US"/>
          </a:p>
        </p:txBody>
      </p:sp>
    </p:spTree>
    <p:extLst>
      <p:ext uri="{BB962C8B-B14F-4D97-AF65-F5344CB8AC3E}">
        <p14:creationId xmlns:p14="http://schemas.microsoft.com/office/powerpoint/2010/main" val="865011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DF2E7C-C550-7288-8311-51F01AF300D5}"/>
              </a:ext>
            </a:extLst>
          </p:cNvPr>
          <p:cNvSpPr>
            <a:spLocks noGrp="1"/>
          </p:cNvSpPr>
          <p:nvPr>
            <p:ph type="title"/>
          </p:nvPr>
        </p:nvSpPr>
        <p:spPr/>
        <p:txBody>
          <a:bodyPr/>
          <a:lstStyle/>
          <a:p>
            <a:r>
              <a:rPr kumimoji="1" lang="en-US" altLang="ja-JP" dirty="0"/>
              <a:t>Goodwin</a:t>
            </a:r>
            <a:r>
              <a:rPr kumimoji="1" lang="ja-JP" altLang="en-US"/>
              <a:t>モデルの時系列と相平面</a:t>
            </a:r>
          </a:p>
        </p:txBody>
      </p:sp>
      <p:pic>
        <p:nvPicPr>
          <p:cNvPr id="3" name="図 2">
            <a:extLst>
              <a:ext uri="{FF2B5EF4-FFF2-40B4-BE49-F238E27FC236}">
                <a16:creationId xmlns:a16="http://schemas.microsoft.com/office/drawing/2014/main" id="{1DF7A322-B469-4334-85AC-E80EC62F1DD0}"/>
              </a:ext>
            </a:extLst>
          </p:cNvPr>
          <p:cNvPicPr>
            <a:picLocks noChangeAspect="1"/>
          </p:cNvPicPr>
          <p:nvPr/>
        </p:nvPicPr>
        <p:blipFill>
          <a:blip r:embed="rId2"/>
          <a:stretch>
            <a:fillRect/>
          </a:stretch>
        </p:blipFill>
        <p:spPr>
          <a:xfrm>
            <a:off x="5951621" y="1313329"/>
            <a:ext cx="6240379" cy="4680284"/>
          </a:xfrm>
          <a:prstGeom prst="rect">
            <a:avLst/>
          </a:prstGeom>
        </p:spPr>
      </p:pic>
      <p:pic>
        <p:nvPicPr>
          <p:cNvPr id="4" name="図 3">
            <a:extLst>
              <a:ext uri="{FF2B5EF4-FFF2-40B4-BE49-F238E27FC236}">
                <a16:creationId xmlns:a16="http://schemas.microsoft.com/office/drawing/2014/main" id="{61698729-8D61-1053-A716-6C9CBB50A948}"/>
              </a:ext>
            </a:extLst>
          </p:cNvPr>
          <p:cNvPicPr>
            <a:picLocks noChangeAspect="1"/>
          </p:cNvPicPr>
          <p:nvPr/>
        </p:nvPicPr>
        <p:blipFill>
          <a:blip r:embed="rId3"/>
          <a:stretch>
            <a:fillRect/>
          </a:stretch>
        </p:blipFill>
        <p:spPr>
          <a:xfrm>
            <a:off x="0" y="1313329"/>
            <a:ext cx="6240379" cy="4680285"/>
          </a:xfrm>
          <a:prstGeom prst="rect">
            <a:avLst/>
          </a:prstGeom>
        </p:spPr>
      </p:pic>
    </p:spTree>
    <p:extLst>
      <p:ext uri="{BB962C8B-B14F-4D97-AF65-F5344CB8AC3E}">
        <p14:creationId xmlns:p14="http://schemas.microsoft.com/office/powerpoint/2010/main" val="28906339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F2F40-47FE-4BCB-0D20-53F3D3AC4ECC}"/>
            </a:ext>
          </a:extLst>
        </p:cNvPr>
        <p:cNvGrpSpPr/>
        <p:nvPr/>
      </p:nvGrpSpPr>
      <p:grpSpPr>
        <a:xfrm>
          <a:off x="0" y="0"/>
          <a:ext cx="0" cy="0"/>
          <a:chOff x="0" y="0"/>
          <a:chExt cx="0" cy="0"/>
        </a:xfrm>
      </p:grpSpPr>
      <p:sp>
        <p:nvSpPr>
          <p:cNvPr id="169" name="本日の内容">
            <a:extLst>
              <a:ext uri="{FF2B5EF4-FFF2-40B4-BE49-F238E27FC236}">
                <a16:creationId xmlns:a16="http://schemas.microsoft.com/office/drawing/2014/main" id="{38522977-8700-DF70-025A-DBA5C8E117B0}"/>
              </a:ext>
            </a:extLst>
          </p:cNvPr>
          <p:cNvSpPr txBox="1">
            <a:spLocks noGrp="1"/>
          </p:cNvSpPr>
          <p:nvPr>
            <p:ph type="title"/>
          </p:nvPr>
        </p:nvSpPr>
        <p:spPr>
          <a:prstGeom prst="rect">
            <a:avLst/>
          </a:prstGeom>
        </p:spPr>
        <p:txBody>
          <a:bodyPr/>
          <a:lstStyle/>
          <a:p>
            <a:r>
              <a:rPr lang="ja-JP" altLang="en-US"/>
              <a:t>前回と今回</a:t>
            </a:r>
            <a:r>
              <a:rPr dirty="0" err="1"/>
              <a:t>の内容</a:t>
            </a:r>
            <a:endParaRPr dirty="0"/>
          </a:p>
        </p:txBody>
      </p:sp>
      <p:sp>
        <p:nvSpPr>
          <p:cNvPr id="168" name="生物リズムはなぜ起こるか？…">
            <a:extLst>
              <a:ext uri="{FF2B5EF4-FFF2-40B4-BE49-F238E27FC236}">
                <a16:creationId xmlns:a16="http://schemas.microsoft.com/office/drawing/2014/main" id="{083DEEB7-38D4-683F-8BC7-E477C8477464}"/>
              </a:ext>
            </a:extLst>
          </p:cNvPr>
          <p:cNvSpPr txBox="1">
            <a:spLocks noGrp="1"/>
          </p:cNvSpPr>
          <p:nvPr>
            <p:ph type="body" idx="4294967295"/>
          </p:nvPr>
        </p:nvSpPr>
        <p:spPr>
          <a:xfrm>
            <a:off x="689549" y="1678482"/>
            <a:ext cx="10897846" cy="4457700"/>
          </a:xfrm>
          <a:prstGeom prst="rect">
            <a:avLst/>
          </a:prstGeom>
        </p:spPr>
        <p:txBody>
          <a:bodyPr>
            <a:normAutofit lnSpcReduction="10000"/>
          </a:bodyPr>
          <a:lstStyle/>
          <a:p>
            <a:pPr marL="352856" indent="-315468" defTabSz="373888">
              <a:spcBef>
                <a:spcPts val="1500"/>
              </a:spcBef>
              <a:buClr>
                <a:srgbClr val="000000"/>
              </a:buClr>
              <a:buSzPct val="100000"/>
              <a:buFont typeface="Arial"/>
              <a:defRPr sz="2208"/>
            </a:pPr>
            <a:r>
              <a:rPr lang="en-US" sz="3600" dirty="0"/>
              <a:t>Q. </a:t>
            </a:r>
            <a:r>
              <a:rPr lang="en-US" sz="3600" dirty="0" err="1"/>
              <a:t>解糖系</a:t>
            </a:r>
            <a:r>
              <a:rPr lang="en-US" sz="3600" dirty="0"/>
              <a:t> (</a:t>
            </a:r>
            <a:r>
              <a:rPr lang="en-US" sz="3600" dirty="0" err="1"/>
              <a:t>Sel’kovモデル</a:t>
            </a:r>
            <a:r>
              <a:rPr lang="en-US" sz="3600" dirty="0"/>
              <a:t>)</a:t>
            </a:r>
            <a:r>
              <a:rPr lang="en-US" sz="3600" dirty="0" err="1"/>
              <a:t>はなぜ振動するのか</a:t>
            </a:r>
            <a:r>
              <a:rPr lang="en-US" sz="3600" dirty="0"/>
              <a:t>？</a:t>
            </a:r>
          </a:p>
          <a:p>
            <a:pPr marL="352856" indent="-315468" defTabSz="373888">
              <a:spcBef>
                <a:spcPts val="1500"/>
              </a:spcBef>
              <a:buClr>
                <a:srgbClr val="000000"/>
              </a:buClr>
              <a:buSzPct val="100000"/>
              <a:buFont typeface="Arial"/>
              <a:defRPr sz="2208"/>
            </a:pPr>
            <a:r>
              <a:rPr lang="en-US" altLang="ja-JP" sz="3600" dirty="0"/>
              <a:t>A. </a:t>
            </a:r>
            <a:r>
              <a:rPr lang="ja-JP" altLang="en-US" sz="3600"/>
              <a:t>生化学反応系が</a:t>
            </a:r>
            <a:r>
              <a:rPr lang="en-US" altLang="ja-JP" sz="3600" dirty="0"/>
              <a:t> </a:t>
            </a:r>
            <a:r>
              <a:rPr sz="3600" dirty="0"/>
              <a:t>Hopf </a:t>
            </a:r>
            <a:r>
              <a:rPr sz="3600" dirty="0" err="1"/>
              <a:t>分岐</a:t>
            </a:r>
            <a:r>
              <a:rPr lang="ja-JP" altLang="en-US" sz="3600"/>
              <a:t>を起こす形になっていたから</a:t>
            </a:r>
            <a:endParaRPr lang="en-US" altLang="ja-JP" sz="3600" dirty="0"/>
          </a:p>
          <a:p>
            <a:pPr marL="320852" indent="-262890" defTabSz="373888">
              <a:spcBef>
                <a:spcPts val="1500"/>
              </a:spcBef>
              <a:buClr>
                <a:srgbClr val="000000"/>
              </a:buClr>
              <a:buSzPct val="100000"/>
              <a:buFont typeface="Arial"/>
              <a:defRPr sz="2208"/>
            </a:pPr>
            <a:endParaRPr lang="en-US" sz="3600" dirty="0"/>
          </a:p>
          <a:p>
            <a:pPr marL="320852" indent="-262890" defTabSz="373888">
              <a:spcBef>
                <a:spcPts val="1500"/>
              </a:spcBef>
              <a:buClr>
                <a:srgbClr val="000000"/>
              </a:buClr>
              <a:buSzPct val="100000"/>
              <a:buFont typeface="Arial"/>
              <a:defRPr sz="2208"/>
            </a:pPr>
            <a:r>
              <a:rPr lang="ja-JP" altLang="en-US" sz="3600"/>
              <a:t>景気循環も生物リズムも非線形力学系の振動</a:t>
            </a:r>
            <a:endParaRPr lang="en-US" altLang="ja-JP" sz="3600" dirty="0"/>
          </a:p>
          <a:p>
            <a:pPr marL="320852" indent="-262890" defTabSz="373888">
              <a:spcBef>
                <a:spcPts val="1500"/>
              </a:spcBef>
              <a:buClr>
                <a:srgbClr val="000000"/>
              </a:buClr>
              <a:buSzPct val="100000"/>
              <a:buFont typeface="Arial"/>
              <a:defRPr sz="2208"/>
            </a:pPr>
            <a:r>
              <a:rPr lang="ja-JP" altLang="en-US" sz="3600"/>
              <a:t>三角関数が入っていない微分方程式でも</a:t>
            </a:r>
            <a:r>
              <a:rPr lang="en-US" altLang="ja-JP" sz="3600" dirty="0"/>
              <a:t> Hopf </a:t>
            </a:r>
            <a:r>
              <a:rPr lang="ja-JP" altLang="en-US" sz="3600"/>
              <a:t>分岐や</a:t>
            </a:r>
            <a:r>
              <a:rPr lang="en-US" altLang="ja-JP" sz="3600" dirty="0"/>
              <a:t> Center </a:t>
            </a:r>
            <a:r>
              <a:rPr lang="ja-JP" altLang="en-US" sz="3600"/>
              <a:t>を含む力学系なら振動する</a:t>
            </a:r>
            <a:endParaRPr sz="3600" dirty="0"/>
          </a:p>
          <a:p>
            <a:pPr marL="352856" indent="-315468" defTabSz="373888">
              <a:spcBef>
                <a:spcPts val="1500"/>
              </a:spcBef>
              <a:buClr>
                <a:srgbClr val="000000"/>
              </a:buClr>
              <a:buSzPct val="100000"/>
              <a:buFont typeface="Arial"/>
              <a:defRPr sz="2208"/>
            </a:pPr>
            <a:endParaRPr sz="3600" dirty="0"/>
          </a:p>
        </p:txBody>
      </p:sp>
    </p:spTree>
    <p:extLst>
      <p:ext uri="{BB962C8B-B14F-4D97-AF65-F5344CB8AC3E}">
        <p14:creationId xmlns:p14="http://schemas.microsoft.com/office/powerpoint/2010/main" val="40418130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
            <a:extLst>
              <a:ext uri="{FF2B5EF4-FFF2-40B4-BE49-F238E27FC236}">
                <a16:creationId xmlns:a16="http://schemas.microsoft.com/office/drawing/2014/main" id="{9C14EEFC-37C6-A749-B26B-1EA2CB5080CC}"/>
              </a:ext>
            </a:extLst>
          </p:cNvPr>
          <p:cNvSpPr>
            <a:spLocks noGrp="1" noChangeArrowheads="1"/>
          </p:cNvSpPr>
          <p:nvPr>
            <p:ph type="title"/>
          </p:nvPr>
        </p:nvSpPr>
        <p:spPr/>
        <p:txBody>
          <a:bodyPr/>
          <a:lstStyle/>
          <a:p>
            <a:pPr eaLnBrk="1" hangingPunct="1"/>
            <a:r>
              <a:rPr lang="en-US" altLang="ja-JP" dirty="0"/>
              <a:t>Further Readings</a:t>
            </a:r>
          </a:p>
        </p:txBody>
      </p:sp>
      <p:sp>
        <p:nvSpPr>
          <p:cNvPr id="59395" name="Rectangle 2">
            <a:extLst>
              <a:ext uri="{FF2B5EF4-FFF2-40B4-BE49-F238E27FC236}">
                <a16:creationId xmlns:a16="http://schemas.microsoft.com/office/drawing/2014/main" id="{E1A46249-C7D7-59C3-3A21-98EE81585216}"/>
              </a:ext>
            </a:extLst>
          </p:cNvPr>
          <p:cNvSpPr>
            <a:spLocks noGrp="1" noChangeArrowheads="1"/>
          </p:cNvSpPr>
          <p:nvPr>
            <p:ph type="body" idx="4294967295"/>
          </p:nvPr>
        </p:nvSpPr>
        <p:spPr>
          <a:xfrm>
            <a:off x="734305" y="1143000"/>
            <a:ext cx="10075863" cy="6469063"/>
          </a:xfrm>
        </p:spPr>
        <p:txBody>
          <a:bodyPr/>
          <a:lstStyle/>
          <a:p>
            <a:pPr marL="1185304">
              <a:lnSpc>
                <a:spcPct val="80000"/>
              </a:lnSpc>
            </a:pPr>
            <a:r>
              <a:rPr lang="en-US" altLang="ja-JP" sz="2000" dirty="0"/>
              <a:t>Steven </a:t>
            </a:r>
            <a:r>
              <a:rPr lang="en-US" altLang="ja-JP" sz="2000" dirty="0" err="1"/>
              <a:t>Strogatz</a:t>
            </a:r>
            <a:r>
              <a:rPr lang="en-US" altLang="ja-JP" sz="2000" dirty="0"/>
              <a:t>, “Nonlinear dynamics and chaos”, Perseus Books Publishing,</a:t>
            </a:r>
          </a:p>
          <a:p>
            <a:pPr marL="1777956" lvl="1">
              <a:lnSpc>
                <a:spcPct val="80000"/>
              </a:lnSpc>
              <a:spcBef>
                <a:spcPts val="1700"/>
              </a:spcBef>
            </a:pPr>
            <a:r>
              <a:rPr lang="ja-JP" altLang="en-US" sz="1733"/>
              <a:t>生物・化学の例が多く比較的読みやすい非線形力学系教科書</a:t>
            </a:r>
            <a:endParaRPr lang="en-US" altLang="ja-JP" sz="1733" dirty="0"/>
          </a:p>
          <a:p>
            <a:pPr marL="842404" indent="0">
              <a:lnSpc>
                <a:spcPct val="80000"/>
              </a:lnSpc>
              <a:spcBef>
                <a:spcPts val="1700"/>
              </a:spcBef>
              <a:buNone/>
            </a:pPr>
            <a:endParaRPr lang="en-US" altLang="ja-JP" sz="2000" dirty="0"/>
          </a:p>
          <a:p>
            <a:pPr marL="1185304">
              <a:lnSpc>
                <a:spcPct val="80000"/>
              </a:lnSpc>
              <a:spcBef>
                <a:spcPts val="1700"/>
              </a:spcBef>
            </a:pPr>
            <a:r>
              <a:rPr lang="en-US" altLang="ja-JP" sz="2000" dirty="0" err="1"/>
              <a:t>Ozbudak</a:t>
            </a:r>
            <a:r>
              <a:rPr lang="en-US" altLang="ja-JP" sz="2000" dirty="0"/>
              <a:t>, E.M. et al.,  “</a:t>
            </a:r>
            <a:r>
              <a:rPr lang="en-US" altLang="ja-JP" sz="2000" dirty="0" err="1"/>
              <a:t>Multistability</a:t>
            </a:r>
            <a:r>
              <a:rPr lang="en-US" altLang="ja-JP" sz="2000" dirty="0"/>
              <a:t> in the lactose utilization network of Escherichia coli”, Nature 427(6976):737-40, 2004.</a:t>
            </a:r>
          </a:p>
          <a:p>
            <a:pPr marL="1777956" lvl="1">
              <a:lnSpc>
                <a:spcPct val="80000"/>
              </a:lnSpc>
              <a:spcBef>
                <a:spcPts val="1700"/>
              </a:spcBef>
            </a:pPr>
            <a:r>
              <a:rPr lang="ja-JP" altLang="en-US" sz="1733"/>
              <a:t>大腸菌 </a:t>
            </a:r>
            <a:r>
              <a:rPr lang="en-US" altLang="ja-JP" sz="1733" dirty="0"/>
              <a:t>lac </a:t>
            </a:r>
            <a:r>
              <a:rPr lang="ja-JP" altLang="en-US" sz="1733"/>
              <a:t>オペロンのような古典的な系で、ヒステリシスが起きることを示した</a:t>
            </a:r>
            <a:endParaRPr lang="en-US" altLang="ja-JP" sz="1733" dirty="0"/>
          </a:p>
          <a:p>
            <a:pPr marL="842404" indent="0">
              <a:lnSpc>
                <a:spcPct val="80000"/>
              </a:lnSpc>
              <a:spcBef>
                <a:spcPts val="1700"/>
              </a:spcBef>
              <a:buNone/>
            </a:pPr>
            <a:endParaRPr lang="en-US" altLang="ja-JP" sz="2000" dirty="0"/>
          </a:p>
          <a:p>
            <a:pPr marL="1185304">
              <a:lnSpc>
                <a:spcPct val="80000"/>
              </a:lnSpc>
              <a:spcBef>
                <a:spcPts val="1700"/>
              </a:spcBef>
            </a:pPr>
            <a:r>
              <a:rPr lang="en-US" altLang="ja-JP" sz="2000" dirty="0"/>
              <a:t>Bhalla, U.S. and Iyengar, R., “Emergent properties of networks of biological signaling pathways”, Science 283(5400):381-7.</a:t>
            </a:r>
          </a:p>
          <a:p>
            <a:pPr marL="1777956" lvl="1">
              <a:lnSpc>
                <a:spcPct val="80000"/>
              </a:lnSpc>
              <a:spcBef>
                <a:spcPts val="1700"/>
              </a:spcBef>
            </a:pPr>
            <a:r>
              <a:rPr lang="ja-JP" altLang="en-US" sz="1733"/>
              <a:t>シグナル伝達経路に生じる双安定性が記憶装置の基盤である可能性を指摘</a:t>
            </a:r>
            <a:endParaRPr lang="en-US" altLang="ja-JP" sz="1733" dirty="0"/>
          </a:p>
          <a:p>
            <a:pPr marL="1777956" lvl="1">
              <a:lnSpc>
                <a:spcPct val="80000"/>
              </a:lnSpc>
              <a:spcBef>
                <a:spcPts val="1700"/>
              </a:spcBef>
            </a:pPr>
            <a:endParaRPr lang="en-US" altLang="ja-JP" sz="2000" dirty="0"/>
          </a:p>
          <a:p>
            <a:pPr marL="1185304">
              <a:lnSpc>
                <a:spcPct val="80000"/>
              </a:lnSpc>
              <a:spcBef>
                <a:spcPts val="1700"/>
              </a:spcBef>
            </a:pPr>
            <a:r>
              <a:rPr lang="en-US" altLang="ja-JP" sz="2000" dirty="0"/>
              <a:t>Tanaka, R.J. et al. “Skin barrier homeostasis in atopic dermatitis: feedback regulation of kallikrein activity”, </a:t>
            </a:r>
            <a:r>
              <a:rPr lang="en-US" altLang="ja-JP" sz="2000" dirty="0" err="1"/>
              <a:t>PLoS</a:t>
            </a:r>
            <a:r>
              <a:rPr lang="en-US" altLang="ja-JP" sz="2000" dirty="0"/>
              <a:t> ONE 6(5):e19895, 2011.</a:t>
            </a:r>
          </a:p>
          <a:p>
            <a:pPr marL="1777956" lvl="1">
              <a:lnSpc>
                <a:spcPct val="80000"/>
              </a:lnSpc>
              <a:spcBef>
                <a:spcPts val="1700"/>
              </a:spcBef>
            </a:pPr>
            <a:r>
              <a:rPr lang="ja-JP" altLang="en-US" sz="1733"/>
              <a:t>アトピー性皮膚炎を起こした外部刺激を取り除いても炎症がおさまらない理由として双安定性の可能性を指摘</a:t>
            </a:r>
          </a:p>
        </p:txBody>
      </p:sp>
    </p:spTree>
  </p:cSld>
  <p:clrMapOvr>
    <a:masterClrMapping/>
  </p:clrMapOvr>
</p:sld>
</file>

<file path=ppt/theme/theme1.xml><?xml version="1.0" encoding="utf-8"?>
<a:theme xmlns:a="http://schemas.openxmlformats.org/drawingml/2006/main" name="YugiTal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Helvetica Neue Light and ヒラギノ角ゴ ProN W3">
      <a:majorFont>
        <a:latin typeface="Helvetica Neue Light"/>
        <a:ea typeface="Hiragino Kaku Gothic ProN W3"/>
        <a:cs typeface=""/>
      </a:majorFont>
      <a:minorFont>
        <a:latin typeface="Helvetica Neue Light"/>
        <a:ea typeface="Hiragino Kaku Gothic ProN W3"/>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yugi_16_9_plain" id="{1F3CF8EB-25C5-DA4E-AEE9-BC00F17CDB6F}" vid="{E5031587-4EA9-CE4B-91BE-CEDC2564CC8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38683</TotalTime>
  <Words>1427</Words>
  <Application>Microsoft Macintosh PowerPoint</Application>
  <PresentationFormat>ワイド画面</PresentationFormat>
  <Paragraphs>298</Paragraphs>
  <Slides>30</Slides>
  <Notes>3</Notes>
  <HiddenSlides>0</HiddenSlides>
  <MMClips>0</MMClips>
  <ScaleCrop>false</ScaleCrop>
  <HeadingPairs>
    <vt:vector size="6" baseType="variant">
      <vt:variant>
        <vt:lpstr>使用されているフォント</vt:lpstr>
      </vt:variant>
      <vt:variant>
        <vt:i4>12</vt:i4>
      </vt:variant>
      <vt:variant>
        <vt:lpstr>テーマ</vt:lpstr>
      </vt:variant>
      <vt:variant>
        <vt:i4>1</vt:i4>
      </vt:variant>
      <vt:variant>
        <vt:lpstr>スライド タイトル</vt:lpstr>
      </vt:variant>
      <vt:variant>
        <vt:i4>30</vt:i4>
      </vt:variant>
    </vt:vector>
  </HeadingPairs>
  <TitlesOfParts>
    <vt:vector size="43" baseType="lpstr">
      <vt:lpstr>Heiti TC Light</vt:lpstr>
      <vt:lpstr>Hiragino Kaku Gothic ProN W3</vt:lpstr>
      <vt:lpstr>Hiragino Kaku Gothic ProN W6</vt:lpstr>
      <vt:lpstr>Hiragino Sans</vt:lpstr>
      <vt:lpstr>游ゴシック</vt:lpstr>
      <vt:lpstr>Arial</vt:lpstr>
      <vt:lpstr>Calibri</vt:lpstr>
      <vt:lpstr>Courier New</vt:lpstr>
      <vt:lpstr>Gill Sans</vt:lpstr>
      <vt:lpstr>Helvetica Neue Light</vt:lpstr>
      <vt:lpstr>Symbol</vt:lpstr>
      <vt:lpstr>Times New Roman</vt:lpstr>
      <vt:lpstr>YugiTalk</vt:lpstr>
      <vt:lpstr>力学系(3): 濃度が振動する生化学反応系</vt:lpstr>
      <vt:lpstr>前回からの内容</vt:lpstr>
      <vt:lpstr>力学系の七つ道具</vt:lpstr>
      <vt:lpstr>Sel’kovモデル</vt:lpstr>
      <vt:lpstr>解糖系の振動とは？</vt:lpstr>
      <vt:lpstr>力学系の七つ道具</vt:lpstr>
      <vt:lpstr>すべての固有値が実数である固定点</vt:lpstr>
      <vt:lpstr>固有値と解軌道の収束・発散</vt:lpstr>
      <vt:lpstr>正の固有値を一つでも含むと発散</vt:lpstr>
      <vt:lpstr>相平面と時系列の対応</vt:lpstr>
      <vt:lpstr>複素数の固有値を含む固定点</vt:lpstr>
      <vt:lpstr>相平面と時系列の対応</vt:lpstr>
      <vt:lpstr>演習6: Sel’kovモデルの固定点の分類</vt:lpstr>
      <vt:lpstr>固定点を回る周期解の正体</vt:lpstr>
      <vt:lpstr>Supercritical Hopf 分岐（以下「Hopf 分岐」）の定義</vt:lpstr>
      <vt:lpstr>Hopf 分岐に伴って起こる現象</vt:lpstr>
      <vt:lpstr>演習7: Sel’kovモデルとHopf分岐</vt:lpstr>
      <vt:lpstr>出力例</vt:lpstr>
      <vt:lpstr>力学系の七つ道具</vt:lpstr>
      <vt:lpstr>分岐図(bifurcation diagram)と相図(phase diagram)</vt:lpstr>
      <vt:lpstr>演習8: Sel’kovモデルの相図を描きなさい (下は完成図)</vt:lpstr>
      <vt:lpstr>ヒント</vt:lpstr>
      <vt:lpstr>空欄を埋めなさい</vt:lpstr>
      <vt:lpstr>振動を起こすa, bの組合せ</vt:lpstr>
      <vt:lpstr>Sel’kovモデルにおける分岐</vt:lpstr>
      <vt:lpstr>Hopf分岐は生化学的振動現象を司る分岐である</vt:lpstr>
      <vt:lpstr>発展課題：Goodwinの景気循環モデル</vt:lpstr>
      <vt:lpstr>Goodwinモデルの時系列と相平面</vt:lpstr>
      <vt:lpstr>前回と今回の内容</vt:lpstr>
      <vt:lpstr>Further Readings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人類史スケールの 代謝制御システム考古学</dc:title>
  <dc:creator>柚木 克之</dc:creator>
  <cp:lastModifiedBy>Katsuyuki Yugi</cp:lastModifiedBy>
  <cp:revision>660</cp:revision>
  <cp:lastPrinted>2025-11-08T05:32:43Z</cp:lastPrinted>
  <dcterms:created xsi:type="dcterms:W3CDTF">2022-03-29T08:03:06Z</dcterms:created>
  <dcterms:modified xsi:type="dcterms:W3CDTF">2026-10-28T05:17:41Z</dcterms:modified>
</cp:coreProperties>
</file>