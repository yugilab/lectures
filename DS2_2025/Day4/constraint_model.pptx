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31"/>
  </p:notesMasterIdLst>
  <p:sldIdLst>
    <p:sldId id="2105" r:id="rId2"/>
    <p:sldId id="3194" r:id="rId3"/>
    <p:sldId id="3195" r:id="rId4"/>
    <p:sldId id="3196" r:id="rId5"/>
    <p:sldId id="3197" r:id="rId6"/>
    <p:sldId id="3226" r:id="rId7"/>
    <p:sldId id="3227" r:id="rId8"/>
    <p:sldId id="3228" r:id="rId9"/>
    <p:sldId id="3229" r:id="rId10"/>
    <p:sldId id="3230" r:id="rId11"/>
    <p:sldId id="3232" r:id="rId12"/>
    <p:sldId id="3231" r:id="rId13"/>
    <p:sldId id="3234" r:id="rId14"/>
    <p:sldId id="3235" r:id="rId15"/>
    <p:sldId id="3236" r:id="rId16"/>
    <p:sldId id="3238" r:id="rId17"/>
    <p:sldId id="3239" r:id="rId18"/>
    <p:sldId id="3240" r:id="rId19"/>
    <p:sldId id="3241" r:id="rId20"/>
    <p:sldId id="3242" r:id="rId21"/>
    <p:sldId id="3243" r:id="rId22"/>
    <p:sldId id="3245" r:id="rId23"/>
    <p:sldId id="3246" r:id="rId24"/>
    <p:sldId id="3247" r:id="rId25"/>
    <p:sldId id="3248" r:id="rId26"/>
    <p:sldId id="3251" r:id="rId27"/>
    <p:sldId id="3253" r:id="rId28"/>
    <p:sldId id="3250" r:id="rId29"/>
    <p:sldId id="3252" r:id="rId30"/>
  </p:sldIdLst>
  <p:sldSz cx="17340263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ヒラギノ角ゴ ProN W3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97"/>
    <p:restoredTop sz="94658"/>
  </p:normalViewPr>
  <p:slideViewPr>
    <p:cSldViewPr snapToGrid="0">
      <p:cViewPr varScale="1">
        <p:scale>
          <a:sx n="76" d="100"/>
          <a:sy n="76" d="100"/>
        </p:scale>
        <p:origin x="26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1"/>
            <a:ext cx="17340263" cy="5120640"/>
          </a:xfrm>
          <a:solidFill>
            <a:srgbClr val="011893"/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601040" y="5527040"/>
            <a:ext cx="12138184" cy="24925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50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0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11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1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1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18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867013" y="9040144"/>
            <a:ext cx="4046061" cy="519289"/>
          </a:xfrm>
          <a:prstGeom prst="rect">
            <a:avLst/>
          </a:prstGeom>
        </p:spPr>
        <p:txBody>
          <a:bodyPr/>
          <a:lstStyle/>
          <a:p>
            <a:fld id="{C8BC208A-B9F0-7945-ADEB-1A1AFDC48EA0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5924590" y="9040144"/>
            <a:ext cx="5491083" cy="519289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9160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0"/>
            <a:ext cx="17340263" cy="1625600"/>
          </a:xfrm>
        </p:spPr>
        <p:txBody>
          <a:bodyPr anchor="ctr" anchorCtr="0"/>
          <a:lstStyle/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867013" y="9040144"/>
            <a:ext cx="4046061" cy="519289"/>
          </a:xfrm>
          <a:prstGeom prst="rect">
            <a:avLst/>
          </a:prstGeom>
        </p:spPr>
        <p:txBody>
          <a:bodyPr/>
          <a:lstStyle/>
          <a:p>
            <a:fld id="{C8BC208A-B9F0-7945-ADEB-1A1AFDC48EA0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5924590" y="9040144"/>
            <a:ext cx="5491083" cy="519289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432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369761" y="6267593"/>
            <a:ext cx="14739224" cy="1937173"/>
          </a:xfrm>
        </p:spPr>
        <p:txBody>
          <a:bodyPr anchor="t"/>
          <a:lstStyle>
            <a:lvl1pPr algn="l">
              <a:defRPr sz="5689" b="1" cap="all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1369761" y="4133993"/>
            <a:ext cx="14739224" cy="2133599"/>
          </a:xfrm>
        </p:spPr>
        <p:txBody>
          <a:bodyPr anchor="b"/>
          <a:lstStyle>
            <a:lvl1pPr marL="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867013" y="9040144"/>
            <a:ext cx="4046061" cy="519289"/>
          </a:xfrm>
          <a:prstGeom prst="rect">
            <a:avLst/>
          </a:prstGeom>
        </p:spPr>
        <p:txBody>
          <a:bodyPr/>
          <a:lstStyle/>
          <a:p>
            <a:fld id="{C8BC208A-B9F0-7945-ADEB-1A1AFDC48EA0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5924590" y="9040144"/>
            <a:ext cx="5491083" cy="519289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063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867013" y="2275842"/>
            <a:ext cx="7658616" cy="6436925"/>
          </a:xfrm>
        </p:spPr>
        <p:txBody>
          <a:bodyPr/>
          <a:lstStyle>
            <a:lvl1pPr>
              <a:defRPr sz="3982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8814634" y="2275842"/>
            <a:ext cx="7658616" cy="6436925"/>
          </a:xfrm>
        </p:spPr>
        <p:txBody>
          <a:bodyPr/>
          <a:lstStyle>
            <a:lvl1pPr>
              <a:defRPr sz="3982"/>
            </a:lvl1pPr>
            <a:lvl2pPr>
              <a:defRPr sz="3413"/>
            </a:lvl2pPr>
            <a:lvl3pPr>
              <a:defRPr sz="2844"/>
            </a:lvl3pPr>
            <a:lvl4pPr>
              <a:defRPr sz="2560"/>
            </a:lvl4pPr>
            <a:lvl5pPr>
              <a:defRPr sz="256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>
          <a:xfrm>
            <a:off x="867013" y="9040144"/>
            <a:ext cx="4046061" cy="519289"/>
          </a:xfrm>
          <a:prstGeom prst="rect">
            <a:avLst/>
          </a:prstGeom>
        </p:spPr>
        <p:txBody>
          <a:bodyPr/>
          <a:lstStyle/>
          <a:p>
            <a:fld id="{C8BC208A-B9F0-7945-ADEB-1A1AFDC48EA0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>
          <a:xfrm>
            <a:off x="5924590" y="9040144"/>
            <a:ext cx="5491083" cy="519289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526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867014" y="2183272"/>
            <a:ext cx="7661627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867014" y="3093155"/>
            <a:ext cx="7661627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8808615" y="2183272"/>
            <a:ext cx="7664637" cy="909884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8808615" y="3093155"/>
            <a:ext cx="7664637" cy="5619610"/>
          </a:xfrm>
        </p:spPr>
        <p:txBody>
          <a:bodyPr/>
          <a:lstStyle>
            <a:lvl1pPr>
              <a:defRPr sz="3413"/>
            </a:lvl1pPr>
            <a:lvl2pPr>
              <a:defRPr sz="2844"/>
            </a:lvl2pPr>
            <a:lvl3pPr>
              <a:defRPr sz="2560"/>
            </a:lvl3pPr>
            <a:lvl4pPr>
              <a:defRPr sz="2276"/>
            </a:lvl4pPr>
            <a:lvl5pPr>
              <a:defRPr sz="2276"/>
            </a:lvl5pPr>
            <a:lvl6pPr>
              <a:defRPr sz="2276"/>
            </a:lvl6pPr>
            <a:lvl7pPr>
              <a:defRPr sz="2276"/>
            </a:lvl7pPr>
            <a:lvl8pPr>
              <a:defRPr sz="2276"/>
            </a:lvl8pPr>
            <a:lvl9pPr>
              <a:defRPr sz="2276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>
          <a:xfrm>
            <a:off x="867013" y="9040144"/>
            <a:ext cx="4046061" cy="519289"/>
          </a:xfrm>
          <a:prstGeom prst="rect">
            <a:avLst/>
          </a:prstGeom>
        </p:spPr>
        <p:txBody>
          <a:bodyPr/>
          <a:lstStyle/>
          <a:p>
            <a:fld id="{C8BC208A-B9F0-7945-ADEB-1A1AFDC48EA0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>
          <a:xfrm>
            <a:off x="5924590" y="9040144"/>
            <a:ext cx="5491083" cy="519289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08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>
          <a:xfrm>
            <a:off x="867013" y="9040144"/>
            <a:ext cx="4046061" cy="519289"/>
          </a:xfrm>
          <a:prstGeom prst="rect">
            <a:avLst/>
          </a:prstGeom>
        </p:spPr>
        <p:txBody>
          <a:bodyPr/>
          <a:lstStyle/>
          <a:p>
            <a:fld id="{C8BC208A-B9F0-7945-ADEB-1A1AFDC48EA0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>
          <a:xfrm>
            <a:off x="5924590" y="9040144"/>
            <a:ext cx="5491083" cy="519289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タイトル 4"/>
          <p:cNvSpPr>
            <a:spLocks noGrp="1"/>
          </p:cNvSpPr>
          <p:nvPr>
            <p:ph type="title"/>
          </p:nvPr>
        </p:nvSpPr>
        <p:spPr>
          <a:xfrm>
            <a:off x="0" y="0"/>
            <a:ext cx="17340263" cy="1625600"/>
          </a:xfrm>
          <a:solidFill>
            <a:srgbClr val="011893"/>
          </a:solidFill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38729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>
          <a:xfrm>
            <a:off x="867013" y="9040144"/>
            <a:ext cx="4046061" cy="519289"/>
          </a:xfrm>
          <a:prstGeom prst="rect">
            <a:avLst/>
          </a:prstGeom>
        </p:spPr>
        <p:txBody>
          <a:bodyPr/>
          <a:lstStyle/>
          <a:p>
            <a:fld id="{C8BC208A-B9F0-7945-ADEB-1A1AFDC48EA0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>
          <a:xfrm>
            <a:off x="5924590" y="9040144"/>
            <a:ext cx="5491083" cy="519289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4279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67015" y="388338"/>
            <a:ext cx="5704827" cy="1652693"/>
          </a:xfrm>
        </p:spPr>
        <p:txBody>
          <a:bodyPr anchor="b"/>
          <a:lstStyle>
            <a:lvl1pPr algn="l">
              <a:defRPr sz="2844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779561" y="388340"/>
            <a:ext cx="9693689" cy="8324427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867015" y="2041033"/>
            <a:ext cx="5704827" cy="6671734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>
          <a:xfrm>
            <a:off x="867013" y="9040144"/>
            <a:ext cx="4046061" cy="519289"/>
          </a:xfrm>
          <a:prstGeom prst="rect">
            <a:avLst/>
          </a:prstGeom>
        </p:spPr>
        <p:txBody>
          <a:bodyPr/>
          <a:lstStyle/>
          <a:p>
            <a:fld id="{C8BC208A-B9F0-7945-ADEB-1A1AFDC48EA0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>
          <a:xfrm>
            <a:off x="5924590" y="9040144"/>
            <a:ext cx="5491083" cy="519289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482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98812" y="6827520"/>
            <a:ext cx="10404158" cy="806027"/>
          </a:xfrm>
        </p:spPr>
        <p:txBody>
          <a:bodyPr anchor="b"/>
          <a:lstStyle>
            <a:lvl1pPr algn="l">
              <a:defRPr sz="2844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3398812" y="871502"/>
            <a:ext cx="10404158" cy="5852160"/>
          </a:xfrm>
        </p:spPr>
        <p:txBody>
          <a:bodyPr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3398812" y="7633547"/>
            <a:ext cx="10404158" cy="1144693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>
          <a:xfrm>
            <a:off x="867013" y="9040144"/>
            <a:ext cx="4046061" cy="519289"/>
          </a:xfrm>
          <a:prstGeom prst="rect">
            <a:avLst/>
          </a:prstGeom>
        </p:spPr>
        <p:txBody>
          <a:bodyPr/>
          <a:lstStyle/>
          <a:p>
            <a:fld id="{C8BC208A-B9F0-7945-ADEB-1A1AFDC48EA0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>
          <a:xfrm>
            <a:off x="5924590" y="9040144"/>
            <a:ext cx="5491083" cy="519289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4926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_標準スライド_ロゴ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FBDB9AF5-D845-784E-9C1F-B7AD85A841D6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7340263" cy="1589476"/>
          </a:xfrm>
          <a:prstGeom prst="rect">
            <a:avLst/>
          </a:prstGeom>
          <a:solidFill>
            <a:schemeClr val="tx1"/>
          </a:solidFill>
        </p:spPr>
        <p:txBody>
          <a:bodyPr vert="horz" lIns="1126400" tIns="65024" rIns="1126400" bIns="65024" rtlCol="0" anchor="ctr">
            <a:normAutofit/>
          </a:bodyPr>
          <a:lstStyle>
            <a:lvl1pPr marL="133350" indent="0" algn="l" defTabSz="457200" rtl="0" eaLnBrk="1" latinLnBrk="0" hangingPunct="1">
              <a:spcBef>
                <a:spcPct val="0"/>
              </a:spcBef>
              <a:buNone/>
              <a:tabLst/>
              <a:defRPr kumimoji="1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sz="5689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898891F-5647-B346-9126-050BE28A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6097897" cy="1589476"/>
          </a:xfrm>
          <a:solidFill>
            <a:schemeClr val="tx1"/>
          </a:solidFill>
        </p:spPr>
        <p:txBody>
          <a:bodyPr lIns="72000" rIns="72000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21CC19-FFF3-354E-BEF3-60754AA408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64D956-97B4-0F42-97EB-56A02ED5B12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C6535A2-04BC-0043-B2E0-8D7147C6C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理化学研究所 砂川玄志郎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51D583D-CE80-3444-AC0C-DC9EEC7418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316707" y="278600"/>
            <a:ext cx="650260" cy="104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708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7340263" cy="897141"/>
          </a:xfrm>
        </p:spPr>
        <p:txBody>
          <a:bodyPr>
            <a:noAutofit/>
          </a:bodyPr>
          <a:lstStyle>
            <a:lvl1pPr algn="ctr">
              <a:defRPr sz="3982" b="1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07072-EF46-4BD3-A943-EF21BC9E885E}" type="datetime1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438704" y="9234313"/>
            <a:ext cx="3901559" cy="519289"/>
          </a:xfrm>
        </p:spPr>
        <p:txBody>
          <a:bodyPr/>
          <a:lstStyle/>
          <a:p>
            <a:fld id="{7897ED99-A8FC-4B43-8A57-A36A51C1578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495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0" y="0"/>
            <a:ext cx="17340263" cy="16256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867013" y="2275842"/>
            <a:ext cx="15606237" cy="6436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56569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1300460" rtl="0" eaLnBrk="1" latinLnBrk="0" hangingPunct="1">
        <a:spcBef>
          <a:spcPct val="0"/>
        </a:spcBef>
        <a:buNone/>
        <a:defRPr kumimoji="1" sz="6258" kern="1200">
          <a:solidFill>
            <a:schemeClr val="tx1"/>
          </a:solidFill>
          <a:latin typeface="Helvetica Neue Light"/>
          <a:ea typeface="+mj-ea"/>
          <a:cs typeface="+mj-cs"/>
        </a:defRPr>
      </a:lvl1pPr>
    </p:titleStyle>
    <p:bodyStyle>
      <a:lvl1pPr marL="487672" indent="-487672" algn="l" defTabSz="1300460" rtl="0" eaLnBrk="1" latinLnBrk="0" hangingPunct="1">
        <a:spcBef>
          <a:spcPct val="20000"/>
        </a:spcBef>
        <a:buFont typeface="Arial" pitchFamily="34" charset="0"/>
        <a:buChar char="•"/>
        <a:defRPr kumimoji="1" sz="4551" kern="1200">
          <a:solidFill>
            <a:schemeClr val="tx1"/>
          </a:solidFill>
          <a:latin typeface="Helvetica Neue Light"/>
          <a:ea typeface="+mn-ea"/>
          <a:cs typeface="+mn-cs"/>
        </a:defRPr>
      </a:lvl1pPr>
      <a:lvl2pPr marL="1056623" indent="-406394" algn="l" defTabSz="1300460" rtl="0" eaLnBrk="1" latinLnBrk="0" hangingPunct="1">
        <a:spcBef>
          <a:spcPct val="20000"/>
        </a:spcBef>
        <a:buFont typeface="Arial" pitchFamily="34" charset="0"/>
        <a:buChar char="–"/>
        <a:defRPr kumimoji="1" sz="3982" kern="1200">
          <a:solidFill>
            <a:schemeClr val="tx1"/>
          </a:solidFill>
          <a:latin typeface="Helvetica Neue Light"/>
          <a:ea typeface="+mn-ea"/>
          <a:cs typeface="+mn-cs"/>
        </a:defRPr>
      </a:lvl2pPr>
      <a:lvl3pPr marL="1625575" indent="-325115" algn="l" defTabSz="1300460" rtl="0" eaLnBrk="1" latinLnBrk="0" hangingPunct="1">
        <a:spcBef>
          <a:spcPct val="20000"/>
        </a:spcBef>
        <a:buFont typeface="Arial" pitchFamily="34" charset="0"/>
        <a:buChar char="•"/>
        <a:defRPr kumimoji="1" sz="3413" kern="1200">
          <a:solidFill>
            <a:schemeClr val="tx1"/>
          </a:solidFill>
          <a:latin typeface="Helvetica Neue Light"/>
          <a:ea typeface="+mn-ea"/>
          <a:cs typeface="+mn-cs"/>
        </a:defRPr>
      </a:lvl3pPr>
      <a:lvl4pPr marL="2275804" indent="-325115" algn="l" defTabSz="1300460" rtl="0" eaLnBrk="1" latinLnBrk="0" hangingPunct="1">
        <a:spcBef>
          <a:spcPct val="20000"/>
        </a:spcBef>
        <a:buFont typeface="Arial" pitchFamily="34" charset="0"/>
        <a:buChar char="–"/>
        <a:defRPr kumimoji="1" sz="2844" kern="1200">
          <a:solidFill>
            <a:schemeClr val="tx1"/>
          </a:solidFill>
          <a:latin typeface="Helvetica Neue Light"/>
          <a:ea typeface="+mn-ea"/>
          <a:cs typeface="+mn-cs"/>
        </a:defRPr>
      </a:lvl4pPr>
      <a:lvl5pPr marL="2926034" indent="-325115" algn="l" defTabSz="1300460" rtl="0" eaLnBrk="1" latinLnBrk="0" hangingPunct="1">
        <a:spcBef>
          <a:spcPct val="20000"/>
        </a:spcBef>
        <a:buFont typeface="Arial" pitchFamily="34" charset="0"/>
        <a:buChar char="»"/>
        <a:defRPr kumimoji="1" sz="2844" kern="1200">
          <a:solidFill>
            <a:schemeClr val="tx1"/>
          </a:solidFill>
          <a:latin typeface="Helvetica Neue Light"/>
          <a:ea typeface="+mn-ea"/>
          <a:cs typeface="+mn-cs"/>
        </a:defRPr>
      </a:lvl5pPr>
      <a:lvl6pPr marL="3576264" indent="-325115" algn="l" defTabSz="1300460" rtl="0" eaLnBrk="1" latinLnBrk="0" hangingPunct="1">
        <a:spcBef>
          <a:spcPct val="20000"/>
        </a:spcBef>
        <a:buFont typeface="Arial" pitchFamily="34" charset="0"/>
        <a:buChar char="•"/>
        <a:defRPr kumimoji="1" sz="2844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spcBef>
          <a:spcPct val="20000"/>
        </a:spcBef>
        <a:buFont typeface="Arial" pitchFamily="34" charset="0"/>
        <a:buChar char="•"/>
        <a:defRPr kumimoji="1" sz="2844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spcBef>
          <a:spcPct val="20000"/>
        </a:spcBef>
        <a:buFont typeface="Arial" pitchFamily="34" charset="0"/>
        <a:buChar char="•"/>
        <a:defRPr kumimoji="1" sz="2844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spcBef>
          <a:spcPct val="20000"/>
        </a:spcBef>
        <a:buFont typeface="Arial" pitchFamily="34" charset="0"/>
        <a:buChar char="•"/>
        <a:defRPr kumimoji="1" sz="28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16C8AC-F9E0-51E5-DAA6-9566783901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sz="7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Flux Balance Analysis</a:t>
            </a:r>
            <a:br>
              <a:rPr kumimoji="1" lang="en-US" altLang="ja-JP" sz="7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</a:br>
            <a:r>
              <a:rPr kumimoji="1" lang="ja-JP" altLang="en-US" sz="7200" b="1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代謝流束均衡解析 </a:t>
            </a:r>
            <a:endParaRPr kumimoji="1" lang="ja-JP" altLang="en-US" sz="72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69B2A02-C381-234A-3510-EE412B3F19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柚木 克之</a:t>
            </a:r>
            <a:endParaRPr kumimoji="1" lang="en-US" altLang="ja-JP" dirty="0"/>
          </a:p>
          <a:p>
            <a:r>
              <a:rPr lang="ja-JP" altLang="en-US"/>
              <a:t>理化学研究所・生命医科学研究センター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8991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A44612-0F35-C1D6-39BA-603E32285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今日の内容</a:t>
            </a:r>
          </a:p>
        </p:txBody>
      </p:sp>
      <p:sp>
        <p:nvSpPr>
          <p:cNvPr id="5" name="代謝流束 (flux) の定義…">
            <a:extLst>
              <a:ext uri="{FF2B5EF4-FFF2-40B4-BE49-F238E27FC236}">
                <a16:creationId xmlns:a16="http://schemas.microsoft.com/office/drawing/2014/main" id="{77AFEC42-3FCF-AE24-56A5-07730DAE504F}"/>
              </a:ext>
            </a:extLst>
          </p:cNvPr>
          <p:cNvSpPr txBox="1">
            <a:spLocks/>
          </p:cNvSpPr>
          <p:nvPr/>
        </p:nvSpPr>
        <p:spPr>
          <a:xfrm>
            <a:off x="1270039" y="2603500"/>
            <a:ext cx="14800185" cy="6286500"/>
          </a:xfrm>
          <a:prstGeom prst="rect">
            <a:avLst/>
          </a:prstGeom>
        </p:spPr>
        <p:txBody>
          <a:bodyPr/>
          <a:lstStyle>
            <a:lvl1pPr marL="487672" indent="-487672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4551" kern="1200">
                <a:solidFill>
                  <a:schemeClr val="tx1"/>
                </a:solidFill>
                <a:latin typeface="Helvetica Neue Light"/>
                <a:ea typeface="+mn-ea"/>
                <a:cs typeface="+mn-cs"/>
              </a:defRPr>
            </a:lvl1pPr>
            <a:lvl2pPr marL="1056623" indent="-406394" algn="l" defTabSz="13004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3982" kern="1200">
                <a:solidFill>
                  <a:schemeClr val="tx1"/>
                </a:solidFill>
                <a:latin typeface="Helvetica Neue Light"/>
                <a:ea typeface="+mn-ea"/>
                <a:cs typeface="+mn-cs"/>
              </a:defRPr>
            </a:lvl2pPr>
            <a:lvl3pPr marL="1625575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3413" kern="1200">
                <a:solidFill>
                  <a:schemeClr val="tx1"/>
                </a:solidFill>
                <a:latin typeface="Helvetica Neue Light"/>
                <a:ea typeface="+mn-ea"/>
                <a:cs typeface="+mn-cs"/>
              </a:defRPr>
            </a:lvl3pPr>
            <a:lvl4pPr marL="227580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2844" kern="1200">
                <a:solidFill>
                  <a:schemeClr val="tx1"/>
                </a:solidFill>
                <a:latin typeface="Helvetica Neue Light"/>
                <a:ea typeface="+mn-ea"/>
                <a:cs typeface="+mn-cs"/>
              </a:defRPr>
            </a:lvl4pPr>
            <a:lvl5pPr marL="292603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2844" kern="1200">
                <a:solidFill>
                  <a:schemeClr val="tx1"/>
                </a:solidFill>
                <a:latin typeface="Helvetica Neue Light"/>
                <a:ea typeface="+mn-ea"/>
                <a:cs typeface="+mn-cs"/>
              </a:defRPr>
            </a:lvl5pPr>
            <a:lvl6pPr marL="357626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49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72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95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代謝流束 </a:t>
            </a:r>
            <a:r>
              <a:rPr lang="en-US" altLang="zh-CN" dirty="0"/>
              <a:t>(</a:t>
            </a:r>
            <a:r>
              <a:rPr lang="en-US" dirty="0"/>
              <a:t>flux) </a:t>
            </a:r>
            <a:r>
              <a:rPr lang="ja-JP" altLang="en-US" dirty="0"/>
              <a:t>の</a:t>
            </a:r>
            <a:r>
              <a:rPr lang="zh-CN" altLang="en-US" dirty="0"/>
              <a:t>定義</a:t>
            </a:r>
          </a:p>
          <a:p>
            <a:endParaRPr lang="zh-CN" altLang="en-US" dirty="0"/>
          </a:p>
          <a:p>
            <a:r>
              <a:rPr lang="zh-CN" altLang="en-US" dirty="0"/>
              <a:t>代謝流束均衡解析 </a:t>
            </a:r>
            <a:r>
              <a:rPr lang="en-US" altLang="zh-CN" dirty="0"/>
              <a:t>(</a:t>
            </a:r>
            <a:r>
              <a:rPr lang="en-US" dirty="0"/>
              <a:t>Flux Balance Analysis)</a:t>
            </a:r>
          </a:p>
          <a:p>
            <a:endParaRPr lang="en-US" dirty="0"/>
          </a:p>
          <a:p>
            <a:r>
              <a:rPr lang="zh-CN" altLang="en-US" dirty="0"/>
              <a:t>代謝工学</a:t>
            </a:r>
            <a:r>
              <a:rPr lang="ja-JP" altLang="en-US" dirty="0"/>
              <a:t>への</a:t>
            </a:r>
            <a:r>
              <a:rPr lang="zh-CN" altLang="en-US" dirty="0"/>
              <a:t>応用</a:t>
            </a:r>
          </a:p>
        </p:txBody>
      </p:sp>
    </p:spTree>
    <p:extLst>
      <p:ext uri="{BB962C8B-B14F-4D97-AF65-F5344CB8AC3E}">
        <p14:creationId xmlns:p14="http://schemas.microsoft.com/office/powerpoint/2010/main" val="1642553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274B9-66B5-1974-89C7-B1368EE5A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FD060B-CA09-089D-DC6D-5EF4169B9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定常状</a:t>
            </a:r>
            <a:r>
              <a:rPr kumimoji="1" lang="ja-JP" altLang="en-US" dirty="0">
                <a:latin typeface="+mj-ea"/>
              </a:rPr>
              <a:t>態 </a:t>
            </a:r>
            <a:r>
              <a:rPr lang="en-US" altLang="ja-JP" dirty="0">
                <a:latin typeface="+mj-ea"/>
              </a:rPr>
              <a:t>(steady state)</a:t>
            </a:r>
            <a:endParaRPr lang="ja-JP" altLang="en-US" dirty="0">
              <a:latin typeface="+mj-ea"/>
            </a:endParaRPr>
          </a:p>
        </p:txBody>
      </p:sp>
      <p:sp>
        <p:nvSpPr>
          <p:cNvPr id="11" name="物質の生成と消費が釣り合っている状態…">
            <a:extLst>
              <a:ext uri="{FF2B5EF4-FFF2-40B4-BE49-F238E27FC236}">
                <a16:creationId xmlns:a16="http://schemas.microsoft.com/office/drawing/2014/main" id="{AA368BB5-B902-F8CB-867D-F8340ED44DBB}"/>
              </a:ext>
            </a:extLst>
          </p:cNvPr>
          <p:cNvSpPr txBox="1">
            <a:spLocks/>
          </p:cNvSpPr>
          <p:nvPr/>
        </p:nvSpPr>
        <p:spPr>
          <a:xfrm>
            <a:off x="1270040" y="2603500"/>
            <a:ext cx="14241510" cy="6286500"/>
          </a:xfrm>
          <a:prstGeom prst="rect">
            <a:avLst/>
          </a:prstGeom>
        </p:spPr>
        <p:txBody>
          <a:bodyPr/>
          <a:lstStyle>
            <a:lvl1pPr marL="487672" indent="-487672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4551" kern="1200">
                <a:solidFill>
                  <a:schemeClr val="tx1"/>
                </a:solidFill>
                <a:latin typeface="Helvetica Neue Light"/>
                <a:ea typeface="+mn-ea"/>
                <a:cs typeface="+mn-cs"/>
              </a:defRPr>
            </a:lvl1pPr>
            <a:lvl2pPr marL="1056623" indent="-406394" algn="l" defTabSz="13004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3982" kern="1200">
                <a:solidFill>
                  <a:schemeClr val="tx1"/>
                </a:solidFill>
                <a:latin typeface="Helvetica Neue Light"/>
                <a:ea typeface="+mn-ea"/>
                <a:cs typeface="+mn-cs"/>
              </a:defRPr>
            </a:lvl2pPr>
            <a:lvl3pPr marL="1625575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3413" kern="1200">
                <a:solidFill>
                  <a:schemeClr val="tx1"/>
                </a:solidFill>
                <a:latin typeface="Helvetica Neue Light"/>
                <a:ea typeface="+mn-ea"/>
                <a:cs typeface="+mn-cs"/>
              </a:defRPr>
            </a:lvl3pPr>
            <a:lvl4pPr marL="227580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2844" kern="1200">
                <a:solidFill>
                  <a:schemeClr val="tx1"/>
                </a:solidFill>
                <a:latin typeface="Helvetica Neue Light"/>
                <a:ea typeface="+mn-ea"/>
                <a:cs typeface="+mn-cs"/>
              </a:defRPr>
            </a:lvl4pPr>
            <a:lvl5pPr marL="292603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2844" kern="1200">
                <a:solidFill>
                  <a:schemeClr val="tx1"/>
                </a:solidFill>
                <a:latin typeface="Helvetica Neue Light"/>
                <a:ea typeface="+mn-ea"/>
                <a:cs typeface="+mn-cs"/>
              </a:defRPr>
            </a:lvl5pPr>
            <a:lvl6pPr marL="357626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49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72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954" indent="-325115" algn="l" defTabSz="13004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6704" indent="-306704" defTabSz="403097">
              <a:spcBef>
                <a:spcPts val="2800"/>
              </a:spcBef>
              <a:defRPr sz="2484"/>
            </a:pPr>
            <a:r>
              <a:rPr lang="ja-JP" altLang="en-US" sz="3600" dirty="0"/>
              <a:t>物質の生成と消費が釣り合っている状態</a:t>
            </a:r>
          </a:p>
          <a:p>
            <a:pPr marL="306704" indent="-306704" defTabSz="403097">
              <a:spcBef>
                <a:spcPts val="2800"/>
              </a:spcBef>
              <a:defRPr sz="2484"/>
            </a:pPr>
            <a:endParaRPr lang="ja-JP" altLang="en-US" sz="3600" dirty="0"/>
          </a:p>
          <a:p>
            <a:pPr marL="306704" indent="-306704" defTabSz="403097">
              <a:spcBef>
                <a:spcPts val="2800"/>
              </a:spcBef>
              <a:defRPr sz="2484"/>
            </a:pPr>
            <a:endParaRPr lang="ja-JP" altLang="en-US" sz="3600" dirty="0"/>
          </a:p>
          <a:p>
            <a:pPr marL="0" indent="0" defTabSz="403097">
              <a:spcBef>
                <a:spcPts val="2800"/>
              </a:spcBef>
              <a:buNone/>
              <a:defRPr sz="2484"/>
            </a:pPr>
            <a:endParaRPr lang="en-US" altLang="ja-JP" sz="3600" dirty="0"/>
          </a:p>
          <a:p>
            <a:pPr marL="0" indent="0" defTabSz="403097">
              <a:spcBef>
                <a:spcPts val="2800"/>
              </a:spcBef>
              <a:buNone/>
              <a:defRPr sz="2484"/>
            </a:pPr>
            <a:endParaRPr lang="ja-JP" altLang="en-US" sz="3600" dirty="0"/>
          </a:p>
          <a:p>
            <a:pPr marL="306704" indent="-306704" defTabSz="403097">
              <a:spcBef>
                <a:spcPts val="2800"/>
              </a:spcBef>
              <a:defRPr sz="2484"/>
            </a:pPr>
            <a:r>
              <a:rPr lang="ja-JP" altLang="en-US" sz="3600" dirty="0"/>
              <a:t>平衡状態 </a:t>
            </a:r>
            <a:r>
              <a:rPr lang="en-US" altLang="ja-JP" sz="3600" dirty="0"/>
              <a:t>(equilibrium) </a:t>
            </a:r>
            <a:r>
              <a:rPr lang="ja-JP" altLang="en-US" sz="3600" dirty="0"/>
              <a:t>とは異なる</a:t>
            </a:r>
          </a:p>
          <a:p>
            <a:pPr marL="613409" lvl="1" indent="-306704" defTabSz="403097">
              <a:spcBef>
                <a:spcPts val="2800"/>
              </a:spcBef>
              <a:defRPr sz="2484"/>
            </a:pPr>
            <a:r>
              <a:rPr lang="ja-JP" altLang="en-US" sz="3600" dirty="0"/>
              <a:t>平衡状態は</a:t>
            </a:r>
          </a:p>
        </p:txBody>
      </p:sp>
      <p:pic>
        <p:nvPicPr>
          <p:cNvPr id="12" name="droppedImage.pdf" descr="droppedImage.pdf">
            <a:extLst>
              <a:ext uri="{FF2B5EF4-FFF2-40B4-BE49-F238E27FC236}">
                <a16:creationId xmlns:a16="http://schemas.microsoft.com/office/drawing/2014/main" id="{BB281F02-D4F7-5112-7FD5-BB1F8D37A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262" y="8112760"/>
            <a:ext cx="3302000" cy="393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droppedImage.pdf" descr="droppedImage.pdf">
            <a:extLst>
              <a:ext uri="{FF2B5EF4-FFF2-40B4-BE49-F238E27FC236}">
                <a16:creationId xmlns:a16="http://schemas.microsoft.com/office/drawing/2014/main" id="{E592B099-BB66-6E9B-3FB7-640015ADC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302" y="6145143"/>
            <a:ext cx="3303657" cy="393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droppedImage.pdf" descr="droppedImage.pdf">
            <a:extLst>
              <a:ext uri="{FF2B5EF4-FFF2-40B4-BE49-F238E27FC236}">
                <a16:creationId xmlns:a16="http://schemas.microsoft.com/office/drawing/2014/main" id="{6879972D-FE27-3FDD-8EAD-67233B9DA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262" y="4379843"/>
            <a:ext cx="7917657" cy="889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droppedImage.pdf" descr="droppedImage.pdf">
            <a:extLst>
              <a:ext uri="{FF2B5EF4-FFF2-40B4-BE49-F238E27FC236}">
                <a16:creationId xmlns:a16="http://schemas.microsoft.com/office/drawing/2014/main" id="{34F43644-63AC-15D4-084E-72DDDF7C2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8061" y="4443343"/>
            <a:ext cx="368300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droppedImage.pdf" descr="droppedImage.pdf">
            <a:extLst>
              <a:ext uri="{FF2B5EF4-FFF2-40B4-BE49-F238E27FC236}">
                <a16:creationId xmlns:a16="http://schemas.microsoft.com/office/drawing/2014/main" id="{1A9C3EF6-25D4-5164-4B90-9F34C24159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3061" y="4443343"/>
            <a:ext cx="381000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droppedImage.pdf" descr="droppedImage.pdf">
            <a:extLst>
              <a:ext uri="{FF2B5EF4-FFF2-40B4-BE49-F238E27FC236}">
                <a16:creationId xmlns:a16="http://schemas.microsoft.com/office/drawing/2014/main" id="{BC2D28B2-12CB-41CC-A841-5907311E53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86161" y="4443343"/>
            <a:ext cx="381000" cy="2921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317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DC312-73EC-C508-E8D6-263B8AE49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80D1AD-8692-1F7D-8735-8AF55C155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260" dirty="0">
                <a:latin typeface="+mj-ea"/>
                <a:ea typeface="+mj-ea"/>
              </a:rPr>
              <a:t>代謝流束 </a:t>
            </a:r>
            <a:r>
              <a:rPr kumimoji="1" lang="en-US" altLang="ja-JP" sz="6260" dirty="0">
                <a:latin typeface="+mj-ea"/>
                <a:ea typeface="+mj-ea"/>
              </a:rPr>
              <a:t>(flux) </a:t>
            </a:r>
            <a:endParaRPr kumimoji="1" lang="ja-JP" altLang="en-US" sz="6260" dirty="0">
              <a:latin typeface="+mj-ea"/>
              <a:ea typeface="+mj-ea"/>
            </a:endParaRPr>
          </a:p>
        </p:txBody>
      </p:sp>
      <p:sp>
        <p:nvSpPr>
          <p:cNvPr id="3" name="線">
            <a:extLst>
              <a:ext uri="{FF2B5EF4-FFF2-40B4-BE49-F238E27FC236}">
                <a16:creationId xmlns:a16="http://schemas.microsoft.com/office/drawing/2014/main" id="{17281F83-9102-FEBA-EAF7-9060893EBDEF}"/>
              </a:ext>
            </a:extLst>
          </p:cNvPr>
          <p:cNvSpPr/>
          <p:nvPr/>
        </p:nvSpPr>
        <p:spPr>
          <a:xfrm>
            <a:off x="4937918" y="4513262"/>
            <a:ext cx="6962240" cy="17336"/>
          </a:xfrm>
          <a:prstGeom prst="line">
            <a:avLst/>
          </a:prstGeom>
          <a:ln w="38100">
            <a:solidFill>
              <a:srgbClr val="FF7E79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4" name="J">
            <a:extLst>
              <a:ext uri="{FF2B5EF4-FFF2-40B4-BE49-F238E27FC236}">
                <a16:creationId xmlns:a16="http://schemas.microsoft.com/office/drawing/2014/main" id="{737EE0C1-A48D-AA44-378D-5B746D5C415B}"/>
              </a:ext>
            </a:extLst>
          </p:cNvPr>
          <p:cNvSpPr txBox="1"/>
          <p:nvPr/>
        </p:nvSpPr>
        <p:spPr>
          <a:xfrm>
            <a:off x="8585776" y="3861117"/>
            <a:ext cx="307777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J</a:t>
            </a:r>
          </a:p>
        </p:txBody>
      </p:sp>
      <p:sp>
        <p:nvSpPr>
          <p:cNvPr id="5" name="定常状態における反応速度のこと…">
            <a:extLst>
              <a:ext uri="{FF2B5EF4-FFF2-40B4-BE49-F238E27FC236}">
                <a16:creationId xmlns:a16="http://schemas.microsoft.com/office/drawing/2014/main" id="{0B62F9F8-FA70-0AB2-095D-F64FE8D66067}"/>
              </a:ext>
            </a:extLst>
          </p:cNvPr>
          <p:cNvSpPr txBox="1">
            <a:spLocks/>
          </p:cNvSpPr>
          <p:nvPr/>
        </p:nvSpPr>
        <p:spPr>
          <a:xfrm>
            <a:off x="1270039" y="2603500"/>
            <a:ext cx="14800185" cy="6286500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marL="297815" indent="-297815" defTabSz="391414" hangingPunct="1">
              <a:spcBef>
                <a:spcPts val="2800"/>
              </a:spcBef>
              <a:defRPr sz="2412"/>
            </a:pPr>
            <a:r>
              <a:rPr lang="ja-JP" altLang="en-US" sz="4000"/>
              <a:t>定常状態における反応速度のこと</a:t>
            </a:r>
          </a:p>
          <a:p>
            <a:pPr marL="297815" indent="-297815" defTabSz="391414" hangingPunct="1">
              <a:spcBef>
                <a:spcPts val="2800"/>
              </a:spcBef>
              <a:defRPr sz="2412"/>
            </a:pPr>
            <a:endParaRPr lang="ja-JP" altLang="en-US"/>
          </a:p>
          <a:p>
            <a:pPr marL="297815" indent="-297815" defTabSz="391414" hangingPunct="1">
              <a:spcBef>
                <a:spcPts val="2800"/>
              </a:spcBef>
              <a:defRPr sz="2412"/>
            </a:pPr>
            <a:endParaRPr lang="ja-JP" altLang="en-US"/>
          </a:p>
          <a:p>
            <a:pPr marL="297815" indent="-297815" defTabSz="391414" hangingPunct="1">
              <a:spcBef>
                <a:spcPts val="2800"/>
              </a:spcBef>
              <a:defRPr sz="2412"/>
            </a:pPr>
            <a:endParaRPr lang="ja-JP" altLang="en-US"/>
          </a:p>
          <a:p>
            <a:pPr marL="297815" indent="-297815" defTabSz="391414" hangingPunct="1">
              <a:spcBef>
                <a:spcPts val="2800"/>
              </a:spcBef>
              <a:defRPr sz="2412"/>
            </a:pPr>
            <a:r>
              <a:rPr lang="ja-JP" altLang="en-US" sz="4000"/>
              <a:t>反応速度 </a:t>
            </a:r>
            <a:r>
              <a:rPr lang="en-US" altLang="ja-JP" sz="4000" dirty="0"/>
              <a:t>(</a:t>
            </a:r>
            <a:r>
              <a:rPr lang="en-US" altLang="ja-JP" sz="4000" i="1" dirty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altLang="ja-JP" sz="4000" dirty="0"/>
              <a:t>)</a:t>
            </a:r>
          </a:p>
          <a:p>
            <a:pPr marL="595630" lvl="1" indent="-297815" defTabSz="391414" hangingPunct="1">
              <a:spcBef>
                <a:spcPts val="2800"/>
              </a:spcBef>
              <a:defRPr sz="2412"/>
            </a:pPr>
            <a:r>
              <a:rPr lang="ja-JP" altLang="en-US" sz="3200"/>
              <a:t>ある</a:t>
            </a:r>
            <a:r>
              <a:rPr lang="en-US" altLang="ja-JP" sz="3200" dirty="0"/>
              <a:t>1</a:t>
            </a:r>
            <a:r>
              <a:rPr lang="ja-JP" altLang="en-US" sz="3200"/>
              <a:t>つの酵素の性質　</a:t>
            </a:r>
            <a:r>
              <a:rPr lang="en-US" altLang="ja-JP" sz="3200" dirty="0"/>
              <a:t>(</a:t>
            </a:r>
            <a:r>
              <a:rPr lang="ja-JP" altLang="en-US" sz="3200"/>
              <a:t>局所的</a:t>
            </a:r>
            <a:r>
              <a:rPr lang="en-US" altLang="ja-JP" sz="3200" dirty="0"/>
              <a:t>)</a:t>
            </a:r>
          </a:p>
          <a:p>
            <a:pPr marL="297815" indent="-297815" defTabSz="391414" hangingPunct="1">
              <a:spcBef>
                <a:spcPts val="2800"/>
              </a:spcBef>
              <a:defRPr sz="2412"/>
            </a:pPr>
            <a:r>
              <a:rPr lang="ja-JP" altLang="en-US" sz="4000"/>
              <a:t>流束 </a:t>
            </a:r>
            <a:r>
              <a:rPr lang="en-US" altLang="ja-JP" sz="4000" dirty="0"/>
              <a:t>(</a:t>
            </a:r>
            <a:r>
              <a:rPr lang="en-US" altLang="ja-JP" sz="4000" i="1" dirty="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altLang="ja-JP" sz="4000" dirty="0"/>
              <a:t>)</a:t>
            </a:r>
          </a:p>
          <a:p>
            <a:pPr marL="595630" lvl="1" indent="-297815" defTabSz="391414" hangingPunct="1">
              <a:spcBef>
                <a:spcPts val="2800"/>
              </a:spcBef>
              <a:defRPr sz="2412"/>
            </a:pPr>
            <a:r>
              <a:rPr lang="ja-JP" altLang="en-US" sz="3200"/>
              <a:t>複数の酵素にまたがる性質 </a:t>
            </a:r>
            <a:r>
              <a:rPr lang="en-US" altLang="ja-JP" sz="3200" dirty="0"/>
              <a:t>(</a:t>
            </a:r>
            <a:r>
              <a:rPr lang="ja-JP" altLang="en-US" sz="3200"/>
              <a:t>大域的</a:t>
            </a:r>
            <a:r>
              <a:rPr lang="en-US" altLang="ja-JP" sz="3200" dirty="0"/>
              <a:t>)</a:t>
            </a:r>
          </a:p>
        </p:txBody>
      </p:sp>
      <p:sp>
        <p:nvSpPr>
          <p:cNvPr id="6" name="Glucose  →  G6P  →  F6P">
            <a:extLst>
              <a:ext uri="{FF2B5EF4-FFF2-40B4-BE49-F238E27FC236}">
                <a16:creationId xmlns:a16="http://schemas.microsoft.com/office/drawing/2014/main" id="{B9836A82-336C-1178-EBE3-19D530446D52}"/>
              </a:ext>
            </a:extLst>
          </p:cNvPr>
          <p:cNvSpPr txBox="1"/>
          <p:nvPr/>
        </p:nvSpPr>
        <p:spPr>
          <a:xfrm>
            <a:off x="4901280" y="4662804"/>
            <a:ext cx="699770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dirty="0"/>
              <a:t>Glucose  →  G6P  →  F6P</a:t>
            </a:r>
          </a:p>
        </p:txBody>
      </p:sp>
      <p:pic>
        <p:nvPicPr>
          <p:cNvPr id="7" name="droppedImage.pdf" descr="droppedImage.pdf">
            <a:extLst>
              <a:ext uri="{FF2B5EF4-FFF2-40B4-BE49-F238E27FC236}">
                <a16:creationId xmlns:a16="http://schemas.microsoft.com/office/drawing/2014/main" id="{13E3E64D-5333-F452-277C-0AB37E074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5931" y="5207000"/>
            <a:ext cx="2298700" cy="393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droppedImage.pdf" descr="droppedImage.pdf">
            <a:extLst>
              <a:ext uri="{FF2B5EF4-FFF2-40B4-BE49-F238E27FC236}">
                <a16:creationId xmlns:a16="http://schemas.microsoft.com/office/drawing/2014/main" id="{B253B04A-1B28-7A2B-FD11-10CD6A726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231" y="5257800"/>
            <a:ext cx="368300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droppedImage.pdf" descr="droppedImage.pdf">
            <a:extLst>
              <a:ext uri="{FF2B5EF4-FFF2-40B4-BE49-F238E27FC236}">
                <a16:creationId xmlns:a16="http://schemas.microsoft.com/office/drawing/2014/main" id="{99EEA2C6-AF9C-787D-116C-BBFC69B37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781" y="5257800"/>
            <a:ext cx="381000" cy="2921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05438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7B9C5-921E-BFF2-1A40-AE453AFD4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7B3C62-1B9C-6B34-F1D8-0B4BF88CB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260" dirty="0"/>
              <a:t>定常と平衡の簡単な見分け方</a:t>
            </a:r>
          </a:p>
        </p:txBody>
      </p:sp>
      <p:pic>
        <p:nvPicPr>
          <p:cNvPr id="3" name="droppedImage.pdf" descr="droppedImage.pdf">
            <a:extLst>
              <a:ext uri="{FF2B5EF4-FFF2-40B4-BE49-F238E27FC236}">
                <a16:creationId xmlns:a16="http://schemas.microsoft.com/office/drawing/2014/main" id="{034B6799-2FBD-9F59-70C5-966F47E33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431" y="3871195"/>
            <a:ext cx="381000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Glucose-6-P">
            <a:extLst>
              <a:ext uri="{FF2B5EF4-FFF2-40B4-BE49-F238E27FC236}">
                <a16:creationId xmlns:a16="http://schemas.microsoft.com/office/drawing/2014/main" id="{C4824D8F-6EB2-16F8-8E07-97311EBDBD58}"/>
              </a:ext>
            </a:extLst>
          </p:cNvPr>
          <p:cNvSpPr txBox="1"/>
          <p:nvPr/>
        </p:nvSpPr>
        <p:spPr>
          <a:xfrm>
            <a:off x="4520280" y="4094378"/>
            <a:ext cx="2857501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/>
            </a:lvl1pPr>
          </a:lstStyle>
          <a:p>
            <a:r>
              <a:t>Glucose-6-P  </a:t>
            </a:r>
          </a:p>
        </p:txBody>
      </p:sp>
      <p:sp>
        <p:nvSpPr>
          <p:cNvPr id="5" name="Fructose-6-P">
            <a:extLst>
              <a:ext uri="{FF2B5EF4-FFF2-40B4-BE49-F238E27FC236}">
                <a16:creationId xmlns:a16="http://schemas.microsoft.com/office/drawing/2014/main" id="{CA4E04FE-AF85-6AFC-F845-21ADD4A8ECC2}"/>
              </a:ext>
            </a:extLst>
          </p:cNvPr>
          <p:cNvSpPr txBox="1"/>
          <p:nvPr/>
        </p:nvSpPr>
        <p:spPr>
          <a:xfrm>
            <a:off x="10206077" y="4094378"/>
            <a:ext cx="2212144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/>
            </a:lvl1pPr>
          </a:lstStyle>
          <a:p>
            <a:r>
              <a:t>Fructose-6-P</a:t>
            </a:r>
          </a:p>
        </p:txBody>
      </p:sp>
      <p:sp>
        <p:nvSpPr>
          <p:cNvPr id="6" name="線">
            <a:extLst>
              <a:ext uri="{FF2B5EF4-FFF2-40B4-BE49-F238E27FC236}">
                <a16:creationId xmlns:a16="http://schemas.microsoft.com/office/drawing/2014/main" id="{5151740D-B988-E38B-AC62-537742C73A15}"/>
              </a:ext>
            </a:extLst>
          </p:cNvPr>
          <p:cNvSpPr/>
          <p:nvPr/>
        </p:nvSpPr>
        <p:spPr>
          <a:xfrm flipV="1">
            <a:off x="7527132" y="4302969"/>
            <a:ext cx="2120901" cy="11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7" name="線">
            <a:extLst>
              <a:ext uri="{FF2B5EF4-FFF2-40B4-BE49-F238E27FC236}">
                <a16:creationId xmlns:a16="http://schemas.microsoft.com/office/drawing/2014/main" id="{B90D77B4-4795-191A-0D7F-476534C514A1}"/>
              </a:ext>
            </a:extLst>
          </p:cNvPr>
          <p:cNvSpPr/>
          <p:nvPr/>
        </p:nvSpPr>
        <p:spPr>
          <a:xfrm flipH="1" flipV="1">
            <a:off x="7489074" y="4506195"/>
            <a:ext cx="2120814" cy="1926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8" name="線">
            <a:extLst>
              <a:ext uri="{FF2B5EF4-FFF2-40B4-BE49-F238E27FC236}">
                <a16:creationId xmlns:a16="http://schemas.microsoft.com/office/drawing/2014/main" id="{D4334788-BF73-F282-44C9-617B2C442D1F}"/>
              </a:ext>
            </a:extLst>
          </p:cNvPr>
          <p:cNvSpPr/>
          <p:nvPr/>
        </p:nvSpPr>
        <p:spPr>
          <a:xfrm flipV="1">
            <a:off x="2294730" y="4388770"/>
            <a:ext cx="2120902" cy="11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9" name="線">
            <a:extLst>
              <a:ext uri="{FF2B5EF4-FFF2-40B4-BE49-F238E27FC236}">
                <a16:creationId xmlns:a16="http://schemas.microsoft.com/office/drawing/2014/main" id="{5E7BA95C-CE50-1583-E0E4-7737A270FDCE}"/>
              </a:ext>
            </a:extLst>
          </p:cNvPr>
          <p:cNvSpPr/>
          <p:nvPr/>
        </p:nvSpPr>
        <p:spPr>
          <a:xfrm flipV="1">
            <a:off x="12911931" y="4388770"/>
            <a:ext cx="2120901" cy="11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pic>
        <p:nvPicPr>
          <p:cNvPr id="10" name="droppedImage.pdf" descr="droppedImage.pdf">
            <a:extLst>
              <a:ext uri="{FF2B5EF4-FFF2-40B4-BE49-F238E27FC236}">
                <a16:creationId xmlns:a16="http://schemas.microsoft.com/office/drawing/2014/main" id="{A62ACB8F-D83D-5A01-DE92-7155D2419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431" y="4836395"/>
            <a:ext cx="457200" cy="368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droppedImage.pdf" descr="droppedImage.pdf">
            <a:extLst>
              <a:ext uri="{FF2B5EF4-FFF2-40B4-BE49-F238E27FC236}">
                <a16:creationId xmlns:a16="http://schemas.microsoft.com/office/drawing/2014/main" id="{9F0F3659-FA3B-BA80-D944-8E553D63E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0131" y="4595095"/>
            <a:ext cx="457200" cy="368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droppedImage.pdf" descr="droppedImage.pdf">
            <a:extLst>
              <a:ext uri="{FF2B5EF4-FFF2-40B4-BE49-F238E27FC236}">
                <a16:creationId xmlns:a16="http://schemas.microsoft.com/office/drawing/2014/main" id="{1E24F737-ECB2-7788-9E6C-F1D7293A6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931" y="8026400"/>
            <a:ext cx="381000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Glucose-6-P">
            <a:extLst>
              <a:ext uri="{FF2B5EF4-FFF2-40B4-BE49-F238E27FC236}">
                <a16:creationId xmlns:a16="http://schemas.microsoft.com/office/drawing/2014/main" id="{CE812204-F6EA-B702-0ED8-C7567E4C58A7}"/>
              </a:ext>
            </a:extLst>
          </p:cNvPr>
          <p:cNvSpPr txBox="1"/>
          <p:nvPr/>
        </p:nvSpPr>
        <p:spPr>
          <a:xfrm>
            <a:off x="4504531" y="7398683"/>
            <a:ext cx="2857500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/>
            </a:lvl1pPr>
          </a:lstStyle>
          <a:p>
            <a:r>
              <a:t>Glucose-6-P  </a:t>
            </a:r>
          </a:p>
        </p:txBody>
      </p:sp>
      <p:sp>
        <p:nvSpPr>
          <p:cNvPr id="14" name="Fructose-6-P">
            <a:extLst>
              <a:ext uri="{FF2B5EF4-FFF2-40B4-BE49-F238E27FC236}">
                <a16:creationId xmlns:a16="http://schemas.microsoft.com/office/drawing/2014/main" id="{F08E4CA1-8C2B-C0EE-CD2C-37B821720D0C}"/>
              </a:ext>
            </a:extLst>
          </p:cNvPr>
          <p:cNvSpPr txBox="1"/>
          <p:nvPr/>
        </p:nvSpPr>
        <p:spPr>
          <a:xfrm>
            <a:off x="10190290" y="7398683"/>
            <a:ext cx="2212144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/>
            </a:lvl1pPr>
          </a:lstStyle>
          <a:p>
            <a:r>
              <a:t>Fructose-6-P</a:t>
            </a:r>
          </a:p>
        </p:txBody>
      </p:sp>
      <p:sp>
        <p:nvSpPr>
          <p:cNvPr id="15" name="線">
            <a:extLst>
              <a:ext uri="{FF2B5EF4-FFF2-40B4-BE49-F238E27FC236}">
                <a16:creationId xmlns:a16="http://schemas.microsoft.com/office/drawing/2014/main" id="{3FA0EF1E-423F-ED95-3A44-BEA36B07FC1C}"/>
              </a:ext>
            </a:extLst>
          </p:cNvPr>
          <p:cNvSpPr/>
          <p:nvPr/>
        </p:nvSpPr>
        <p:spPr>
          <a:xfrm flipV="1">
            <a:off x="7514432" y="7604175"/>
            <a:ext cx="2120901" cy="11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6" name="線">
            <a:extLst>
              <a:ext uri="{FF2B5EF4-FFF2-40B4-BE49-F238E27FC236}">
                <a16:creationId xmlns:a16="http://schemas.microsoft.com/office/drawing/2014/main" id="{DEF5F7E3-C829-EA93-33AD-306750641FF6}"/>
              </a:ext>
            </a:extLst>
          </p:cNvPr>
          <p:cNvSpPr/>
          <p:nvPr/>
        </p:nvSpPr>
        <p:spPr>
          <a:xfrm flipH="1" flipV="1">
            <a:off x="7476374" y="7810500"/>
            <a:ext cx="2120814" cy="1926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pic>
        <p:nvPicPr>
          <p:cNvPr id="17" name="droppedImage.pdf" descr="droppedImage.pdf">
            <a:extLst>
              <a:ext uri="{FF2B5EF4-FFF2-40B4-BE49-F238E27FC236}">
                <a16:creationId xmlns:a16="http://schemas.microsoft.com/office/drawing/2014/main" id="{2284EC80-79EA-FFDF-9129-6B679E2201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4231" y="7073900"/>
            <a:ext cx="419100" cy="368300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末端が物質なら平衡">
            <a:extLst>
              <a:ext uri="{FF2B5EF4-FFF2-40B4-BE49-F238E27FC236}">
                <a16:creationId xmlns:a16="http://schemas.microsoft.com/office/drawing/2014/main" id="{DB226F9C-CC6C-ACAE-6FF5-92D047802587}"/>
              </a:ext>
            </a:extLst>
          </p:cNvPr>
          <p:cNvSpPr txBox="1"/>
          <p:nvPr/>
        </p:nvSpPr>
        <p:spPr>
          <a:xfrm>
            <a:off x="2170780" y="6351905"/>
            <a:ext cx="543560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dirty="0" err="1"/>
              <a:t>末端が物質なら平衡</a:t>
            </a:r>
            <a:endParaRPr dirty="0"/>
          </a:p>
        </p:txBody>
      </p:sp>
      <p:sp>
        <p:nvSpPr>
          <p:cNvPr id="19" name="末端が反応なら定常">
            <a:extLst>
              <a:ext uri="{FF2B5EF4-FFF2-40B4-BE49-F238E27FC236}">
                <a16:creationId xmlns:a16="http://schemas.microsoft.com/office/drawing/2014/main" id="{2C455D51-2914-33EB-6048-1FC4435A7B31}"/>
              </a:ext>
            </a:extLst>
          </p:cNvPr>
          <p:cNvSpPr txBox="1"/>
          <p:nvPr/>
        </p:nvSpPr>
        <p:spPr>
          <a:xfrm>
            <a:off x="2167731" y="2653900"/>
            <a:ext cx="5435600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末端が反応なら定常</a:t>
            </a:r>
          </a:p>
        </p:txBody>
      </p:sp>
      <p:pic>
        <p:nvPicPr>
          <p:cNvPr id="20" name="droppedImage.pdf" descr="droppedImage.pdf">
            <a:extLst>
              <a:ext uri="{FF2B5EF4-FFF2-40B4-BE49-F238E27FC236}">
                <a16:creationId xmlns:a16="http://schemas.microsoft.com/office/drawing/2014/main" id="{86C9AEF4-5DBF-8975-E0D5-F4932A9841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5631" y="4518895"/>
            <a:ext cx="36830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droppedImage.pdf" descr="droppedImage.pdf">
            <a:extLst>
              <a:ext uri="{FF2B5EF4-FFF2-40B4-BE49-F238E27FC236}">
                <a16:creationId xmlns:a16="http://schemas.microsoft.com/office/drawing/2014/main" id="{893A4D6E-108E-9EE1-FFA2-A373C91835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2631" y="3871195"/>
            <a:ext cx="381000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droppedImage.pdf" descr="droppedImage.pdf">
            <a:extLst>
              <a:ext uri="{FF2B5EF4-FFF2-40B4-BE49-F238E27FC236}">
                <a16:creationId xmlns:a16="http://schemas.microsoft.com/office/drawing/2014/main" id="{D9959FDB-1E70-52D4-7DEF-9F1644322F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2631" y="4671295"/>
            <a:ext cx="381000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" name="droppedImage.pdf" descr="droppedImage.pdf">
            <a:extLst>
              <a:ext uri="{FF2B5EF4-FFF2-40B4-BE49-F238E27FC236}">
                <a16:creationId xmlns:a16="http://schemas.microsoft.com/office/drawing/2014/main" id="{12F19049-4290-BCE6-8048-AA29C49A3C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62831" y="4556995"/>
            <a:ext cx="39370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" name="droppedImage.pdf" descr="droppedImage.pdf">
            <a:extLst>
              <a:ext uri="{FF2B5EF4-FFF2-40B4-BE49-F238E27FC236}">
                <a16:creationId xmlns:a16="http://schemas.microsoft.com/office/drawing/2014/main" id="{E5E3D978-0E64-CCDC-9C05-9D321E26CE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2631" y="7137400"/>
            <a:ext cx="36830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" name="droppedImage.pdf" descr="droppedImage.pdf">
            <a:extLst>
              <a:ext uri="{FF2B5EF4-FFF2-40B4-BE49-F238E27FC236}">
                <a16:creationId xmlns:a16="http://schemas.microsoft.com/office/drawing/2014/main" id="{9BF23246-2A9C-266D-35CF-4029E875FD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2631" y="8013700"/>
            <a:ext cx="381000" cy="2921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7347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AA232-9CF6-8E95-8301-42F75A127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65A632-8AEB-AAAF-0B0A-0D10DC62D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6260" dirty="0"/>
              <a:t>代謝流束 </a:t>
            </a:r>
            <a:r>
              <a:rPr kumimoji="1" lang="en-US" altLang="zh-CN" sz="6260" dirty="0"/>
              <a:t>(</a:t>
            </a:r>
            <a:r>
              <a:rPr kumimoji="1" lang="en-US" altLang="ja-JP" sz="6260" dirty="0"/>
              <a:t>flux) </a:t>
            </a:r>
            <a:endParaRPr kumimoji="1" lang="ja-JP" altLang="en-US" sz="6260" dirty="0"/>
          </a:p>
        </p:txBody>
      </p:sp>
      <p:sp>
        <p:nvSpPr>
          <p:cNvPr id="26" name="定常状態における反応速度のこと…">
            <a:extLst>
              <a:ext uri="{FF2B5EF4-FFF2-40B4-BE49-F238E27FC236}">
                <a16:creationId xmlns:a16="http://schemas.microsoft.com/office/drawing/2014/main" id="{2E30345A-214E-B11A-074B-F35967FCF2B8}"/>
              </a:ext>
            </a:extLst>
          </p:cNvPr>
          <p:cNvSpPr txBox="1">
            <a:spLocks/>
          </p:cNvSpPr>
          <p:nvPr/>
        </p:nvSpPr>
        <p:spPr>
          <a:xfrm>
            <a:off x="952538" y="1860550"/>
            <a:ext cx="14800185" cy="6286500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marL="302260" indent="-302260" defTabSz="397256" hangingPunct="1">
              <a:spcBef>
                <a:spcPts val="2800"/>
              </a:spcBef>
              <a:defRPr sz="2448"/>
            </a:pPr>
            <a:r>
              <a:rPr lang="ja-JP" altLang="en-US" sz="4000"/>
              <a:t>定常状態における反応速度のこと</a:t>
            </a:r>
          </a:p>
          <a:p>
            <a:pPr marL="302260" indent="-302260" defTabSz="397256" hangingPunct="1">
              <a:spcBef>
                <a:spcPts val="2800"/>
              </a:spcBef>
              <a:defRPr sz="2448"/>
            </a:pPr>
            <a:endParaRPr lang="ja-JP" altLang="en-US" sz="4000"/>
          </a:p>
          <a:p>
            <a:pPr marL="302260" indent="-302260" defTabSz="397256" hangingPunct="1">
              <a:spcBef>
                <a:spcPts val="2800"/>
              </a:spcBef>
              <a:defRPr sz="2448"/>
            </a:pPr>
            <a:endParaRPr lang="ja-JP" altLang="en-US" sz="4000"/>
          </a:p>
          <a:p>
            <a:pPr marL="302260" indent="-302260" defTabSz="397256" hangingPunct="1">
              <a:spcBef>
                <a:spcPts val="2800"/>
              </a:spcBef>
              <a:defRPr sz="2448"/>
            </a:pPr>
            <a:endParaRPr lang="ja-JP" altLang="en-US" sz="4000"/>
          </a:p>
          <a:p>
            <a:pPr marL="302260" indent="-302260" defTabSz="397256" hangingPunct="1">
              <a:spcBef>
                <a:spcPts val="2800"/>
              </a:spcBef>
              <a:defRPr sz="2448"/>
            </a:pPr>
            <a:r>
              <a:rPr lang="ja-JP" altLang="en-US" sz="4000"/>
              <a:t>反応速度 </a:t>
            </a:r>
            <a:r>
              <a:rPr lang="en-US" altLang="ja-JP" sz="4000" dirty="0"/>
              <a:t>(v)</a:t>
            </a:r>
          </a:p>
          <a:p>
            <a:pPr marL="604520" lvl="1" indent="-302260" defTabSz="397256" hangingPunct="1">
              <a:spcBef>
                <a:spcPts val="2800"/>
              </a:spcBef>
              <a:defRPr sz="2448"/>
            </a:pPr>
            <a:r>
              <a:rPr lang="ja-JP" altLang="en-US" sz="3200"/>
              <a:t>ある</a:t>
            </a:r>
            <a:r>
              <a:rPr lang="en-US" altLang="ja-JP" sz="3200" dirty="0"/>
              <a:t>1</a:t>
            </a:r>
            <a:r>
              <a:rPr lang="ja-JP" altLang="en-US" sz="3200"/>
              <a:t>つの酵素の性質　</a:t>
            </a:r>
            <a:r>
              <a:rPr lang="en-US" altLang="ja-JP" sz="3200" dirty="0"/>
              <a:t>(</a:t>
            </a:r>
            <a:r>
              <a:rPr lang="ja-JP" altLang="en-US" sz="3200"/>
              <a:t>局所的</a:t>
            </a:r>
            <a:r>
              <a:rPr lang="en-US" altLang="ja-JP" sz="3200" dirty="0"/>
              <a:t>)</a:t>
            </a:r>
          </a:p>
          <a:p>
            <a:pPr marL="302260" indent="-302260" defTabSz="397256" hangingPunct="1">
              <a:spcBef>
                <a:spcPts val="2800"/>
              </a:spcBef>
              <a:defRPr sz="2448"/>
            </a:pPr>
            <a:r>
              <a:rPr lang="ja-JP" altLang="en-US" sz="4000"/>
              <a:t>流束 </a:t>
            </a:r>
            <a:r>
              <a:rPr lang="en-US" altLang="ja-JP" sz="4000" dirty="0"/>
              <a:t>(</a:t>
            </a:r>
            <a:r>
              <a:rPr lang="en-US" altLang="ja-JP" sz="4000" i="1" dirty="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altLang="ja-JP" sz="4000" dirty="0"/>
              <a:t>)</a:t>
            </a:r>
          </a:p>
          <a:p>
            <a:pPr marL="604520" lvl="1" indent="-302260" defTabSz="397256" hangingPunct="1">
              <a:spcBef>
                <a:spcPts val="2800"/>
              </a:spcBef>
              <a:defRPr sz="2448"/>
            </a:pPr>
            <a:r>
              <a:rPr lang="ja-JP" altLang="en-US" sz="3200"/>
              <a:t>複数の酵素にまたがる性質 </a:t>
            </a:r>
            <a:r>
              <a:rPr lang="en-US" altLang="ja-JP" sz="3200" dirty="0"/>
              <a:t>(</a:t>
            </a:r>
            <a:r>
              <a:rPr lang="ja-JP" altLang="en-US" sz="3200"/>
              <a:t>大域的</a:t>
            </a:r>
            <a:r>
              <a:rPr lang="en-US" altLang="ja-JP" sz="3200" dirty="0"/>
              <a:t>)</a:t>
            </a:r>
          </a:p>
        </p:txBody>
      </p:sp>
      <p:sp>
        <p:nvSpPr>
          <p:cNvPr id="27" name="線">
            <a:extLst>
              <a:ext uri="{FF2B5EF4-FFF2-40B4-BE49-F238E27FC236}">
                <a16:creationId xmlns:a16="http://schemas.microsoft.com/office/drawing/2014/main" id="{34F539F3-0561-2B62-2404-1D6201E7A73B}"/>
              </a:ext>
            </a:extLst>
          </p:cNvPr>
          <p:cNvSpPr/>
          <p:nvPr/>
        </p:nvSpPr>
        <p:spPr>
          <a:xfrm flipV="1">
            <a:off x="2332787" y="3791380"/>
            <a:ext cx="12763544" cy="6154"/>
          </a:xfrm>
          <a:prstGeom prst="line">
            <a:avLst/>
          </a:prstGeom>
          <a:ln w="127000">
            <a:solidFill>
              <a:srgbClr val="FF7E79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pic>
        <p:nvPicPr>
          <p:cNvPr id="28" name="droppedImage.pdf" descr="droppedImage.pdf">
            <a:extLst>
              <a:ext uri="{FF2B5EF4-FFF2-40B4-BE49-F238E27FC236}">
                <a16:creationId xmlns:a16="http://schemas.microsoft.com/office/drawing/2014/main" id="{4038F6ED-C35F-B4C4-25A9-AC3F8425B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331" y="3092727"/>
            <a:ext cx="4673600" cy="469900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Glucose-6-P">
            <a:extLst>
              <a:ext uri="{FF2B5EF4-FFF2-40B4-BE49-F238E27FC236}">
                <a16:creationId xmlns:a16="http://schemas.microsoft.com/office/drawing/2014/main" id="{8A290D95-F909-276B-13A3-9E33B1589FD1}"/>
              </a:ext>
            </a:extLst>
          </p:cNvPr>
          <p:cNvSpPr txBox="1"/>
          <p:nvPr/>
        </p:nvSpPr>
        <p:spPr>
          <a:xfrm>
            <a:off x="4520280" y="4128710"/>
            <a:ext cx="2857501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/>
            </a:lvl1pPr>
          </a:lstStyle>
          <a:p>
            <a:r>
              <a:t>Glucose-6-P  </a:t>
            </a:r>
          </a:p>
        </p:txBody>
      </p:sp>
      <p:sp>
        <p:nvSpPr>
          <p:cNvPr id="30" name="Fructose-6-P">
            <a:extLst>
              <a:ext uri="{FF2B5EF4-FFF2-40B4-BE49-F238E27FC236}">
                <a16:creationId xmlns:a16="http://schemas.microsoft.com/office/drawing/2014/main" id="{A2DAADA9-449B-C23A-BBA3-B05C567AB389}"/>
              </a:ext>
            </a:extLst>
          </p:cNvPr>
          <p:cNvSpPr txBox="1"/>
          <p:nvPr/>
        </p:nvSpPr>
        <p:spPr>
          <a:xfrm>
            <a:off x="10206077" y="4128710"/>
            <a:ext cx="2212144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/>
            </a:lvl1pPr>
          </a:lstStyle>
          <a:p>
            <a:r>
              <a:t>Fructose-6-P</a:t>
            </a:r>
          </a:p>
        </p:txBody>
      </p:sp>
      <p:sp>
        <p:nvSpPr>
          <p:cNvPr id="31" name="線">
            <a:extLst>
              <a:ext uri="{FF2B5EF4-FFF2-40B4-BE49-F238E27FC236}">
                <a16:creationId xmlns:a16="http://schemas.microsoft.com/office/drawing/2014/main" id="{76110D2A-0E77-6696-4267-BD881F3208C6}"/>
              </a:ext>
            </a:extLst>
          </p:cNvPr>
          <p:cNvSpPr/>
          <p:nvPr/>
        </p:nvSpPr>
        <p:spPr>
          <a:xfrm flipV="1">
            <a:off x="7527132" y="4337301"/>
            <a:ext cx="2120901" cy="11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32" name="線">
            <a:extLst>
              <a:ext uri="{FF2B5EF4-FFF2-40B4-BE49-F238E27FC236}">
                <a16:creationId xmlns:a16="http://schemas.microsoft.com/office/drawing/2014/main" id="{9792395C-E3F9-3896-5572-C0795B02A1FF}"/>
              </a:ext>
            </a:extLst>
          </p:cNvPr>
          <p:cNvSpPr/>
          <p:nvPr/>
        </p:nvSpPr>
        <p:spPr>
          <a:xfrm flipH="1" flipV="1">
            <a:off x="7489074" y="4540527"/>
            <a:ext cx="2120814" cy="1926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33" name="線">
            <a:extLst>
              <a:ext uri="{FF2B5EF4-FFF2-40B4-BE49-F238E27FC236}">
                <a16:creationId xmlns:a16="http://schemas.microsoft.com/office/drawing/2014/main" id="{74B2D4CE-7D29-9893-7807-8CB88CE24F32}"/>
              </a:ext>
            </a:extLst>
          </p:cNvPr>
          <p:cNvSpPr/>
          <p:nvPr/>
        </p:nvSpPr>
        <p:spPr>
          <a:xfrm flipV="1">
            <a:off x="2294730" y="4423102"/>
            <a:ext cx="2120902" cy="11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34" name="線">
            <a:extLst>
              <a:ext uri="{FF2B5EF4-FFF2-40B4-BE49-F238E27FC236}">
                <a16:creationId xmlns:a16="http://schemas.microsoft.com/office/drawing/2014/main" id="{A74F8E24-EA8A-0699-D902-DCC9E603547D}"/>
              </a:ext>
            </a:extLst>
          </p:cNvPr>
          <p:cNvSpPr/>
          <p:nvPr/>
        </p:nvSpPr>
        <p:spPr>
          <a:xfrm flipV="1">
            <a:off x="12911931" y="4423102"/>
            <a:ext cx="2120901" cy="11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pic>
        <p:nvPicPr>
          <p:cNvPr id="35" name="droppedImage.pdf" descr="droppedImage.pdf">
            <a:extLst>
              <a:ext uri="{FF2B5EF4-FFF2-40B4-BE49-F238E27FC236}">
                <a16:creationId xmlns:a16="http://schemas.microsoft.com/office/drawing/2014/main" id="{AA1227C5-C6C4-252D-53B7-F578A61ED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631" y="4553227"/>
            <a:ext cx="36830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droppedImage.pdf" descr="droppedImage.pdf">
            <a:extLst>
              <a:ext uri="{FF2B5EF4-FFF2-40B4-BE49-F238E27FC236}">
                <a16:creationId xmlns:a16="http://schemas.microsoft.com/office/drawing/2014/main" id="{002A7F7B-503C-91FC-DEF5-10F09AD09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2631" y="3905527"/>
            <a:ext cx="381000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droppedImage.pdf" descr="droppedImage.pdf">
            <a:extLst>
              <a:ext uri="{FF2B5EF4-FFF2-40B4-BE49-F238E27FC236}">
                <a16:creationId xmlns:a16="http://schemas.microsoft.com/office/drawing/2014/main" id="{3454117F-91AC-EE90-00B3-460CC6D1C9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2631" y="4705627"/>
            <a:ext cx="381000" cy="29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droppedImage.pdf" descr="droppedImage.pdf">
            <a:extLst>
              <a:ext uri="{FF2B5EF4-FFF2-40B4-BE49-F238E27FC236}">
                <a16:creationId xmlns:a16="http://schemas.microsoft.com/office/drawing/2014/main" id="{DE00BCAE-9801-65B1-A4EA-011A173849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62831" y="4591327"/>
            <a:ext cx="393700" cy="3048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2545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1584A-A444-5DC8-1695-0FE0C9183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CBAC8-A081-8EF3-1864-96B37948A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260" dirty="0"/>
              <a:t>分岐点での流束</a:t>
            </a:r>
          </a:p>
        </p:txBody>
      </p:sp>
      <p:sp>
        <p:nvSpPr>
          <p:cNvPr id="3" name="矢印">
            <a:extLst>
              <a:ext uri="{FF2B5EF4-FFF2-40B4-BE49-F238E27FC236}">
                <a16:creationId xmlns:a16="http://schemas.microsoft.com/office/drawing/2014/main" id="{CFAAEA6A-D925-FD7A-579C-A14D101BFB4B}"/>
              </a:ext>
            </a:extLst>
          </p:cNvPr>
          <p:cNvSpPr/>
          <p:nvPr/>
        </p:nvSpPr>
        <p:spPr>
          <a:xfrm rot="2035789">
            <a:off x="13243477" y="6271134"/>
            <a:ext cx="3130298" cy="1086910"/>
          </a:xfrm>
          <a:prstGeom prst="rightArrow">
            <a:avLst>
              <a:gd name="adj1" fmla="val 30467"/>
              <a:gd name="adj2" fmla="val 73033"/>
            </a:avLst>
          </a:prstGeom>
          <a:solidFill>
            <a:srgbClr val="73FDFF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4" name="四角形">
            <a:extLst>
              <a:ext uri="{FF2B5EF4-FFF2-40B4-BE49-F238E27FC236}">
                <a16:creationId xmlns:a16="http://schemas.microsoft.com/office/drawing/2014/main" id="{FD485D99-112C-9E4B-094F-BE557F89A049}"/>
              </a:ext>
            </a:extLst>
          </p:cNvPr>
          <p:cNvSpPr/>
          <p:nvPr/>
        </p:nvSpPr>
        <p:spPr>
          <a:xfrm>
            <a:off x="10245360" y="5347698"/>
            <a:ext cx="3499846" cy="891265"/>
          </a:xfrm>
          <a:prstGeom prst="rect">
            <a:avLst/>
          </a:prstGeom>
          <a:solidFill>
            <a:srgbClr val="73FDFF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5" name="矢印">
            <a:extLst>
              <a:ext uri="{FF2B5EF4-FFF2-40B4-BE49-F238E27FC236}">
                <a16:creationId xmlns:a16="http://schemas.microsoft.com/office/drawing/2014/main" id="{DA7DC765-9507-C871-355F-1AB8FAC22A15}"/>
              </a:ext>
            </a:extLst>
          </p:cNvPr>
          <p:cNvSpPr/>
          <p:nvPr/>
        </p:nvSpPr>
        <p:spPr>
          <a:xfrm rot="19537180">
            <a:off x="13228654" y="3299262"/>
            <a:ext cx="3238989" cy="2521630"/>
          </a:xfrm>
          <a:prstGeom prst="rightArrow">
            <a:avLst>
              <a:gd name="adj1" fmla="val 40831"/>
              <a:gd name="adj2" fmla="val 35240"/>
            </a:avLst>
          </a:prstGeom>
          <a:solidFill>
            <a:srgbClr val="FFFC79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6" name="四角形">
            <a:extLst>
              <a:ext uri="{FF2B5EF4-FFF2-40B4-BE49-F238E27FC236}">
                <a16:creationId xmlns:a16="http://schemas.microsoft.com/office/drawing/2014/main" id="{7352DE60-B5F0-54F3-EB98-B06235646246}"/>
              </a:ext>
            </a:extLst>
          </p:cNvPr>
          <p:cNvSpPr/>
          <p:nvPr/>
        </p:nvSpPr>
        <p:spPr>
          <a:xfrm>
            <a:off x="10245360" y="4934673"/>
            <a:ext cx="3499846" cy="956480"/>
          </a:xfrm>
          <a:prstGeom prst="rect">
            <a:avLst/>
          </a:prstGeom>
          <a:solidFill>
            <a:srgbClr val="FFFC79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7" name="J1">
            <a:extLst>
              <a:ext uri="{FF2B5EF4-FFF2-40B4-BE49-F238E27FC236}">
                <a16:creationId xmlns:a16="http://schemas.microsoft.com/office/drawing/2014/main" id="{3565733F-5D79-8C11-BD36-5BC12B48B120}"/>
              </a:ext>
            </a:extLst>
          </p:cNvPr>
          <p:cNvSpPr/>
          <p:nvPr/>
        </p:nvSpPr>
        <p:spPr>
          <a:xfrm>
            <a:off x="10158407" y="4195575"/>
            <a:ext cx="3304202" cy="2760748"/>
          </a:xfrm>
          <a:prstGeom prst="rightArrow">
            <a:avLst>
              <a:gd name="adj1" fmla="val 51259"/>
              <a:gd name="adj2" fmla="val 41799"/>
            </a:avLst>
          </a:prstGeom>
          <a:ln w="101600">
            <a:solidFill>
              <a:srgbClr val="FF8AD8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320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 dirty="0"/>
              <a:t>J</a:t>
            </a:r>
            <a:r>
              <a:rPr sz="4000" baseline="-5999" dirty="0"/>
              <a:t>1</a:t>
            </a:r>
          </a:p>
        </p:txBody>
      </p:sp>
      <p:sp>
        <p:nvSpPr>
          <p:cNvPr id="8" name="J3">
            <a:extLst>
              <a:ext uri="{FF2B5EF4-FFF2-40B4-BE49-F238E27FC236}">
                <a16:creationId xmlns:a16="http://schemas.microsoft.com/office/drawing/2014/main" id="{A3A0DF75-9628-5E0E-B323-111E5A749608}"/>
              </a:ext>
            </a:extLst>
          </p:cNvPr>
          <p:cNvSpPr txBox="1"/>
          <p:nvPr/>
        </p:nvSpPr>
        <p:spPr>
          <a:xfrm>
            <a:off x="15365779" y="7001238"/>
            <a:ext cx="540212" cy="77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000" i="1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400"/>
              <a:t>J</a:t>
            </a:r>
            <a:r>
              <a:rPr sz="4400" baseline="-5999"/>
              <a:t>3</a:t>
            </a:r>
          </a:p>
        </p:txBody>
      </p:sp>
      <p:sp>
        <p:nvSpPr>
          <p:cNvPr id="9" name="J2">
            <a:extLst>
              <a:ext uri="{FF2B5EF4-FFF2-40B4-BE49-F238E27FC236}">
                <a16:creationId xmlns:a16="http://schemas.microsoft.com/office/drawing/2014/main" id="{2B6B5BA4-4A8E-21E2-8840-ADDFB970A721}"/>
              </a:ext>
            </a:extLst>
          </p:cNvPr>
          <p:cNvSpPr txBox="1"/>
          <p:nvPr/>
        </p:nvSpPr>
        <p:spPr>
          <a:xfrm>
            <a:off x="15359584" y="3740512"/>
            <a:ext cx="540212" cy="77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000" i="1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400" dirty="0"/>
              <a:t>J</a:t>
            </a:r>
            <a:r>
              <a:rPr sz="4400" baseline="-5999" dirty="0"/>
              <a:t>2</a:t>
            </a:r>
          </a:p>
        </p:txBody>
      </p:sp>
      <p:sp>
        <p:nvSpPr>
          <p:cNvPr id="10" name="S">
            <a:extLst>
              <a:ext uri="{FF2B5EF4-FFF2-40B4-BE49-F238E27FC236}">
                <a16:creationId xmlns:a16="http://schemas.microsoft.com/office/drawing/2014/main" id="{455AA8FA-5049-8904-FF64-055C11A72146}"/>
              </a:ext>
            </a:extLst>
          </p:cNvPr>
          <p:cNvSpPr txBox="1"/>
          <p:nvPr/>
        </p:nvSpPr>
        <p:spPr>
          <a:xfrm>
            <a:off x="3871753" y="4905332"/>
            <a:ext cx="410370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4800" dirty="0"/>
              <a:t>S</a:t>
            </a:r>
          </a:p>
        </p:txBody>
      </p:sp>
      <p:sp>
        <p:nvSpPr>
          <p:cNvPr id="11" name="線">
            <a:extLst>
              <a:ext uri="{FF2B5EF4-FFF2-40B4-BE49-F238E27FC236}">
                <a16:creationId xmlns:a16="http://schemas.microsoft.com/office/drawing/2014/main" id="{D7D17C90-DF7D-1A1D-EEEC-93873374A239}"/>
              </a:ext>
            </a:extLst>
          </p:cNvPr>
          <p:cNvSpPr/>
          <p:nvPr/>
        </p:nvSpPr>
        <p:spPr>
          <a:xfrm flipH="1">
            <a:off x="4984724" y="3311709"/>
            <a:ext cx="2380099" cy="1949038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2" name="線">
            <a:extLst>
              <a:ext uri="{FF2B5EF4-FFF2-40B4-BE49-F238E27FC236}">
                <a16:creationId xmlns:a16="http://schemas.microsoft.com/office/drawing/2014/main" id="{0A5A2BCA-40D3-F393-630D-BDB11D3D50C3}"/>
              </a:ext>
            </a:extLst>
          </p:cNvPr>
          <p:cNvSpPr/>
          <p:nvPr/>
        </p:nvSpPr>
        <p:spPr>
          <a:xfrm flipH="1" flipV="1">
            <a:off x="4984724" y="5796800"/>
            <a:ext cx="2349111" cy="1698816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3" name="線">
            <a:extLst>
              <a:ext uri="{FF2B5EF4-FFF2-40B4-BE49-F238E27FC236}">
                <a16:creationId xmlns:a16="http://schemas.microsoft.com/office/drawing/2014/main" id="{08B6BA1D-CEB4-9C18-46CB-9413F873C31E}"/>
              </a:ext>
            </a:extLst>
          </p:cNvPr>
          <p:cNvSpPr/>
          <p:nvPr/>
        </p:nvSpPr>
        <p:spPr>
          <a:xfrm flipH="1">
            <a:off x="463176" y="5438588"/>
            <a:ext cx="2661783" cy="2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stealth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4" name="v1">
            <a:extLst>
              <a:ext uri="{FF2B5EF4-FFF2-40B4-BE49-F238E27FC236}">
                <a16:creationId xmlns:a16="http://schemas.microsoft.com/office/drawing/2014/main" id="{3E8DA995-EF54-ED19-2F9B-0C0DF7A037D3}"/>
              </a:ext>
            </a:extLst>
          </p:cNvPr>
          <p:cNvSpPr txBox="1"/>
          <p:nvPr/>
        </p:nvSpPr>
        <p:spPr>
          <a:xfrm>
            <a:off x="1524323" y="4523084"/>
            <a:ext cx="540212" cy="77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400" dirty="0"/>
              <a:t>v</a:t>
            </a:r>
            <a:r>
              <a:rPr sz="4400" baseline="-5999" dirty="0"/>
              <a:t>1</a:t>
            </a:r>
          </a:p>
        </p:txBody>
      </p:sp>
      <p:sp>
        <p:nvSpPr>
          <p:cNvPr id="15" name="v2">
            <a:extLst>
              <a:ext uri="{FF2B5EF4-FFF2-40B4-BE49-F238E27FC236}">
                <a16:creationId xmlns:a16="http://schemas.microsoft.com/office/drawing/2014/main" id="{9A1AD19D-7DD3-8246-6F0F-61651FB0715F}"/>
              </a:ext>
            </a:extLst>
          </p:cNvPr>
          <p:cNvSpPr txBox="1"/>
          <p:nvPr/>
        </p:nvSpPr>
        <p:spPr>
          <a:xfrm>
            <a:off x="5667203" y="3153579"/>
            <a:ext cx="540212" cy="77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400"/>
              <a:t>v</a:t>
            </a:r>
            <a:r>
              <a:rPr sz="4400" baseline="-5999"/>
              <a:t>2</a:t>
            </a:r>
          </a:p>
        </p:txBody>
      </p:sp>
      <p:sp>
        <p:nvSpPr>
          <p:cNvPr id="16" name="v3">
            <a:extLst>
              <a:ext uri="{FF2B5EF4-FFF2-40B4-BE49-F238E27FC236}">
                <a16:creationId xmlns:a16="http://schemas.microsoft.com/office/drawing/2014/main" id="{F98AF44B-2F00-81B3-D0A6-9535C67C2DD6}"/>
              </a:ext>
            </a:extLst>
          </p:cNvPr>
          <p:cNvSpPr txBox="1"/>
          <p:nvPr/>
        </p:nvSpPr>
        <p:spPr>
          <a:xfrm>
            <a:off x="5667203" y="6566472"/>
            <a:ext cx="540212" cy="77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400"/>
              <a:t>v</a:t>
            </a:r>
            <a:r>
              <a:rPr sz="4400" baseline="-5999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91407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ACA99-AD29-ADC8-B5CC-DE89C391B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7F1944-BC8F-B202-7CB8-CAE67A06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6260" dirty="0"/>
              <a:t>代謝工学</a:t>
            </a:r>
            <a:endParaRPr kumimoji="1" lang="ja-JP" altLang="en-US" sz="6260" dirty="0"/>
          </a:p>
        </p:txBody>
      </p:sp>
      <p:sp>
        <p:nvSpPr>
          <p:cNvPr id="3" name="線">
            <a:extLst>
              <a:ext uri="{FF2B5EF4-FFF2-40B4-BE49-F238E27FC236}">
                <a16:creationId xmlns:a16="http://schemas.microsoft.com/office/drawing/2014/main" id="{90F40DC2-FC1C-817C-657F-CD6062E0FCF1}"/>
              </a:ext>
            </a:extLst>
          </p:cNvPr>
          <p:cNvSpPr/>
          <p:nvPr/>
        </p:nvSpPr>
        <p:spPr>
          <a:xfrm flipV="1">
            <a:off x="10506112" y="5125278"/>
            <a:ext cx="576263" cy="64770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4" name="微生物細胞">
            <a:extLst>
              <a:ext uri="{FF2B5EF4-FFF2-40B4-BE49-F238E27FC236}">
                <a16:creationId xmlns:a16="http://schemas.microsoft.com/office/drawing/2014/main" id="{2EADD5C5-7E07-46D9-CED5-0F5775E457F3}"/>
              </a:ext>
            </a:extLst>
          </p:cNvPr>
          <p:cNvSpPr txBox="1"/>
          <p:nvPr/>
        </p:nvSpPr>
        <p:spPr>
          <a:xfrm>
            <a:off x="6125335" y="4428683"/>
            <a:ext cx="2410916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微生物細胞</a:t>
            </a:r>
          </a:p>
        </p:txBody>
      </p:sp>
      <p:sp>
        <p:nvSpPr>
          <p:cNvPr id="5" name="この流束を大きくしたい">
            <a:extLst>
              <a:ext uri="{FF2B5EF4-FFF2-40B4-BE49-F238E27FC236}">
                <a16:creationId xmlns:a16="http://schemas.microsoft.com/office/drawing/2014/main" id="{C894E661-9A10-81E6-9EF4-1BA31EC731E7}"/>
              </a:ext>
            </a:extLst>
          </p:cNvPr>
          <p:cNvSpPr txBox="1"/>
          <p:nvPr/>
        </p:nvSpPr>
        <p:spPr>
          <a:xfrm>
            <a:off x="9384919" y="4573761"/>
            <a:ext cx="4616648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/>
            </a:lvl1pPr>
          </a:lstStyle>
          <a:p>
            <a:r>
              <a:t>この流束を大きくしたい</a:t>
            </a:r>
          </a:p>
        </p:txBody>
      </p:sp>
      <p:sp>
        <p:nvSpPr>
          <p:cNvPr id="6" name="基質">
            <a:extLst>
              <a:ext uri="{FF2B5EF4-FFF2-40B4-BE49-F238E27FC236}">
                <a16:creationId xmlns:a16="http://schemas.microsoft.com/office/drawing/2014/main" id="{92FAB2E0-479D-FA0C-71EE-E65291F1D259}"/>
              </a:ext>
            </a:extLst>
          </p:cNvPr>
          <p:cNvSpPr txBox="1"/>
          <p:nvPr/>
        </p:nvSpPr>
        <p:spPr>
          <a:xfrm>
            <a:off x="4991116" y="5438949"/>
            <a:ext cx="923330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/>
            </a:lvl1pPr>
          </a:lstStyle>
          <a:p>
            <a:r>
              <a:t>基質</a:t>
            </a:r>
          </a:p>
        </p:txBody>
      </p:sp>
      <p:sp>
        <p:nvSpPr>
          <p:cNvPr id="7" name="有用物質">
            <a:extLst>
              <a:ext uri="{FF2B5EF4-FFF2-40B4-BE49-F238E27FC236}">
                <a16:creationId xmlns:a16="http://schemas.microsoft.com/office/drawing/2014/main" id="{1D4E11A9-0507-B519-812C-1669B7CC8B7B}"/>
              </a:ext>
            </a:extLst>
          </p:cNvPr>
          <p:cNvSpPr txBox="1"/>
          <p:nvPr/>
        </p:nvSpPr>
        <p:spPr>
          <a:xfrm>
            <a:off x="11302223" y="5475461"/>
            <a:ext cx="1744067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/>
            </a:lvl1pPr>
          </a:lstStyle>
          <a:p>
            <a:r>
              <a:t>有用物質</a:t>
            </a:r>
          </a:p>
        </p:txBody>
      </p:sp>
      <p:sp>
        <p:nvSpPr>
          <p:cNvPr id="8" name="目的…">
            <a:extLst>
              <a:ext uri="{FF2B5EF4-FFF2-40B4-BE49-F238E27FC236}">
                <a16:creationId xmlns:a16="http://schemas.microsoft.com/office/drawing/2014/main" id="{21F0676A-8E9C-E710-10A7-123B8027A5D1}"/>
              </a:ext>
            </a:extLst>
          </p:cNvPr>
          <p:cNvSpPr txBox="1">
            <a:spLocks/>
          </p:cNvSpPr>
          <p:nvPr/>
        </p:nvSpPr>
        <p:spPr>
          <a:xfrm>
            <a:off x="1230283" y="2285450"/>
            <a:ext cx="14800185" cy="6286500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ja-JP" altLang="en-US" sz="4000"/>
              <a:t>目的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r>
              <a:rPr lang="ja-JP" altLang="en-US" sz="3200"/>
              <a:t>微生物を使った物質生産</a:t>
            </a:r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endParaRPr lang="ja-JP" altLang="en-US" sz="4000"/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endParaRPr lang="ja-JP" altLang="en-US" sz="4000"/>
          </a:p>
          <a:p>
            <a:pPr marL="0" indent="0" defTabSz="403097" hangingPunct="1">
              <a:spcBef>
                <a:spcPts val="2800"/>
              </a:spcBef>
              <a:buNone/>
              <a:defRPr sz="2484"/>
            </a:pPr>
            <a:endParaRPr lang="ja-JP" altLang="en-US" sz="4000"/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ja-JP" altLang="en-US" sz="4000"/>
              <a:t>手段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r>
              <a:rPr lang="ja-JP" altLang="en-US" sz="3200"/>
              <a:t>組換え</a:t>
            </a:r>
            <a:r>
              <a:rPr lang="en-US" altLang="ja-JP" sz="3200" dirty="0"/>
              <a:t>DNA</a:t>
            </a:r>
            <a:r>
              <a:rPr lang="ja-JP" altLang="en-US" sz="3200"/>
              <a:t>技術による代謝流束の改変</a:t>
            </a:r>
          </a:p>
        </p:txBody>
      </p:sp>
      <p:sp>
        <p:nvSpPr>
          <p:cNvPr id="9" name="角丸四角形">
            <a:extLst>
              <a:ext uri="{FF2B5EF4-FFF2-40B4-BE49-F238E27FC236}">
                <a16:creationId xmlns:a16="http://schemas.microsoft.com/office/drawing/2014/main" id="{3FCFEF28-F477-EAA9-FB8E-574190556858}"/>
              </a:ext>
            </a:extLst>
          </p:cNvPr>
          <p:cNvSpPr/>
          <p:nvPr/>
        </p:nvSpPr>
        <p:spPr>
          <a:xfrm>
            <a:off x="6679242" y="5419357"/>
            <a:ext cx="3644901" cy="1384301"/>
          </a:xfrm>
          <a:prstGeom prst="roundRect">
            <a:avLst>
              <a:gd name="adj" fmla="val 17355"/>
            </a:avLst>
          </a:prstGeom>
          <a:ln w="38100">
            <a:solidFill>
              <a:srgbClr val="000000"/>
            </a:solidFill>
            <a:miter lim="400000"/>
          </a:ln>
          <a:effectLst>
            <a:outerShdw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800">
                <a:solidFill>
                  <a:srgbClr val="FFFFFF"/>
                </a:solidFill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  <a:endParaRPr sz="2800"/>
          </a:p>
        </p:txBody>
      </p:sp>
      <p:sp>
        <p:nvSpPr>
          <p:cNvPr id="10" name="線">
            <a:extLst>
              <a:ext uri="{FF2B5EF4-FFF2-40B4-BE49-F238E27FC236}">
                <a16:creationId xmlns:a16="http://schemas.microsoft.com/office/drawing/2014/main" id="{2EAABEE2-B651-F239-E927-7DEF74F50A4F}"/>
              </a:ext>
            </a:extLst>
          </p:cNvPr>
          <p:cNvSpPr/>
          <p:nvPr/>
        </p:nvSpPr>
        <p:spPr>
          <a:xfrm>
            <a:off x="6214923" y="5764040"/>
            <a:ext cx="1040171" cy="1346"/>
          </a:xfrm>
          <a:prstGeom prst="line">
            <a:avLst/>
          </a:prstGeom>
          <a:ln w="50800">
            <a:solidFill>
              <a:srgbClr val="7A81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1" name="線">
            <a:extLst>
              <a:ext uri="{FF2B5EF4-FFF2-40B4-BE49-F238E27FC236}">
                <a16:creationId xmlns:a16="http://schemas.microsoft.com/office/drawing/2014/main" id="{2A776FF3-7576-3BD3-56DE-746C52F0FF1E}"/>
              </a:ext>
            </a:extLst>
          </p:cNvPr>
          <p:cNvSpPr/>
          <p:nvPr/>
        </p:nvSpPr>
        <p:spPr>
          <a:xfrm>
            <a:off x="9873753" y="5764040"/>
            <a:ext cx="1040171" cy="1346"/>
          </a:xfrm>
          <a:prstGeom prst="line">
            <a:avLst/>
          </a:prstGeom>
          <a:ln w="50800">
            <a:solidFill>
              <a:srgbClr val="7A81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2" name="線">
            <a:extLst>
              <a:ext uri="{FF2B5EF4-FFF2-40B4-BE49-F238E27FC236}">
                <a16:creationId xmlns:a16="http://schemas.microsoft.com/office/drawing/2014/main" id="{4EA6BE9E-C069-768B-FEDC-E25C211C6D82}"/>
              </a:ext>
            </a:extLst>
          </p:cNvPr>
          <p:cNvSpPr/>
          <p:nvPr/>
        </p:nvSpPr>
        <p:spPr>
          <a:xfrm>
            <a:off x="7469545" y="5764040"/>
            <a:ext cx="1040171" cy="134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3" name="線">
            <a:extLst>
              <a:ext uri="{FF2B5EF4-FFF2-40B4-BE49-F238E27FC236}">
                <a16:creationId xmlns:a16="http://schemas.microsoft.com/office/drawing/2014/main" id="{9CB6F7A4-C2B6-ED99-2838-3DBEA2670E39}"/>
              </a:ext>
            </a:extLst>
          </p:cNvPr>
          <p:cNvSpPr/>
          <p:nvPr/>
        </p:nvSpPr>
        <p:spPr>
          <a:xfrm>
            <a:off x="7406815" y="5888277"/>
            <a:ext cx="1042177" cy="533930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4" name="線">
            <a:extLst>
              <a:ext uri="{FF2B5EF4-FFF2-40B4-BE49-F238E27FC236}">
                <a16:creationId xmlns:a16="http://schemas.microsoft.com/office/drawing/2014/main" id="{F8959FB6-DE52-8CD4-BA6C-84A75D08AEFA}"/>
              </a:ext>
            </a:extLst>
          </p:cNvPr>
          <p:cNvSpPr/>
          <p:nvPr/>
        </p:nvSpPr>
        <p:spPr>
          <a:xfrm>
            <a:off x="8664355" y="6559388"/>
            <a:ext cx="1460" cy="610590"/>
          </a:xfrm>
          <a:prstGeom prst="line">
            <a:avLst/>
          </a:prstGeom>
          <a:ln w="50800">
            <a:solidFill>
              <a:srgbClr val="7A81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5" name="線">
            <a:extLst>
              <a:ext uri="{FF2B5EF4-FFF2-40B4-BE49-F238E27FC236}">
                <a16:creationId xmlns:a16="http://schemas.microsoft.com/office/drawing/2014/main" id="{C70D496F-8543-1B1B-7F5C-AE3B1C4B684D}"/>
              </a:ext>
            </a:extLst>
          </p:cNvPr>
          <p:cNvSpPr/>
          <p:nvPr/>
        </p:nvSpPr>
        <p:spPr>
          <a:xfrm>
            <a:off x="8748969" y="5764040"/>
            <a:ext cx="1040171" cy="1346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6" name="線">
            <a:extLst>
              <a:ext uri="{FF2B5EF4-FFF2-40B4-BE49-F238E27FC236}">
                <a16:creationId xmlns:a16="http://schemas.microsoft.com/office/drawing/2014/main" id="{F5059399-5A9B-45CA-4882-60206A9D529C}"/>
              </a:ext>
            </a:extLst>
          </p:cNvPr>
          <p:cNvSpPr/>
          <p:nvPr/>
        </p:nvSpPr>
        <p:spPr>
          <a:xfrm>
            <a:off x="8664355" y="5813711"/>
            <a:ext cx="1460" cy="610590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6873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F0882-073F-58D9-DC86-E55AAED1C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17E79A-7EE4-DDFB-79F6-7A8F945E7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6260" dirty="0"/>
              <a:t>初期</a:t>
            </a:r>
            <a:r>
              <a:rPr kumimoji="1" lang="ja-JP" altLang="en-US" sz="6260" dirty="0"/>
              <a:t>の</a:t>
            </a:r>
            <a:r>
              <a:rPr kumimoji="1" lang="zh-CN" altLang="en-US" sz="6260" dirty="0"/>
              <a:t>試</a:t>
            </a:r>
            <a:r>
              <a:rPr kumimoji="1" lang="ja-JP" altLang="en-US" sz="6260" dirty="0"/>
              <a:t>み</a:t>
            </a:r>
          </a:p>
        </p:txBody>
      </p:sp>
      <p:sp>
        <p:nvSpPr>
          <p:cNvPr id="3" name="「律速酵素」の発現量を増やす…">
            <a:extLst>
              <a:ext uri="{FF2B5EF4-FFF2-40B4-BE49-F238E27FC236}">
                <a16:creationId xmlns:a16="http://schemas.microsoft.com/office/drawing/2014/main" id="{054F9ECA-BC39-279D-EFE0-7AC11042D7BC}"/>
              </a:ext>
            </a:extLst>
          </p:cNvPr>
          <p:cNvSpPr txBox="1">
            <a:spLocks/>
          </p:cNvSpPr>
          <p:nvPr/>
        </p:nvSpPr>
        <p:spPr>
          <a:xfrm>
            <a:off x="1270038" y="2384839"/>
            <a:ext cx="14800185" cy="6286500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ja-JP" altLang="en-US" sz="4000"/>
              <a:t>「律速酵素」の発現量を増やす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r>
              <a:rPr lang="ja-JP" altLang="en-US" sz="3200"/>
              <a:t>流束は上がらず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endParaRPr lang="ja-JP" altLang="en-US" sz="2484"/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ja-JP" altLang="en-US" sz="4000"/>
              <a:t>成功しなかった理由は？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r>
              <a:rPr lang="ja-JP" altLang="en-US" sz="3200"/>
              <a:t>「律速酵素」の定義が経験的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r>
              <a:rPr lang="ja-JP" altLang="en-US" sz="3200"/>
              <a:t>研究者によって「律速酵素」が異なる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endParaRPr lang="ja-JP" altLang="en-US" sz="2484"/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ja-JP" altLang="en-US" sz="4000"/>
              <a:t>代謝系を大域的に調べてみよう</a:t>
            </a:r>
          </a:p>
        </p:txBody>
      </p:sp>
    </p:spTree>
    <p:extLst>
      <p:ext uri="{BB962C8B-B14F-4D97-AF65-F5344CB8AC3E}">
        <p14:creationId xmlns:p14="http://schemas.microsoft.com/office/powerpoint/2010/main" val="3815611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3FA83-B613-D166-F84B-AB40441CB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1FA48D-B9D8-0E30-7691-8647B205B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6260" dirty="0"/>
              <a:t>化学量論係数行列</a:t>
            </a:r>
            <a:endParaRPr kumimoji="1" lang="ja-JP" altLang="en-US" sz="6260" dirty="0"/>
          </a:p>
        </p:txBody>
      </p:sp>
      <p:sp>
        <p:nvSpPr>
          <p:cNvPr id="3" name="化学量論係数(Stoichiometric coefficient)とは…">
            <a:extLst>
              <a:ext uri="{FF2B5EF4-FFF2-40B4-BE49-F238E27FC236}">
                <a16:creationId xmlns:a16="http://schemas.microsoft.com/office/drawing/2014/main" id="{6CAFDFD3-2DFC-0286-3190-FE37CB5E4CDF}"/>
              </a:ext>
            </a:extLst>
          </p:cNvPr>
          <p:cNvSpPr txBox="1">
            <a:spLocks/>
          </p:cNvSpPr>
          <p:nvPr/>
        </p:nvSpPr>
        <p:spPr>
          <a:xfrm>
            <a:off x="1614636" y="1971991"/>
            <a:ext cx="13671745" cy="6286501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zh-CN" altLang="en-US" sz="4000" dirty="0"/>
              <a:t>化学量論係数</a:t>
            </a:r>
            <a:r>
              <a:rPr lang="en-US" altLang="zh-CN" sz="4000" dirty="0"/>
              <a:t>(</a:t>
            </a:r>
            <a:r>
              <a:rPr lang="en-US" sz="4000" dirty="0"/>
              <a:t>Stoichiometric coefficient)</a:t>
            </a:r>
            <a:r>
              <a:rPr lang="ja-JP" altLang="en-US" sz="4000"/>
              <a:t>とは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r>
              <a:rPr lang="en-US" altLang="ja-JP" sz="4000" dirty="0">
                <a:solidFill>
                  <a:srgbClr val="FF2600"/>
                </a:solidFill>
              </a:rPr>
              <a:t>2</a:t>
            </a:r>
            <a:r>
              <a:rPr lang="en-US" sz="4000" dirty="0"/>
              <a:t>H</a:t>
            </a:r>
            <a:r>
              <a:rPr lang="en-US" sz="4000" baseline="-5999" dirty="0"/>
              <a:t>2</a:t>
            </a:r>
            <a:r>
              <a:rPr lang="en-US" sz="4000" dirty="0"/>
              <a:t>+(</a:t>
            </a:r>
            <a:r>
              <a:rPr lang="en-US" sz="4000" dirty="0">
                <a:solidFill>
                  <a:srgbClr val="FF2600"/>
                </a:solidFill>
              </a:rPr>
              <a:t>1</a:t>
            </a:r>
            <a:r>
              <a:rPr lang="en-US" sz="4000" dirty="0"/>
              <a:t>)O</a:t>
            </a:r>
            <a:r>
              <a:rPr lang="en-US" sz="4000" baseline="-5999" dirty="0"/>
              <a:t>2</a:t>
            </a:r>
            <a:r>
              <a:rPr lang="en-US" sz="4000" dirty="0"/>
              <a:t> → </a:t>
            </a:r>
            <a:r>
              <a:rPr lang="en-US" sz="4000" dirty="0">
                <a:solidFill>
                  <a:srgbClr val="FF2600"/>
                </a:solidFill>
              </a:rPr>
              <a:t>2</a:t>
            </a:r>
            <a:r>
              <a:rPr lang="en-US" sz="4000" dirty="0"/>
              <a:t>H</a:t>
            </a:r>
            <a:r>
              <a:rPr lang="en-US" sz="4000" baseline="-5999" dirty="0"/>
              <a:t>2</a:t>
            </a:r>
            <a:r>
              <a:rPr lang="en-US" sz="4000" dirty="0"/>
              <a:t>O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r>
              <a:rPr lang="en-US" sz="4000" dirty="0"/>
              <a:t>1</a:t>
            </a:r>
            <a:r>
              <a:rPr lang="zh-CN" altLang="en-US" sz="4000" dirty="0"/>
              <a:t>反応</a:t>
            </a:r>
            <a:r>
              <a:rPr lang="ja-JP" altLang="en-US" sz="4000"/>
              <a:t>で</a:t>
            </a:r>
            <a:r>
              <a:rPr lang="zh-CN" altLang="en-US" sz="4000" dirty="0"/>
              <a:t>生成･消滅</a:t>
            </a:r>
            <a:r>
              <a:rPr lang="ja-JP" altLang="en-US" sz="4000"/>
              <a:t>する</a:t>
            </a:r>
            <a:r>
              <a:rPr lang="zh-CN" altLang="en-US" sz="4000" dirty="0"/>
              <a:t>分子数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endParaRPr lang="zh-CN" altLang="en-US" sz="2484" dirty="0"/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zh-CN" altLang="en-US" sz="4000" dirty="0"/>
              <a:t>例</a:t>
            </a:r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zh-CN" altLang="en-US" sz="4000" dirty="0"/>
              <a:t>  </a:t>
            </a:r>
            <a:r>
              <a:rPr lang="en-US" sz="4000" i="1" dirty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:      S</a:t>
            </a:r>
            <a:r>
              <a:rPr lang="en-US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   → 2(S</a:t>
            </a:r>
            <a:r>
              <a:rPr lang="en-US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4000" i="1" dirty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:      S</a:t>
            </a:r>
            <a:r>
              <a:rPr lang="en-US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   →    S</a:t>
            </a:r>
            <a:r>
              <a:rPr lang="en-US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4000" i="1" dirty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:   2(S</a:t>
            </a:r>
            <a:r>
              <a:rPr lang="en-US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) → 1(S</a:t>
            </a:r>
            <a:r>
              <a:rPr lang="en-US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</p:txBody>
      </p:sp>
      <p:sp>
        <p:nvSpPr>
          <p:cNvPr id="13" name="線">
            <a:extLst>
              <a:ext uri="{FF2B5EF4-FFF2-40B4-BE49-F238E27FC236}">
                <a16:creationId xmlns:a16="http://schemas.microsoft.com/office/drawing/2014/main" id="{181BFAD8-C37A-3CFC-9E8A-17A4B29DA97D}"/>
              </a:ext>
            </a:extLst>
          </p:cNvPr>
          <p:cNvSpPr/>
          <p:nvPr/>
        </p:nvSpPr>
        <p:spPr>
          <a:xfrm flipH="1">
            <a:off x="13280714" y="3398700"/>
            <a:ext cx="719138" cy="100806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4" name="S1">
            <a:extLst>
              <a:ext uri="{FF2B5EF4-FFF2-40B4-BE49-F238E27FC236}">
                <a16:creationId xmlns:a16="http://schemas.microsoft.com/office/drawing/2014/main" id="{61A83C7F-0A33-A933-FCBF-144921D45451}"/>
              </a:ext>
            </a:extLst>
          </p:cNvPr>
          <p:cNvSpPr txBox="1"/>
          <p:nvPr/>
        </p:nvSpPr>
        <p:spPr>
          <a:xfrm>
            <a:off x="13883119" y="2692579"/>
            <a:ext cx="51296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</a:t>
            </a:r>
            <a:r>
              <a:rPr baseline="-5999"/>
              <a:t>1</a:t>
            </a:r>
          </a:p>
        </p:txBody>
      </p:sp>
      <p:sp>
        <p:nvSpPr>
          <p:cNvPr id="15" name="S2">
            <a:extLst>
              <a:ext uri="{FF2B5EF4-FFF2-40B4-BE49-F238E27FC236}">
                <a16:creationId xmlns:a16="http://schemas.microsoft.com/office/drawing/2014/main" id="{3B1C37B4-3244-D9E5-934C-966D6A3EC74A}"/>
              </a:ext>
            </a:extLst>
          </p:cNvPr>
          <p:cNvSpPr txBox="1"/>
          <p:nvPr/>
        </p:nvSpPr>
        <p:spPr>
          <a:xfrm>
            <a:off x="12802031" y="4564242"/>
            <a:ext cx="51296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</a:t>
            </a:r>
            <a:r>
              <a:rPr baseline="-5999"/>
              <a:t>2</a:t>
            </a:r>
          </a:p>
        </p:txBody>
      </p:sp>
      <p:sp>
        <p:nvSpPr>
          <p:cNvPr id="16" name="S3">
            <a:extLst>
              <a:ext uri="{FF2B5EF4-FFF2-40B4-BE49-F238E27FC236}">
                <a16:creationId xmlns:a16="http://schemas.microsoft.com/office/drawing/2014/main" id="{E728587A-A923-9160-798A-67D77239CC70}"/>
              </a:ext>
            </a:extLst>
          </p:cNvPr>
          <p:cNvSpPr txBox="1"/>
          <p:nvPr/>
        </p:nvSpPr>
        <p:spPr>
          <a:xfrm>
            <a:off x="14962619" y="4580117"/>
            <a:ext cx="51296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</a:t>
            </a:r>
            <a:r>
              <a:rPr baseline="-5999"/>
              <a:t>3</a:t>
            </a:r>
          </a:p>
        </p:txBody>
      </p:sp>
      <p:sp>
        <p:nvSpPr>
          <p:cNvPr id="17" name="線">
            <a:extLst>
              <a:ext uri="{FF2B5EF4-FFF2-40B4-BE49-F238E27FC236}">
                <a16:creationId xmlns:a16="http://schemas.microsoft.com/office/drawing/2014/main" id="{94237CDE-8471-C24C-4D41-627285BE2905}"/>
              </a:ext>
            </a:extLst>
          </p:cNvPr>
          <p:cNvSpPr/>
          <p:nvPr/>
        </p:nvSpPr>
        <p:spPr>
          <a:xfrm>
            <a:off x="13496615" y="4838562"/>
            <a:ext cx="1295401" cy="158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8" name="線">
            <a:extLst>
              <a:ext uri="{FF2B5EF4-FFF2-40B4-BE49-F238E27FC236}">
                <a16:creationId xmlns:a16="http://schemas.microsoft.com/office/drawing/2014/main" id="{BF8370B3-8040-75A7-380C-8B77B7DB795E}"/>
              </a:ext>
            </a:extLst>
          </p:cNvPr>
          <p:cNvSpPr/>
          <p:nvPr/>
        </p:nvSpPr>
        <p:spPr>
          <a:xfrm flipH="1" flipV="1">
            <a:off x="14288777" y="3398700"/>
            <a:ext cx="647700" cy="100806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9" name="v1">
            <a:extLst>
              <a:ext uri="{FF2B5EF4-FFF2-40B4-BE49-F238E27FC236}">
                <a16:creationId xmlns:a16="http://schemas.microsoft.com/office/drawing/2014/main" id="{78FB4B4B-88ED-916D-AC22-C1607AB0FBEB}"/>
              </a:ext>
            </a:extLst>
          </p:cNvPr>
          <p:cNvSpPr txBox="1"/>
          <p:nvPr/>
        </p:nvSpPr>
        <p:spPr>
          <a:xfrm>
            <a:off x="13060058" y="3451404"/>
            <a:ext cx="461665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</a:t>
            </a:r>
            <a:r>
              <a:rPr baseline="-5999"/>
              <a:t>1</a:t>
            </a:r>
          </a:p>
        </p:txBody>
      </p:sp>
      <p:sp>
        <p:nvSpPr>
          <p:cNvPr id="20" name="v2">
            <a:extLst>
              <a:ext uri="{FF2B5EF4-FFF2-40B4-BE49-F238E27FC236}">
                <a16:creationId xmlns:a16="http://schemas.microsoft.com/office/drawing/2014/main" id="{F98FD635-CFD6-16A0-2B64-676EFD5D7C11}"/>
              </a:ext>
            </a:extLst>
          </p:cNvPr>
          <p:cNvSpPr txBox="1"/>
          <p:nvPr/>
        </p:nvSpPr>
        <p:spPr>
          <a:xfrm>
            <a:off x="13852220" y="5035729"/>
            <a:ext cx="461665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</a:t>
            </a:r>
            <a:r>
              <a:rPr baseline="-5999"/>
              <a:t>2</a:t>
            </a:r>
          </a:p>
        </p:txBody>
      </p:sp>
      <p:sp>
        <p:nvSpPr>
          <p:cNvPr id="21" name="v3">
            <a:extLst>
              <a:ext uri="{FF2B5EF4-FFF2-40B4-BE49-F238E27FC236}">
                <a16:creationId xmlns:a16="http://schemas.microsoft.com/office/drawing/2014/main" id="{56F137CA-9FC8-43B2-D9FB-4371647A92E2}"/>
              </a:ext>
            </a:extLst>
          </p:cNvPr>
          <p:cNvSpPr txBox="1"/>
          <p:nvPr/>
        </p:nvSpPr>
        <p:spPr>
          <a:xfrm>
            <a:off x="14715820" y="3476804"/>
            <a:ext cx="461665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</a:t>
            </a:r>
            <a:r>
              <a:rPr baseline="-5999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32558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36953-B89C-2387-13D9-8B8EEA634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A710DE-069C-88CE-5BEB-4D75F11E4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6260" dirty="0"/>
              <a:t>化学量論係数行列</a:t>
            </a:r>
            <a:endParaRPr kumimoji="1" lang="ja-JP" altLang="en-US" sz="6260" dirty="0"/>
          </a:p>
        </p:txBody>
      </p:sp>
      <p:sp>
        <p:nvSpPr>
          <p:cNvPr id="3" name="S1">
            <a:extLst>
              <a:ext uri="{FF2B5EF4-FFF2-40B4-BE49-F238E27FC236}">
                <a16:creationId xmlns:a16="http://schemas.microsoft.com/office/drawing/2014/main" id="{E279E49D-047B-F831-7904-EBC26B7D2014}"/>
              </a:ext>
            </a:extLst>
          </p:cNvPr>
          <p:cNvSpPr txBox="1"/>
          <p:nvPr/>
        </p:nvSpPr>
        <p:spPr>
          <a:xfrm>
            <a:off x="11728881" y="7001054"/>
            <a:ext cx="51296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</a:t>
            </a:r>
            <a:r>
              <a:rPr baseline="-5999"/>
              <a:t>1</a:t>
            </a:r>
          </a:p>
        </p:txBody>
      </p:sp>
      <p:sp>
        <p:nvSpPr>
          <p:cNvPr id="4" name="v1">
            <a:extLst>
              <a:ext uri="{FF2B5EF4-FFF2-40B4-BE49-F238E27FC236}">
                <a16:creationId xmlns:a16="http://schemas.microsoft.com/office/drawing/2014/main" id="{84E1BA72-894F-A9F8-86A0-6F41AC795D2C}"/>
              </a:ext>
            </a:extLst>
          </p:cNvPr>
          <p:cNvSpPr txBox="1"/>
          <p:nvPr/>
        </p:nvSpPr>
        <p:spPr>
          <a:xfrm>
            <a:off x="13203928" y="6173967"/>
            <a:ext cx="461665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</a:t>
            </a:r>
            <a:r>
              <a:rPr baseline="-5999"/>
              <a:t>1</a:t>
            </a:r>
          </a:p>
        </p:txBody>
      </p:sp>
      <p:sp>
        <p:nvSpPr>
          <p:cNvPr id="5" name="行列の作り方…">
            <a:extLst>
              <a:ext uri="{FF2B5EF4-FFF2-40B4-BE49-F238E27FC236}">
                <a16:creationId xmlns:a16="http://schemas.microsoft.com/office/drawing/2014/main" id="{C1DA16A0-E4AC-FE33-F83F-6927A13B1D01}"/>
              </a:ext>
            </a:extLst>
          </p:cNvPr>
          <p:cNvSpPr txBox="1">
            <a:spLocks/>
          </p:cNvSpPr>
          <p:nvPr/>
        </p:nvSpPr>
        <p:spPr>
          <a:xfrm>
            <a:off x="1622078" y="1971992"/>
            <a:ext cx="11099800" cy="6286500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ja-JP" altLang="en-US" sz="4000"/>
              <a:t>行列の作り方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r>
              <a:rPr lang="ja-JP" altLang="en-US" sz="3200"/>
              <a:t>行ラベルが代謝物質、列ラベルが反応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r>
              <a:rPr lang="ja-JP" altLang="en-US" sz="3200"/>
              <a:t>ネットワークの構造に関する全情報を含む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endParaRPr lang="ja-JP" altLang="en-US" sz="2484"/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ja-JP" altLang="en-US" sz="4000"/>
              <a:t>例</a:t>
            </a:r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ja-JP" altLang="en-US" sz="4000"/>
              <a:t>  </a:t>
            </a:r>
            <a:r>
              <a:rPr lang="ja-JP" altLang="en-US" sz="4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ja-JP" sz="4000" i="1" dirty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altLang="ja-JP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altLang="ja-JP" sz="4000" dirty="0">
                <a:latin typeface="Times New Roman"/>
                <a:ea typeface="Times New Roman"/>
                <a:cs typeface="Times New Roman"/>
                <a:sym typeface="Times New Roman"/>
              </a:rPr>
              <a:t>:      S</a:t>
            </a:r>
            <a:r>
              <a:rPr lang="en-US" altLang="ja-JP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ja-JP" altLang="en-US" sz="4000">
                <a:latin typeface="Times New Roman"/>
                <a:ea typeface="Times New Roman"/>
                <a:cs typeface="Times New Roman"/>
                <a:sym typeface="Times New Roman"/>
              </a:rPr>
              <a:t>   → </a:t>
            </a:r>
            <a:r>
              <a:rPr lang="en-US" altLang="ja-JP" sz="4000" dirty="0">
                <a:latin typeface="Times New Roman"/>
                <a:ea typeface="Times New Roman"/>
                <a:cs typeface="Times New Roman"/>
                <a:sym typeface="Times New Roman"/>
              </a:rPr>
              <a:t>2(S</a:t>
            </a:r>
            <a:r>
              <a:rPr lang="en-US" altLang="ja-JP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altLang="ja-JP" sz="40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en-US" altLang="ja-JP" sz="4000" dirty="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altLang="ja-JP" sz="4000" i="1" dirty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altLang="ja-JP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altLang="ja-JP" sz="4000" dirty="0">
                <a:latin typeface="Times New Roman"/>
                <a:ea typeface="Times New Roman"/>
                <a:cs typeface="Times New Roman"/>
                <a:sym typeface="Times New Roman"/>
              </a:rPr>
              <a:t>:      S</a:t>
            </a:r>
            <a:r>
              <a:rPr lang="en-US" altLang="ja-JP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ja-JP" altLang="en-US" sz="4000">
                <a:latin typeface="Times New Roman"/>
                <a:ea typeface="Times New Roman"/>
                <a:cs typeface="Times New Roman"/>
                <a:sym typeface="Times New Roman"/>
              </a:rPr>
              <a:t>   →    </a:t>
            </a:r>
            <a:r>
              <a:rPr lang="en-US" altLang="ja-JP" sz="4000" dirty="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altLang="ja-JP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ja-JP" altLang="en-US" sz="4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ja-JP" altLang="en-US" sz="40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altLang="ja-JP" sz="4000" i="1" dirty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altLang="ja-JP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altLang="ja-JP" sz="4000" dirty="0">
                <a:latin typeface="Times New Roman"/>
                <a:ea typeface="Times New Roman"/>
                <a:cs typeface="Times New Roman"/>
                <a:sym typeface="Times New Roman"/>
              </a:rPr>
              <a:t>:   2(S</a:t>
            </a:r>
            <a:r>
              <a:rPr lang="en-US" altLang="ja-JP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altLang="ja-JP" sz="4000" dirty="0">
                <a:latin typeface="Times New Roman"/>
                <a:ea typeface="Times New Roman"/>
                <a:cs typeface="Times New Roman"/>
                <a:sym typeface="Times New Roman"/>
              </a:rPr>
              <a:t>) → 1(S</a:t>
            </a:r>
            <a:r>
              <a:rPr lang="en-US" altLang="ja-JP" sz="40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altLang="ja-JP" sz="40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</p:txBody>
      </p:sp>
      <p:pic>
        <p:nvPicPr>
          <p:cNvPr id="6" name="droppedImage.pdf" descr="droppedImage.pdf">
            <a:extLst>
              <a:ext uri="{FF2B5EF4-FFF2-40B4-BE49-F238E27FC236}">
                <a16:creationId xmlns:a16="http://schemas.microsoft.com/office/drawing/2014/main" id="{03380CEF-63DE-2D87-EF74-975300EB4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124" y="7108687"/>
            <a:ext cx="3657601" cy="16637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v2">
            <a:extLst>
              <a:ext uri="{FF2B5EF4-FFF2-40B4-BE49-F238E27FC236}">
                <a16:creationId xmlns:a16="http://schemas.microsoft.com/office/drawing/2014/main" id="{3C62BBFB-309D-5A78-83C3-8530EA35AEEA}"/>
              </a:ext>
            </a:extLst>
          </p:cNvPr>
          <p:cNvSpPr txBox="1"/>
          <p:nvPr/>
        </p:nvSpPr>
        <p:spPr>
          <a:xfrm>
            <a:off x="14232628" y="6173967"/>
            <a:ext cx="461665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</a:t>
            </a:r>
            <a:r>
              <a:rPr baseline="-5999"/>
              <a:t>2</a:t>
            </a:r>
          </a:p>
        </p:txBody>
      </p:sp>
      <p:sp>
        <p:nvSpPr>
          <p:cNvPr id="8" name="v3">
            <a:extLst>
              <a:ext uri="{FF2B5EF4-FFF2-40B4-BE49-F238E27FC236}">
                <a16:creationId xmlns:a16="http://schemas.microsoft.com/office/drawing/2014/main" id="{15E7A4EC-164D-EF6B-7599-3171188D1DEE}"/>
              </a:ext>
            </a:extLst>
          </p:cNvPr>
          <p:cNvSpPr txBox="1"/>
          <p:nvPr/>
        </p:nvSpPr>
        <p:spPr>
          <a:xfrm>
            <a:off x="15261328" y="6173967"/>
            <a:ext cx="461665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</a:t>
            </a:r>
            <a:r>
              <a:rPr baseline="-5999"/>
              <a:t>3</a:t>
            </a:r>
          </a:p>
        </p:txBody>
      </p:sp>
      <p:sp>
        <p:nvSpPr>
          <p:cNvPr id="9" name="S2">
            <a:extLst>
              <a:ext uri="{FF2B5EF4-FFF2-40B4-BE49-F238E27FC236}">
                <a16:creationId xmlns:a16="http://schemas.microsoft.com/office/drawing/2014/main" id="{4C855F3E-68C9-B53A-F551-1427307A1EF0}"/>
              </a:ext>
            </a:extLst>
          </p:cNvPr>
          <p:cNvSpPr txBox="1"/>
          <p:nvPr/>
        </p:nvSpPr>
        <p:spPr>
          <a:xfrm>
            <a:off x="11728881" y="7612242"/>
            <a:ext cx="51296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</a:t>
            </a:r>
            <a:r>
              <a:rPr baseline="-5999"/>
              <a:t>2</a:t>
            </a:r>
          </a:p>
        </p:txBody>
      </p:sp>
      <p:sp>
        <p:nvSpPr>
          <p:cNvPr id="10" name="S3">
            <a:extLst>
              <a:ext uri="{FF2B5EF4-FFF2-40B4-BE49-F238E27FC236}">
                <a16:creationId xmlns:a16="http://schemas.microsoft.com/office/drawing/2014/main" id="{AACA4C70-1F48-2760-8E39-63E2FDD74A82}"/>
              </a:ext>
            </a:extLst>
          </p:cNvPr>
          <p:cNvSpPr txBox="1"/>
          <p:nvPr/>
        </p:nvSpPr>
        <p:spPr>
          <a:xfrm>
            <a:off x="11728881" y="8221842"/>
            <a:ext cx="51296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</a:t>
            </a:r>
            <a:r>
              <a:rPr baseline="-5999"/>
              <a:t>3</a:t>
            </a:r>
          </a:p>
        </p:txBody>
      </p:sp>
      <p:sp>
        <p:nvSpPr>
          <p:cNvPr id="11" name="線">
            <a:extLst>
              <a:ext uri="{FF2B5EF4-FFF2-40B4-BE49-F238E27FC236}">
                <a16:creationId xmlns:a16="http://schemas.microsoft.com/office/drawing/2014/main" id="{EBFF31F8-27FA-A10F-51DA-E197FC595E02}"/>
              </a:ext>
            </a:extLst>
          </p:cNvPr>
          <p:cNvSpPr/>
          <p:nvPr/>
        </p:nvSpPr>
        <p:spPr>
          <a:xfrm flipH="1">
            <a:off x="13280714" y="3398700"/>
            <a:ext cx="719138" cy="100806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07EAF033-57EE-062F-4ADD-8C24E342F635}"/>
              </a:ext>
            </a:extLst>
          </p:cNvPr>
          <p:cNvSpPr txBox="1"/>
          <p:nvPr/>
        </p:nvSpPr>
        <p:spPr>
          <a:xfrm>
            <a:off x="13883119" y="2692579"/>
            <a:ext cx="51296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</a:t>
            </a:r>
            <a:r>
              <a:rPr baseline="-5999"/>
              <a:t>1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587FBF4F-5BFD-CE07-3F01-A86F6E5D8E93}"/>
              </a:ext>
            </a:extLst>
          </p:cNvPr>
          <p:cNvSpPr txBox="1"/>
          <p:nvPr/>
        </p:nvSpPr>
        <p:spPr>
          <a:xfrm>
            <a:off x="12802031" y="4564242"/>
            <a:ext cx="51296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</a:t>
            </a:r>
            <a:r>
              <a:rPr baseline="-5999"/>
              <a:t>2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CF837BB8-E71B-9B7F-D95D-898260340747}"/>
              </a:ext>
            </a:extLst>
          </p:cNvPr>
          <p:cNvSpPr txBox="1"/>
          <p:nvPr/>
        </p:nvSpPr>
        <p:spPr>
          <a:xfrm>
            <a:off x="14962619" y="4580117"/>
            <a:ext cx="51296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</a:t>
            </a:r>
            <a:r>
              <a:rPr baseline="-5999"/>
              <a:t>3</a:t>
            </a:r>
          </a:p>
        </p:txBody>
      </p:sp>
      <p:sp>
        <p:nvSpPr>
          <p:cNvPr id="15" name="線">
            <a:extLst>
              <a:ext uri="{FF2B5EF4-FFF2-40B4-BE49-F238E27FC236}">
                <a16:creationId xmlns:a16="http://schemas.microsoft.com/office/drawing/2014/main" id="{CF91DD21-975B-A91E-D651-1C4DF9B6A4B6}"/>
              </a:ext>
            </a:extLst>
          </p:cNvPr>
          <p:cNvSpPr/>
          <p:nvPr/>
        </p:nvSpPr>
        <p:spPr>
          <a:xfrm>
            <a:off x="13496615" y="4838562"/>
            <a:ext cx="1295401" cy="158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6" name="線">
            <a:extLst>
              <a:ext uri="{FF2B5EF4-FFF2-40B4-BE49-F238E27FC236}">
                <a16:creationId xmlns:a16="http://schemas.microsoft.com/office/drawing/2014/main" id="{1FBB358B-1C23-FADD-A6A1-A7B96CDA67A4}"/>
              </a:ext>
            </a:extLst>
          </p:cNvPr>
          <p:cNvSpPr/>
          <p:nvPr/>
        </p:nvSpPr>
        <p:spPr>
          <a:xfrm flipH="1" flipV="1">
            <a:off x="14288777" y="3398700"/>
            <a:ext cx="647700" cy="100806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7" name="v1">
            <a:extLst>
              <a:ext uri="{FF2B5EF4-FFF2-40B4-BE49-F238E27FC236}">
                <a16:creationId xmlns:a16="http://schemas.microsoft.com/office/drawing/2014/main" id="{6DFF4938-4220-ED7F-EAA2-E9FE9BBD794C}"/>
              </a:ext>
            </a:extLst>
          </p:cNvPr>
          <p:cNvSpPr txBox="1"/>
          <p:nvPr/>
        </p:nvSpPr>
        <p:spPr>
          <a:xfrm>
            <a:off x="13060058" y="3451404"/>
            <a:ext cx="461665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</a:t>
            </a:r>
            <a:r>
              <a:rPr baseline="-5999"/>
              <a:t>1</a:t>
            </a:r>
          </a:p>
        </p:txBody>
      </p:sp>
      <p:sp>
        <p:nvSpPr>
          <p:cNvPr id="18" name="v2">
            <a:extLst>
              <a:ext uri="{FF2B5EF4-FFF2-40B4-BE49-F238E27FC236}">
                <a16:creationId xmlns:a16="http://schemas.microsoft.com/office/drawing/2014/main" id="{C7E37905-BEEF-5CDB-F9F5-F0D977084BE9}"/>
              </a:ext>
            </a:extLst>
          </p:cNvPr>
          <p:cNvSpPr txBox="1"/>
          <p:nvPr/>
        </p:nvSpPr>
        <p:spPr>
          <a:xfrm>
            <a:off x="13852220" y="5035729"/>
            <a:ext cx="461665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</a:t>
            </a:r>
            <a:r>
              <a:rPr baseline="-5999"/>
              <a:t>2</a:t>
            </a:r>
          </a:p>
        </p:txBody>
      </p:sp>
      <p:sp>
        <p:nvSpPr>
          <p:cNvPr id="19" name="v3">
            <a:extLst>
              <a:ext uri="{FF2B5EF4-FFF2-40B4-BE49-F238E27FC236}">
                <a16:creationId xmlns:a16="http://schemas.microsoft.com/office/drawing/2014/main" id="{F3616362-53DA-5DB4-D4A7-EE6DF8E64A88}"/>
              </a:ext>
            </a:extLst>
          </p:cNvPr>
          <p:cNvSpPr txBox="1"/>
          <p:nvPr/>
        </p:nvSpPr>
        <p:spPr>
          <a:xfrm>
            <a:off x="14715820" y="3476804"/>
            <a:ext cx="461665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</a:t>
            </a:r>
            <a:r>
              <a:rPr baseline="-5999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28340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73FD1-0893-1EDC-0915-254E3863B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4523AC-BE2A-FA19-0A12-77BFC24BE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6260" dirty="0"/>
              <a:t>演習</a:t>
            </a:r>
            <a:r>
              <a:rPr kumimoji="1" lang="en-US" altLang="zh-CN" sz="6260" dirty="0"/>
              <a:t>1</a:t>
            </a:r>
            <a:endParaRPr kumimoji="1" lang="ja-JP" altLang="en-US" sz="6260" dirty="0"/>
          </a:p>
        </p:txBody>
      </p:sp>
      <p:sp>
        <p:nvSpPr>
          <p:cNvPr id="14" name="上の化学反応経路の化学量論係数行列を書きなさい。各反応の化学量論係数はすべて1とする。">
            <a:extLst>
              <a:ext uri="{FF2B5EF4-FFF2-40B4-BE49-F238E27FC236}">
                <a16:creationId xmlns:a16="http://schemas.microsoft.com/office/drawing/2014/main" id="{6219FB8E-DEA5-4B3C-4DFB-14CFA067A69F}"/>
              </a:ext>
            </a:extLst>
          </p:cNvPr>
          <p:cNvSpPr txBox="1">
            <a:spLocks/>
          </p:cNvSpPr>
          <p:nvPr/>
        </p:nvSpPr>
        <p:spPr>
          <a:xfrm>
            <a:off x="2895947" y="7270694"/>
            <a:ext cx="12569340" cy="1655820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hangingPunct="1"/>
            <a:r>
              <a:rPr lang="ja-JP" altLang="en-US" sz="4000"/>
              <a:t>上</a:t>
            </a:r>
            <a:r>
              <a:rPr lang="ja-JP" altLang="en-US" sz="4000" dirty="0"/>
              <a:t>の化学反応経路の化学量論係数行列を書きなさい。各反応の化学量論係数はすべて</a:t>
            </a:r>
            <a:r>
              <a:rPr lang="en-US" altLang="ja-JP" sz="4000" dirty="0"/>
              <a:t>1</a:t>
            </a:r>
            <a:r>
              <a:rPr lang="ja-JP" altLang="en-US" sz="4000" dirty="0"/>
              <a:t>とする。</a:t>
            </a:r>
          </a:p>
        </p:txBody>
      </p:sp>
      <p:sp>
        <p:nvSpPr>
          <p:cNvPr id="3" name="S1">
            <a:extLst>
              <a:ext uri="{FF2B5EF4-FFF2-40B4-BE49-F238E27FC236}">
                <a16:creationId xmlns:a16="http://schemas.microsoft.com/office/drawing/2014/main" id="{160A4A8D-3DBE-0A69-4F75-E64806DB7BE3}"/>
              </a:ext>
            </a:extLst>
          </p:cNvPr>
          <p:cNvSpPr txBox="1"/>
          <p:nvPr/>
        </p:nvSpPr>
        <p:spPr>
          <a:xfrm>
            <a:off x="5336472" y="4037306"/>
            <a:ext cx="650819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800" dirty="0"/>
              <a:t>S</a:t>
            </a:r>
            <a:r>
              <a:rPr sz="4800" baseline="-5999" dirty="0"/>
              <a:t>1</a:t>
            </a:r>
          </a:p>
        </p:txBody>
      </p:sp>
      <p:sp>
        <p:nvSpPr>
          <p:cNvPr id="4" name="S2">
            <a:extLst>
              <a:ext uri="{FF2B5EF4-FFF2-40B4-BE49-F238E27FC236}">
                <a16:creationId xmlns:a16="http://schemas.microsoft.com/office/drawing/2014/main" id="{07F62E25-A21C-62E0-03F9-B4D6CBE4C36E}"/>
              </a:ext>
            </a:extLst>
          </p:cNvPr>
          <p:cNvSpPr txBox="1"/>
          <p:nvPr/>
        </p:nvSpPr>
        <p:spPr>
          <a:xfrm>
            <a:off x="8387259" y="2309051"/>
            <a:ext cx="650819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800"/>
              <a:t>S</a:t>
            </a:r>
            <a:r>
              <a:rPr sz="4800" baseline="-5999"/>
              <a:t>2</a:t>
            </a:r>
          </a:p>
        </p:txBody>
      </p:sp>
      <p:sp>
        <p:nvSpPr>
          <p:cNvPr id="5" name="S4">
            <a:extLst>
              <a:ext uri="{FF2B5EF4-FFF2-40B4-BE49-F238E27FC236}">
                <a16:creationId xmlns:a16="http://schemas.microsoft.com/office/drawing/2014/main" id="{40681455-F699-9CCC-6C10-B6143FBD6D4E}"/>
              </a:ext>
            </a:extLst>
          </p:cNvPr>
          <p:cNvSpPr txBox="1"/>
          <p:nvPr/>
        </p:nvSpPr>
        <p:spPr>
          <a:xfrm>
            <a:off x="11337175" y="4039549"/>
            <a:ext cx="650819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800"/>
              <a:t>S</a:t>
            </a:r>
            <a:r>
              <a:rPr sz="4800" baseline="-5999"/>
              <a:t>4</a:t>
            </a:r>
          </a:p>
        </p:txBody>
      </p:sp>
      <p:sp>
        <p:nvSpPr>
          <p:cNvPr id="6" name="S3">
            <a:extLst>
              <a:ext uri="{FF2B5EF4-FFF2-40B4-BE49-F238E27FC236}">
                <a16:creationId xmlns:a16="http://schemas.microsoft.com/office/drawing/2014/main" id="{85C47C76-9C3A-D13F-446D-5FEAFE3A872B}"/>
              </a:ext>
            </a:extLst>
          </p:cNvPr>
          <p:cNvSpPr txBox="1"/>
          <p:nvPr/>
        </p:nvSpPr>
        <p:spPr>
          <a:xfrm>
            <a:off x="8387259" y="5664692"/>
            <a:ext cx="650819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800"/>
              <a:t>S</a:t>
            </a:r>
            <a:r>
              <a:rPr sz="4800" baseline="-5999"/>
              <a:t>3</a:t>
            </a:r>
          </a:p>
        </p:txBody>
      </p:sp>
      <p:sp>
        <p:nvSpPr>
          <p:cNvPr id="7" name="線">
            <a:extLst>
              <a:ext uri="{FF2B5EF4-FFF2-40B4-BE49-F238E27FC236}">
                <a16:creationId xmlns:a16="http://schemas.microsoft.com/office/drawing/2014/main" id="{3945556B-67CD-D329-4256-7B35CF3D7957}"/>
              </a:ext>
            </a:extLst>
          </p:cNvPr>
          <p:cNvSpPr/>
          <p:nvPr/>
        </p:nvSpPr>
        <p:spPr>
          <a:xfrm flipV="1">
            <a:off x="6208759" y="2958322"/>
            <a:ext cx="1929999" cy="111854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8" name="線">
            <a:extLst>
              <a:ext uri="{FF2B5EF4-FFF2-40B4-BE49-F238E27FC236}">
                <a16:creationId xmlns:a16="http://schemas.microsoft.com/office/drawing/2014/main" id="{6BAD39DA-7205-C604-369E-380C70254F43}"/>
              </a:ext>
            </a:extLst>
          </p:cNvPr>
          <p:cNvSpPr/>
          <p:nvPr/>
        </p:nvSpPr>
        <p:spPr>
          <a:xfrm>
            <a:off x="9461290" y="2857450"/>
            <a:ext cx="1627385" cy="111854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9" name="線">
            <a:extLst>
              <a:ext uri="{FF2B5EF4-FFF2-40B4-BE49-F238E27FC236}">
                <a16:creationId xmlns:a16="http://schemas.microsoft.com/office/drawing/2014/main" id="{6E83B83E-A025-646E-CA3B-32D57004F3DA}"/>
              </a:ext>
            </a:extLst>
          </p:cNvPr>
          <p:cNvSpPr/>
          <p:nvPr/>
        </p:nvSpPr>
        <p:spPr>
          <a:xfrm>
            <a:off x="6208759" y="4787449"/>
            <a:ext cx="1929999" cy="111854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0" name="線">
            <a:extLst>
              <a:ext uri="{FF2B5EF4-FFF2-40B4-BE49-F238E27FC236}">
                <a16:creationId xmlns:a16="http://schemas.microsoft.com/office/drawing/2014/main" id="{28CFD583-98D6-2F9A-2551-AADBE0A8582E}"/>
              </a:ext>
            </a:extLst>
          </p:cNvPr>
          <p:cNvSpPr/>
          <p:nvPr/>
        </p:nvSpPr>
        <p:spPr>
          <a:xfrm flipV="1">
            <a:off x="9257305" y="4890561"/>
            <a:ext cx="1831369" cy="111854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1" name="線">
            <a:extLst>
              <a:ext uri="{FF2B5EF4-FFF2-40B4-BE49-F238E27FC236}">
                <a16:creationId xmlns:a16="http://schemas.microsoft.com/office/drawing/2014/main" id="{153967E9-F8D3-4381-0BDA-AD27654A91D9}"/>
              </a:ext>
            </a:extLst>
          </p:cNvPr>
          <p:cNvSpPr/>
          <p:nvPr/>
        </p:nvSpPr>
        <p:spPr>
          <a:xfrm>
            <a:off x="3361956" y="4381721"/>
            <a:ext cx="1625144" cy="224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2" name="線">
            <a:extLst>
              <a:ext uri="{FF2B5EF4-FFF2-40B4-BE49-F238E27FC236}">
                <a16:creationId xmlns:a16="http://schemas.microsoft.com/office/drawing/2014/main" id="{8BB6CB27-CFB4-C672-98B3-65234FE6705B}"/>
              </a:ext>
            </a:extLst>
          </p:cNvPr>
          <p:cNvSpPr/>
          <p:nvPr/>
        </p:nvSpPr>
        <p:spPr>
          <a:xfrm>
            <a:off x="12308092" y="4482593"/>
            <a:ext cx="2136224" cy="224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13" name="v1">
            <a:extLst>
              <a:ext uri="{FF2B5EF4-FFF2-40B4-BE49-F238E27FC236}">
                <a16:creationId xmlns:a16="http://schemas.microsoft.com/office/drawing/2014/main" id="{B29AEE50-F164-02EF-FD04-DDD51F8F5C6F}"/>
              </a:ext>
            </a:extLst>
          </p:cNvPr>
          <p:cNvSpPr txBox="1"/>
          <p:nvPr/>
        </p:nvSpPr>
        <p:spPr>
          <a:xfrm>
            <a:off x="3931588" y="3388282"/>
            <a:ext cx="501740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/>
              <a:t>v</a:t>
            </a:r>
            <a:r>
              <a:rPr sz="4000" baseline="-5999"/>
              <a:t>1</a:t>
            </a:r>
          </a:p>
        </p:txBody>
      </p:sp>
      <p:sp>
        <p:nvSpPr>
          <p:cNvPr id="15" name="v2">
            <a:extLst>
              <a:ext uri="{FF2B5EF4-FFF2-40B4-BE49-F238E27FC236}">
                <a16:creationId xmlns:a16="http://schemas.microsoft.com/office/drawing/2014/main" id="{D331B105-0261-217D-AF01-FEAE5316C631}"/>
              </a:ext>
            </a:extLst>
          </p:cNvPr>
          <p:cNvSpPr txBox="1"/>
          <p:nvPr/>
        </p:nvSpPr>
        <p:spPr>
          <a:xfrm>
            <a:off x="6677520" y="2599247"/>
            <a:ext cx="501740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/>
              <a:t>v</a:t>
            </a:r>
            <a:r>
              <a:rPr sz="4000" baseline="-5999"/>
              <a:t>2</a:t>
            </a:r>
          </a:p>
        </p:txBody>
      </p:sp>
      <p:sp>
        <p:nvSpPr>
          <p:cNvPr id="16" name="v3">
            <a:extLst>
              <a:ext uri="{FF2B5EF4-FFF2-40B4-BE49-F238E27FC236}">
                <a16:creationId xmlns:a16="http://schemas.microsoft.com/office/drawing/2014/main" id="{EFBEC309-3018-303B-A610-76F918071F2B}"/>
              </a:ext>
            </a:extLst>
          </p:cNvPr>
          <p:cNvSpPr txBox="1"/>
          <p:nvPr/>
        </p:nvSpPr>
        <p:spPr>
          <a:xfrm>
            <a:off x="10587771" y="2599247"/>
            <a:ext cx="501740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/>
              <a:t>v</a:t>
            </a:r>
            <a:r>
              <a:rPr sz="4000" baseline="-5999"/>
              <a:t>3</a:t>
            </a:r>
          </a:p>
        </p:txBody>
      </p:sp>
      <p:sp>
        <p:nvSpPr>
          <p:cNvPr id="17" name="v5">
            <a:extLst>
              <a:ext uri="{FF2B5EF4-FFF2-40B4-BE49-F238E27FC236}">
                <a16:creationId xmlns:a16="http://schemas.microsoft.com/office/drawing/2014/main" id="{82F6715E-97BA-73A3-6650-F3479FFEBF51}"/>
              </a:ext>
            </a:extLst>
          </p:cNvPr>
          <p:cNvSpPr txBox="1"/>
          <p:nvPr/>
        </p:nvSpPr>
        <p:spPr>
          <a:xfrm>
            <a:off x="6677520" y="5340695"/>
            <a:ext cx="501740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/>
              <a:t>v</a:t>
            </a:r>
            <a:r>
              <a:rPr sz="4000" baseline="-5999"/>
              <a:t>5</a:t>
            </a:r>
          </a:p>
        </p:txBody>
      </p:sp>
      <p:sp>
        <p:nvSpPr>
          <p:cNvPr id="18" name="v6">
            <a:extLst>
              <a:ext uri="{FF2B5EF4-FFF2-40B4-BE49-F238E27FC236}">
                <a16:creationId xmlns:a16="http://schemas.microsoft.com/office/drawing/2014/main" id="{C618EFCD-1B57-B0E4-9438-A749C5166E2E}"/>
              </a:ext>
            </a:extLst>
          </p:cNvPr>
          <p:cNvSpPr txBox="1"/>
          <p:nvPr/>
        </p:nvSpPr>
        <p:spPr>
          <a:xfrm>
            <a:off x="10587771" y="5340695"/>
            <a:ext cx="501740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/>
              <a:t>v</a:t>
            </a:r>
            <a:r>
              <a:rPr sz="4000" baseline="-5999"/>
              <a:t>6</a:t>
            </a:r>
          </a:p>
        </p:txBody>
      </p:sp>
      <p:sp>
        <p:nvSpPr>
          <p:cNvPr id="19" name="v4">
            <a:extLst>
              <a:ext uri="{FF2B5EF4-FFF2-40B4-BE49-F238E27FC236}">
                <a16:creationId xmlns:a16="http://schemas.microsoft.com/office/drawing/2014/main" id="{93F54968-C4F2-ADE0-093E-9EF0ABE6FFEC}"/>
              </a:ext>
            </a:extLst>
          </p:cNvPr>
          <p:cNvSpPr txBox="1"/>
          <p:nvPr/>
        </p:nvSpPr>
        <p:spPr>
          <a:xfrm>
            <a:off x="13035661" y="3388282"/>
            <a:ext cx="501740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4000" dirty="0"/>
              <a:t>v</a:t>
            </a:r>
            <a:r>
              <a:rPr sz="4000" baseline="-5999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30298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F42EB-D895-AACB-B2ED-AA3D8532E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B8C347-AF86-3C68-FAA8-2BE963147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260" dirty="0"/>
              <a:t>濃度時間変化の行列表現</a:t>
            </a:r>
          </a:p>
        </p:txBody>
      </p:sp>
      <p:sp>
        <p:nvSpPr>
          <p:cNvPr id="3" name="線">
            <a:extLst>
              <a:ext uri="{FF2B5EF4-FFF2-40B4-BE49-F238E27FC236}">
                <a16:creationId xmlns:a16="http://schemas.microsoft.com/office/drawing/2014/main" id="{3634C30D-D042-8C7B-C5B8-2090C697F5BB}"/>
              </a:ext>
            </a:extLst>
          </p:cNvPr>
          <p:cNvSpPr/>
          <p:nvPr/>
        </p:nvSpPr>
        <p:spPr>
          <a:xfrm>
            <a:off x="5853906" y="4846637"/>
            <a:ext cx="1588" cy="72072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4" name="線">
            <a:extLst>
              <a:ext uri="{FF2B5EF4-FFF2-40B4-BE49-F238E27FC236}">
                <a16:creationId xmlns:a16="http://schemas.microsoft.com/office/drawing/2014/main" id="{1953B80C-3E4E-0652-06B9-A84F1F57E485}"/>
              </a:ext>
            </a:extLst>
          </p:cNvPr>
          <p:cNvSpPr/>
          <p:nvPr/>
        </p:nvSpPr>
        <p:spPr>
          <a:xfrm>
            <a:off x="9516268" y="4838701"/>
            <a:ext cx="1588" cy="72072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5" name="線">
            <a:extLst>
              <a:ext uri="{FF2B5EF4-FFF2-40B4-BE49-F238E27FC236}">
                <a16:creationId xmlns:a16="http://schemas.microsoft.com/office/drawing/2014/main" id="{D94F3F26-956E-5FE9-D925-79FA95E5C336}"/>
              </a:ext>
            </a:extLst>
          </p:cNvPr>
          <p:cNvSpPr/>
          <p:nvPr/>
        </p:nvSpPr>
        <p:spPr>
          <a:xfrm>
            <a:off x="12108656" y="4838701"/>
            <a:ext cx="1588" cy="72072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6" name="定常状態は Nv = 0 に相当する">
            <a:extLst>
              <a:ext uri="{FF2B5EF4-FFF2-40B4-BE49-F238E27FC236}">
                <a16:creationId xmlns:a16="http://schemas.microsoft.com/office/drawing/2014/main" id="{B6946CAB-8519-2660-EEBE-38CB0F1ADFE1}"/>
              </a:ext>
            </a:extLst>
          </p:cNvPr>
          <p:cNvSpPr txBox="1">
            <a:spLocks/>
          </p:cNvSpPr>
          <p:nvPr/>
        </p:nvSpPr>
        <p:spPr>
          <a:xfrm>
            <a:off x="4631531" y="7599384"/>
            <a:ext cx="11099800" cy="1847206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hangingPunct="1"/>
            <a:r>
              <a:rPr lang="ja-JP" altLang="en-US" sz="4000"/>
              <a:t>定常状態は </a:t>
            </a:r>
            <a:r>
              <a:rPr lang="en-US" altLang="ja-JP" sz="4000" b="1" dirty="0">
                <a:latin typeface="Times New Roman"/>
                <a:ea typeface="Times New Roman"/>
                <a:cs typeface="Times New Roman"/>
                <a:sym typeface="Times New Roman"/>
              </a:rPr>
              <a:t>Nv</a:t>
            </a:r>
            <a:r>
              <a:rPr lang="ja-JP" altLang="en-US" sz="4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ja-JP" sz="4000" dirty="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US" altLang="ja-JP" sz="4000" b="1" dirty="0">
                <a:latin typeface="Times New Roman"/>
                <a:ea typeface="Times New Roman"/>
                <a:cs typeface="Times New Roman"/>
                <a:sym typeface="Times New Roman"/>
              </a:rPr>
              <a:t>0 </a:t>
            </a:r>
            <a:r>
              <a:rPr lang="ja-JP" altLang="en-US" sz="4000"/>
              <a:t>に相当する</a:t>
            </a:r>
          </a:p>
        </p:txBody>
      </p:sp>
      <p:pic>
        <p:nvPicPr>
          <p:cNvPr id="7" name="droppedImage.pdf" descr="droppedImage.pdf">
            <a:extLst>
              <a:ext uri="{FF2B5EF4-FFF2-40B4-BE49-F238E27FC236}">
                <a16:creationId xmlns:a16="http://schemas.microsoft.com/office/drawing/2014/main" id="{88B0E5C8-54BE-8994-3097-5AA468BAB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531" y="2819400"/>
            <a:ext cx="8420100" cy="1663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droppedImage.pdf" descr="droppedImage.pdf">
            <a:extLst>
              <a:ext uri="{FF2B5EF4-FFF2-40B4-BE49-F238E27FC236}">
                <a16:creationId xmlns:a16="http://schemas.microsoft.com/office/drawing/2014/main" id="{13D2DAD0-499A-DCAF-FEA2-0DB10D1F5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331" y="5969000"/>
            <a:ext cx="177800" cy="342900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N">
            <a:extLst>
              <a:ext uri="{FF2B5EF4-FFF2-40B4-BE49-F238E27FC236}">
                <a16:creationId xmlns:a16="http://schemas.microsoft.com/office/drawing/2014/main" id="{77C22E12-C7D1-A128-FF59-D2B271CB12B1}"/>
              </a:ext>
            </a:extLst>
          </p:cNvPr>
          <p:cNvSpPr txBox="1"/>
          <p:nvPr/>
        </p:nvSpPr>
        <p:spPr>
          <a:xfrm>
            <a:off x="9250767" y="5726172"/>
            <a:ext cx="546625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8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N</a:t>
            </a:r>
          </a:p>
        </p:txBody>
      </p:sp>
      <p:sp>
        <p:nvSpPr>
          <p:cNvPr id="10" name="v">
            <a:extLst>
              <a:ext uri="{FF2B5EF4-FFF2-40B4-BE49-F238E27FC236}">
                <a16:creationId xmlns:a16="http://schemas.microsoft.com/office/drawing/2014/main" id="{5DA2EA66-7B2B-054F-71A3-9AE83AAC05B2}"/>
              </a:ext>
            </a:extLst>
          </p:cNvPr>
          <p:cNvSpPr txBox="1"/>
          <p:nvPr/>
        </p:nvSpPr>
        <p:spPr>
          <a:xfrm>
            <a:off x="11904514" y="5707122"/>
            <a:ext cx="410369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8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v</a:t>
            </a:r>
          </a:p>
        </p:txBody>
      </p:sp>
      <p:sp>
        <p:nvSpPr>
          <p:cNvPr id="11" name="=">
            <a:extLst>
              <a:ext uri="{FF2B5EF4-FFF2-40B4-BE49-F238E27FC236}">
                <a16:creationId xmlns:a16="http://schemas.microsoft.com/office/drawing/2014/main" id="{3DC4071E-02EC-9165-BB37-B6F9362F8611}"/>
              </a:ext>
            </a:extLst>
          </p:cNvPr>
          <p:cNvSpPr txBox="1"/>
          <p:nvPr/>
        </p:nvSpPr>
        <p:spPr>
          <a:xfrm>
            <a:off x="7134677" y="5732522"/>
            <a:ext cx="450443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046832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B5B7B-6AAB-163B-BF02-0C525F0A5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4ACEC2-8BD0-F4A2-521D-222AF8EF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260" dirty="0"/>
              <a:t>零空間 </a:t>
            </a:r>
            <a:r>
              <a:rPr kumimoji="1" lang="en-US" altLang="ja-JP" sz="6260" dirty="0"/>
              <a:t>(</a:t>
            </a:r>
            <a:r>
              <a:rPr kumimoji="1" lang="en-US" altLang="ja-JP" sz="6260" dirty="0" err="1"/>
              <a:t>Nullspace</a:t>
            </a:r>
            <a:r>
              <a:rPr kumimoji="1" lang="en-US" altLang="ja-JP" sz="6260" dirty="0"/>
              <a:t> </a:t>
            </a:r>
            <a:r>
              <a:rPr kumimoji="1" lang="ja-JP" altLang="en-US" sz="6260" dirty="0"/>
              <a:t>または </a:t>
            </a:r>
            <a:r>
              <a:rPr kumimoji="1" lang="en-US" altLang="ja-JP" sz="6260" dirty="0"/>
              <a:t>Kernel)</a:t>
            </a:r>
            <a:endParaRPr kumimoji="1" lang="ja-JP" altLang="en-US" sz="6260" dirty="0"/>
          </a:p>
        </p:txBody>
      </p:sp>
      <p:sp>
        <p:nvSpPr>
          <p:cNvPr id="3" name="行列Nの零空間とは…">
            <a:extLst>
              <a:ext uri="{FF2B5EF4-FFF2-40B4-BE49-F238E27FC236}">
                <a16:creationId xmlns:a16="http://schemas.microsoft.com/office/drawing/2014/main" id="{EFB4A639-B2DE-80CB-B1D6-D39E79FA6816}"/>
              </a:ext>
            </a:extLst>
          </p:cNvPr>
          <p:cNvSpPr txBox="1">
            <a:spLocks/>
          </p:cNvSpPr>
          <p:nvPr/>
        </p:nvSpPr>
        <p:spPr>
          <a:xfrm>
            <a:off x="1011622" y="1967396"/>
            <a:ext cx="14800185" cy="6286500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marL="293370" indent="-293370" defTabSz="385572" hangingPunct="1">
              <a:spcBef>
                <a:spcPts val="2700"/>
              </a:spcBef>
              <a:defRPr sz="2376"/>
            </a:pPr>
            <a:r>
              <a:rPr lang="ja-JP" altLang="en-US" sz="4000"/>
              <a:t>行列</a:t>
            </a:r>
            <a:r>
              <a:rPr lang="en-US" altLang="ja-JP" sz="4000" dirty="0"/>
              <a:t>N</a:t>
            </a:r>
            <a:r>
              <a:rPr lang="ja-JP" altLang="en-US" sz="4000"/>
              <a:t>の零空間とは                                                                                                                           </a:t>
            </a:r>
          </a:p>
          <a:p>
            <a:pPr marL="293370" indent="-293370" defTabSz="385572" hangingPunct="1">
              <a:spcBef>
                <a:spcPts val="2700"/>
              </a:spcBef>
              <a:defRPr sz="2376"/>
            </a:pPr>
            <a:endParaRPr lang="ja-JP" altLang="en-US" sz="4000"/>
          </a:p>
          <a:p>
            <a:pPr marL="293370" indent="-293370" defTabSz="385572" hangingPunct="1">
              <a:spcBef>
                <a:spcPts val="2700"/>
              </a:spcBef>
              <a:defRPr sz="2376"/>
            </a:pPr>
            <a:endParaRPr lang="ja-JP" altLang="en-US" sz="4000"/>
          </a:p>
          <a:p>
            <a:pPr marL="293370" indent="-293370" defTabSz="385572" hangingPunct="1">
              <a:spcBef>
                <a:spcPts val="2700"/>
              </a:spcBef>
              <a:defRPr sz="2376"/>
            </a:pPr>
            <a:r>
              <a:rPr lang="en-US" altLang="ja-JP" sz="4000" b="1" dirty="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ja-JP" altLang="en-US" sz="4000"/>
              <a:t>の列数 </a:t>
            </a:r>
            <a:r>
              <a:rPr lang="en-US" altLang="ja-JP" sz="4000" dirty="0"/>
              <a:t>= </a:t>
            </a:r>
            <a:r>
              <a:rPr lang="ja-JP" altLang="en-US" sz="4000"/>
              <a:t>反応の総数</a:t>
            </a:r>
            <a:r>
              <a:rPr lang="en-US" altLang="ja-JP" sz="4000" dirty="0"/>
              <a:t>(</a:t>
            </a:r>
            <a:r>
              <a:rPr lang="ja-JP" altLang="en-US" sz="4000"/>
              <a:t>すなわち </a:t>
            </a:r>
            <a:r>
              <a:rPr lang="en-US" altLang="ja-JP" sz="4000" b="1" dirty="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ja-JP" altLang="en-US" sz="4000"/>
              <a:t> の列数</a:t>
            </a:r>
            <a:r>
              <a:rPr lang="en-US" altLang="ja-JP" sz="4000" dirty="0"/>
              <a:t>) – rank(</a:t>
            </a:r>
            <a:r>
              <a:rPr lang="en-US" altLang="ja-JP" sz="4000" b="1" dirty="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ja-JP" sz="4000" dirty="0"/>
              <a:t>)</a:t>
            </a:r>
          </a:p>
          <a:p>
            <a:pPr marL="293370" indent="-293370" defTabSz="385572" hangingPunct="1">
              <a:spcBef>
                <a:spcPts val="2700"/>
              </a:spcBef>
              <a:defRPr sz="2376"/>
            </a:pPr>
            <a:endParaRPr lang="en-US" altLang="ja-JP" sz="4000" dirty="0"/>
          </a:p>
          <a:p>
            <a:pPr marL="293370" indent="-293370" defTabSz="385572" hangingPunct="1">
              <a:spcBef>
                <a:spcPts val="2700"/>
              </a:spcBef>
              <a:defRPr sz="2376"/>
            </a:pPr>
            <a:r>
              <a:rPr lang="ja-JP" altLang="en-US" sz="4000"/>
              <a:t>定常状態は </a:t>
            </a:r>
            <a:r>
              <a:rPr lang="en-US" altLang="ja-JP" sz="4000" b="1" dirty="0">
                <a:latin typeface="Times New Roman"/>
                <a:ea typeface="Times New Roman"/>
                <a:cs typeface="Times New Roman"/>
                <a:sym typeface="Times New Roman"/>
              </a:rPr>
              <a:t>Nv</a:t>
            </a:r>
            <a:r>
              <a:rPr lang="ja-JP" altLang="en-US" sz="4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ja-JP" sz="4000" dirty="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US" altLang="ja-JP" sz="4000" b="1" dirty="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</a:p>
          <a:p>
            <a:pPr marL="586740" lvl="1" indent="-293370" defTabSz="385572" hangingPunct="1">
              <a:spcBef>
                <a:spcPts val="2700"/>
              </a:spcBef>
              <a:defRPr sz="2376"/>
            </a:pPr>
            <a:r>
              <a:rPr lang="en-US" altLang="ja-JP" sz="3200" b="1" dirty="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ja-JP" altLang="en-US" sz="3200"/>
              <a:t>の列要素は定常状態になる反応速度</a:t>
            </a:r>
          </a:p>
          <a:p>
            <a:pPr marL="603038" lvl="1" indent="-309668" defTabSz="385572" hangingPunct="1">
              <a:spcBef>
                <a:spcPts val="2700"/>
              </a:spcBef>
              <a:defRPr sz="2376"/>
            </a:pPr>
            <a:r>
              <a:rPr lang="en-US" altLang="ja-JP" sz="3200" b="1" dirty="0">
                <a:latin typeface="Times New Roman"/>
                <a:ea typeface="Times New Roman"/>
                <a:cs typeface="Times New Roman"/>
                <a:sym typeface="Times New Roman"/>
              </a:rPr>
              <a:t>Nv</a:t>
            </a:r>
            <a:r>
              <a:rPr lang="ja-JP" altLang="en-US" sz="3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ja-JP" sz="3200" dirty="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US" altLang="ja-JP" sz="3200" b="1" dirty="0">
                <a:latin typeface="Times New Roman"/>
                <a:ea typeface="Times New Roman"/>
                <a:cs typeface="Times New Roman"/>
                <a:sym typeface="Times New Roman"/>
              </a:rPr>
              <a:t>0 </a:t>
            </a:r>
            <a:r>
              <a:rPr lang="ja-JP" altLang="en-US" sz="3200"/>
              <a:t>を満たす流束 </a:t>
            </a:r>
            <a:r>
              <a:rPr lang="en-US" altLang="ja-JP" sz="3200" b="1" dirty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ja-JP" altLang="en-US" sz="3200"/>
              <a:t> は </a:t>
            </a:r>
            <a:r>
              <a:rPr lang="en-US" altLang="ja-JP" sz="3200" b="1" dirty="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ja-JP" altLang="en-US" sz="3200"/>
              <a:t> の列要素の線形結合である</a:t>
            </a:r>
          </a:p>
        </p:txBody>
      </p:sp>
      <p:sp>
        <p:nvSpPr>
          <p:cNvPr id="4" name="を満たすKのこと">
            <a:extLst>
              <a:ext uri="{FF2B5EF4-FFF2-40B4-BE49-F238E27FC236}">
                <a16:creationId xmlns:a16="http://schemas.microsoft.com/office/drawing/2014/main" id="{E8CC307B-A175-C9EE-3561-3AEB0F1A52B7}"/>
              </a:ext>
            </a:extLst>
          </p:cNvPr>
          <p:cNvSpPr txBox="1"/>
          <p:nvPr/>
        </p:nvSpPr>
        <p:spPr>
          <a:xfrm>
            <a:off x="10428253" y="3769381"/>
            <a:ext cx="3263900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spcBef>
                <a:spcPts val="2400"/>
              </a:spcBef>
              <a:defRPr sz="2800"/>
            </a:pPr>
            <a:r>
              <a:rPr sz="2800" dirty="0" err="1"/>
              <a:t>を満たす</a:t>
            </a:r>
            <a:r>
              <a:rPr sz="2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sz="2800" dirty="0" err="1"/>
              <a:t>のこと</a:t>
            </a:r>
            <a:endParaRPr sz="2800" dirty="0"/>
          </a:p>
        </p:txBody>
      </p:sp>
      <p:sp>
        <p:nvSpPr>
          <p:cNvPr id="5" name="NK=0">
            <a:extLst>
              <a:ext uri="{FF2B5EF4-FFF2-40B4-BE49-F238E27FC236}">
                <a16:creationId xmlns:a16="http://schemas.microsoft.com/office/drawing/2014/main" id="{355C3A59-645F-BA36-C91B-989B1B24403D}"/>
              </a:ext>
            </a:extLst>
          </p:cNvPr>
          <p:cNvSpPr txBox="1"/>
          <p:nvPr/>
        </p:nvSpPr>
        <p:spPr>
          <a:xfrm>
            <a:off x="6460485" y="2979421"/>
            <a:ext cx="3258905" cy="157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9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9600" b="1" dirty="0"/>
              <a:t>NK</a:t>
            </a:r>
            <a:r>
              <a:rPr sz="9600" dirty="0"/>
              <a:t>=</a:t>
            </a:r>
            <a:r>
              <a:rPr sz="9600" b="1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942966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381FD-54D9-6207-ED1A-5418A2FB2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7BBFA4-B56C-4AEB-6BF2-600364317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260" dirty="0"/>
              <a:t>演習</a:t>
            </a:r>
            <a:r>
              <a:rPr kumimoji="1" lang="en-US" altLang="ja-JP" sz="6260" dirty="0"/>
              <a:t>2</a:t>
            </a:r>
            <a:endParaRPr kumimoji="1" lang="ja-JP" altLang="en-US" sz="626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9A972553-23E9-F074-BDDF-62CF3408D907}"/>
              </a:ext>
            </a:extLst>
          </p:cNvPr>
          <p:cNvGrpSpPr>
            <a:grpSpLocks noChangeAspect="1"/>
          </p:cNvGrpSpPr>
          <p:nvPr/>
        </p:nvGrpSpPr>
        <p:grpSpPr>
          <a:xfrm>
            <a:off x="3283742" y="2288130"/>
            <a:ext cx="9344382" cy="3228432"/>
            <a:chOff x="3283743" y="3310655"/>
            <a:chExt cx="6384785" cy="2205908"/>
          </a:xfrm>
        </p:grpSpPr>
        <p:sp>
          <p:nvSpPr>
            <p:cNvPr id="316" name="線"/>
            <p:cNvSpPr/>
            <p:nvPr/>
          </p:nvSpPr>
          <p:spPr>
            <a:xfrm>
              <a:off x="3283743" y="4076700"/>
              <a:ext cx="936626" cy="1588"/>
            </a:xfrm>
            <a:prstGeom prst="line">
              <a:avLst/>
            </a:prstGeom>
            <a:ln w="25400">
              <a:solidFill>
                <a:srgbClr val="000000"/>
              </a:solidFill>
              <a:miter lim="400000"/>
              <a:tailEnd type="triangle"/>
            </a:ln>
          </p:spPr>
          <p:txBody>
            <a:bodyPr lIns="50800" tIns="50800" rIns="50800" bIns="50800" anchor="ctr"/>
            <a:lstStyle/>
            <a:p>
              <a:pPr>
                <a:defRPr sz="2400"/>
              </a:pPr>
              <a:endParaRPr sz="2400"/>
            </a:p>
          </p:txBody>
        </p:sp>
        <p:sp>
          <p:nvSpPr>
            <p:cNvPr id="317" name="線"/>
            <p:cNvSpPr/>
            <p:nvPr/>
          </p:nvSpPr>
          <p:spPr>
            <a:xfrm flipH="1">
              <a:off x="5155407" y="4076700"/>
              <a:ext cx="936625" cy="1588"/>
            </a:xfrm>
            <a:prstGeom prst="line">
              <a:avLst/>
            </a:prstGeom>
            <a:ln w="25400">
              <a:solidFill>
                <a:srgbClr val="000000"/>
              </a:solidFill>
              <a:miter lim="400000"/>
              <a:tailEnd type="triangle"/>
            </a:ln>
          </p:spPr>
          <p:txBody>
            <a:bodyPr lIns="50800" tIns="50800" rIns="50800" bIns="50800" anchor="ctr"/>
            <a:lstStyle/>
            <a:p>
              <a:pPr>
                <a:defRPr sz="2400"/>
              </a:pPr>
              <a:endParaRPr sz="2400"/>
            </a:p>
          </p:txBody>
        </p:sp>
        <p:sp>
          <p:nvSpPr>
            <p:cNvPr id="318" name="線"/>
            <p:cNvSpPr/>
            <p:nvPr/>
          </p:nvSpPr>
          <p:spPr>
            <a:xfrm flipV="1">
              <a:off x="4723606" y="4579937"/>
              <a:ext cx="1588" cy="936626"/>
            </a:xfrm>
            <a:prstGeom prst="line">
              <a:avLst/>
            </a:prstGeom>
            <a:ln w="25400">
              <a:solidFill>
                <a:srgbClr val="000000"/>
              </a:solidFill>
              <a:miter lim="400000"/>
              <a:tailEnd type="triangle"/>
            </a:ln>
          </p:spPr>
          <p:txBody>
            <a:bodyPr lIns="50800" tIns="50800" rIns="50800" bIns="50800" anchor="ctr"/>
            <a:lstStyle/>
            <a:p>
              <a:pPr>
                <a:defRPr sz="2400"/>
              </a:pPr>
              <a:endParaRPr sz="2400"/>
            </a:p>
          </p:txBody>
        </p:sp>
        <p:sp>
          <p:nvSpPr>
            <p:cNvPr id="319" name="S"/>
            <p:cNvSpPr txBox="1"/>
            <p:nvPr/>
          </p:nvSpPr>
          <p:spPr>
            <a:xfrm>
              <a:off x="4530885" y="3805170"/>
              <a:ext cx="304491" cy="57480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 sz="4800" dirty="0"/>
                <a:t>S</a:t>
              </a:r>
            </a:p>
          </p:txBody>
        </p:sp>
        <p:sp>
          <p:nvSpPr>
            <p:cNvPr id="320" name="v1"/>
            <p:cNvSpPr txBox="1"/>
            <p:nvPr/>
          </p:nvSpPr>
          <p:spPr>
            <a:xfrm>
              <a:off x="3583877" y="3310655"/>
              <a:ext cx="342827" cy="49069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>
                <a:defRPr i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rPr sz="4000"/>
                <a:t>v</a:t>
              </a:r>
              <a:r>
                <a:rPr sz="4000" baseline="-5999"/>
                <a:t>1</a:t>
              </a:r>
            </a:p>
          </p:txBody>
        </p:sp>
        <p:sp>
          <p:nvSpPr>
            <p:cNvPr id="321" name="v2"/>
            <p:cNvSpPr txBox="1"/>
            <p:nvPr/>
          </p:nvSpPr>
          <p:spPr>
            <a:xfrm>
              <a:off x="5450776" y="3312242"/>
              <a:ext cx="342827" cy="49069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>
                <a:defRPr i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rPr sz="4000"/>
                <a:t>v</a:t>
              </a:r>
              <a:r>
                <a:rPr sz="4000" baseline="-5999"/>
                <a:t>2</a:t>
              </a:r>
            </a:p>
          </p:txBody>
        </p:sp>
        <p:sp>
          <p:nvSpPr>
            <p:cNvPr id="322" name="v3"/>
            <p:cNvSpPr txBox="1"/>
            <p:nvPr/>
          </p:nvSpPr>
          <p:spPr>
            <a:xfrm>
              <a:off x="5293614" y="4814017"/>
              <a:ext cx="342827" cy="49069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>
                <a:defRPr i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rPr sz="4000" dirty="0"/>
                <a:t>v</a:t>
              </a:r>
              <a:r>
                <a:rPr sz="4000" baseline="-5999" dirty="0"/>
                <a:t>3</a:t>
              </a:r>
            </a:p>
          </p:txBody>
        </p:sp>
        <p:sp>
          <p:nvSpPr>
            <p:cNvPr id="323" name="N = (1  1  1)"/>
            <p:cNvSpPr txBox="1"/>
            <p:nvPr/>
          </p:nvSpPr>
          <p:spPr>
            <a:xfrm>
              <a:off x="7862391" y="3891680"/>
              <a:ext cx="1806137" cy="49069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rPr sz="4000" b="1" dirty="0"/>
                <a:t>N</a:t>
              </a:r>
              <a:r>
                <a:rPr sz="4000" dirty="0"/>
                <a:t> = (1  1  1)</a:t>
              </a:r>
            </a:p>
          </p:txBody>
        </p:sp>
      </p:grpSp>
      <p:sp>
        <p:nvSpPr>
          <p:cNvPr id="324" name="図の経路の零空間を求めなさい。"/>
          <p:cNvSpPr txBox="1">
            <a:spLocks/>
          </p:cNvSpPr>
          <p:nvPr/>
        </p:nvSpPr>
        <p:spPr>
          <a:xfrm>
            <a:off x="3120231" y="6628258"/>
            <a:ext cx="11099800" cy="2261742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hangingPunct="1"/>
            <a:r>
              <a:rPr lang="ja-JP" altLang="en-US"/>
              <a:t>図の経路の零空間を求めなさい。</a:t>
            </a:r>
          </a:p>
        </p:txBody>
      </p:sp>
      <p:sp>
        <p:nvSpPr>
          <p:cNvPr id="325" name="ヒント：Kの列数 = 反応の総数(すなわち N の列数) – rank(N)"/>
          <p:cNvSpPr txBox="1"/>
          <p:nvPr/>
        </p:nvSpPr>
        <p:spPr>
          <a:xfrm>
            <a:off x="3101429" y="7900445"/>
            <a:ext cx="12038552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444500" indent="-444500" algn="l">
              <a:spcBef>
                <a:spcPts val="4200"/>
              </a:spcBef>
              <a:buSzPct val="75000"/>
              <a:buChar char="•"/>
              <a:defRPr sz="2400"/>
            </a:pPr>
            <a:r>
              <a:rPr sz="3200" dirty="0" err="1"/>
              <a:t>ヒント</a:t>
            </a:r>
            <a:r>
              <a:rPr sz="3200" b="1" dirty="0" err="1">
                <a:latin typeface="Times New Roman"/>
                <a:ea typeface="Times New Roman"/>
                <a:cs typeface="Times New Roman"/>
                <a:sym typeface="Times New Roman"/>
              </a:rPr>
              <a:t>：K</a:t>
            </a:r>
            <a:r>
              <a:rPr sz="3200" dirty="0" err="1"/>
              <a:t>の列数</a:t>
            </a:r>
            <a:r>
              <a:rPr sz="3200" dirty="0"/>
              <a:t> = </a:t>
            </a:r>
            <a:r>
              <a:rPr sz="3200" dirty="0" err="1"/>
              <a:t>反応の総数</a:t>
            </a:r>
            <a:r>
              <a:rPr sz="3200" dirty="0"/>
              <a:t>(</a:t>
            </a:r>
            <a:r>
              <a:rPr sz="3200" dirty="0" err="1"/>
              <a:t>すなわち</a:t>
            </a:r>
            <a:r>
              <a:rPr sz="3200" dirty="0"/>
              <a:t> </a:t>
            </a:r>
            <a:r>
              <a:rPr sz="3200" b="1" dirty="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sz="3200" dirty="0"/>
              <a:t> </a:t>
            </a:r>
            <a:r>
              <a:rPr sz="3200" dirty="0" err="1"/>
              <a:t>の列数</a:t>
            </a:r>
            <a:r>
              <a:rPr sz="3200" dirty="0"/>
              <a:t>) – rank(</a:t>
            </a:r>
            <a:r>
              <a:rPr sz="3200" b="1" dirty="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63405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031DA-1A96-DC40-7D60-818521E42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B38EF8-D643-1724-39E2-8C34BD043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260" dirty="0"/>
              <a:t>代謝経路上の流束分布を求めたい</a:t>
            </a:r>
          </a:p>
        </p:txBody>
      </p:sp>
      <p:sp>
        <p:nvSpPr>
          <p:cNvPr id="3" name="解は N の零空間 (K) に存在…">
            <a:extLst>
              <a:ext uri="{FF2B5EF4-FFF2-40B4-BE49-F238E27FC236}">
                <a16:creationId xmlns:a16="http://schemas.microsoft.com/office/drawing/2014/main" id="{3A666D0C-714C-D38F-A875-BBC86CB0F2FE}"/>
              </a:ext>
            </a:extLst>
          </p:cNvPr>
          <p:cNvSpPr txBox="1">
            <a:spLocks/>
          </p:cNvSpPr>
          <p:nvPr/>
        </p:nvSpPr>
        <p:spPr>
          <a:xfrm>
            <a:off x="1270039" y="2603500"/>
            <a:ext cx="14800185" cy="6286500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marL="346709" indent="-346709" defTabSz="455675" hangingPunct="1">
              <a:spcBef>
                <a:spcPts val="3200"/>
              </a:spcBef>
              <a:defRPr sz="2807"/>
            </a:pPr>
            <a:endParaRPr lang="ja-JP" altLang="en-US" sz="2807"/>
          </a:p>
          <a:p>
            <a:pPr marL="346709" indent="-346709" defTabSz="455675" hangingPunct="1">
              <a:spcBef>
                <a:spcPts val="3200"/>
              </a:spcBef>
              <a:defRPr sz="2807"/>
            </a:pPr>
            <a:endParaRPr lang="ja-JP" altLang="en-US" sz="2807"/>
          </a:p>
          <a:p>
            <a:pPr marL="346709" indent="-346709" defTabSz="455675" hangingPunct="1">
              <a:spcBef>
                <a:spcPts val="3200"/>
              </a:spcBef>
              <a:defRPr sz="2807"/>
            </a:pPr>
            <a:endParaRPr lang="ja-JP" altLang="en-US" sz="2807"/>
          </a:p>
          <a:p>
            <a:pPr marL="346709" indent="-346709" defTabSz="455675" hangingPunct="1">
              <a:spcBef>
                <a:spcPts val="3200"/>
              </a:spcBef>
              <a:defRPr sz="2807"/>
            </a:pPr>
            <a:r>
              <a:rPr lang="ja-JP" altLang="en-US" sz="4000"/>
              <a:t>解は </a:t>
            </a:r>
            <a:r>
              <a:rPr lang="en-US" altLang="ja-JP" sz="4000" b="1" dirty="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ja-JP" altLang="en-US" sz="4000"/>
              <a:t> の零空間 </a:t>
            </a:r>
            <a:r>
              <a:rPr lang="en-US" altLang="ja-JP" sz="40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altLang="ja-JP" sz="4000" b="1" dirty="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altLang="ja-JP" sz="40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ja-JP" altLang="en-US" sz="4000"/>
              <a:t> に存在</a:t>
            </a:r>
          </a:p>
          <a:p>
            <a:pPr marL="346709" indent="-346709" defTabSz="455675" hangingPunct="1">
              <a:spcBef>
                <a:spcPts val="3200"/>
              </a:spcBef>
              <a:defRPr sz="2807"/>
            </a:pPr>
            <a:r>
              <a:rPr lang="ja-JP" altLang="en-US" sz="4000"/>
              <a:t>問題点</a:t>
            </a:r>
            <a:r>
              <a:rPr lang="en-US" altLang="ja-JP" sz="4000" dirty="0"/>
              <a:t>: </a:t>
            </a:r>
            <a:r>
              <a:rPr lang="ja-JP" altLang="en-US" sz="4000"/>
              <a:t>解が一意に定まらない</a:t>
            </a:r>
          </a:p>
          <a:p>
            <a:pPr marL="693419" lvl="1" indent="-346709" defTabSz="455675" hangingPunct="1">
              <a:spcBef>
                <a:spcPts val="3200"/>
              </a:spcBef>
              <a:defRPr sz="2807"/>
            </a:pPr>
            <a:r>
              <a:rPr lang="en-US" altLang="ja-JP" sz="3200" dirty="0"/>
              <a:t>Underdetermined  (#</a:t>
            </a:r>
            <a:r>
              <a:rPr lang="ja-JP" altLang="en-US" sz="3200"/>
              <a:t>変数 </a:t>
            </a:r>
            <a:r>
              <a:rPr lang="en-US" altLang="ja-JP" sz="3200" dirty="0"/>
              <a:t>&gt; #</a:t>
            </a:r>
            <a:r>
              <a:rPr lang="ja-JP" altLang="en-US" sz="3200"/>
              <a:t>方程式</a:t>
            </a:r>
            <a:r>
              <a:rPr lang="en-US" altLang="ja-JP" sz="3200" dirty="0"/>
              <a:t>)</a:t>
            </a:r>
            <a:r>
              <a:rPr lang="ja-JP" altLang="en-US" sz="3200"/>
              <a:t>　解が一意に定まらない</a:t>
            </a:r>
            <a:r>
              <a:rPr lang="en-US" altLang="ja-JP" sz="3200" dirty="0"/>
              <a:t>Overdetermined    (#</a:t>
            </a:r>
            <a:r>
              <a:rPr lang="ja-JP" altLang="en-US" sz="3200"/>
              <a:t>変数 </a:t>
            </a:r>
            <a:r>
              <a:rPr lang="en-US" altLang="ja-JP" sz="3200" dirty="0"/>
              <a:t>&lt; #</a:t>
            </a:r>
            <a:r>
              <a:rPr lang="ja-JP" altLang="en-US" sz="3200"/>
              <a:t>方程式</a:t>
            </a:r>
            <a:r>
              <a:rPr lang="en-US" altLang="ja-JP" sz="3200" dirty="0"/>
              <a:t>)</a:t>
            </a:r>
            <a:r>
              <a:rPr lang="ja-JP" altLang="en-US" sz="3200"/>
              <a:t>　解が定まる保証が無い </a:t>
            </a:r>
          </a:p>
        </p:txBody>
      </p:sp>
      <p:sp>
        <p:nvSpPr>
          <p:cNvPr id="4" name="Nvss = 0">
            <a:extLst>
              <a:ext uri="{FF2B5EF4-FFF2-40B4-BE49-F238E27FC236}">
                <a16:creationId xmlns:a16="http://schemas.microsoft.com/office/drawing/2014/main" id="{49D66E21-3257-634F-686A-9A439A978936}"/>
              </a:ext>
            </a:extLst>
          </p:cNvPr>
          <p:cNvSpPr txBox="1"/>
          <p:nvPr/>
        </p:nvSpPr>
        <p:spPr>
          <a:xfrm>
            <a:off x="6867072" y="2918440"/>
            <a:ext cx="4171014" cy="157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9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9600" b="1"/>
              <a:t>Nv</a:t>
            </a:r>
            <a:r>
              <a:rPr sz="9600" b="1" baseline="-5999"/>
              <a:t>ss</a:t>
            </a:r>
            <a:r>
              <a:rPr sz="9600"/>
              <a:t> = </a:t>
            </a:r>
            <a:r>
              <a:rPr sz="9600" b="1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860891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F337A-C748-4C11-D3BC-223DEA133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03CA34-85C8-ADC6-D9D8-AE7F271A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260" dirty="0"/>
              <a:t>解の求め方 </a:t>
            </a:r>
            <a:r>
              <a:rPr kumimoji="1" lang="en-US" altLang="ja-JP" sz="6260" dirty="0"/>
              <a:t>(Overdetermined)</a:t>
            </a:r>
            <a:endParaRPr kumimoji="1" lang="ja-JP" altLang="en-US" sz="6260" dirty="0"/>
          </a:p>
        </p:txBody>
      </p:sp>
      <p:sp>
        <p:nvSpPr>
          <p:cNvPr id="346" name="細胞と外界との物質のやりとりの流束は計測可能…"/>
          <p:cNvSpPr txBox="1">
            <a:spLocks/>
          </p:cNvSpPr>
          <p:nvPr/>
        </p:nvSpPr>
        <p:spPr>
          <a:xfrm>
            <a:off x="455856" y="1952793"/>
            <a:ext cx="12325211" cy="6286500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marL="275590" indent="-275590" defTabSz="362204" hangingPunct="1">
              <a:spcBef>
                <a:spcPts val="2600"/>
              </a:spcBef>
              <a:defRPr sz="2232"/>
            </a:pPr>
            <a:r>
              <a:rPr lang="ja-JP" altLang="en-US" sz="4000"/>
              <a:t>細胞と外界との物質のやりとりの流束は計測可能</a:t>
            </a:r>
          </a:p>
          <a:p>
            <a:pPr marL="551180" lvl="1" indent="-275590" defTabSz="362204" hangingPunct="1">
              <a:spcBef>
                <a:spcPts val="2600"/>
              </a:spcBef>
              <a:defRPr sz="2232"/>
            </a:pPr>
            <a:r>
              <a:rPr lang="en-US" altLang="ja-JP" sz="4000" dirty="0"/>
              <a:t>Exchange flux </a:t>
            </a:r>
            <a:r>
              <a:rPr lang="ja-JP" altLang="en-US" sz="4000"/>
              <a:t>（右図青色矢印）</a:t>
            </a:r>
          </a:p>
          <a:p>
            <a:pPr marL="551180" lvl="1" indent="-275590" defTabSz="362204" hangingPunct="1">
              <a:spcBef>
                <a:spcPts val="2600"/>
              </a:spcBef>
              <a:defRPr sz="2232"/>
            </a:pPr>
            <a:endParaRPr lang="ja-JP" altLang="en-US" sz="4000"/>
          </a:p>
          <a:p>
            <a:pPr marL="275590" indent="-275590" defTabSz="362204" hangingPunct="1">
              <a:spcBef>
                <a:spcPts val="2600"/>
              </a:spcBef>
              <a:defRPr sz="2232"/>
            </a:pPr>
            <a:r>
              <a:rPr lang="ja-JP" altLang="en-US" sz="4000"/>
              <a:t>式変形</a:t>
            </a:r>
          </a:p>
          <a:p>
            <a:pPr marL="551180" lvl="1" indent="-275590" defTabSz="362204" hangingPunct="1">
              <a:spcBef>
                <a:spcPts val="2600"/>
              </a:spcBef>
              <a:defRPr sz="2232"/>
            </a:pPr>
            <a:r>
              <a:rPr lang="en-US" altLang="ja-JP" sz="3200" b="1" dirty="0">
                <a:latin typeface="Times New Roman"/>
                <a:ea typeface="Times New Roman"/>
                <a:cs typeface="Times New Roman"/>
                <a:sym typeface="Times New Roman"/>
              </a:rPr>
              <a:t>Nv</a:t>
            </a:r>
            <a:r>
              <a:rPr lang="ja-JP" altLang="en-US" sz="3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ja-JP" sz="3200" dirty="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US" altLang="ja-JP" sz="3200" b="1" dirty="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ja-JP" altLang="en-US" sz="3200"/>
              <a:t> → </a:t>
            </a:r>
            <a:r>
              <a:rPr lang="en-US" altLang="ja-JP" sz="3200" b="1" dirty="0">
                <a:latin typeface="Times New Roman"/>
                <a:ea typeface="Times New Roman"/>
                <a:cs typeface="Times New Roman"/>
                <a:sym typeface="Times New Roman"/>
              </a:rPr>
              <a:t>Nv</a:t>
            </a:r>
            <a:r>
              <a:rPr lang="ja-JP" altLang="en-US" sz="3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ja-JP" sz="3200" dirty="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US" altLang="ja-JP" sz="3200" b="1" dirty="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</a:p>
          <a:p>
            <a:pPr marL="275590" indent="-275590" defTabSz="362204" hangingPunct="1">
              <a:spcBef>
                <a:spcPts val="2600"/>
              </a:spcBef>
              <a:defRPr sz="2232"/>
            </a:pPr>
            <a:r>
              <a:rPr lang="en-US" altLang="ja-JP" sz="4000" dirty="0"/>
              <a:t>Moore-Penrose</a:t>
            </a:r>
            <a:r>
              <a:rPr lang="ja-JP" altLang="en-US" sz="4000"/>
              <a:t>の一般逆行列</a:t>
            </a:r>
          </a:p>
          <a:p>
            <a:pPr marL="551180" lvl="1" indent="-275590" defTabSz="362204" hangingPunct="1">
              <a:spcBef>
                <a:spcPts val="2600"/>
              </a:spcBef>
              <a:defRPr sz="2232"/>
            </a:pPr>
            <a:r>
              <a:rPr lang="ja-JP" altLang="en-US" sz="3200"/>
              <a:t>最小自乗誤差解を与える（下式の </a:t>
            </a:r>
            <a:r>
              <a:rPr lang="en-US" altLang="ja-JP" sz="3200" b="1" dirty="0" err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altLang="ja-JP" sz="3200" baseline="-5999" dirty="0" err="1"/>
              <a:t>LS</a:t>
            </a:r>
            <a:r>
              <a:rPr lang="ja-JP" altLang="en-US" sz="3200"/>
              <a:t>）</a:t>
            </a:r>
          </a:p>
          <a:p>
            <a:pPr marL="551180" lvl="1" indent="-275590" defTabSz="362204" hangingPunct="1">
              <a:spcBef>
                <a:spcPts val="2600"/>
              </a:spcBef>
              <a:defRPr sz="2232"/>
            </a:pPr>
            <a:r>
              <a:rPr lang="en-US" altLang="ja-JP" sz="4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altLang="ja-JP" sz="4000" baseline="-5999" dirty="0" err="1"/>
              <a:t>LS</a:t>
            </a:r>
            <a:r>
              <a:rPr lang="ja-JP" altLang="en-US" sz="4000"/>
              <a:t> </a:t>
            </a:r>
            <a:r>
              <a:rPr lang="en-US" altLang="ja-JP" sz="4000" dirty="0"/>
              <a:t>= </a:t>
            </a:r>
            <a:r>
              <a:rPr lang="en-US" altLang="ja-JP" sz="4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ja-JP" sz="4000" baseline="31999" dirty="0" err="1"/>
              <a:t>#</a:t>
            </a:r>
            <a:r>
              <a:rPr lang="en-US" altLang="ja-JP" sz="4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-US" altLang="ja-JP" sz="4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55" name="グループ"/>
          <p:cNvGrpSpPr/>
          <p:nvPr/>
        </p:nvGrpSpPr>
        <p:grpSpPr>
          <a:xfrm>
            <a:off x="11324984" y="3028615"/>
            <a:ext cx="4697772" cy="1753591"/>
            <a:chOff x="0" y="0"/>
            <a:chExt cx="4697770" cy="1753589"/>
          </a:xfrm>
        </p:grpSpPr>
        <p:sp>
          <p:nvSpPr>
            <p:cNvPr id="347" name="角丸四角形"/>
            <p:cNvSpPr/>
            <p:nvPr/>
          </p:nvSpPr>
          <p:spPr>
            <a:xfrm>
              <a:off x="469900" y="0"/>
              <a:ext cx="3644900" cy="1384300"/>
            </a:xfrm>
            <a:prstGeom prst="roundRect">
              <a:avLst>
                <a:gd name="adj" fmla="val 17355"/>
              </a:avLst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2400"/>
            </a:p>
          </p:txBody>
        </p:sp>
        <p:sp>
          <p:nvSpPr>
            <p:cNvPr id="348" name="線"/>
            <p:cNvSpPr/>
            <p:nvPr/>
          </p:nvSpPr>
          <p:spPr>
            <a:xfrm>
              <a:off x="0" y="342900"/>
              <a:ext cx="1040171" cy="1345"/>
            </a:xfrm>
            <a:prstGeom prst="line">
              <a:avLst/>
            </a:prstGeom>
            <a:noFill/>
            <a:ln w="38100" cap="flat">
              <a:solidFill>
                <a:srgbClr val="7A81FF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  <a:endParaRPr sz="2400"/>
            </a:p>
          </p:txBody>
        </p:sp>
        <p:sp>
          <p:nvSpPr>
            <p:cNvPr id="349" name="線"/>
            <p:cNvSpPr/>
            <p:nvPr/>
          </p:nvSpPr>
          <p:spPr>
            <a:xfrm>
              <a:off x="3657600" y="342900"/>
              <a:ext cx="1040171" cy="1345"/>
            </a:xfrm>
            <a:prstGeom prst="line">
              <a:avLst/>
            </a:prstGeom>
            <a:noFill/>
            <a:ln w="38100" cap="flat">
              <a:solidFill>
                <a:srgbClr val="7A81FF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  <a:endParaRPr sz="2400"/>
            </a:p>
          </p:txBody>
        </p:sp>
        <p:sp>
          <p:nvSpPr>
            <p:cNvPr id="350" name="線"/>
            <p:cNvSpPr/>
            <p:nvPr/>
          </p:nvSpPr>
          <p:spPr>
            <a:xfrm>
              <a:off x="1257300" y="342900"/>
              <a:ext cx="1040171" cy="134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  <a:endParaRPr sz="2400"/>
            </a:p>
          </p:txBody>
        </p:sp>
        <p:sp>
          <p:nvSpPr>
            <p:cNvPr id="351" name="線"/>
            <p:cNvSpPr/>
            <p:nvPr/>
          </p:nvSpPr>
          <p:spPr>
            <a:xfrm>
              <a:off x="1193800" y="469900"/>
              <a:ext cx="1042176" cy="53393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  <a:endParaRPr sz="2400"/>
            </a:p>
          </p:txBody>
        </p:sp>
        <p:sp>
          <p:nvSpPr>
            <p:cNvPr id="352" name="線"/>
            <p:cNvSpPr/>
            <p:nvPr/>
          </p:nvSpPr>
          <p:spPr>
            <a:xfrm>
              <a:off x="2451100" y="406400"/>
              <a:ext cx="1459" cy="61059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  <a:endParaRPr sz="2400"/>
            </a:p>
          </p:txBody>
        </p:sp>
        <p:sp>
          <p:nvSpPr>
            <p:cNvPr id="353" name="線"/>
            <p:cNvSpPr/>
            <p:nvPr/>
          </p:nvSpPr>
          <p:spPr>
            <a:xfrm>
              <a:off x="2451100" y="1143000"/>
              <a:ext cx="1459" cy="610590"/>
            </a:xfrm>
            <a:prstGeom prst="line">
              <a:avLst/>
            </a:prstGeom>
            <a:noFill/>
            <a:ln w="38100" cap="flat">
              <a:solidFill>
                <a:srgbClr val="7A81FF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  <a:endParaRPr sz="2400"/>
            </a:p>
          </p:txBody>
        </p:sp>
        <p:sp>
          <p:nvSpPr>
            <p:cNvPr id="354" name="線"/>
            <p:cNvSpPr/>
            <p:nvPr/>
          </p:nvSpPr>
          <p:spPr>
            <a:xfrm>
              <a:off x="2540000" y="342900"/>
              <a:ext cx="1040171" cy="134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  <a:endParaRPr sz="2400"/>
            </a:p>
          </p:txBody>
        </p:sp>
      </p:grpSp>
      <p:pic>
        <p:nvPicPr>
          <p:cNvPr id="356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290" y="5369149"/>
            <a:ext cx="7758453" cy="361529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380974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453E6-2A31-7F4D-A970-CEA372545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72BCA1-0878-9CA7-A1BD-C7D1A2973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260" dirty="0"/>
              <a:t>解の求め方 </a:t>
            </a:r>
            <a:r>
              <a:rPr kumimoji="1" lang="en-US" altLang="ja-JP" sz="6260" dirty="0"/>
              <a:t>(Underdetermined)</a:t>
            </a:r>
            <a:endParaRPr kumimoji="1" lang="ja-JP" altLang="en-US" sz="6260" dirty="0"/>
          </a:p>
        </p:txBody>
      </p:sp>
      <p:sp>
        <p:nvSpPr>
          <p:cNvPr id="3" name="昔の方法：追加実験を行い、式を Determined にする…">
            <a:extLst>
              <a:ext uri="{FF2B5EF4-FFF2-40B4-BE49-F238E27FC236}">
                <a16:creationId xmlns:a16="http://schemas.microsoft.com/office/drawing/2014/main" id="{7DD23E7E-F51B-5362-1FCC-39B2DBFE08BC}"/>
              </a:ext>
            </a:extLst>
          </p:cNvPr>
          <p:cNvSpPr txBox="1">
            <a:spLocks/>
          </p:cNvSpPr>
          <p:nvPr/>
        </p:nvSpPr>
        <p:spPr>
          <a:xfrm>
            <a:off x="812839" y="1887883"/>
            <a:ext cx="14800185" cy="6286500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ja-JP" altLang="en-US" sz="4000"/>
              <a:t>昔の方法：追加実験を行い、式を </a:t>
            </a:r>
            <a:r>
              <a:rPr lang="en-US" altLang="ja-JP" sz="4000" dirty="0"/>
              <a:t>Determined </a:t>
            </a:r>
            <a:r>
              <a:rPr lang="ja-JP" altLang="en-US" sz="4000"/>
              <a:t>にする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r>
              <a:rPr lang="ja-JP" altLang="en-US" sz="3200"/>
              <a:t>複数の流束を計測 → 正則行列にする → 逆行列が求まる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r>
              <a:rPr lang="en-US" altLang="ja-JP" sz="3200" dirty="0" err="1"/>
              <a:t>Aiba</a:t>
            </a:r>
            <a:r>
              <a:rPr lang="ja-JP" altLang="en-US" sz="3200"/>
              <a:t> </a:t>
            </a:r>
            <a:r>
              <a:rPr lang="en-US" altLang="ja-JP" sz="3200" dirty="0"/>
              <a:t>and Matsuoka (1979) </a:t>
            </a:r>
            <a:r>
              <a:rPr lang="ja-JP" altLang="en-US" sz="3200"/>
              <a:t>で用いられた方法</a:t>
            </a:r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endParaRPr lang="ja-JP" altLang="en-US" sz="4000"/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ja-JP" altLang="en-US" sz="4000"/>
              <a:t>最近の方法：最適化問題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r>
              <a:rPr lang="ja-JP" altLang="en-US" sz="3200"/>
              <a:t>単細胞生物の場合　→　細胞の成長を最大にする解を採用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r>
              <a:rPr lang="ja-JP" altLang="en-US" sz="3200"/>
              <a:t>多細胞生物の場合　→　流束の総和を最小にする解を採用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r>
              <a:rPr lang="en-US" altLang="ja-JP" sz="3200" dirty="0"/>
              <a:t>Fell and Small (1986) </a:t>
            </a:r>
            <a:r>
              <a:rPr lang="ja-JP" altLang="en-US" sz="3200"/>
              <a:t>がおそらく最初の例</a:t>
            </a:r>
            <a:endParaRPr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366192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55342-322F-1553-93AF-2F725BCA2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1347FA-1AE5-B807-EABE-84E2644CB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260" dirty="0"/>
              <a:t>目的関数 </a:t>
            </a:r>
            <a:r>
              <a:rPr kumimoji="1" lang="en-US" altLang="ja-JP" sz="6260" dirty="0"/>
              <a:t>(objective function)</a:t>
            </a:r>
            <a:r>
              <a:rPr kumimoji="1" lang="ja-JP" altLang="en-US" sz="6260" dirty="0"/>
              <a:t>：単細胞生物の場合</a:t>
            </a:r>
          </a:p>
        </p:txBody>
      </p:sp>
      <p:sp>
        <p:nvSpPr>
          <p:cNvPr id="362" name="単細胞生物の場合は「細胞成長速度を最大化する流束分布」を解にすることが多い…"/>
          <p:cNvSpPr txBox="1">
            <a:spLocks/>
          </p:cNvSpPr>
          <p:nvPr/>
        </p:nvSpPr>
        <p:spPr>
          <a:xfrm>
            <a:off x="477078" y="1886674"/>
            <a:ext cx="16002000" cy="4051252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marL="275590" indent="-275590" defTabSz="362204" hangingPunct="1">
              <a:spcBef>
                <a:spcPts val="2600"/>
              </a:spcBef>
              <a:defRPr sz="2232"/>
            </a:pPr>
            <a:r>
              <a:rPr lang="ja-JP" altLang="en-US" sz="3200"/>
              <a:t>単細胞生物の場合は「細胞成長速度を最大化する流束分布」を解にすることが多い</a:t>
            </a:r>
          </a:p>
          <a:p>
            <a:pPr marL="551180" lvl="1" indent="-275590" defTabSz="362204" hangingPunct="1">
              <a:spcBef>
                <a:spcPts val="2600"/>
              </a:spcBef>
              <a:defRPr sz="2232"/>
            </a:pPr>
            <a:r>
              <a:rPr lang="ja-JP" altLang="en-US" sz="2800"/>
              <a:t>「成長速度が最大の細胞は他を圧して増殖するので、その流束分布がそのまま細胞集団の流束分布になる」という考えに基づく</a:t>
            </a:r>
          </a:p>
          <a:p>
            <a:pPr marL="551180" lvl="1" indent="-275590" defTabSz="362204" hangingPunct="1">
              <a:spcBef>
                <a:spcPts val="2600"/>
              </a:spcBef>
              <a:defRPr sz="2232"/>
            </a:pPr>
            <a:r>
              <a:rPr lang="ja-JP" altLang="en-US" sz="2800"/>
              <a:t>実験データとの整合性は </a:t>
            </a:r>
            <a:r>
              <a:rPr lang="en-US" altLang="ja-JP" sz="2800" dirty="0"/>
              <a:t>Ibarra et al. (2002), Shlomi et al. (2005) </a:t>
            </a:r>
            <a:r>
              <a:rPr lang="ja-JP" altLang="en-US" sz="2800"/>
              <a:t>など参照</a:t>
            </a:r>
          </a:p>
          <a:p>
            <a:pPr marL="275590" indent="-275590" defTabSz="362204" hangingPunct="1">
              <a:spcBef>
                <a:spcPts val="2600"/>
              </a:spcBef>
              <a:defRPr sz="2232"/>
            </a:pPr>
            <a:r>
              <a:rPr lang="ja-JP" altLang="en-US" sz="3200"/>
              <a:t>「</a:t>
            </a:r>
            <a:r>
              <a:rPr lang="en-US" altLang="ja-JP" sz="3200" dirty="0"/>
              <a:t>1g</a:t>
            </a:r>
            <a:r>
              <a:rPr lang="ja-JP" altLang="en-US" sz="3200"/>
              <a:t>の </a:t>
            </a:r>
            <a:r>
              <a:rPr lang="en-US" altLang="ja-JP" sz="3200" dirty="0"/>
              <a:t>E. coli </a:t>
            </a:r>
            <a:r>
              <a:rPr lang="ja-JP" altLang="en-US" sz="3200"/>
              <a:t>菌体の形成に必要な流束」を元につくられた目的関数の例</a:t>
            </a:r>
            <a:endParaRPr lang="ja-JP" altLang="en-US" sz="3200" dirty="0"/>
          </a:p>
        </p:txBody>
      </p:sp>
      <p:pic>
        <p:nvPicPr>
          <p:cNvPr id="363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747" y="5612510"/>
            <a:ext cx="5783565" cy="412295"/>
          </a:xfrm>
          <a:prstGeom prst="rect">
            <a:avLst/>
          </a:prstGeom>
          <a:ln w="12700">
            <a:miter lim="400000"/>
          </a:ln>
        </p:spPr>
      </p:pic>
      <p:pic>
        <p:nvPicPr>
          <p:cNvPr id="364" name="droppedImage.pdf" descr="dropped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747" y="6348397"/>
            <a:ext cx="9645549" cy="30882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1306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AFFB0-8297-FEEB-E5FA-4AC7757D9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47A2EB-971F-40FC-4E0A-B12B7B152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260" dirty="0"/>
              <a:t>目的関数 </a:t>
            </a:r>
            <a:r>
              <a:rPr kumimoji="1" lang="en-US" altLang="ja-JP" sz="6260" dirty="0"/>
              <a:t>(objective function)</a:t>
            </a:r>
            <a:r>
              <a:rPr kumimoji="1" lang="ja-JP" altLang="en-US" sz="6260" dirty="0"/>
              <a:t>：多細胞生物の場合</a:t>
            </a:r>
          </a:p>
        </p:txBody>
      </p:sp>
      <p:sp>
        <p:nvSpPr>
          <p:cNvPr id="8" name="単細胞生物の場合は「細胞成長速度を最大化する流束分布」を解にすることが多い…">
            <a:extLst>
              <a:ext uri="{FF2B5EF4-FFF2-40B4-BE49-F238E27FC236}">
                <a16:creationId xmlns:a16="http://schemas.microsoft.com/office/drawing/2014/main" id="{9C6AF138-5018-A8E1-6A49-A5A13C3883A8}"/>
              </a:ext>
            </a:extLst>
          </p:cNvPr>
          <p:cNvSpPr txBox="1">
            <a:spLocks/>
          </p:cNvSpPr>
          <p:nvPr/>
        </p:nvSpPr>
        <p:spPr>
          <a:xfrm>
            <a:off x="669131" y="2459704"/>
            <a:ext cx="16002000" cy="5283200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marL="275590" indent="-275590" defTabSz="362204" hangingPunct="1">
              <a:lnSpc>
                <a:spcPts val="2800"/>
              </a:lnSpc>
              <a:spcBef>
                <a:spcPts val="2600"/>
              </a:spcBef>
              <a:defRPr sz="2232"/>
            </a:pPr>
            <a:r>
              <a:rPr lang="ja-JP" altLang="en-US" sz="4000"/>
              <a:t>多細胞生物に「細胞の成長速度最大化」をあてはめるのは不適切</a:t>
            </a:r>
          </a:p>
          <a:p>
            <a:pPr marL="720090" lvl="1" indent="-275590" defTabSz="362204" hangingPunct="1">
              <a:lnSpc>
                <a:spcPts val="2800"/>
              </a:lnSpc>
              <a:spcBef>
                <a:spcPts val="2600"/>
              </a:spcBef>
              <a:defRPr sz="2232"/>
            </a:pPr>
            <a:r>
              <a:rPr lang="ja-JP" altLang="en-US" sz="3200"/>
              <a:t>がん細胞の流束は予測できても健常な細胞には応用できない</a:t>
            </a:r>
            <a:endParaRPr lang="en-US" altLang="ja-JP" sz="3200" dirty="0"/>
          </a:p>
          <a:p>
            <a:pPr marL="720090" lvl="1" indent="-275590" defTabSz="362204" hangingPunct="1">
              <a:lnSpc>
                <a:spcPts val="2800"/>
              </a:lnSpc>
              <a:spcBef>
                <a:spcPts val="2600"/>
              </a:spcBef>
              <a:defRPr sz="2232"/>
            </a:pPr>
            <a:r>
              <a:rPr lang="ja-JP" altLang="en-US" sz="3200"/>
              <a:t>「流束の総和を最小にする流束分布」を解にするのが一つの方法</a:t>
            </a:r>
          </a:p>
          <a:p>
            <a:pPr marL="275590" indent="-275590" defTabSz="362204" hangingPunct="1">
              <a:lnSpc>
                <a:spcPts val="2800"/>
              </a:lnSpc>
              <a:spcBef>
                <a:spcPts val="2600"/>
              </a:spcBef>
              <a:defRPr sz="2232"/>
            </a:pPr>
            <a:endParaRPr lang="ja-JP" altLang="en-US" sz="3200"/>
          </a:p>
          <a:p>
            <a:pPr marL="275590" indent="-275590" defTabSz="362204" hangingPunct="1">
              <a:lnSpc>
                <a:spcPts val="2800"/>
              </a:lnSpc>
              <a:spcBef>
                <a:spcPts val="2600"/>
              </a:spcBef>
              <a:defRPr sz="2232"/>
            </a:pPr>
            <a:r>
              <a:rPr lang="ja-JP" altLang="en-US" sz="3200"/>
              <a:t>「細胞は必要のないタンパク質を作らない」</a:t>
            </a:r>
            <a:r>
              <a:rPr lang="en-US" altLang="ja-JP" sz="3200" dirty="0"/>
              <a:t>(</a:t>
            </a:r>
            <a:r>
              <a:rPr lang="en-GB" altLang="ja-JP" sz="3200" dirty="0"/>
              <a:t>economy of protein)</a:t>
            </a:r>
            <a:r>
              <a:rPr lang="ja-JP" altLang="en-US" sz="3200"/>
              <a:t>という考えに基づく</a:t>
            </a:r>
            <a:endParaRPr lang="en-US" altLang="ja-JP" sz="3200" dirty="0"/>
          </a:p>
          <a:p>
            <a:pPr marL="720090" lvl="1" indent="-275590" defTabSz="362204" hangingPunct="1">
              <a:lnSpc>
                <a:spcPts val="2800"/>
              </a:lnSpc>
              <a:spcBef>
                <a:spcPts val="2600"/>
              </a:spcBef>
              <a:defRPr sz="2232"/>
            </a:pPr>
            <a:r>
              <a:rPr lang="ja-JP" altLang="en-US" sz="3200"/>
              <a:t>流束の総和は代謝に関わるタンパク質の総量の </a:t>
            </a:r>
            <a:r>
              <a:rPr lang="en-GB" altLang="ja-JP" sz="3200" dirty="0"/>
              <a:t>proxy [</a:t>
            </a:r>
            <a:r>
              <a:rPr lang="en-GB" altLang="ja-JP" sz="3200" dirty="0" err="1"/>
              <a:t>Holzhütter</a:t>
            </a:r>
            <a:r>
              <a:rPr lang="en-GB" altLang="ja-JP" sz="3200" dirty="0"/>
              <a:t> (2004) </a:t>
            </a:r>
            <a:r>
              <a:rPr lang="ja-JP" altLang="en-US" sz="3200"/>
              <a:t>など</a:t>
            </a:r>
            <a:r>
              <a:rPr lang="en-US" altLang="ja-JP" sz="3200" dirty="0"/>
              <a:t>]</a:t>
            </a:r>
          </a:p>
          <a:p>
            <a:pPr marL="720090" lvl="1" indent="-275590" defTabSz="362204" hangingPunct="1">
              <a:lnSpc>
                <a:spcPts val="2800"/>
              </a:lnSpc>
              <a:spcBef>
                <a:spcPts val="2600"/>
              </a:spcBef>
              <a:defRPr sz="2232"/>
            </a:pPr>
            <a:r>
              <a:rPr lang="ja-JP" altLang="en-US" sz="3200"/>
              <a:t>適切な目的関数のデザインは現在も議論されている</a:t>
            </a:r>
            <a:r>
              <a:rPr lang="en-US" altLang="ja-JP" sz="3200" dirty="0"/>
              <a:t>(</a:t>
            </a:r>
            <a:r>
              <a:rPr lang="en-GB" altLang="ja-JP" sz="3200" dirty="0"/>
              <a:t>Schuetz et al. 2007, 2012</a:t>
            </a:r>
            <a:r>
              <a:rPr lang="ja-JP" altLang="en-US" sz="3200"/>
              <a:t>など</a:t>
            </a:r>
            <a:r>
              <a:rPr lang="en-US" altLang="ja-JP" sz="3200" dirty="0"/>
              <a:t>)</a:t>
            </a:r>
          </a:p>
          <a:p>
            <a:pPr marL="0" indent="0" defTabSz="362204" hangingPunct="1">
              <a:lnSpc>
                <a:spcPts val="2800"/>
              </a:lnSpc>
              <a:spcBef>
                <a:spcPts val="2600"/>
              </a:spcBef>
              <a:buNone/>
              <a:defRPr sz="2232"/>
            </a:pPr>
            <a:endParaRPr lang="en-US" altLang="ja-JP" sz="3200" dirty="0"/>
          </a:p>
          <a:p>
            <a:pPr marL="275590" indent="-275590" defTabSz="362204" hangingPunct="1">
              <a:lnSpc>
                <a:spcPts val="2800"/>
              </a:lnSpc>
              <a:spcBef>
                <a:spcPts val="2600"/>
              </a:spcBef>
              <a:defRPr sz="2232"/>
            </a:pPr>
            <a:r>
              <a:rPr lang="ja-JP" altLang="en-US" sz="4000"/>
              <a:t>広く浸透しているのは「成長最大化」と「流束最小化」の２つ</a:t>
            </a:r>
          </a:p>
          <a:p>
            <a:pPr marL="275590" indent="-275590" defTabSz="362204" hangingPunct="1">
              <a:lnSpc>
                <a:spcPts val="2800"/>
              </a:lnSpc>
              <a:spcBef>
                <a:spcPts val="2600"/>
              </a:spcBef>
              <a:defRPr sz="2232"/>
            </a:pPr>
            <a:endParaRPr lang="ja-JP" altLang="en-US" sz="3200"/>
          </a:p>
          <a:p>
            <a:pPr marL="275590" indent="-275590" defTabSz="362204" hangingPunct="1">
              <a:lnSpc>
                <a:spcPts val="2800"/>
              </a:lnSpc>
              <a:spcBef>
                <a:spcPts val="2600"/>
              </a:spcBef>
              <a:defRPr sz="2232"/>
            </a:pPr>
            <a:endParaRPr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15141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9144E-472B-B220-75FA-E3B0803BB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17D1CD-5FB0-0F7B-6D36-FACB6DBEC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sz="6260"/>
              <a:t>線形計画法（図的解法）で</a:t>
            </a:r>
            <a:r>
              <a:rPr kumimoji="1" lang="ja-JP" altLang="en-US" sz="6260" dirty="0"/>
              <a:t>最適流束分布を求める</a:t>
            </a:r>
          </a:p>
        </p:txBody>
      </p:sp>
      <p:sp>
        <p:nvSpPr>
          <p:cNvPr id="369" name="線"/>
          <p:cNvSpPr/>
          <p:nvPr/>
        </p:nvSpPr>
        <p:spPr>
          <a:xfrm flipV="1">
            <a:off x="5904354" y="2828996"/>
            <a:ext cx="2259" cy="5016783"/>
          </a:xfrm>
          <a:prstGeom prst="lin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370" name="線"/>
          <p:cNvSpPr/>
          <p:nvPr/>
        </p:nvSpPr>
        <p:spPr>
          <a:xfrm>
            <a:off x="5904353" y="7845778"/>
            <a:ext cx="6554330" cy="2259"/>
          </a:xfrm>
          <a:prstGeom prst="lin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371" name="v1"/>
          <p:cNvSpPr txBox="1"/>
          <p:nvPr/>
        </p:nvSpPr>
        <p:spPr>
          <a:xfrm>
            <a:off x="12610888" y="7620345"/>
            <a:ext cx="480901" cy="68736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80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800"/>
              <a:t>v</a:t>
            </a:r>
            <a:r>
              <a:rPr sz="3800" baseline="-5999"/>
              <a:t>1</a:t>
            </a:r>
          </a:p>
        </p:txBody>
      </p:sp>
      <p:sp>
        <p:nvSpPr>
          <p:cNvPr id="372" name="線"/>
          <p:cNvSpPr/>
          <p:nvPr/>
        </p:nvSpPr>
        <p:spPr>
          <a:xfrm>
            <a:off x="6416869" y="3136053"/>
            <a:ext cx="5531557" cy="378855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373" name="流束バランス上の制約:…"/>
          <p:cNvSpPr txBox="1"/>
          <p:nvPr/>
        </p:nvSpPr>
        <p:spPr>
          <a:xfrm>
            <a:off x="2215023" y="7918508"/>
            <a:ext cx="5326779" cy="12721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  <a:r>
              <a:rPr sz="3800"/>
              <a:t>流束バランス上の制約:  </a:t>
            </a:r>
          </a:p>
          <a:p>
            <a:pPr>
              <a:defRPr sz="3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  <a:r>
              <a:rPr sz="3800"/>
              <a:t>　　　　</a:t>
            </a:r>
            <a:r>
              <a:rPr sz="38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700" baseline="-5999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sz="38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sz="38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700" baseline="-5999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sz="38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sz="38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</a:p>
        </p:txBody>
      </p:sp>
      <p:sp>
        <p:nvSpPr>
          <p:cNvPr id="374" name="線"/>
          <p:cNvSpPr/>
          <p:nvPr/>
        </p:nvSpPr>
        <p:spPr>
          <a:xfrm flipV="1">
            <a:off x="5904354" y="3949700"/>
            <a:ext cx="2047805" cy="2258"/>
          </a:xfrm>
          <a:prstGeom prst="lin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375" name="Vmaxによる制約…"/>
          <p:cNvSpPr txBox="1"/>
          <p:nvPr/>
        </p:nvSpPr>
        <p:spPr>
          <a:xfrm>
            <a:off x="2139657" y="3513584"/>
            <a:ext cx="3746501" cy="1272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  <a:r>
              <a:rPr sz="38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700" baseline="-5999"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sz="3800"/>
              <a:t>による制約</a:t>
            </a:r>
          </a:p>
          <a:p>
            <a:pPr>
              <a:defRPr sz="3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  <a:r>
              <a:rPr sz="3800"/>
              <a:t>　　</a:t>
            </a:r>
            <a:r>
              <a:rPr sz="38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800" baseline="-5999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sz="38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sz="38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700" baseline="-5999">
                <a:latin typeface="Times New Roman"/>
                <a:ea typeface="Times New Roman"/>
                <a:cs typeface="Times New Roman"/>
                <a:sym typeface="Times New Roman"/>
              </a:rPr>
              <a:t>2max</a:t>
            </a:r>
          </a:p>
        </p:txBody>
      </p:sp>
      <p:sp>
        <p:nvSpPr>
          <p:cNvPr id="376" name="線"/>
          <p:cNvSpPr/>
          <p:nvPr/>
        </p:nvSpPr>
        <p:spPr>
          <a:xfrm flipV="1">
            <a:off x="10511631" y="5696374"/>
            <a:ext cx="2258" cy="2146301"/>
          </a:xfrm>
          <a:prstGeom prst="lin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377" name="Vmaxによる制約…"/>
          <p:cNvSpPr txBox="1"/>
          <p:nvPr/>
        </p:nvSpPr>
        <p:spPr>
          <a:xfrm>
            <a:off x="8388953" y="7993015"/>
            <a:ext cx="3382336" cy="127214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  <a:r>
              <a:rPr sz="38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700" baseline="-5999">
                <a:latin typeface="Times New Roman"/>
                <a:ea typeface="Times New Roman"/>
                <a:cs typeface="Times New Roman"/>
                <a:sym typeface="Times New Roman"/>
              </a:rPr>
              <a:t>max</a:t>
            </a:r>
            <a:r>
              <a:rPr sz="3800"/>
              <a:t>による制約</a:t>
            </a:r>
          </a:p>
          <a:p>
            <a:pPr>
              <a:defRPr sz="3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  <a:r>
              <a:rPr sz="3800"/>
              <a:t>　　</a:t>
            </a:r>
            <a:r>
              <a:rPr sz="38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800" baseline="-5999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sz="38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sz="38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700" baseline="-5999">
                <a:latin typeface="Times New Roman"/>
                <a:ea typeface="Times New Roman"/>
                <a:cs typeface="Times New Roman"/>
                <a:sym typeface="Times New Roman"/>
              </a:rPr>
              <a:t>1max</a:t>
            </a:r>
          </a:p>
        </p:txBody>
      </p:sp>
      <p:sp>
        <p:nvSpPr>
          <p:cNvPr id="378" name="線"/>
          <p:cNvSpPr/>
          <p:nvPr/>
        </p:nvSpPr>
        <p:spPr>
          <a:xfrm>
            <a:off x="6315269" y="3544712"/>
            <a:ext cx="6757531" cy="2050063"/>
          </a:xfrm>
          <a:prstGeom prst="line">
            <a:avLst/>
          </a:prstGeom>
          <a:ln w="254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379" name="線"/>
          <p:cNvSpPr/>
          <p:nvPr/>
        </p:nvSpPr>
        <p:spPr>
          <a:xfrm>
            <a:off x="4676122" y="4557043"/>
            <a:ext cx="3686952" cy="2971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4497" y="15199"/>
                  <a:pt x="8994" y="8814"/>
                  <a:pt x="12592" y="5219"/>
                </a:cubicBezTo>
                <a:cubicBezTo>
                  <a:pt x="16190" y="1625"/>
                  <a:pt x="18888" y="804"/>
                  <a:pt x="21600" y="0"/>
                </a:cubicBezTo>
              </a:path>
            </a:pathLst>
          </a:custGeom>
          <a:ln w="12700">
            <a:miter lim="400000"/>
            <a:tailEnd type="triangle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  <a:endParaRPr sz="2800"/>
          </a:p>
        </p:txBody>
      </p:sp>
      <p:sp>
        <p:nvSpPr>
          <p:cNvPr id="380" name="線"/>
          <p:cNvSpPr/>
          <p:nvPr/>
        </p:nvSpPr>
        <p:spPr>
          <a:xfrm>
            <a:off x="6317526" y="2648937"/>
            <a:ext cx="6757530" cy="2050064"/>
          </a:xfrm>
          <a:prstGeom prst="line">
            <a:avLst/>
          </a:prstGeom>
          <a:ln w="254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381" name="線"/>
          <p:cNvSpPr/>
          <p:nvPr/>
        </p:nvSpPr>
        <p:spPr>
          <a:xfrm>
            <a:off x="6319784" y="1778565"/>
            <a:ext cx="6757530" cy="2050063"/>
          </a:xfrm>
          <a:prstGeom prst="line">
            <a:avLst/>
          </a:prstGeom>
          <a:ln w="254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382" name="Z=1200"/>
          <p:cNvSpPr txBox="1"/>
          <p:nvPr/>
        </p:nvSpPr>
        <p:spPr>
          <a:xfrm>
            <a:off x="13111590" y="3338470"/>
            <a:ext cx="1649491" cy="68736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800"/>
              <a:t>Z=1200</a:t>
            </a:r>
          </a:p>
        </p:txBody>
      </p:sp>
      <p:sp>
        <p:nvSpPr>
          <p:cNvPr id="383" name="Z=1100"/>
          <p:cNvSpPr txBox="1"/>
          <p:nvPr/>
        </p:nvSpPr>
        <p:spPr>
          <a:xfrm>
            <a:off x="13116246" y="4329916"/>
            <a:ext cx="1649491" cy="68736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800"/>
              <a:t>Z=1100</a:t>
            </a:r>
          </a:p>
        </p:txBody>
      </p:sp>
      <p:sp>
        <p:nvSpPr>
          <p:cNvPr id="384" name="Z=1000"/>
          <p:cNvSpPr txBox="1"/>
          <p:nvPr/>
        </p:nvSpPr>
        <p:spPr>
          <a:xfrm>
            <a:off x="13111590" y="5325032"/>
            <a:ext cx="1649491" cy="68736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800"/>
              <a:t>Z=1000</a:t>
            </a:r>
          </a:p>
        </p:txBody>
      </p:sp>
      <p:sp>
        <p:nvSpPr>
          <p:cNvPr id="385" name="円形"/>
          <p:cNvSpPr/>
          <p:nvPr/>
        </p:nvSpPr>
        <p:spPr>
          <a:xfrm>
            <a:off x="7543501" y="3851770"/>
            <a:ext cx="304801" cy="304801"/>
          </a:xfrm>
          <a:prstGeom prst="ellipse">
            <a:avLst/>
          </a:prstGeom>
          <a:solidFill>
            <a:srgbClr val="FF93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  <a:endParaRPr sz="2800"/>
          </a:p>
        </p:txBody>
      </p:sp>
      <p:sp>
        <p:nvSpPr>
          <p:cNvPr id="387" name="v2"/>
          <p:cNvSpPr txBox="1"/>
          <p:nvPr/>
        </p:nvSpPr>
        <p:spPr>
          <a:xfrm>
            <a:off x="5270288" y="2054199"/>
            <a:ext cx="480901" cy="68736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800"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800"/>
              <a:t>v</a:t>
            </a:r>
            <a:r>
              <a:rPr sz="3800" baseline="-5999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60061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F8EE1-6FDB-4E97-2C0D-0E46D2F0C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64C1F3-88B8-8853-A637-D9697ED0A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260" dirty="0"/>
              <a:t>演習</a:t>
            </a:r>
            <a:r>
              <a:rPr kumimoji="1" lang="en-US" altLang="ja-JP" sz="6260" dirty="0"/>
              <a:t>3</a:t>
            </a:r>
            <a:endParaRPr kumimoji="1" lang="ja-JP" altLang="en-US" sz="6260" dirty="0"/>
          </a:p>
        </p:txBody>
      </p:sp>
      <p:sp>
        <p:nvSpPr>
          <p:cNvPr id="391" name="線"/>
          <p:cNvSpPr/>
          <p:nvPr/>
        </p:nvSpPr>
        <p:spPr>
          <a:xfrm>
            <a:off x="3549492" y="3854027"/>
            <a:ext cx="1639147" cy="22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392" name="線"/>
          <p:cNvSpPr/>
          <p:nvPr/>
        </p:nvSpPr>
        <p:spPr>
          <a:xfrm>
            <a:off x="11844566" y="3854027"/>
            <a:ext cx="1639148" cy="2259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393" name="A"/>
          <p:cNvSpPr txBox="1"/>
          <p:nvPr/>
        </p:nvSpPr>
        <p:spPr>
          <a:xfrm>
            <a:off x="5737910" y="3458421"/>
            <a:ext cx="370294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A</a:t>
            </a:r>
          </a:p>
        </p:txBody>
      </p:sp>
      <p:sp>
        <p:nvSpPr>
          <p:cNvPr id="394" name="B"/>
          <p:cNvSpPr txBox="1"/>
          <p:nvPr/>
        </p:nvSpPr>
        <p:spPr>
          <a:xfrm>
            <a:off x="11093614" y="3462654"/>
            <a:ext cx="354264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B</a:t>
            </a:r>
          </a:p>
        </p:txBody>
      </p:sp>
      <p:sp>
        <p:nvSpPr>
          <p:cNvPr id="395" name="線"/>
          <p:cNvSpPr/>
          <p:nvPr/>
        </p:nvSpPr>
        <p:spPr>
          <a:xfrm>
            <a:off x="6416868" y="2730500"/>
            <a:ext cx="4301068" cy="7157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3606" y="10766"/>
                  <a:pt x="7211" y="0"/>
                  <a:pt x="10806" y="0"/>
                </a:cubicBezTo>
                <a:cubicBezTo>
                  <a:pt x="14400" y="0"/>
                  <a:pt x="17994" y="10766"/>
                  <a:pt x="21600" y="21600"/>
                </a:cubicBezTo>
              </a:path>
            </a:pathLst>
          </a:cu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96" name="線"/>
          <p:cNvSpPr/>
          <p:nvPr/>
        </p:nvSpPr>
        <p:spPr>
          <a:xfrm>
            <a:off x="6416868" y="4267200"/>
            <a:ext cx="4301068" cy="609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3606" y="10800"/>
                  <a:pt x="7211" y="21600"/>
                  <a:pt x="10806" y="21600"/>
                </a:cubicBezTo>
                <a:cubicBezTo>
                  <a:pt x="14400" y="21600"/>
                  <a:pt x="17994" y="10800"/>
                  <a:pt x="21600" y="0"/>
                </a:cubicBezTo>
              </a:path>
            </a:pathLst>
          </a:cu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397" name="v1"/>
          <p:cNvSpPr txBox="1"/>
          <p:nvPr/>
        </p:nvSpPr>
        <p:spPr>
          <a:xfrm>
            <a:off x="7619375" y="1985927"/>
            <a:ext cx="461665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</a:t>
            </a:r>
            <a:r>
              <a:rPr baseline="-5999"/>
              <a:t>1</a:t>
            </a:r>
          </a:p>
        </p:txBody>
      </p:sp>
      <p:sp>
        <p:nvSpPr>
          <p:cNvPr id="398" name="b1"/>
          <p:cNvSpPr txBox="1"/>
          <p:nvPr/>
        </p:nvSpPr>
        <p:spPr>
          <a:xfrm>
            <a:off x="4096359" y="3010958"/>
            <a:ext cx="487313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</a:t>
            </a:r>
            <a:r>
              <a:rPr baseline="-5999"/>
              <a:t>1</a:t>
            </a:r>
          </a:p>
        </p:txBody>
      </p:sp>
      <p:sp>
        <p:nvSpPr>
          <p:cNvPr id="399" name="線"/>
          <p:cNvSpPr/>
          <p:nvPr/>
        </p:nvSpPr>
        <p:spPr>
          <a:xfrm flipV="1">
            <a:off x="8365332" y="2316480"/>
            <a:ext cx="2047805" cy="41091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400" name="線"/>
          <p:cNvSpPr/>
          <p:nvPr/>
        </p:nvSpPr>
        <p:spPr>
          <a:xfrm>
            <a:off x="8261474" y="4876800"/>
            <a:ext cx="2146301" cy="51251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401" name="ATP"/>
          <p:cNvSpPr txBox="1"/>
          <p:nvPr/>
        </p:nvSpPr>
        <p:spPr>
          <a:xfrm>
            <a:off x="10633902" y="1898720"/>
            <a:ext cx="833562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ATP</a:t>
            </a:r>
          </a:p>
        </p:txBody>
      </p:sp>
      <p:sp>
        <p:nvSpPr>
          <p:cNvPr id="402" name="NADH"/>
          <p:cNvSpPr txBox="1"/>
          <p:nvPr/>
        </p:nvSpPr>
        <p:spPr>
          <a:xfrm>
            <a:off x="10617249" y="5140889"/>
            <a:ext cx="123912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NADH</a:t>
            </a:r>
          </a:p>
        </p:txBody>
      </p:sp>
      <p:sp>
        <p:nvSpPr>
          <p:cNvPr id="403" name="v1 , v2 の最適解を求めなさい。ただし、b1 = b2 = 10 mmol / gDW / h 、…"/>
          <p:cNvSpPr txBox="1"/>
          <p:nvPr/>
        </p:nvSpPr>
        <p:spPr>
          <a:xfrm>
            <a:off x="2704290" y="6441865"/>
            <a:ext cx="12568136" cy="3134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>
              <a:lnSpc>
                <a:spcPts val="2800"/>
              </a:lnSpc>
              <a:spcBef>
                <a:spcPts val="2400"/>
              </a:spcBef>
              <a:defRPr sz="2400"/>
            </a:pPr>
            <a:r>
              <a:rPr sz="3200" i="1" dirty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2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sz="3200" dirty="0">
                <a:latin typeface="Times New Roman"/>
                <a:ea typeface="Times New Roman"/>
                <a:cs typeface="Times New Roman"/>
                <a:sym typeface="Times New Roman"/>
              </a:rPr>
              <a:t> , </a:t>
            </a:r>
            <a:r>
              <a:rPr sz="3200" i="1" dirty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2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sz="3200" dirty="0"/>
              <a:t> の最適解を求めなさい。ただし、</a:t>
            </a:r>
            <a:r>
              <a:rPr sz="3200" i="1" dirty="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sz="32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sz="3200" dirty="0"/>
              <a:t> </a:t>
            </a:r>
            <a:r>
              <a:rPr sz="3200" dirty="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sz="3200" i="1" dirty="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sz="32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sz="3200" dirty="0"/>
              <a:t> </a:t>
            </a:r>
            <a:r>
              <a:rPr sz="3200" dirty="0">
                <a:latin typeface="Times New Roman"/>
                <a:ea typeface="Times New Roman"/>
                <a:cs typeface="Times New Roman"/>
                <a:sym typeface="Times New Roman"/>
              </a:rPr>
              <a:t>= 10 mmol / </a:t>
            </a:r>
            <a:r>
              <a:rPr sz="3200" dirty="0" err="1">
                <a:latin typeface="Times New Roman"/>
                <a:ea typeface="Times New Roman"/>
                <a:cs typeface="Times New Roman"/>
                <a:sym typeface="Times New Roman"/>
              </a:rPr>
              <a:t>gDW</a:t>
            </a:r>
            <a:r>
              <a:rPr sz="3200" dirty="0">
                <a:latin typeface="Times New Roman"/>
                <a:ea typeface="Times New Roman"/>
                <a:cs typeface="Times New Roman"/>
                <a:sym typeface="Times New Roman"/>
              </a:rPr>
              <a:t> / h </a:t>
            </a:r>
            <a:r>
              <a:rPr sz="3200" dirty="0"/>
              <a:t>、 </a:t>
            </a:r>
          </a:p>
          <a:p>
            <a:pPr algn="l">
              <a:lnSpc>
                <a:spcPts val="2800"/>
              </a:lnSpc>
              <a:spcBef>
                <a:spcPts val="2400"/>
              </a:spcBef>
              <a:defRPr sz="2400"/>
            </a:pPr>
            <a:r>
              <a:rPr sz="3200" i="1" dirty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2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sz="3200" dirty="0">
                <a:latin typeface="Times New Roman"/>
                <a:ea typeface="Times New Roman"/>
                <a:cs typeface="Times New Roman"/>
                <a:sym typeface="Times New Roman"/>
              </a:rPr>
              <a:t> , </a:t>
            </a:r>
            <a:r>
              <a:rPr sz="3200" i="1" dirty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2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sz="3200" dirty="0"/>
              <a:t> </a:t>
            </a:r>
            <a:r>
              <a:rPr sz="3200" dirty="0" err="1"/>
              <a:t>の最大流束はそれぞれ</a:t>
            </a:r>
            <a:r>
              <a:rPr sz="3200" dirty="0"/>
              <a:t> </a:t>
            </a:r>
            <a:r>
              <a:rPr sz="3200" dirty="0">
                <a:latin typeface="Times New Roman"/>
                <a:ea typeface="Times New Roman"/>
                <a:cs typeface="Times New Roman"/>
                <a:sym typeface="Times New Roman"/>
              </a:rPr>
              <a:t>8 mmol / </a:t>
            </a:r>
            <a:r>
              <a:rPr sz="3200" dirty="0" err="1">
                <a:latin typeface="Times New Roman"/>
                <a:ea typeface="Times New Roman"/>
                <a:cs typeface="Times New Roman"/>
                <a:sym typeface="Times New Roman"/>
              </a:rPr>
              <a:t>gDW</a:t>
            </a:r>
            <a:r>
              <a:rPr sz="3200" dirty="0">
                <a:latin typeface="Times New Roman"/>
                <a:ea typeface="Times New Roman"/>
                <a:cs typeface="Times New Roman"/>
                <a:sym typeface="Times New Roman"/>
              </a:rPr>
              <a:t> / h , 6 mmol / </a:t>
            </a:r>
            <a:r>
              <a:rPr sz="3200" dirty="0" err="1">
                <a:latin typeface="Times New Roman"/>
                <a:ea typeface="Times New Roman"/>
                <a:cs typeface="Times New Roman"/>
                <a:sym typeface="Times New Roman"/>
              </a:rPr>
              <a:t>gDW</a:t>
            </a:r>
            <a:r>
              <a:rPr sz="3200" dirty="0">
                <a:latin typeface="Times New Roman"/>
                <a:ea typeface="Times New Roman"/>
                <a:cs typeface="Times New Roman"/>
                <a:sym typeface="Times New Roman"/>
              </a:rPr>
              <a:t> / h </a:t>
            </a:r>
            <a:r>
              <a:rPr sz="3200" dirty="0"/>
              <a:t>、</a:t>
            </a:r>
          </a:p>
          <a:p>
            <a:pPr algn="l">
              <a:lnSpc>
                <a:spcPts val="2800"/>
              </a:lnSpc>
              <a:spcBef>
                <a:spcPts val="2400"/>
              </a:spcBef>
              <a:defRPr sz="2400"/>
            </a:pPr>
            <a:r>
              <a:rPr sz="3200" dirty="0" err="1"/>
              <a:t>目的関数は細胞成長速度</a:t>
            </a:r>
            <a:r>
              <a:rPr sz="3200" dirty="0"/>
              <a:t> </a:t>
            </a:r>
            <a:r>
              <a:rPr sz="3200" dirty="0">
                <a:latin typeface="Times New Roman"/>
                <a:ea typeface="Times New Roman"/>
                <a:cs typeface="Times New Roman"/>
                <a:sym typeface="Times New Roman"/>
              </a:rPr>
              <a:t>Z = 40</a:t>
            </a:r>
            <a:r>
              <a:rPr sz="3200" dirty="0"/>
              <a:t> </a:t>
            </a:r>
            <a:r>
              <a:rPr sz="3200" i="1" dirty="0" err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200" baseline="-5999" dirty="0" err="1">
                <a:latin typeface="Times New Roman"/>
                <a:ea typeface="Times New Roman"/>
                <a:cs typeface="Times New Roman"/>
                <a:sym typeface="Times New Roman"/>
              </a:rPr>
              <a:t>ATP</a:t>
            </a:r>
            <a:r>
              <a:rPr sz="32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z="3200" dirty="0">
                <a:latin typeface="Times New Roman"/>
                <a:ea typeface="Times New Roman"/>
                <a:cs typeface="Times New Roman"/>
                <a:sym typeface="Times New Roman"/>
              </a:rPr>
              <a:t>+ 3.5</a:t>
            </a:r>
            <a:r>
              <a:rPr sz="3200" dirty="0"/>
              <a:t> </a:t>
            </a:r>
            <a:r>
              <a:rPr sz="3200" i="1" dirty="0" err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200" baseline="-5999" dirty="0" err="1">
                <a:latin typeface="Times New Roman"/>
                <a:ea typeface="Times New Roman"/>
                <a:cs typeface="Times New Roman"/>
                <a:sym typeface="Times New Roman"/>
              </a:rPr>
              <a:t>NADH</a:t>
            </a:r>
            <a:r>
              <a:rPr sz="32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z="3200" dirty="0" err="1"/>
              <a:t>とする</a:t>
            </a:r>
            <a:r>
              <a:rPr sz="3200" dirty="0"/>
              <a:t>。</a:t>
            </a:r>
          </a:p>
          <a:p>
            <a:pPr algn="l">
              <a:lnSpc>
                <a:spcPts val="2800"/>
              </a:lnSpc>
              <a:spcBef>
                <a:spcPts val="2400"/>
              </a:spcBef>
              <a:defRPr sz="2400"/>
            </a:pPr>
            <a:r>
              <a:rPr sz="3200" dirty="0"/>
              <a:t>（</a:t>
            </a:r>
            <a:r>
              <a:rPr sz="3200" dirty="0" err="1"/>
              <a:t>ヒント：</a:t>
            </a:r>
            <a:r>
              <a:rPr sz="3200" i="1" dirty="0" err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200" baseline="-5999" dirty="0" err="1">
                <a:latin typeface="Times New Roman"/>
                <a:ea typeface="Times New Roman"/>
                <a:cs typeface="Times New Roman"/>
                <a:sym typeface="Times New Roman"/>
              </a:rPr>
              <a:t>ATP</a:t>
            </a:r>
            <a:r>
              <a:rPr sz="32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  , </a:t>
            </a:r>
            <a:r>
              <a:rPr sz="3200" i="1" dirty="0" err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200" baseline="-5999" dirty="0" err="1">
                <a:latin typeface="Times New Roman"/>
                <a:ea typeface="Times New Roman"/>
                <a:cs typeface="Times New Roman"/>
                <a:sym typeface="Times New Roman"/>
              </a:rPr>
              <a:t>NADH</a:t>
            </a:r>
            <a:r>
              <a:rPr sz="32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sz="3200" dirty="0" err="1"/>
              <a:t>はそれぞれATP</a:t>
            </a:r>
            <a:r>
              <a:rPr sz="3200" dirty="0"/>
              <a:t>, </a:t>
            </a:r>
            <a:r>
              <a:rPr sz="3200" dirty="0" err="1"/>
              <a:t>NADHの合成速度を表す</a:t>
            </a:r>
            <a:r>
              <a:rPr sz="3200" dirty="0"/>
              <a:t>。</a:t>
            </a:r>
            <a:endParaRPr lang="en-US" sz="3200" dirty="0"/>
          </a:p>
          <a:p>
            <a:pPr algn="l">
              <a:lnSpc>
                <a:spcPts val="2800"/>
              </a:lnSpc>
              <a:spcBef>
                <a:spcPts val="2400"/>
              </a:spcBef>
              <a:defRPr sz="2400"/>
            </a:pPr>
            <a:r>
              <a:rPr lang="en-US" sz="3200" dirty="0"/>
              <a:t>   </a:t>
            </a:r>
            <a:r>
              <a:rPr sz="3200" dirty="0"/>
              <a:t>すなわち</a:t>
            </a:r>
            <a:r>
              <a:rPr sz="3200" i="1" dirty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2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sz="3200" dirty="0">
                <a:latin typeface="Times New Roman"/>
                <a:ea typeface="Times New Roman"/>
                <a:cs typeface="Times New Roman"/>
                <a:sym typeface="Times New Roman"/>
              </a:rPr>
              <a:t> , </a:t>
            </a:r>
            <a:r>
              <a:rPr sz="3200" i="1" dirty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sz="32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sz="3200" dirty="0"/>
              <a:t> </a:t>
            </a:r>
            <a:r>
              <a:rPr sz="3200" dirty="0" err="1"/>
              <a:t>にそれぞれ対応する</a:t>
            </a:r>
            <a:r>
              <a:rPr sz="3200" dirty="0"/>
              <a:t>。）</a:t>
            </a:r>
          </a:p>
        </p:txBody>
      </p:sp>
      <p:sp>
        <p:nvSpPr>
          <p:cNvPr id="404" name="b2"/>
          <p:cNvSpPr txBox="1"/>
          <p:nvPr/>
        </p:nvSpPr>
        <p:spPr>
          <a:xfrm>
            <a:off x="12465658" y="3113404"/>
            <a:ext cx="487313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</a:t>
            </a:r>
            <a:r>
              <a:rPr baseline="-5999"/>
              <a:t>2</a:t>
            </a:r>
          </a:p>
        </p:txBody>
      </p:sp>
      <p:sp>
        <p:nvSpPr>
          <p:cNvPr id="405" name="v2"/>
          <p:cNvSpPr txBox="1"/>
          <p:nvPr/>
        </p:nvSpPr>
        <p:spPr>
          <a:xfrm>
            <a:off x="7619375" y="4814075"/>
            <a:ext cx="461665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</a:t>
            </a:r>
            <a:r>
              <a:rPr baseline="-5999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40208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9AA53-450B-6A98-7492-6B9F63F06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54820B-3959-5038-2FAE-F08A65AE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260" dirty="0"/>
              <a:t>用語の整理</a:t>
            </a:r>
            <a:r>
              <a:rPr kumimoji="1" lang="en-US" altLang="ja-JP" sz="6260" dirty="0"/>
              <a:t>:  </a:t>
            </a:r>
            <a:r>
              <a:rPr kumimoji="1" lang="ja-JP" altLang="en-US" sz="6260" dirty="0"/>
              <a:t>流束を</a:t>
            </a:r>
            <a:r>
              <a:rPr kumimoji="1" lang="en-US" altLang="ja-JP" sz="6260" dirty="0"/>
              <a:t>2</a:t>
            </a:r>
            <a:r>
              <a:rPr kumimoji="1" lang="ja-JP" altLang="en-US" sz="6260" dirty="0"/>
              <a:t>つに分類</a:t>
            </a:r>
          </a:p>
        </p:txBody>
      </p:sp>
      <p:sp>
        <p:nvSpPr>
          <p:cNvPr id="424" name="内部流束 (internal flux)…"/>
          <p:cNvSpPr txBox="1">
            <a:spLocks/>
          </p:cNvSpPr>
          <p:nvPr/>
        </p:nvSpPr>
        <p:spPr>
          <a:xfrm>
            <a:off x="1270039" y="2603500"/>
            <a:ext cx="14800185" cy="6286500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marL="351155" indent="-351155" defTabSz="461518" hangingPunct="1">
              <a:spcBef>
                <a:spcPts val="3300"/>
              </a:spcBef>
              <a:defRPr sz="2844"/>
            </a:pPr>
            <a:r>
              <a:rPr lang="zh-CN" altLang="en-US" sz="4000" dirty="0"/>
              <a:t>内部流束 </a:t>
            </a:r>
            <a:r>
              <a:rPr lang="en-US" altLang="zh-CN" sz="4000" dirty="0"/>
              <a:t>(</a:t>
            </a:r>
            <a:r>
              <a:rPr lang="en-US" sz="4000" dirty="0"/>
              <a:t>internal flux)</a:t>
            </a:r>
          </a:p>
          <a:p>
            <a:pPr marL="702310" lvl="1" indent="-351155" defTabSz="461518" hangingPunct="1">
              <a:spcBef>
                <a:spcPts val="3300"/>
              </a:spcBef>
              <a:defRPr sz="2844"/>
            </a:pPr>
            <a:r>
              <a:rPr lang="zh-CN" altLang="en-US" sz="3200" dirty="0"/>
              <a:t>通常 </a:t>
            </a:r>
            <a:r>
              <a:rPr lang="en-US" sz="3200" i="1" dirty="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32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 baseline="-5999" dirty="0"/>
              <a:t> </a:t>
            </a:r>
            <a:r>
              <a:rPr lang="ja-JP" altLang="en-US" sz="3200"/>
              <a:t>のように</a:t>
            </a:r>
            <a:r>
              <a:rPr lang="zh-CN" altLang="en-US" sz="3200" dirty="0"/>
              <a:t>表記</a:t>
            </a:r>
          </a:p>
          <a:p>
            <a:pPr marL="702310" lvl="1" indent="-351155" defTabSz="461518" hangingPunct="1">
              <a:spcBef>
                <a:spcPts val="3300"/>
              </a:spcBef>
              <a:defRPr sz="2844"/>
            </a:pPr>
            <a:r>
              <a:rPr lang="zh-CN" altLang="en-US" sz="3200" dirty="0"/>
              <a:t>右図</a:t>
            </a:r>
            <a:r>
              <a:rPr lang="ja-JP" altLang="en-US" sz="3200"/>
              <a:t>の</a:t>
            </a:r>
            <a:r>
              <a:rPr lang="zh-CN" altLang="en-US" sz="3200" dirty="0"/>
              <a:t>黒矢印</a:t>
            </a:r>
          </a:p>
          <a:p>
            <a:pPr marL="702310" lvl="1" indent="-351155" defTabSz="461518" hangingPunct="1">
              <a:spcBef>
                <a:spcPts val="3300"/>
              </a:spcBef>
              <a:defRPr sz="2844"/>
            </a:pPr>
            <a:endParaRPr lang="zh-CN" altLang="en-US" sz="4000" dirty="0"/>
          </a:p>
          <a:p>
            <a:pPr marL="351155" indent="-351155" defTabSz="461518" hangingPunct="1">
              <a:spcBef>
                <a:spcPts val="3300"/>
              </a:spcBef>
              <a:defRPr sz="2844"/>
            </a:pPr>
            <a:r>
              <a:rPr lang="zh-CN" altLang="en-US" sz="4000" dirty="0"/>
              <a:t>輸送流束 </a:t>
            </a:r>
            <a:r>
              <a:rPr lang="en-US" altLang="zh-CN" sz="4000" dirty="0"/>
              <a:t>(</a:t>
            </a:r>
            <a:r>
              <a:rPr lang="en-US" sz="4000" dirty="0"/>
              <a:t>exchange flux)</a:t>
            </a:r>
          </a:p>
          <a:p>
            <a:pPr marL="702310" lvl="1" indent="-351155" defTabSz="461518" hangingPunct="1">
              <a:spcBef>
                <a:spcPts val="3300"/>
              </a:spcBef>
              <a:defRPr sz="2844"/>
            </a:pPr>
            <a:r>
              <a:rPr lang="en-US" sz="3200" i="1" dirty="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3200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 dirty="0"/>
              <a:t> </a:t>
            </a:r>
            <a:r>
              <a:rPr lang="ja-JP" altLang="en-US" sz="3200"/>
              <a:t>のように</a:t>
            </a:r>
            <a:r>
              <a:rPr lang="zh-CN" altLang="en-US" sz="3200" dirty="0"/>
              <a:t>表記</a:t>
            </a:r>
          </a:p>
          <a:p>
            <a:pPr marL="702310" lvl="1" indent="-351155" defTabSz="461518" hangingPunct="1">
              <a:spcBef>
                <a:spcPts val="3300"/>
              </a:spcBef>
              <a:defRPr sz="2844"/>
            </a:pPr>
            <a:r>
              <a:rPr lang="zh-CN" altLang="en-US" sz="3200" dirty="0"/>
              <a:t>右図</a:t>
            </a:r>
            <a:r>
              <a:rPr lang="ja-JP" altLang="en-US" sz="3200"/>
              <a:t>では</a:t>
            </a:r>
            <a:r>
              <a:rPr lang="zh-CN" altLang="en-US" sz="3200" dirty="0"/>
              <a:t>青矢印</a:t>
            </a:r>
          </a:p>
        </p:txBody>
      </p:sp>
      <p:sp>
        <p:nvSpPr>
          <p:cNvPr id="425" name="角丸四角形"/>
          <p:cNvSpPr/>
          <p:nvPr/>
        </p:nvSpPr>
        <p:spPr>
          <a:xfrm>
            <a:off x="8085931" y="4330701"/>
            <a:ext cx="5633156" cy="2050063"/>
          </a:xfrm>
          <a:prstGeom prst="roundRect">
            <a:avLst>
              <a:gd name="adj" fmla="val 11719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426" name="線"/>
          <p:cNvSpPr/>
          <p:nvPr/>
        </p:nvSpPr>
        <p:spPr>
          <a:xfrm>
            <a:off x="7363442" y="4635500"/>
            <a:ext cx="1609796" cy="2258"/>
          </a:xfrm>
          <a:prstGeom prst="line">
            <a:avLst/>
          </a:prstGeom>
          <a:ln w="38100">
            <a:solidFill>
              <a:srgbClr val="7A81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427" name="線"/>
          <p:cNvSpPr/>
          <p:nvPr/>
        </p:nvSpPr>
        <p:spPr>
          <a:xfrm>
            <a:off x="13025949" y="4635500"/>
            <a:ext cx="1609797" cy="2258"/>
          </a:xfrm>
          <a:prstGeom prst="line">
            <a:avLst/>
          </a:prstGeom>
          <a:ln w="38100">
            <a:solidFill>
              <a:srgbClr val="7A81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428" name="線"/>
          <p:cNvSpPr/>
          <p:nvPr/>
        </p:nvSpPr>
        <p:spPr>
          <a:xfrm>
            <a:off x="9305131" y="4635500"/>
            <a:ext cx="1609796" cy="2258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429" name="線"/>
          <p:cNvSpPr/>
          <p:nvPr/>
        </p:nvSpPr>
        <p:spPr>
          <a:xfrm>
            <a:off x="9208048" y="4844063"/>
            <a:ext cx="1612901" cy="896339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430" name="線"/>
          <p:cNvSpPr/>
          <p:nvPr/>
        </p:nvSpPr>
        <p:spPr>
          <a:xfrm>
            <a:off x="11154252" y="4740204"/>
            <a:ext cx="2259" cy="1025032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431" name="線"/>
          <p:cNvSpPr/>
          <p:nvPr/>
        </p:nvSpPr>
        <p:spPr>
          <a:xfrm>
            <a:off x="11154252" y="5970693"/>
            <a:ext cx="2259" cy="1025032"/>
          </a:xfrm>
          <a:prstGeom prst="line">
            <a:avLst/>
          </a:prstGeom>
          <a:ln w="38100">
            <a:solidFill>
              <a:srgbClr val="7A81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432" name="線"/>
          <p:cNvSpPr/>
          <p:nvPr/>
        </p:nvSpPr>
        <p:spPr>
          <a:xfrm>
            <a:off x="11285203" y="4635500"/>
            <a:ext cx="1609797" cy="2258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11205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AA8E8-0440-DA0A-CB4F-5936B4888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089AA8-480F-8D5B-DFC7-ECFEE5577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260" dirty="0"/>
              <a:t>流束に対する目的関数の感受性</a:t>
            </a:r>
          </a:p>
        </p:txBody>
      </p:sp>
      <p:sp>
        <p:nvSpPr>
          <p:cNvPr id="435" name="Shadow price が 0 の物質…"/>
          <p:cNvSpPr txBox="1">
            <a:spLocks/>
          </p:cNvSpPr>
          <p:nvPr/>
        </p:nvSpPr>
        <p:spPr>
          <a:xfrm>
            <a:off x="1270038" y="1903109"/>
            <a:ext cx="14800185" cy="6286500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en-US" sz="4000" dirty="0"/>
              <a:t>Shadow price </a:t>
            </a:r>
            <a:r>
              <a:rPr lang="ja-JP" altLang="en-US" sz="4000" dirty="0"/>
              <a:t>が </a:t>
            </a:r>
            <a:r>
              <a:rPr lang="en-US" altLang="ja-JP" sz="4000" dirty="0"/>
              <a:t>0 </a:t>
            </a:r>
            <a:r>
              <a:rPr lang="ja-JP" altLang="en-US" sz="4000" dirty="0"/>
              <a:t>の</a:t>
            </a:r>
            <a:r>
              <a:rPr lang="zh-CN" altLang="en-US" sz="4000" dirty="0"/>
              <a:t>物質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r>
              <a:rPr lang="zh-CN" altLang="en-US" sz="3200" dirty="0"/>
              <a:t>増殖</a:t>
            </a:r>
            <a:r>
              <a:rPr lang="ja-JP" altLang="en-US" sz="3200" dirty="0"/>
              <a:t>に</a:t>
            </a:r>
            <a:r>
              <a:rPr lang="zh-CN" altLang="en-US" sz="3200" dirty="0"/>
              <a:t>使</a:t>
            </a:r>
            <a:r>
              <a:rPr lang="ja-JP" altLang="en-US" sz="3200" dirty="0"/>
              <a:t>わないので</a:t>
            </a:r>
            <a:r>
              <a:rPr lang="zh-CN" altLang="en-US" sz="3200" dirty="0"/>
              <a:t>分泌可能</a:t>
            </a:r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endParaRPr lang="zh-CN" altLang="en-US" sz="4000" dirty="0"/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en-US" sz="4000" dirty="0"/>
              <a:t>Shadow price </a:t>
            </a:r>
            <a:r>
              <a:rPr lang="ja-JP" altLang="en-US" sz="4000" dirty="0"/>
              <a:t>が</a:t>
            </a:r>
            <a:r>
              <a:rPr lang="zh-CN" altLang="en-US" sz="4000" dirty="0"/>
              <a:t>負</a:t>
            </a:r>
            <a:r>
              <a:rPr lang="ja-JP" altLang="en-US" sz="4000" dirty="0"/>
              <a:t>の</a:t>
            </a:r>
            <a:r>
              <a:rPr lang="zh-CN" altLang="en-US" sz="4000" dirty="0"/>
              <a:t>物質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r>
              <a:rPr lang="zh-CN" altLang="en-US" sz="3200" dirty="0"/>
              <a:t>増殖</a:t>
            </a:r>
            <a:r>
              <a:rPr lang="ja-JP" altLang="en-US" sz="3200" dirty="0"/>
              <a:t>に</a:t>
            </a:r>
            <a:r>
              <a:rPr lang="zh-CN" altLang="en-US" sz="3200" dirty="0"/>
              <a:t>役立</a:t>
            </a:r>
            <a:r>
              <a:rPr lang="ja-JP" altLang="en-US" sz="3200" dirty="0"/>
              <a:t>つので</a:t>
            </a:r>
            <a:r>
              <a:rPr lang="zh-CN" altLang="en-US" sz="3200" dirty="0"/>
              <a:t>分泌</a:t>
            </a:r>
            <a:r>
              <a:rPr lang="ja-JP" altLang="en-US" sz="3200" dirty="0"/>
              <a:t>しない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endParaRPr lang="ja-JP" altLang="en-US" sz="4000" dirty="0"/>
          </a:p>
          <a:p>
            <a:pPr marL="306704" indent="-306704" defTabSz="403097" hangingPunct="1">
              <a:spcBef>
                <a:spcPts val="2800"/>
              </a:spcBef>
              <a:defRPr sz="2484"/>
            </a:pPr>
            <a:r>
              <a:rPr lang="en-US" sz="4000" dirty="0"/>
              <a:t>Reduced cost </a:t>
            </a:r>
            <a:r>
              <a:rPr lang="ja-JP" altLang="en-US" sz="4000" dirty="0"/>
              <a:t>が </a:t>
            </a:r>
            <a:r>
              <a:rPr lang="en-US" altLang="ja-JP" sz="4000" dirty="0"/>
              <a:t>0</a:t>
            </a:r>
          </a:p>
          <a:p>
            <a:pPr marL="613409" lvl="1" indent="-306704" defTabSz="403097" hangingPunct="1">
              <a:spcBef>
                <a:spcPts val="2800"/>
              </a:spcBef>
              <a:defRPr sz="2484"/>
            </a:pPr>
            <a:r>
              <a:rPr lang="ja-JP" altLang="en-US" sz="3200" dirty="0"/>
              <a:t>その</a:t>
            </a:r>
            <a:r>
              <a:rPr lang="zh-CN" altLang="en-US" sz="3200" dirty="0"/>
              <a:t>酵素</a:t>
            </a:r>
            <a:r>
              <a:rPr lang="ja-JP" altLang="en-US" sz="3200" dirty="0"/>
              <a:t>の </a:t>
            </a:r>
            <a:r>
              <a:rPr lang="en-US" sz="3200" dirty="0"/>
              <a:t>deletion / overexpression </a:t>
            </a:r>
            <a:r>
              <a:rPr lang="ja-JP" altLang="en-US" sz="3200" dirty="0"/>
              <a:t>は</a:t>
            </a:r>
            <a:r>
              <a:rPr lang="zh-CN" altLang="en-US" sz="3200" dirty="0"/>
              <a:t>増殖</a:t>
            </a:r>
            <a:r>
              <a:rPr lang="ja-JP" altLang="en-US" sz="3200" dirty="0"/>
              <a:t>に</a:t>
            </a:r>
            <a:r>
              <a:rPr lang="zh-CN" altLang="en-US" sz="3200" dirty="0"/>
              <a:t>影響</a:t>
            </a:r>
            <a:r>
              <a:rPr lang="ja-JP" altLang="en-US" sz="3200" dirty="0"/>
              <a:t>しない</a:t>
            </a:r>
          </a:p>
        </p:txBody>
      </p:sp>
      <p:sp>
        <p:nvSpPr>
          <p:cNvPr id="436" name="Shadow Price"/>
          <p:cNvSpPr txBox="1"/>
          <p:nvPr/>
        </p:nvSpPr>
        <p:spPr>
          <a:xfrm>
            <a:off x="9901241" y="2230613"/>
            <a:ext cx="262732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Shadow Price</a:t>
            </a:r>
          </a:p>
        </p:txBody>
      </p:sp>
      <p:sp>
        <p:nvSpPr>
          <p:cNvPr id="437" name="Reduced Cost"/>
          <p:cNvSpPr txBox="1"/>
          <p:nvPr/>
        </p:nvSpPr>
        <p:spPr>
          <a:xfrm>
            <a:off x="9884806" y="5515962"/>
            <a:ext cx="2662588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Reduced Cost</a:t>
            </a:r>
          </a:p>
        </p:txBody>
      </p:sp>
      <p:pic>
        <p:nvPicPr>
          <p:cNvPr id="438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8531" y="3124201"/>
            <a:ext cx="2527300" cy="1287197"/>
          </a:xfrm>
          <a:prstGeom prst="rect">
            <a:avLst/>
          </a:prstGeom>
          <a:ln w="12700">
            <a:miter lim="400000"/>
          </a:ln>
        </p:spPr>
      </p:pic>
      <p:pic>
        <p:nvPicPr>
          <p:cNvPr id="439" name="droppedImage.pdf" descr="dropped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7431" y="6451600"/>
            <a:ext cx="2468602" cy="12573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66832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F3A7A-82D9-AA57-8FBF-7F725844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1AD4E8-4C4E-28C9-F55E-E9817507E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260" dirty="0"/>
              <a:t>演習</a:t>
            </a:r>
            <a:r>
              <a:rPr kumimoji="1" lang="en-US" altLang="ja-JP" sz="6260" dirty="0"/>
              <a:t>4</a:t>
            </a:r>
            <a:endParaRPr kumimoji="1" lang="ja-JP" altLang="en-US" sz="6260" dirty="0"/>
          </a:p>
        </p:txBody>
      </p:sp>
      <p:sp>
        <p:nvSpPr>
          <p:cNvPr id="4" name="演習3で求めた最適解について、流入量 b1 に対する Shadow Price を求めなさい">
            <a:extLst>
              <a:ext uri="{FF2B5EF4-FFF2-40B4-BE49-F238E27FC236}">
                <a16:creationId xmlns:a16="http://schemas.microsoft.com/office/drawing/2014/main" id="{0782FBD9-EFBD-93C5-6D4A-9A5FD6D14BB6}"/>
              </a:ext>
            </a:extLst>
          </p:cNvPr>
          <p:cNvSpPr txBox="1">
            <a:spLocks/>
          </p:cNvSpPr>
          <p:nvPr/>
        </p:nvSpPr>
        <p:spPr>
          <a:xfrm>
            <a:off x="1270039" y="2603500"/>
            <a:ext cx="14800185" cy="6286500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hangingPunct="1"/>
            <a:endParaRPr lang="en-US" altLang="ja-JP" dirty="0"/>
          </a:p>
          <a:p>
            <a:pPr hangingPunct="1"/>
            <a:endParaRPr lang="en-US" altLang="ja-JP" dirty="0"/>
          </a:p>
          <a:p>
            <a:pPr hangingPunct="1"/>
            <a:r>
              <a:rPr lang="ja-JP" altLang="en-US" dirty="0"/>
              <a:t>演習</a:t>
            </a:r>
            <a:r>
              <a:rPr lang="en-US" altLang="ja-JP" dirty="0"/>
              <a:t>3</a:t>
            </a:r>
            <a:r>
              <a:rPr lang="ja-JP" altLang="en-US" dirty="0"/>
              <a:t>で求めた最適解について、流入量 </a:t>
            </a:r>
            <a:r>
              <a:rPr lang="en-US" altLang="ja-JP" i="1" dirty="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altLang="ja-JP" baseline="-5999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ja-JP" altLang="en-US" dirty="0"/>
              <a:t> に対する </a:t>
            </a:r>
            <a:r>
              <a:rPr lang="en-US" altLang="ja-JP" dirty="0"/>
              <a:t>Shadow Price </a:t>
            </a:r>
            <a:r>
              <a:rPr lang="ja-JP" altLang="en-US" dirty="0"/>
              <a:t>を求めなさい</a:t>
            </a:r>
          </a:p>
        </p:txBody>
      </p:sp>
    </p:spTree>
    <p:extLst>
      <p:ext uri="{BB962C8B-B14F-4D97-AF65-F5344CB8AC3E}">
        <p14:creationId xmlns:p14="http://schemas.microsoft.com/office/powerpoint/2010/main" val="3026167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DCA96-03F5-D2F6-EBDE-16A52DCDD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E97923-0773-756A-67E5-308B2FDC4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260" dirty="0"/>
              <a:t>参考文献</a:t>
            </a:r>
          </a:p>
        </p:txBody>
      </p:sp>
      <p:sp>
        <p:nvSpPr>
          <p:cNvPr id="3" name="ステファノポーラス、アリスティド、ニールセン「代謝工学 原理と方法論」 東京電機大学出版局…">
            <a:extLst>
              <a:ext uri="{FF2B5EF4-FFF2-40B4-BE49-F238E27FC236}">
                <a16:creationId xmlns:a16="http://schemas.microsoft.com/office/drawing/2014/main" id="{1C28CD90-56C3-BC8A-D5D6-435951B5A300}"/>
              </a:ext>
            </a:extLst>
          </p:cNvPr>
          <p:cNvSpPr txBox="1">
            <a:spLocks/>
          </p:cNvSpPr>
          <p:nvPr/>
        </p:nvSpPr>
        <p:spPr>
          <a:xfrm>
            <a:off x="372437" y="1986468"/>
            <a:ext cx="16595388" cy="7390995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marL="204470" indent="-204470" defTabSz="268731" hangingPunct="1">
              <a:spcBef>
                <a:spcPts val="1900"/>
              </a:spcBef>
              <a:defRPr sz="1656"/>
            </a:pPr>
            <a:r>
              <a:rPr lang="ja-JP" altLang="en-US" sz="2800"/>
              <a:t>ステファノポーラス、アリスティド、ニールセン「</a:t>
            </a:r>
            <a:r>
              <a:rPr lang="zh-CN" altLang="en-US" sz="2800" dirty="0"/>
              <a:t>代謝工学　原理</a:t>
            </a:r>
            <a:r>
              <a:rPr lang="ja-JP" altLang="en-US" sz="2800"/>
              <a:t>と</a:t>
            </a:r>
            <a:r>
              <a:rPr lang="zh-CN" altLang="en-US" sz="2800" dirty="0"/>
              <a:t>方法論」　東京電機大学出版局</a:t>
            </a:r>
          </a:p>
          <a:p>
            <a:pPr marL="204470" indent="-204470" defTabSz="268731" hangingPunct="1">
              <a:spcBef>
                <a:spcPts val="1900"/>
              </a:spcBef>
              <a:defRPr sz="1656"/>
            </a:pPr>
            <a:r>
              <a:rPr lang="en-US" sz="2800" dirty="0"/>
              <a:t>Bernhard </a:t>
            </a:r>
            <a:r>
              <a:rPr lang="en-US" sz="2800" dirty="0" err="1"/>
              <a:t>Ø</a:t>
            </a:r>
            <a:r>
              <a:rPr lang="en-US" sz="2800" dirty="0"/>
              <a:t>. Palsson “Systems biology: properties of reconstructed networks”, Cambridge Univ. Press</a:t>
            </a:r>
          </a:p>
          <a:p>
            <a:pPr marL="204470" indent="-204470" defTabSz="268731" hangingPunct="1">
              <a:spcBef>
                <a:spcPts val="1900"/>
              </a:spcBef>
              <a:defRPr sz="1656"/>
            </a:pPr>
            <a:r>
              <a:rPr lang="en-US" sz="2800" dirty="0"/>
              <a:t>Reinhart Heinrich and Stefan Schuster “The regulation of cellular systems”, Chapman &amp; Hall</a:t>
            </a:r>
          </a:p>
          <a:p>
            <a:pPr marL="204470" indent="-204470" defTabSz="268731" hangingPunct="1">
              <a:spcBef>
                <a:spcPts val="1900"/>
              </a:spcBef>
              <a:defRPr sz="1656"/>
            </a:pPr>
            <a:r>
              <a:rPr lang="en-US" sz="2800" dirty="0"/>
              <a:t>Edda Klipp et al.  “Systems biology in practice”, Wiley VCH</a:t>
            </a:r>
          </a:p>
          <a:p>
            <a:pPr marL="204470" indent="-204470" defTabSz="268731" hangingPunct="1">
              <a:spcBef>
                <a:spcPts val="1900"/>
              </a:spcBef>
              <a:defRPr sz="1656"/>
            </a:pPr>
            <a:r>
              <a:rPr lang="en-US" sz="2800" dirty="0" err="1"/>
              <a:t>Aiba</a:t>
            </a:r>
            <a:r>
              <a:rPr lang="en-US" sz="2800" dirty="0"/>
              <a:t> and Matsuoka (1979) </a:t>
            </a:r>
            <a:r>
              <a:rPr lang="en-US" sz="2800" dirty="0" err="1"/>
              <a:t>Biotechnol</a:t>
            </a:r>
            <a:r>
              <a:rPr lang="en-US" sz="2800" dirty="0"/>
              <a:t>. </a:t>
            </a:r>
            <a:r>
              <a:rPr lang="en-US" sz="2800" dirty="0" err="1"/>
              <a:t>Bioeng</a:t>
            </a:r>
            <a:r>
              <a:rPr lang="en-US" sz="2800" dirty="0"/>
              <a:t>. 21:1373-1386</a:t>
            </a:r>
          </a:p>
          <a:p>
            <a:pPr marL="204470" indent="-204470" defTabSz="268731" hangingPunct="1">
              <a:spcBef>
                <a:spcPts val="1900"/>
              </a:spcBef>
              <a:defRPr sz="1656"/>
            </a:pPr>
            <a:r>
              <a:rPr lang="en-US" sz="2800" dirty="0"/>
              <a:t>Fell and Small (1986) </a:t>
            </a:r>
            <a:r>
              <a:rPr lang="en-US" sz="2800" dirty="0" err="1"/>
              <a:t>Biochem</a:t>
            </a:r>
            <a:r>
              <a:rPr lang="en-US" sz="2800" dirty="0"/>
              <a:t> J. 238: 781–786.</a:t>
            </a:r>
          </a:p>
          <a:p>
            <a:pPr marL="204470" indent="-204470" defTabSz="268731" hangingPunct="1">
              <a:spcBef>
                <a:spcPts val="1900"/>
              </a:spcBef>
              <a:defRPr sz="1656"/>
            </a:pPr>
            <a:r>
              <a:rPr lang="en-US" sz="2800" dirty="0"/>
              <a:t>Ibarra et al. (2002) Nature, 420:186-189</a:t>
            </a:r>
          </a:p>
          <a:p>
            <a:pPr marL="204470" indent="-204470" defTabSz="268731" hangingPunct="1">
              <a:spcBef>
                <a:spcPts val="1900"/>
              </a:spcBef>
              <a:defRPr sz="1656"/>
            </a:pPr>
            <a:r>
              <a:rPr lang="en-US" sz="2800" dirty="0"/>
              <a:t>Shlomi et al. (2005) PNAS, 102:7695–7700</a:t>
            </a:r>
          </a:p>
          <a:p>
            <a:pPr marL="204470" indent="-204470" defTabSz="268731" hangingPunct="1">
              <a:spcBef>
                <a:spcPts val="1900"/>
              </a:spcBef>
              <a:defRPr sz="1656"/>
            </a:pPr>
            <a:r>
              <a:rPr lang="en-US" sz="2800" dirty="0" err="1"/>
              <a:t>Holzhütter</a:t>
            </a:r>
            <a:r>
              <a:rPr lang="en-US" sz="2800" dirty="0"/>
              <a:t> (2004) </a:t>
            </a:r>
            <a:r>
              <a:rPr lang="en-US" sz="2800" dirty="0" err="1"/>
              <a:t>Eur</a:t>
            </a:r>
            <a:r>
              <a:rPr lang="en-US" sz="2800" dirty="0"/>
              <a:t> J </a:t>
            </a:r>
            <a:r>
              <a:rPr lang="en-US" sz="2800" dirty="0" err="1"/>
              <a:t>Biochem</a:t>
            </a:r>
            <a:r>
              <a:rPr lang="en-US" sz="2800" dirty="0"/>
              <a:t> 271:2905-22.</a:t>
            </a:r>
          </a:p>
          <a:p>
            <a:pPr marL="204470" indent="-204470" defTabSz="268731" hangingPunct="1">
              <a:spcBef>
                <a:spcPts val="1900"/>
              </a:spcBef>
              <a:defRPr sz="1656"/>
            </a:pPr>
            <a:r>
              <a:rPr lang="en-US" sz="2800" dirty="0"/>
              <a:t>Schuetz et al. (2007) Mol. Syst. Biol. 3:119.</a:t>
            </a:r>
          </a:p>
          <a:p>
            <a:pPr marL="204470" indent="-204470" defTabSz="268731" hangingPunct="1">
              <a:spcBef>
                <a:spcPts val="1900"/>
              </a:spcBef>
              <a:defRPr sz="1656"/>
            </a:pPr>
            <a:r>
              <a:rPr lang="en-US" sz="2800" dirty="0"/>
              <a:t>Schuetz et al. (2012) Science 336:601-4.</a:t>
            </a:r>
          </a:p>
        </p:txBody>
      </p:sp>
    </p:spTree>
    <p:extLst>
      <p:ext uri="{BB962C8B-B14F-4D97-AF65-F5344CB8AC3E}">
        <p14:creationId xmlns:p14="http://schemas.microsoft.com/office/powerpoint/2010/main" val="42055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911727-9AC9-7F79-538E-C50F597D8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8926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C986D-DB56-CF40-CB18-9D077568B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98A498-71DE-32C5-FB4E-015B461BD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6260" dirty="0"/>
              <a:t>増殖速度の感受性</a:t>
            </a:r>
          </a:p>
        </p:txBody>
      </p:sp>
      <p:sp>
        <p:nvSpPr>
          <p:cNvPr id="3" name="流束1つを操作…">
            <a:extLst>
              <a:ext uri="{FF2B5EF4-FFF2-40B4-BE49-F238E27FC236}">
                <a16:creationId xmlns:a16="http://schemas.microsoft.com/office/drawing/2014/main" id="{000E0ED9-A9C0-C6A3-5B61-274ABBEDFAD2}"/>
              </a:ext>
            </a:extLst>
          </p:cNvPr>
          <p:cNvSpPr txBox="1">
            <a:spLocks/>
          </p:cNvSpPr>
          <p:nvPr/>
        </p:nvSpPr>
        <p:spPr>
          <a:xfrm>
            <a:off x="1270038" y="2125519"/>
            <a:ext cx="14800185" cy="6286500"/>
          </a:xfrm>
          <a:prstGeom prst="rect">
            <a:avLst/>
          </a:prstGeom>
        </p:spPr>
        <p:txBody>
          <a:bodyPr/>
          <a:lstStyle>
            <a:lvl1pPr marL="444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1pPr>
            <a:lvl2pPr marL="889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2pPr>
            <a:lvl3pPr marL="1333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3pPr>
            <a:lvl4pPr marL="1778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4pPr>
            <a:lvl5pPr marL="2222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ヒラギノ角ゴ ProN W3"/>
              </a:defRPr>
            </a:lvl9pPr>
          </a:lstStyle>
          <a:p>
            <a:pPr marL="195579" indent="-195579" defTabSz="257047" hangingPunct="1">
              <a:spcBef>
                <a:spcPts val="1800"/>
              </a:spcBef>
              <a:defRPr sz="1584"/>
            </a:pPr>
            <a:r>
              <a:rPr lang="ja-JP" altLang="en-US" sz="2400" dirty="0"/>
              <a:t>流束</a:t>
            </a:r>
            <a:r>
              <a:rPr lang="en-US" altLang="ja-JP" sz="2400" dirty="0"/>
              <a:t>1</a:t>
            </a:r>
            <a:r>
              <a:rPr lang="ja-JP" altLang="en-US" sz="2400" dirty="0"/>
              <a:t>つを操作</a:t>
            </a:r>
          </a:p>
          <a:p>
            <a:pPr marL="391159" lvl="1" indent="-195579" defTabSz="257047" hangingPunct="1">
              <a:spcBef>
                <a:spcPts val="1800"/>
              </a:spcBef>
              <a:defRPr sz="1584"/>
            </a:pPr>
            <a:r>
              <a:rPr lang="ja-JP" altLang="en-US" sz="2400" dirty="0"/>
              <a:t>“</a:t>
            </a:r>
            <a:r>
              <a:rPr lang="en-US" altLang="ja-JP" sz="2400" dirty="0"/>
              <a:t>Robustness analysis”</a:t>
            </a:r>
          </a:p>
          <a:p>
            <a:pPr marL="391159" lvl="1" indent="-195579" defTabSz="257047" hangingPunct="1">
              <a:spcBef>
                <a:spcPts val="1800"/>
              </a:spcBef>
              <a:defRPr sz="1584"/>
            </a:pPr>
            <a:r>
              <a:rPr lang="ja-JP" altLang="en-US" sz="2400" dirty="0"/>
              <a:t>例</a:t>
            </a:r>
            <a:r>
              <a:rPr lang="en-US" altLang="ja-JP" sz="2400" dirty="0"/>
              <a:t>:  </a:t>
            </a:r>
            <a:r>
              <a:rPr lang="ja-JP" altLang="en-US" sz="2400" dirty="0"/>
              <a:t>酸素取り込み速度と増殖速度の関係</a:t>
            </a:r>
          </a:p>
          <a:p>
            <a:pPr marL="391159" lvl="1" indent="-195579" defTabSz="257047" hangingPunct="1">
              <a:spcBef>
                <a:spcPts val="1800"/>
              </a:spcBef>
              <a:defRPr sz="1584"/>
            </a:pPr>
            <a:endParaRPr lang="ja-JP" altLang="en-US" sz="2400" dirty="0"/>
          </a:p>
          <a:p>
            <a:pPr marL="195579" indent="-195579" defTabSz="257047" hangingPunct="1">
              <a:spcBef>
                <a:spcPts val="1800"/>
              </a:spcBef>
              <a:defRPr sz="1584"/>
            </a:pPr>
            <a:r>
              <a:rPr lang="ja-JP" altLang="en-US" sz="2400" dirty="0"/>
              <a:t>流束</a:t>
            </a:r>
            <a:r>
              <a:rPr lang="en-US" altLang="ja-JP" sz="2400" dirty="0"/>
              <a:t>2</a:t>
            </a:r>
            <a:r>
              <a:rPr lang="ja-JP" altLang="en-US" sz="2400" dirty="0"/>
              <a:t>つを操作</a:t>
            </a:r>
          </a:p>
          <a:p>
            <a:pPr marL="391159" lvl="1" indent="-195579" defTabSz="257047" hangingPunct="1">
              <a:spcBef>
                <a:spcPts val="1800"/>
              </a:spcBef>
              <a:defRPr sz="1584"/>
            </a:pPr>
            <a:r>
              <a:rPr lang="ja-JP" altLang="en-US" sz="2400" dirty="0"/>
              <a:t>“”</a:t>
            </a:r>
            <a:r>
              <a:rPr lang="en-US" altLang="ja-JP" sz="2400" dirty="0"/>
              <a:t>Phenotypic Phase Plane (</a:t>
            </a:r>
            <a:r>
              <a:rPr lang="en-US" altLang="ja-JP" sz="2400" dirty="0" err="1"/>
              <a:t>PhPP</a:t>
            </a:r>
            <a:r>
              <a:rPr lang="en-US" altLang="ja-JP" sz="2400" dirty="0"/>
              <a:t>)”</a:t>
            </a:r>
          </a:p>
          <a:p>
            <a:pPr marL="391159" lvl="1" indent="-195579" defTabSz="257047" hangingPunct="1">
              <a:spcBef>
                <a:spcPts val="1800"/>
              </a:spcBef>
              <a:defRPr sz="1584"/>
            </a:pPr>
            <a:r>
              <a:rPr lang="ja-JP" altLang="en-US" sz="2400" dirty="0"/>
              <a:t>例</a:t>
            </a:r>
            <a:r>
              <a:rPr lang="en-US" altLang="ja-JP" sz="2400" dirty="0"/>
              <a:t>: </a:t>
            </a:r>
            <a:r>
              <a:rPr lang="ja-JP" altLang="en-US" sz="2400" dirty="0"/>
              <a:t>酸素、コハク酸の取り込み速度と増殖の関係</a:t>
            </a:r>
          </a:p>
          <a:p>
            <a:pPr marL="391159" lvl="1" indent="-195579" defTabSz="257047" hangingPunct="1">
              <a:spcBef>
                <a:spcPts val="1800"/>
              </a:spcBef>
              <a:defRPr sz="1584"/>
            </a:pPr>
            <a:endParaRPr lang="ja-JP" altLang="en-US" sz="2400" dirty="0"/>
          </a:p>
          <a:p>
            <a:pPr marL="195579" indent="-195579" defTabSz="257047" hangingPunct="1">
              <a:spcBef>
                <a:spcPts val="1800"/>
              </a:spcBef>
              <a:defRPr sz="1584"/>
            </a:pPr>
            <a:r>
              <a:rPr lang="ja-JP" altLang="en-US" sz="2400" dirty="0"/>
              <a:t>計算手順</a:t>
            </a:r>
          </a:p>
          <a:p>
            <a:pPr marL="391159" lvl="1" indent="-195579" defTabSz="257047" hangingPunct="1">
              <a:spcBef>
                <a:spcPts val="1800"/>
              </a:spcBef>
              <a:defRPr sz="1584"/>
            </a:pPr>
            <a:r>
              <a:rPr lang="ja-JP" altLang="en-US" sz="2400" dirty="0"/>
              <a:t>注目している流束の値を決める</a:t>
            </a:r>
          </a:p>
          <a:p>
            <a:pPr marL="391159" lvl="1" indent="-195579" defTabSz="257047" hangingPunct="1">
              <a:spcBef>
                <a:spcPts val="1800"/>
              </a:spcBef>
              <a:defRPr sz="1584"/>
            </a:pPr>
            <a:r>
              <a:rPr lang="ja-JP" altLang="en-US" sz="2400" dirty="0"/>
              <a:t>その流束値を固定したまま </a:t>
            </a:r>
            <a:r>
              <a:rPr lang="en-US" altLang="ja-JP" sz="2400" dirty="0"/>
              <a:t>Nv = 0 </a:t>
            </a:r>
            <a:r>
              <a:rPr lang="ja-JP" altLang="en-US" sz="2400" dirty="0"/>
              <a:t>を解く</a:t>
            </a:r>
          </a:p>
          <a:p>
            <a:pPr marL="391159" lvl="1" indent="-195579" defTabSz="257047" hangingPunct="1">
              <a:spcBef>
                <a:spcPts val="1800"/>
              </a:spcBef>
              <a:defRPr sz="1584"/>
            </a:pPr>
            <a:r>
              <a:rPr lang="ja-JP" altLang="en-US" sz="2400" dirty="0"/>
              <a:t>さまざまな物質の </a:t>
            </a:r>
            <a:r>
              <a:rPr lang="en-US" altLang="ja-JP" sz="2400" dirty="0"/>
              <a:t>Shadow Price </a:t>
            </a:r>
            <a:r>
              <a:rPr lang="ja-JP" altLang="en-US" sz="2400" dirty="0"/>
              <a:t>を計算</a:t>
            </a:r>
          </a:p>
        </p:txBody>
      </p:sp>
    </p:spTree>
    <p:extLst>
      <p:ext uri="{BB962C8B-B14F-4D97-AF65-F5344CB8AC3E}">
        <p14:creationId xmlns:p14="http://schemas.microsoft.com/office/powerpoint/2010/main" val="15146549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17CE4-F623-26E0-A003-80EB55D81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B19C3-FDD7-0EC8-E112-1B3465DEB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6260" dirty="0"/>
              <a:t>Robustness Analysis</a:t>
            </a:r>
            <a:endParaRPr kumimoji="1" lang="ja-JP" altLang="en-US" sz="6260" dirty="0"/>
          </a:p>
        </p:txBody>
      </p:sp>
      <p:sp>
        <p:nvSpPr>
          <p:cNvPr id="464" name="コールアウト"/>
          <p:cNvSpPr/>
          <p:nvPr/>
        </p:nvSpPr>
        <p:spPr>
          <a:xfrm>
            <a:off x="6638131" y="3651646"/>
            <a:ext cx="2997200" cy="20379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03" y="0"/>
                </a:moveTo>
                <a:lnTo>
                  <a:pt x="1482" y="8190"/>
                </a:lnTo>
                <a:cubicBezTo>
                  <a:pt x="638" y="8430"/>
                  <a:pt x="0" y="9520"/>
                  <a:pt x="0" y="10832"/>
                </a:cubicBezTo>
                <a:lnTo>
                  <a:pt x="0" y="18908"/>
                </a:lnTo>
                <a:cubicBezTo>
                  <a:pt x="0" y="20395"/>
                  <a:pt x="820" y="21600"/>
                  <a:pt x="1831" y="21600"/>
                </a:cubicBezTo>
                <a:lnTo>
                  <a:pt x="19769" y="21600"/>
                </a:lnTo>
                <a:cubicBezTo>
                  <a:pt x="20780" y="21600"/>
                  <a:pt x="21600" y="20395"/>
                  <a:pt x="21600" y="18908"/>
                </a:cubicBezTo>
                <a:lnTo>
                  <a:pt x="21600" y="10832"/>
                </a:lnTo>
                <a:cubicBezTo>
                  <a:pt x="21600" y="9345"/>
                  <a:pt x="20780" y="8139"/>
                  <a:pt x="19769" y="8139"/>
                </a:cubicBezTo>
                <a:lnTo>
                  <a:pt x="3318" y="8139"/>
                </a:lnTo>
                <a:lnTo>
                  <a:pt x="2403" y="0"/>
                </a:lnTo>
                <a:close/>
              </a:path>
            </a:pathLst>
          </a:custGeom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466" name="線"/>
          <p:cNvSpPr/>
          <p:nvPr/>
        </p:nvSpPr>
        <p:spPr>
          <a:xfrm>
            <a:off x="5188638" y="2725138"/>
            <a:ext cx="2259" cy="563315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467" name="線"/>
          <p:cNvSpPr/>
          <p:nvPr/>
        </p:nvSpPr>
        <p:spPr>
          <a:xfrm>
            <a:off x="5188638" y="8358294"/>
            <a:ext cx="7680961" cy="2259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468" name="Oxygen uptake ( mmol / gDW / h )"/>
          <p:cNvSpPr txBox="1"/>
          <p:nvPr/>
        </p:nvSpPr>
        <p:spPr>
          <a:xfrm>
            <a:off x="5830313" y="8764904"/>
            <a:ext cx="6514604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Oxygen uptake ( mmol / gDW / h )</a:t>
            </a:r>
          </a:p>
        </p:txBody>
      </p:sp>
      <p:sp>
        <p:nvSpPr>
          <p:cNvPr id="469" name="Biomass production (1/h)"/>
          <p:cNvSpPr txBox="1"/>
          <p:nvPr/>
        </p:nvSpPr>
        <p:spPr>
          <a:xfrm rot="16200000">
            <a:off x="1740171" y="5221421"/>
            <a:ext cx="4868320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Biomass production (1/h)</a:t>
            </a:r>
          </a:p>
        </p:txBody>
      </p:sp>
      <p:sp>
        <p:nvSpPr>
          <p:cNvPr id="470" name="線"/>
          <p:cNvSpPr/>
          <p:nvPr/>
        </p:nvSpPr>
        <p:spPr>
          <a:xfrm flipV="1">
            <a:off x="5188638" y="4775201"/>
            <a:ext cx="819575" cy="194394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471" name="線"/>
          <p:cNvSpPr/>
          <p:nvPr/>
        </p:nvSpPr>
        <p:spPr>
          <a:xfrm flipV="1">
            <a:off x="7338043" y="2828996"/>
            <a:ext cx="1946205" cy="408659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472" name="線"/>
          <p:cNvSpPr/>
          <p:nvPr/>
        </p:nvSpPr>
        <p:spPr>
          <a:xfrm>
            <a:off x="9279731" y="2828996"/>
            <a:ext cx="2664178" cy="5427699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473" name="円形"/>
          <p:cNvSpPr/>
          <p:nvPr/>
        </p:nvSpPr>
        <p:spPr>
          <a:xfrm>
            <a:off x="5084780" y="6617547"/>
            <a:ext cx="205459" cy="203201"/>
          </a:xfrm>
          <a:prstGeom prst="ellipse">
            <a:avLst/>
          </a:prstGeom>
          <a:solidFill>
            <a:srgbClr val="FFD479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474" name="円形"/>
          <p:cNvSpPr/>
          <p:nvPr/>
        </p:nvSpPr>
        <p:spPr>
          <a:xfrm>
            <a:off x="7236442" y="3136054"/>
            <a:ext cx="205458" cy="203201"/>
          </a:xfrm>
          <a:prstGeom prst="ellipse">
            <a:avLst/>
          </a:prstGeom>
          <a:solidFill>
            <a:srgbClr val="FFD479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475" name="円形"/>
          <p:cNvSpPr/>
          <p:nvPr/>
        </p:nvSpPr>
        <p:spPr>
          <a:xfrm>
            <a:off x="9182647" y="2725138"/>
            <a:ext cx="205458" cy="203201"/>
          </a:xfrm>
          <a:prstGeom prst="ellipse">
            <a:avLst/>
          </a:prstGeom>
          <a:solidFill>
            <a:srgbClr val="FFD479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476" name="円形"/>
          <p:cNvSpPr/>
          <p:nvPr/>
        </p:nvSpPr>
        <p:spPr>
          <a:xfrm>
            <a:off x="11844567" y="8256694"/>
            <a:ext cx="205459" cy="203201"/>
          </a:xfrm>
          <a:prstGeom prst="ellipse">
            <a:avLst/>
          </a:prstGeom>
          <a:solidFill>
            <a:srgbClr val="FFD479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477" name="線"/>
          <p:cNvSpPr/>
          <p:nvPr/>
        </p:nvSpPr>
        <p:spPr>
          <a:xfrm flipV="1">
            <a:off x="6008211" y="3340101"/>
            <a:ext cx="1231901" cy="1433689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 sz="2400"/>
          </a:p>
        </p:txBody>
      </p:sp>
      <p:sp>
        <p:nvSpPr>
          <p:cNvPr id="478" name="円形"/>
          <p:cNvSpPr/>
          <p:nvPr/>
        </p:nvSpPr>
        <p:spPr>
          <a:xfrm>
            <a:off x="5904354" y="4673601"/>
            <a:ext cx="205459" cy="203201"/>
          </a:xfrm>
          <a:prstGeom prst="ellipse">
            <a:avLst/>
          </a:prstGeom>
          <a:solidFill>
            <a:srgbClr val="FFD479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2400"/>
          </a:p>
        </p:txBody>
      </p:sp>
      <p:sp>
        <p:nvSpPr>
          <p:cNvPr id="479" name="酢酸、蟻酸、…"/>
          <p:cNvSpPr txBox="1"/>
          <p:nvPr/>
        </p:nvSpPr>
        <p:spPr>
          <a:xfrm>
            <a:off x="5132571" y="6379358"/>
            <a:ext cx="4064001" cy="1087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200"/>
            </a:pPr>
            <a:r>
              <a:rPr sz="3200" dirty="0" err="1"/>
              <a:t>酢酸、蟻酸</a:t>
            </a:r>
            <a:r>
              <a:rPr sz="3200" dirty="0"/>
              <a:t>、</a:t>
            </a:r>
          </a:p>
          <a:p>
            <a:pPr>
              <a:defRPr sz="3200"/>
            </a:pPr>
            <a:r>
              <a:rPr sz="3200" dirty="0" err="1"/>
              <a:t>エタノールを分泌</a:t>
            </a:r>
            <a:endParaRPr sz="3200" dirty="0"/>
          </a:p>
        </p:txBody>
      </p:sp>
      <p:sp>
        <p:nvSpPr>
          <p:cNvPr id="480" name="酢酸、蟻酸…"/>
          <p:cNvSpPr txBox="1"/>
          <p:nvPr/>
        </p:nvSpPr>
        <p:spPr>
          <a:xfrm>
            <a:off x="6200390" y="4504114"/>
            <a:ext cx="2654301" cy="1087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200"/>
            </a:pPr>
            <a:r>
              <a:rPr sz="3200"/>
              <a:t>酢酸、蟻酸</a:t>
            </a:r>
          </a:p>
          <a:p>
            <a:pPr>
              <a:defRPr sz="3200"/>
            </a:pPr>
            <a:r>
              <a:rPr sz="3200"/>
              <a:t>を分泌</a:t>
            </a:r>
          </a:p>
        </p:txBody>
      </p:sp>
      <p:grpSp>
        <p:nvGrpSpPr>
          <p:cNvPr id="483" name="グループ"/>
          <p:cNvGrpSpPr/>
          <p:nvPr/>
        </p:nvGrpSpPr>
        <p:grpSpPr>
          <a:xfrm>
            <a:off x="5287981" y="2385626"/>
            <a:ext cx="3278295" cy="1219193"/>
            <a:chOff x="0" y="4366"/>
            <a:chExt cx="3278294" cy="1219191"/>
          </a:xfrm>
        </p:grpSpPr>
        <p:sp>
          <p:nvSpPr>
            <p:cNvPr id="481" name="図形"/>
            <p:cNvSpPr/>
            <p:nvPr/>
          </p:nvSpPr>
          <p:spPr>
            <a:xfrm>
              <a:off x="0" y="4366"/>
              <a:ext cx="3278294" cy="12191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600" y="0"/>
                  </a:moveTo>
                  <a:cubicBezTo>
                    <a:pt x="1612" y="0"/>
                    <a:pt x="0" y="1218"/>
                    <a:pt x="0" y="2720"/>
                  </a:cubicBezTo>
                  <a:lnTo>
                    <a:pt x="0" y="9520"/>
                  </a:lnTo>
                  <a:lnTo>
                    <a:pt x="0" y="9520"/>
                  </a:lnTo>
                  <a:lnTo>
                    <a:pt x="0" y="13600"/>
                  </a:lnTo>
                  <a:lnTo>
                    <a:pt x="0" y="13600"/>
                  </a:lnTo>
                  <a:cubicBezTo>
                    <a:pt x="0" y="15102"/>
                    <a:pt x="1612" y="16320"/>
                    <a:pt x="3600" y="16320"/>
                  </a:cubicBezTo>
                  <a:lnTo>
                    <a:pt x="12600" y="16320"/>
                  </a:lnTo>
                  <a:lnTo>
                    <a:pt x="19473" y="21600"/>
                  </a:lnTo>
                  <a:lnTo>
                    <a:pt x="18000" y="16320"/>
                  </a:lnTo>
                  <a:lnTo>
                    <a:pt x="18000" y="16320"/>
                  </a:lnTo>
                  <a:cubicBezTo>
                    <a:pt x="19988" y="16320"/>
                    <a:pt x="21600" y="15102"/>
                    <a:pt x="21600" y="13600"/>
                  </a:cubicBezTo>
                  <a:lnTo>
                    <a:pt x="21600" y="13600"/>
                  </a:lnTo>
                  <a:lnTo>
                    <a:pt x="21600" y="9520"/>
                  </a:lnTo>
                  <a:lnTo>
                    <a:pt x="21600" y="9520"/>
                  </a:lnTo>
                  <a:lnTo>
                    <a:pt x="21600" y="2720"/>
                  </a:lnTo>
                  <a:cubicBezTo>
                    <a:pt x="21600" y="1218"/>
                    <a:pt x="19988" y="0"/>
                    <a:pt x="18000" y="0"/>
                  </a:cubicBezTo>
                  <a:lnTo>
                    <a:pt x="18000" y="0"/>
                  </a:lnTo>
                  <a:lnTo>
                    <a:pt x="12600" y="0"/>
                  </a:lnTo>
                  <a:lnTo>
                    <a:pt x="1260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2400"/>
            </a:p>
          </p:txBody>
        </p:sp>
        <p:sp>
          <p:nvSpPr>
            <p:cNvPr id="482" name="蟻酸のみ分泌"/>
            <p:cNvSpPr txBox="1"/>
            <p:nvPr/>
          </p:nvSpPr>
          <p:spPr>
            <a:xfrm>
              <a:off x="115993" y="13633"/>
              <a:ext cx="3035301" cy="5950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>
                <a:defRPr sz="3200"/>
              </a:lvl1pPr>
            </a:lstStyle>
            <a:p>
              <a:r>
                <a:t>蟻酸のみ分泌</a:t>
              </a:r>
            </a:p>
          </p:txBody>
        </p:sp>
      </p:grpSp>
      <p:grpSp>
        <p:nvGrpSpPr>
          <p:cNvPr id="486" name="グループ"/>
          <p:cNvGrpSpPr/>
          <p:nvPr/>
        </p:nvGrpSpPr>
        <p:grpSpPr>
          <a:xfrm>
            <a:off x="8311145" y="1962357"/>
            <a:ext cx="3975101" cy="1625601"/>
            <a:chOff x="0" y="0"/>
            <a:chExt cx="3975100" cy="1625600"/>
          </a:xfrm>
        </p:grpSpPr>
        <p:sp>
          <p:nvSpPr>
            <p:cNvPr id="484" name="図形"/>
            <p:cNvSpPr/>
            <p:nvPr/>
          </p:nvSpPr>
          <p:spPr>
            <a:xfrm>
              <a:off x="0" y="151063"/>
              <a:ext cx="3975100" cy="1460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665" y="0"/>
                  </a:moveTo>
                  <a:cubicBezTo>
                    <a:pt x="6126" y="0"/>
                    <a:pt x="4878" y="1612"/>
                    <a:pt x="4878" y="3600"/>
                  </a:cubicBezTo>
                  <a:lnTo>
                    <a:pt x="4878" y="3600"/>
                  </a:lnTo>
                  <a:lnTo>
                    <a:pt x="0" y="9172"/>
                  </a:lnTo>
                  <a:lnTo>
                    <a:pt x="4878" y="9000"/>
                  </a:lnTo>
                  <a:lnTo>
                    <a:pt x="4878" y="18000"/>
                  </a:lnTo>
                  <a:cubicBezTo>
                    <a:pt x="4878" y="19988"/>
                    <a:pt x="6126" y="21600"/>
                    <a:pt x="7665" y="21600"/>
                  </a:cubicBezTo>
                  <a:lnTo>
                    <a:pt x="7665" y="21600"/>
                  </a:lnTo>
                  <a:lnTo>
                    <a:pt x="7665" y="21600"/>
                  </a:lnTo>
                  <a:lnTo>
                    <a:pt x="11846" y="21600"/>
                  </a:lnTo>
                  <a:lnTo>
                    <a:pt x="18813" y="21600"/>
                  </a:lnTo>
                  <a:cubicBezTo>
                    <a:pt x="20352" y="21600"/>
                    <a:pt x="21600" y="19988"/>
                    <a:pt x="21600" y="18000"/>
                  </a:cubicBezTo>
                  <a:lnTo>
                    <a:pt x="21600" y="9000"/>
                  </a:lnTo>
                  <a:lnTo>
                    <a:pt x="21600" y="3600"/>
                  </a:lnTo>
                  <a:lnTo>
                    <a:pt x="21600" y="3600"/>
                  </a:lnTo>
                  <a:lnTo>
                    <a:pt x="21600" y="3600"/>
                  </a:lnTo>
                  <a:cubicBezTo>
                    <a:pt x="21600" y="1612"/>
                    <a:pt x="20352" y="0"/>
                    <a:pt x="18813" y="0"/>
                  </a:cubicBezTo>
                  <a:lnTo>
                    <a:pt x="11846" y="0"/>
                  </a:lnTo>
                  <a:lnTo>
                    <a:pt x="7665" y="0"/>
                  </a:lnTo>
                  <a:lnTo>
                    <a:pt x="7665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sz="2400"/>
            </a:p>
          </p:txBody>
        </p:sp>
        <p:sp>
          <p:nvSpPr>
            <p:cNvPr id="485" name="分泌なし…"/>
            <p:cNvSpPr txBox="1"/>
            <p:nvPr/>
          </p:nvSpPr>
          <p:spPr>
            <a:xfrm>
              <a:off x="1007377" y="0"/>
              <a:ext cx="2861733" cy="162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200"/>
              </a:pPr>
              <a:r>
                <a:rPr sz="3200" dirty="0" err="1"/>
                <a:t>分泌なし</a:t>
              </a:r>
              <a:endParaRPr sz="3200" dirty="0"/>
            </a:p>
            <a:p>
              <a:pPr>
                <a:defRPr sz="3200"/>
              </a:pPr>
              <a:r>
                <a:rPr sz="3200" dirty="0"/>
                <a:t>(</a:t>
              </a:r>
              <a:r>
                <a:rPr sz="3200" dirty="0" err="1"/>
                <a:t>完全燃焼</a:t>
              </a:r>
              <a:r>
                <a:rPr sz="3200" dirty="0"/>
                <a:t>)</a:t>
              </a:r>
            </a:p>
          </p:txBody>
        </p:sp>
      </p:grpSp>
      <p:sp>
        <p:nvSpPr>
          <p:cNvPr id="487" name="※分泌される物質の…"/>
          <p:cNvSpPr txBox="1"/>
          <p:nvPr/>
        </p:nvSpPr>
        <p:spPr>
          <a:xfrm>
            <a:off x="10499468" y="4860112"/>
            <a:ext cx="4673601" cy="1087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200"/>
            </a:pPr>
            <a:r>
              <a:rPr sz="3200"/>
              <a:t>※分泌される物質の</a:t>
            </a:r>
          </a:p>
          <a:p>
            <a:pPr>
              <a:defRPr sz="3200"/>
            </a:pPr>
            <a:r>
              <a:rPr sz="3200"/>
              <a:t>Shadow Price は 0</a:t>
            </a:r>
          </a:p>
        </p:txBody>
      </p:sp>
      <p:sp>
        <p:nvSpPr>
          <p:cNvPr id="488" name="コールアウト"/>
          <p:cNvSpPr/>
          <p:nvPr/>
        </p:nvSpPr>
        <p:spPr>
          <a:xfrm>
            <a:off x="5657057" y="5582840"/>
            <a:ext cx="4410075" cy="2164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831" y="10148"/>
                </a:lnTo>
                <a:cubicBezTo>
                  <a:pt x="1478" y="10883"/>
                  <a:pt x="1260" y="11887"/>
                  <a:pt x="1260" y="12996"/>
                </a:cubicBezTo>
                <a:lnTo>
                  <a:pt x="1260" y="17528"/>
                </a:lnTo>
                <a:cubicBezTo>
                  <a:pt x="1260" y="19778"/>
                  <a:pt x="2154" y="21600"/>
                  <a:pt x="3258" y="21600"/>
                </a:cubicBezTo>
                <a:lnTo>
                  <a:pt x="19602" y="21600"/>
                </a:lnTo>
                <a:cubicBezTo>
                  <a:pt x="20706" y="21600"/>
                  <a:pt x="21600" y="19778"/>
                  <a:pt x="21600" y="17528"/>
                </a:cubicBezTo>
                <a:lnTo>
                  <a:pt x="21600" y="12996"/>
                </a:lnTo>
                <a:cubicBezTo>
                  <a:pt x="21600" y="10747"/>
                  <a:pt x="20706" y="8924"/>
                  <a:pt x="19602" y="8924"/>
                </a:cubicBezTo>
                <a:lnTo>
                  <a:pt x="3258" y="8924"/>
                </a:lnTo>
                <a:cubicBezTo>
                  <a:pt x="3158" y="8924"/>
                  <a:pt x="3062" y="8955"/>
                  <a:pt x="2966" y="8984"/>
                </a:cubicBez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6260335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theme/theme1.xml><?xml version="1.0" encoding="utf-8"?>
<a:theme xmlns:a="http://schemas.openxmlformats.org/drawingml/2006/main" name="YugiTal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Helvetica Neue Light and ヒラギノ角ゴ ProN W3">
      <a:majorFont>
        <a:latin typeface="Helvetica Neue Light"/>
        <a:ea typeface="Hiragino Kaku Gothic ProN W3"/>
        <a:cs typeface=""/>
      </a:majorFont>
      <a:minorFont>
        <a:latin typeface="Helvetica Neue Light"/>
        <a:ea typeface="Hiragino Kaku Gothic ProN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ugi_16_9_plain" id="{1F3CF8EB-25C5-DA4E-AEE9-BC00F17CDB6F}" vid="{E5031587-4EA9-CE4B-91BE-CEDC2564CC8F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ヒラギノ角ゴ ProN W3"/>
        <a:ea typeface="ヒラギノ角ゴ ProN W3"/>
        <a:cs typeface="ヒラギノ角ゴ ProN W3"/>
      </a:majorFont>
      <a:minorFont>
        <a:latin typeface="ヒラギノ角ゴ ProN W3"/>
        <a:ea typeface="ヒラギノ角ゴ ProN W3"/>
        <a:cs typeface="ヒラギノ角ゴ ProN W3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1459</Words>
  <Application>Microsoft Macintosh PowerPoint</Application>
  <PresentationFormat>ユーザー設定</PresentationFormat>
  <Paragraphs>274</Paragraphs>
  <Slides>29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29</vt:i4>
      </vt:variant>
    </vt:vector>
  </HeadingPairs>
  <TitlesOfParts>
    <vt:vector size="35" baseType="lpstr">
      <vt:lpstr>Hiragino Kaku Gothic ProN W6</vt:lpstr>
      <vt:lpstr>Arial</vt:lpstr>
      <vt:lpstr>Avenir</vt:lpstr>
      <vt:lpstr>Helvetica Neue Light</vt:lpstr>
      <vt:lpstr>Times New Roman</vt:lpstr>
      <vt:lpstr>YugiTalk</vt:lpstr>
      <vt:lpstr>Flux Balance Analysis 代謝流束均衡解析 </vt:lpstr>
      <vt:lpstr>今日の内容</vt:lpstr>
      <vt:lpstr>定常状態 (steady state)</vt:lpstr>
      <vt:lpstr>代謝流束 (flux) </vt:lpstr>
      <vt:lpstr>定常と平衡の簡単な見分け方</vt:lpstr>
      <vt:lpstr>代謝流束 (flux) </vt:lpstr>
      <vt:lpstr>分岐点での流束</vt:lpstr>
      <vt:lpstr>代謝工学</vt:lpstr>
      <vt:lpstr>初期の試み</vt:lpstr>
      <vt:lpstr>化学量論係数行列</vt:lpstr>
      <vt:lpstr>化学量論係数行列</vt:lpstr>
      <vt:lpstr>演習1</vt:lpstr>
      <vt:lpstr>濃度時間変化の行列表現</vt:lpstr>
      <vt:lpstr>零空間 (Nullspace または Kernel)</vt:lpstr>
      <vt:lpstr>演習2</vt:lpstr>
      <vt:lpstr>代謝経路上の流束分布を求めたい</vt:lpstr>
      <vt:lpstr>解の求め方 (Overdetermined)</vt:lpstr>
      <vt:lpstr>解の求め方 (Underdetermined)</vt:lpstr>
      <vt:lpstr>目的関数 (objective function)：単細胞生物の場合</vt:lpstr>
      <vt:lpstr>目的関数 (objective function)：多細胞生物の場合</vt:lpstr>
      <vt:lpstr>線形計画法（図的解法）で最適流束分布を求める</vt:lpstr>
      <vt:lpstr>演習3</vt:lpstr>
      <vt:lpstr>用語の整理:  流束を2つに分類</vt:lpstr>
      <vt:lpstr>流束に対する目的関数の感受性</vt:lpstr>
      <vt:lpstr>演習4</vt:lpstr>
      <vt:lpstr>参考文献</vt:lpstr>
      <vt:lpstr>PowerPoint プレゼンテーション</vt:lpstr>
      <vt:lpstr>増殖速度の感受性</vt:lpstr>
      <vt:lpstr>Robustness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Katsuyuki Yugi</cp:lastModifiedBy>
  <cp:revision>20</cp:revision>
  <dcterms:modified xsi:type="dcterms:W3CDTF">2025-10-31T05:12:19Z</dcterms:modified>
</cp:coreProperties>
</file>