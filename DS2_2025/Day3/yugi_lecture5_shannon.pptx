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67" r:id="rId3"/>
    <p:sldId id="268" r:id="rId4"/>
    <p:sldId id="269" r:id="rId5"/>
    <p:sldId id="311" r:id="rId6"/>
    <p:sldId id="293" r:id="rId7"/>
    <p:sldId id="295" r:id="rId8"/>
    <p:sldId id="297" r:id="rId9"/>
    <p:sldId id="312" r:id="rId10"/>
    <p:sldId id="313" r:id="rId11"/>
    <p:sldId id="315" r:id="rId12"/>
    <p:sldId id="319" r:id="rId13"/>
    <p:sldId id="318" r:id="rId14"/>
    <p:sldId id="317" r:id="rId15"/>
    <p:sldId id="316" r:id="rId16"/>
    <p:sldId id="314" r:id="rId17"/>
    <p:sldId id="282" r:id="rId18"/>
    <p:sldId id="343" r:id="rId19"/>
    <p:sldId id="299" r:id="rId20"/>
    <p:sldId id="320" r:id="rId21"/>
    <p:sldId id="321" r:id="rId22"/>
    <p:sldId id="270" r:id="rId23"/>
    <p:sldId id="303" r:id="rId24"/>
    <p:sldId id="322" r:id="rId25"/>
    <p:sldId id="323" r:id="rId26"/>
    <p:sldId id="271" r:id="rId27"/>
    <p:sldId id="337" r:id="rId28"/>
    <p:sldId id="339" r:id="rId2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8BEE"/>
    <a:srgbClr val="1C6D5E"/>
    <a:srgbClr val="00AC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86"/>
    <p:restoredTop sz="94631"/>
  </p:normalViewPr>
  <p:slideViewPr>
    <p:cSldViewPr snapToGrid="0" snapToObjects="1">
      <p:cViewPr>
        <p:scale>
          <a:sx n="153" d="100"/>
          <a:sy n="153" d="100"/>
        </p:scale>
        <p:origin x="72" y="-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C19B4-0AED-424A-961F-17B6FB36A285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6B58B-C8EC-1E47-B1E2-2DAD24689C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02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99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23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3194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73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568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61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1330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3;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82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243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3;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50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36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F06F3-B575-0643-86B4-A60746CFF631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7E6DB-21E1-1848-8458-1CF4B02CB7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86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7" Type="http://schemas.openxmlformats.org/officeDocument/2006/relationships/image" Target="../media/image6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tiff"/><Relationship Id="rId5" Type="http://schemas.openxmlformats.org/officeDocument/2006/relationships/image" Target="../media/image4.tiff"/><Relationship Id="rId4" Type="http://schemas.openxmlformats.org/officeDocument/2006/relationships/image" Target="../media/image3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66700" y="1122363"/>
            <a:ext cx="11696700" cy="2387600"/>
          </a:xfrm>
        </p:spPr>
        <p:txBody>
          <a:bodyPr>
            <a:normAutofit/>
          </a:bodyPr>
          <a:lstStyle/>
          <a:p>
            <a:pPr algn="l"/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情報理論：</a:t>
            </a:r>
            <a:b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</a:br>
            <a:r>
              <a:rPr lang="en-US" altLang="ja-JP" sz="5300" dirty="0"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ja-JP" altLang="en-US" sz="53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単位で測る生化学反応系の情報伝達</a:t>
            </a:r>
            <a:endParaRPr kumimoji="1" lang="ja-JP" altLang="en-US" sz="5300" dirty="0">
              <a:latin typeface="Hiragino Kaku Gothic Pro W3" charset="-128"/>
              <a:ea typeface="Hiragino Kaku Gothic Pro W3" charset="-128"/>
              <a:cs typeface="Hiragino Kaku Gothic Pro W3" charset="-128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ja-JP" sz="2800" dirty="0">
              <a:latin typeface="Helvetica Neue"/>
              <a:cs typeface="Helvetica Neue"/>
            </a:endParaRPr>
          </a:p>
          <a:p>
            <a:r>
              <a:rPr lang="ja-JP" altLang="en-US" sz="2800" dirty="0">
                <a:latin typeface="Helvetica Neue"/>
                <a:cs typeface="Helvetica Neue"/>
              </a:rPr>
              <a:t>柚木</a:t>
            </a:r>
            <a:r>
              <a:rPr lang="en-US" altLang="ja-JP" sz="2800" dirty="0">
                <a:latin typeface="Helvetica Neue"/>
                <a:cs typeface="Helvetica Neue"/>
              </a:rPr>
              <a:t> </a:t>
            </a:r>
            <a:r>
              <a:rPr lang="ja-JP" altLang="en-US" sz="2800" dirty="0">
                <a:latin typeface="Helvetica Neue"/>
                <a:cs typeface="Helvetica Neue"/>
              </a:rPr>
              <a:t>克之（ゆぎ・かつゆき）</a:t>
            </a:r>
            <a:endParaRPr lang="en-US" altLang="ja-JP" sz="2800" dirty="0">
              <a:latin typeface="Helvetica Neue"/>
              <a:cs typeface="Helvetica Neue"/>
            </a:endParaRPr>
          </a:p>
          <a:p>
            <a:r>
              <a:rPr lang="ja-JP" altLang="en-US" sz="2800" dirty="0">
                <a:latin typeface="Helvetica Neue"/>
                <a:cs typeface="Helvetica Neue"/>
              </a:rPr>
              <a:t>理化</a:t>
            </a:r>
            <a:r>
              <a:rPr lang="ja-JP" altLang="en-US" sz="2800">
                <a:latin typeface="Helvetica Neue"/>
                <a:cs typeface="Helvetica Neue"/>
              </a:rPr>
              <a:t>学研究所</a:t>
            </a:r>
            <a:endParaRPr lang="ja-JP" altLang="en-US" sz="2800" dirty="0">
              <a:latin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22337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スクープ：生化学反応系を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‘bit’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で測る</a:t>
            </a:r>
            <a:endParaRPr kumimoji="1" lang="ja-JP" altLang="en-US" dirty="0">
              <a:latin typeface="Hiragino Kaku Gothic Pro W3" charset="-128"/>
              <a:ea typeface="Hiragino Kaku Gothic Pro W3" charset="-128"/>
              <a:cs typeface="Hiragino Kaku Gothic Pro W3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582" y="3198906"/>
            <a:ext cx="3273018" cy="1390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582" y="1791899"/>
            <a:ext cx="3273018" cy="10943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144" y="3198906"/>
            <a:ext cx="3530184" cy="1278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144" y="1791899"/>
            <a:ext cx="3529694" cy="7505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255" y="3198906"/>
            <a:ext cx="3501326" cy="7234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255" y="1791899"/>
            <a:ext cx="3501326" cy="7505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テキスト ボックス 10"/>
          <p:cNvSpPr txBox="1"/>
          <p:nvPr/>
        </p:nvSpPr>
        <p:spPr>
          <a:xfrm>
            <a:off x="4472393" y="6236326"/>
            <a:ext cx="324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Cheong </a:t>
            </a:r>
            <a:r>
              <a:rPr kumimoji="1" lang="en-US" altLang="ja-JP" i="1" dirty="0"/>
              <a:t>et al</a:t>
            </a:r>
            <a:r>
              <a:rPr kumimoji="1" lang="en-US" altLang="ja-JP" dirty="0"/>
              <a:t>. (2011) Science</a:t>
            </a:r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78721" y="6236326"/>
            <a:ext cx="2914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/>
              <a:t>Tkacik</a:t>
            </a:r>
            <a:r>
              <a:rPr kumimoji="1" lang="en-US" altLang="ja-JP" dirty="0"/>
              <a:t> </a:t>
            </a:r>
            <a:r>
              <a:rPr kumimoji="1" lang="en-US" altLang="ja-JP" i="1" dirty="0"/>
              <a:t>et al</a:t>
            </a:r>
            <a:r>
              <a:rPr kumimoji="1" lang="en-US" altLang="ja-JP" dirty="0"/>
              <a:t>. (2008) PNAS</a:t>
            </a:r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8589449" y="6236326"/>
            <a:ext cx="2863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/>
              <a:t>Uda</a:t>
            </a:r>
            <a:r>
              <a:rPr kumimoji="1" lang="en-US" altLang="ja-JP" dirty="0"/>
              <a:t> </a:t>
            </a:r>
            <a:r>
              <a:rPr kumimoji="1" lang="en-US" altLang="ja-JP" i="1" dirty="0"/>
              <a:t>et al</a:t>
            </a:r>
            <a:r>
              <a:rPr kumimoji="1" lang="en-US" altLang="ja-JP" dirty="0"/>
              <a:t>. (2013) Science</a:t>
            </a:r>
            <a:endParaRPr kumimoji="1" lang="ja-JP" altLang="en-US" dirty="0"/>
          </a:p>
        </p:txBody>
      </p:sp>
      <p:cxnSp>
        <p:nvCxnSpPr>
          <p:cNvPr id="15" name="直線コネクタ 14"/>
          <p:cNvCxnSpPr/>
          <p:nvPr/>
        </p:nvCxnSpPr>
        <p:spPr>
          <a:xfrm>
            <a:off x="1171977" y="3983894"/>
            <a:ext cx="10689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/>
          <p:nvPr/>
        </p:nvCxnSpPr>
        <p:spPr>
          <a:xfrm>
            <a:off x="6725496" y="3637181"/>
            <a:ext cx="10689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>
            <a:off x="8718237" y="4631549"/>
            <a:ext cx="580309" cy="20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/>
          <p:nvPr/>
        </p:nvCxnSpPr>
        <p:spPr>
          <a:xfrm>
            <a:off x="9921790" y="3788697"/>
            <a:ext cx="580309" cy="20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536308" y="5197962"/>
            <a:ext cx="94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err="1">
                <a:latin typeface="Helvetica Neue Light" charset="0"/>
                <a:ea typeface="Helvetica Neue Light" charset="0"/>
                <a:cs typeface="Helvetica Neue Light" charset="0"/>
              </a:rPr>
              <a:t>Bicoid</a:t>
            </a:r>
            <a:r>
              <a:rPr kumimoji="1"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 </a:t>
            </a:r>
            <a:endParaRPr kumimoji="1" lang="ja-JP" altLang="en-US" sz="20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2364591" y="5197962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Hunchback</a:t>
            </a:r>
            <a:endParaRPr kumimoji="1" lang="ja-JP" altLang="en-US" sz="20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4736068" y="5197962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TNF</a:t>
            </a:r>
            <a:endParaRPr kumimoji="1" lang="ja-JP" altLang="en-US" sz="20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6725496" y="5197962"/>
            <a:ext cx="910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NF-</a:t>
            </a:r>
            <a:r>
              <a:rPr kumimoji="1" lang="en-US" altLang="ja-JP" sz="2000" dirty="0">
                <a:latin typeface="Symbol" charset="2"/>
                <a:ea typeface="Symbol" charset="2"/>
                <a:cs typeface="Symbol" charset="2"/>
              </a:rPr>
              <a:t>k</a:t>
            </a:r>
            <a:r>
              <a:rPr kumimoji="1"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B</a:t>
            </a:r>
            <a:endParaRPr kumimoji="1" lang="ja-JP" altLang="en-US" sz="20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10323910" y="5197962"/>
            <a:ext cx="861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CREB</a:t>
            </a:r>
            <a:endParaRPr kumimoji="1" lang="ja-JP" altLang="en-US" sz="20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8886776" y="5502762"/>
            <a:ext cx="718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PMA</a:t>
            </a:r>
            <a:endParaRPr kumimoji="1" lang="ja-JP" altLang="en-US" sz="20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8886776" y="4943466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NGF</a:t>
            </a:r>
            <a:endParaRPr kumimoji="1" lang="ja-JP" altLang="en-US" sz="20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cxnSp>
        <p:nvCxnSpPr>
          <p:cNvPr id="40" name="直線矢印コネクタ 39"/>
          <p:cNvCxnSpPr>
            <a:stCxn id="29" idx="3"/>
            <a:endCxn id="30" idx="1"/>
          </p:cNvCxnSpPr>
          <p:nvPr/>
        </p:nvCxnSpPr>
        <p:spPr>
          <a:xfrm>
            <a:off x="1482401" y="5398017"/>
            <a:ext cx="88219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/>
          <p:cNvCxnSpPr>
            <a:stCxn id="31" idx="3"/>
            <a:endCxn id="32" idx="1"/>
          </p:cNvCxnSpPr>
          <p:nvPr/>
        </p:nvCxnSpPr>
        <p:spPr>
          <a:xfrm>
            <a:off x="5382399" y="5398017"/>
            <a:ext cx="134309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/>
          <p:cNvCxnSpPr>
            <a:stCxn id="38" idx="3"/>
            <a:endCxn id="34" idx="1"/>
          </p:cNvCxnSpPr>
          <p:nvPr/>
        </p:nvCxnSpPr>
        <p:spPr>
          <a:xfrm>
            <a:off x="9581197" y="5143521"/>
            <a:ext cx="742713" cy="254496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>
            <a:stCxn id="35" idx="3"/>
          </p:cNvCxnSpPr>
          <p:nvPr/>
        </p:nvCxnSpPr>
        <p:spPr>
          <a:xfrm flipV="1">
            <a:off x="9605242" y="5498743"/>
            <a:ext cx="718668" cy="204074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/>
          <p:cNvSpPr txBox="1"/>
          <p:nvPr/>
        </p:nvSpPr>
        <p:spPr>
          <a:xfrm>
            <a:off x="1380050" y="4834639"/>
            <a:ext cx="1045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>
                <a:latin typeface="Helvetica Neue" charset="0"/>
                <a:ea typeface="Helvetica Neue" charset="0"/>
                <a:cs typeface="Helvetica Neue" charset="0"/>
              </a:rPr>
              <a:t>1.7 bit</a:t>
            </a:r>
            <a:endParaRPr kumimoji="1" lang="ja-JP" altLang="en-US" sz="2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5437847" y="4819453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elvetica Neue" charset="0"/>
                <a:ea typeface="Helvetica Neue" charset="0"/>
                <a:cs typeface="Helvetica Neue" charset="0"/>
              </a:rPr>
              <a:t>0.92 bit</a:t>
            </a:r>
            <a:endParaRPr kumimoji="1" lang="ja-JP" altLang="en-US" sz="2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9544448" y="5651605"/>
            <a:ext cx="788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kumimoji="1" lang="en-US" altLang="ja-JP" sz="2400" dirty="0">
                <a:latin typeface="Helvetica Neue" charset="0"/>
                <a:ea typeface="Helvetica Neue" charset="0"/>
                <a:cs typeface="Helvetica Neue" charset="0"/>
              </a:rPr>
              <a:t> bit</a:t>
            </a:r>
            <a:endParaRPr kumimoji="1" lang="ja-JP" altLang="en-US" sz="2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9544448" y="4767175"/>
            <a:ext cx="788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kumimoji="1" lang="en-US" altLang="ja-JP" sz="2400" dirty="0">
                <a:latin typeface="Helvetica Neue" charset="0"/>
                <a:ea typeface="Helvetica Neue" charset="0"/>
                <a:cs typeface="Helvetica Neue" charset="0"/>
              </a:rPr>
              <a:t> bit</a:t>
            </a:r>
            <a:endParaRPr kumimoji="1" lang="ja-JP" altLang="en-US" sz="2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6" name="角丸四角形 55"/>
          <p:cNvSpPr/>
          <p:nvPr/>
        </p:nvSpPr>
        <p:spPr>
          <a:xfrm>
            <a:off x="340629" y="4743516"/>
            <a:ext cx="3478206" cy="1047930"/>
          </a:xfrm>
          <a:prstGeom prst="roundRect">
            <a:avLst>
              <a:gd name="adj" fmla="val 12294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角丸四角形 56"/>
          <p:cNvSpPr/>
          <p:nvPr/>
        </p:nvSpPr>
        <p:spPr>
          <a:xfrm>
            <a:off x="4307244" y="4740996"/>
            <a:ext cx="3551594" cy="1047930"/>
          </a:xfrm>
          <a:prstGeom prst="roundRect">
            <a:avLst>
              <a:gd name="adj" fmla="val 14075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角丸四角形 57"/>
          <p:cNvSpPr/>
          <p:nvPr/>
        </p:nvSpPr>
        <p:spPr>
          <a:xfrm>
            <a:off x="8347247" y="4743516"/>
            <a:ext cx="3310353" cy="1369754"/>
          </a:xfrm>
          <a:prstGeom prst="roundRect">
            <a:avLst>
              <a:gd name="adj" fmla="val 8937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28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8800" y="365125"/>
            <a:ext cx="11061700" cy="1325563"/>
          </a:xfrm>
        </p:spPr>
        <p:txBody>
          <a:bodyPr/>
          <a:lstStyle/>
          <a:p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Q. ’bit’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は何やらカッコいい。その意味は？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2940093" y="4866957"/>
            <a:ext cx="861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CREB</a:t>
            </a:r>
            <a:endParaRPr kumimoji="1" lang="ja-JP" altLang="en-US" sz="20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1418205" y="4866957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NGF</a:t>
            </a:r>
            <a:endParaRPr kumimoji="1" lang="ja-JP" altLang="en-US" sz="20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cxnSp>
        <p:nvCxnSpPr>
          <p:cNvPr id="44" name="直線矢印コネクタ 43"/>
          <p:cNvCxnSpPr>
            <a:stCxn id="38" idx="3"/>
            <a:endCxn id="34" idx="1"/>
          </p:cNvCxnSpPr>
          <p:nvPr/>
        </p:nvCxnSpPr>
        <p:spPr>
          <a:xfrm>
            <a:off x="2112626" y="5067012"/>
            <a:ext cx="82746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/>
          <p:cNvSpPr txBox="1"/>
          <p:nvPr/>
        </p:nvSpPr>
        <p:spPr>
          <a:xfrm>
            <a:off x="2131860" y="4553685"/>
            <a:ext cx="788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kumimoji="1" lang="en-US" altLang="ja-JP" sz="2400" dirty="0">
                <a:latin typeface="Helvetica Neue" charset="0"/>
                <a:ea typeface="Helvetica Neue" charset="0"/>
                <a:cs typeface="Helvetica Neue" charset="0"/>
              </a:rPr>
              <a:t> bit</a:t>
            </a:r>
            <a:endParaRPr kumimoji="1" lang="ja-JP" altLang="en-US" sz="2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98" y="2313855"/>
            <a:ext cx="5093717" cy="9835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847" y="2313855"/>
            <a:ext cx="5150931" cy="9835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テキスト ボックス 32"/>
          <p:cNvSpPr txBox="1"/>
          <p:nvPr/>
        </p:nvSpPr>
        <p:spPr>
          <a:xfrm>
            <a:off x="558801" y="1456191"/>
            <a:ext cx="10931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b="1" dirty="0">
                <a:latin typeface="Helvetica Neue" charset="0"/>
                <a:ea typeface="Helvetica Neue" charset="0"/>
                <a:cs typeface="Helvetica Neue" charset="0"/>
              </a:rPr>
              <a:t>A. </a:t>
            </a:r>
            <a:r>
              <a:rPr kumimoji="1" lang="ja-JP" altLang="en-US" sz="4000" b="1" dirty="0">
                <a:latin typeface="Hiragino Kaku Gothic Pro W6" charset="-128"/>
                <a:ea typeface="Hiragino Kaku Gothic Pro W6" charset="-128"/>
                <a:cs typeface="Hiragino Kaku Gothic Pro W6" charset="-128"/>
              </a:rPr>
              <a:t>「</a:t>
            </a:r>
            <a:r>
              <a:rPr lang="ja-JP" altLang="en-US" sz="4000" b="1" dirty="0">
                <a:latin typeface="Hiragino Kaku Gothic Pro W6" charset="-128"/>
                <a:ea typeface="Hiragino Kaku Gothic Pro W6" charset="-128"/>
                <a:cs typeface="Hiragino Kaku Gothic Pro W6" charset="-128"/>
              </a:rPr>
              <a:t>下流</a:t>
            </a:r>
            <a:r>
              <a:rPr kumimoji="1" lang="ja-JP" altLang="en-US" sz="4000" b="1" dirty="0">
                <a:latin typeface="Hiragino Kaku Gothic Pro W6" charset="-128"/>
                <a:ea typeface="Hiragino Kaku Gothic Pro W6" charset="-128"/>
                <a:cs typeface="Hiragino Kaku Gothic Pro W6" charset="-128"/>
              </a:rPr>
              <a:t>側で区別可能な状態数」</a:t>
            </a:r>
          </a:p>
        </p:txBody>
      </p:sp>
      <p:sp>
        <p:nvSpPr>
          <p:cNvPr id="16" name="正方形/長方形 15"/>
          <p:cNvSpPr/>
          <p:nvPr/>
        </p:nvSpPr>
        <p:spPr>
          <a:xfrm rot="16200000">
            <a:off x="5306379" y="5179858"/>
            <a:ext cx="20874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CREB (output)</a:t>
            </a:r>
            <a:endParaRPr lang="ja-JP" altLang="en-US" sz="24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6873044" y="6138909"/>
            <a:ext cx="16818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NGF (input)</a:t>
            </a:r>
            <a:endParaRPr lang="ja-JP" altLang="en-US" sz="24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cxnSp>
        <p:nvCxnSpPr>
          <p:cNvPr id="37" name="直線矢印コネクタ 36"/>
          <p:cNvCxnSpPr/>
          <p:nvPr/>
        </p:nvCxnSpPr>
        <p:spPr>
          <a:xfrm flipH="1" flipV="1">
            <a:off x="6654847" y="4406825"/>
            <a:ext cx="89" cy="16331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/>
          <p:cNvCxnSpPr/>
          <p:nvPr/>
        </p:nvCxnSpPr>
        <p:spPr>
          <a:xfrm>
            <a:off x="6645971" y="6048220"/>
            <a:ext cx="2015825" cy="10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カギ線コネクタ 18"/>
          <p:cNvCxnSpPr/>
          <p:nvPr/>
        </p:nvCxnSpPr>
        <p:spPr>
          <a:xfrm flipV="1">
            <a:off x="6645971" y="4664328"/>
            <a:ext cx="2015825" cy="1068248"/>
          </a:xfrm>
          <a:prstGeom prst="bentConnector3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角丸四角形 44"/>
          <p:cNvSpPr/>
          <p:nvPr/>
        </p:nvSpPr>
        <p:spPr>
          <a:xfrm>
            <a:off x="1154981" y="4250711"/>
            <a:ext cx="2947292" cy="2434527"/>
          </a:xfrm>
          <a:prstGeom prst="roundRect">
            <a:avLst>
              <a:gd name="adj" fmla="val 12294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/>
          <p:cNvSpPr/>
          <p:nvPr/>
        </p:nvSpPr>
        <p:spPr>
          <a:xfrm>
            <a:off x="8781655" y="5410690"/>
            <a:ext cx="1103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Helvetica Neue" panose="02000503000000020004" pitchFamily="2" charset="0"/>
              </a:rPr>
              <a:t>状態</a:t>
            </a:r>
            <a:r>
              <a:rPr lang="en-US" altLang="ja-JP" sz="2800" dirty="0">
                <a:latin typeface="Helvetica Neue Light" charset="0"/>
                <a:ea typeface="Helvetica Neue Light" charset="0"/>
                <a:cs typeface="Helvetica Neue Light" charset="0"/>
              </a:rPr>
              <a:t>1</a:t>
            </a:r>
            <a:endParaRPr lang="ja-JP" altLang="en-US" sz="28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47" name="正方形/長方形 46"/>
          <p:cNvSpPr/>
          <p:nvPr/>
        </p:nvSpPr>
        <p:spPr>
          <a:xfrm>
            <a:off x="8781655" y="4350041"/>
            <a:ext cx="12025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Helvetica Neue" panose="02000503000000020004" pitchFamily="2" charset="0"/>
              </a:rPr>
              <a:t>状態</a:t>
            </a:r>
            <a:r>
              <a:rPr lang="en-US" altLang="ja-JP" sz="2800" dirty="0">
                <a:latin typeface="Helvetica Neue Light" charset="0"/>
                <a:ea typeface="Helvetica Neue Light" charset="0"/>
                <a:cs typeface="Helvetica Neue Light" charset="0"/>
              </a:rPr>
              <a:t> 2</a:t>
            </a:r>
            <a:endParaRPr lang="ja-JP" altLang="en-US" sz="28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1693631" y="3432886"/>
            <a:ext cx="324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Cheong </a:t>
            </a:r>
            <a:r>
              <a:rPr kumimoji="1" lang="en-US" altLang="ja-JP" i="1" dirty="0"/>
              <a:t>et al</a:t>
            </a:r>
            <a:r>
              <a:rPr kumimoji="1" lang="en-US" altLang="ja-JP" dirty="0"/>
              <a:t>. (2011) Science</a:t>
            </a:r>
            <a:endParaRPr kumimoji="1" lang="ja-JP" altLang="en-US" dirty="0"/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7798670" y="3432886"/>
            <a:ext cx="2863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/>
              <a:t>Uda</a:t>
            </a:r>
            <a:r>
              <a:rPr kumimoji="1" lang="en-US" altLang="ja-JP" dirty="0"/>
              <a:t> </a:t>
            </a:r>
            <a:r>
              <a:rPr kumimoji="1" lang="en-US" altLang="ja-JP" i="1" dirty="0"/>
              <a:t>et al</a:t>
            </a:r>
            <a:r>
              <a:rPr kumimoji="1" lang="en-US" altLang="ja-JP" dirty="0"/>
              <a:t>. (2013) Science</a:t>
            </a:r>
            <a:endParaRPr kumimoji="1" lang="ja-JP" altLang="en-US" dirty="0"/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1384417" y="5794736"/>
            <a:ext cx="2255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>
                <a:latin typeface="Helvetica Neue" charset="0"/>
                <a:ea typeface="Helvetica Neue" charset="0"/>
                <a:cs typeface="Helvetica Neue" charset="0"/>
              </a:rPr>
              <a:t>2</a:t>
            </a:r>
            <a:r>
              <a:rPr lang="en-US" altLang="ja-JP" sz="2800" baseline="30000" dirty="0"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kumimoji="1" lang="en-US" altLang="ja-JP" sz="2800" baseline="30000" dirty="0">
                <a:latin typeface="Helvetica Neue" charset="0"/>
                <a:ea typeface="Helvetica Neue" charset="0"/>
                <a:cs typeface="Helvetica Neue" charset="0"/>
              </a:rPr>
              <a:t> bit </a:t>
            </a:r>
            <a:r>
              <a:rPr kumimoji="1" lang="en-US" altLang="ja-JP" sz="2800" dirty="0">
                <a:latin typeface="Helvetica Neue" charset="0"/>
                <a:ea typeface="Helvetica Neue" charset="0"/>
                <a:cs typeface="Helvetica Neue" charset="0"/>
              </a:rPr>
              <a:t>= 2 </a:t>
            </a:r>
            <a:r>
              <a:rPr lang="ja-JP" altLang="en-US" sz="28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状態</a:t>
            </a:r>
            <a:endParaRPr kumimoji="1" lang="ja-JP" altLang="en-US" sz="2800" baseline="30000" dirty="0">
              <a:latin typeface="Hiragino Kaku Gothic Pro W3" charset="-128"/>
              <a:ea typeface="Hiragino Kaku Gothic Pro W3" charset="-128"/>
              <a:cs typeface="Hiragino Kaku Gothic Pro W3" charset="-128"/>
            </a:endParaRPr>
          </a:p>
        </p:txBody>
      </p:sp>
      <p:sp>
        <p:nvSpPr>
          <p:cNvPr id="58" name="角丸四角形 57"/>
          <p:cNvSpPr/>
          <p:nvPr/>
        </p:nvSpPr>
        <p:spPr>
          <a:xfrm>
            <a:off x="5882196" y="4250711"/>
            <a:ext cx="5471604" cy="2434527"/>
          </a:xfrm>
          <a:prstGeom prst="roundRect">
            <a:avLst>
              <a:gd name="adj" fmla="val 12294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1" name="直線コネクタ 60"/>
          <p:cNvCxnSpPr/>
          <p:nvPr/>
        </p:nvCxnSpPr>
        <p:spPr>
          <a:xfrm>
            <a:off x="7653883" y="5711077"/>
            <a:ext cx="1007913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正方形/長方形 71"/>
          <p:cNvSpPr/>
          <p:nvPr/>
        </p:nvSpPr>
        <p:spPr>
          <a:xfrm>
            <a:off x="4610547" y="4778285"/>
            <a:ext cx="73930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7200" b="1">
                <a:latin typeface="Helvetica Neue" charset="0"/>
                <a:ea typeface="Helvetica Neue" charset="0"/>
                <a:cs typeface="Helvetica Neue" charset="0"/>
              </a:rPr>
              <a:t>=</a:t>
            </a:r>
            <a:endParaRPr lang="ja-JP" altLang="en-US" sz="7200" dirty="0"/>
          </a:p>
        </p:txBody>
      </p:sp>
      <p:sp>
        <p:nvSpPr>
          <p:cNvPr id="24" name="正方形/長方形 23"/>
          <p:cNvSpPr/>
          <p:nvPr/>
        </p:nvSpPr>
        <p:spPr>
          <a:xfrm>
            <a:off x="6488277" y="3811555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>
                <a:latin typeface="Helvetica Neue Light" charset="0"/>
                <a:ea typeface="Helvetica Neue Light" charset="0"/>
                <a:cs typeface="Helvetica Neue Light" charset="0"/>
              </a:rPr>
              <a:t>NGF</a:t>
            </a:r>
            <a:r>
              <a:rPr lang="ja-JP" altLang="en-US" sz="28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Helvetica Neue" panose="02000503000000020004" pitchFamily="2" charset="0"/>
              </a:rPr>
              <a:t>の用量に対する応答</a:t>
            </a:r>
            <a:endParaRPr lang="ja-JP" altLang="en-US" sz="28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3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63880" y="387985"/>
            <a:ext cx="10515600" cy="1325563"/>
          </a:xfrm>
        </p:spPr>
        <p:txBody>
          <a:bodyPr/>
          <a:lstStyle/>
          <a:p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Q. ‘bit’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を計るにはどうしたらいいの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?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563880" y="1713548"/>
            <a:ext cx="8969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latin typeface="Hiragino Kaku Gothic Pro W6" charset="-128"/>
                <a:ea typeface="Hiragino Kaku Gothic Pro W6" charset="-128"/>
                <a:cs typeface="Hiragino Kaku Gothic Pro W6" charset="-128"/>
              </a:rPr>
              <a:t>A. 1</a:t>
            </a:r>
            <a:r>
              <a:rPr kumimoji="1" lang="ja-JP" altLang="en-US" sz="4000" b="1" dirty="0">
                <a:latin typeface="Hiragino Kaku Gothic Pro W6" charset="-128"/>
                <a:ea typeface="Hiragino Kaku Gothic Pro W6" charset="-128"/>
                <a:cs typeface="Hiragino Kaku Gothic Pro W6" charset="-128"/>
              </a:rPr>
              <a:t>細胞計測と数学（統計学）を少々</a:t>
            </a:r>
          </a:p>
        </p:txBody>
      </p:sp>
      <p:sp>
        <p:nvSpPr>
          <p:cNvPr id="7" name="三角形 6"/>
          <p:cNvSpPr/>
          <p:nvPr/>
        </p:nvSpPr>
        <p:spPr>
          <a:xfrm rot="5400000">
            <a:off x="7637224" y="4289172"/>
            <a:ext cx="772760" cy="28900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三角形 7"/>
          <p:cNvSpPr/>
          <p:nvPr/>
        </p:nvSpPr>
        <p:spPr>
          <a:xfrm rot="5400000">
            <a:off x="3306561" y="4289172"/>
            <a:ext cx="772760" cy="28900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904169"/>
              </p:ext>
            </p:extLst>
          </p:nvPr>
        </p:nvGraphicFramePr>
        <p:xfrm>
          <a:off x="522021" y="3039111"/>
          <a:ext cx="2882685" cy="278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83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ERK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CREB</a:t>
                      </a:r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Cell1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1.1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0.2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Cell2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5.0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1.6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Cell3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3.2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1.3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テキスト ボックス 8"/>
          <p:cNvSpPr txBox="1"/>
          <p:nvPr/>
        </p:nvSpPr>
        <p:spPr>
          <a:xfrm rot="5400000">
            <a:off x="1644571" y="585774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s-IS" altLang="ja-JP" sz="2400" dirty="0"/>
              <a:t>…</a:t>
            </a:r>
            <a:endParaRPr kumimoji="1" lang="ja-JP" altLang="en-US" sz="24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031935" y="253968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度数分布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30065" y="253968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１細胞ごとの蛍光強度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8742150" y="2539680"/>
            <a:ext cx="2444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Bit</a:t>
            </a:r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を求める数式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8375397" y="3001345"/>
            <a:ext cx="294824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; ERK ) </a:t>
            </a:r>
          </a:p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= </a:t>
            </a:r>
            <a:r>
              <a:rPr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</a:p>
          <a:p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8404579" y="4415973"/>
            <a:ext cx="37112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I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(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 ;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)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Y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の間の</a:t>
            </a:r>
            <a:endParaRPr lang="en-US" altLang="ja-JP" dirty="0">
              <a:latin typeface="Hiragino Kaku Gothic Pro W3" charset="-128"/>
              <a:ea typeface="Hiragino Kaku Gothic Pro W3" charset="-128"/>
              <a:cs typeface="Hiragino Kaku Gothic Pro W3" charset="-128"/>
            </a:endParaRPr>
          </a:p>
          <a:p>
            <a:r>
              <a:rPr lang="ja-JP" altLang="en-US" dirty="0">
                <a:latin typeface="Helvetica Neue" charset="0"/>
                <a:ea typeface="Helvetica Neue" charset="0"/>
                <a:cs typeface="Helvetica Neue" charset="0"/>
              </a:rPr>
              <a:t>　　　　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  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(bit)</a:t>
            </a:r>
          </a:p>
          <a:p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(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)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    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のシャノン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 </a:t>
            </a:r>
          </a:p>
          <a:p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            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エントロピー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(bit)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en-US" altLang="ja-JP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29" name="図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516" y="3060622"/>
            <a:ext cx="3849339" cy="2877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30" name="テキスト ボックス 29"/>
          <p:cNvSpPr txBox="1"/>
          <p:nvPr/>
        </p:nvSpPr>
        <p:spPr>
          <a:xfrm>
            <a:off x="6456025" y="3104164"/>
            <a:ext cx="1197764" cy="369332"/>
          </a:xfrm>
          <a:prstGeom prst="rect">
            <a:avLst/>
          </a:prstGeom>
          <a:noFill/>
          <a:ln w="31750"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CREB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3952931" y="3089650"/>
            <a:ext cx="1056700" cy="36933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4706293" y="5517016"/>
            <a:ext cx="1954381" cy="400110"/>
          </a:xfrm>
          <a:prstGeom prst="rect">
            <a:avLst/>
          </a:prstGeom>
          <a:noFill/>
          <a:ln w="317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 rot="19938624">
            <a:off x="6825467" y="4899480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 rot="1673947">
            <a:off x="4212179" y="4931184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09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63880" y="387985"/>
            <a:ext cx="10515600" cy="1325563"/>
          </a:xfrm>
        </p:spPr>
        <p:txBody>
          <a:bodyPr/>
          <a:lstStyle/>
          <a:p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Q. ‘bit’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を計るにはどうしたらいいの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?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563880" y="1713548"/>
            <a:ext cx="8969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latin typeface="Hiragino Kaku Gothic Pro W6" charset="-128"/>
                <a:ea typeface="Hiragino Kaku Gothic Pro W6" charset="-128"/>
                <a:cs typeface="Hiragino Kaku Gothic Pro W6" charset="-128"/>
              </a:rPr>
              <a:t>A. 1</a:t>
            </a:r>
            <a:r>
              <a:rPr kumimoji="1" lang="ja-JP" altLang="en-US" sz="4000" b="1" dirty="0">
                <a:latin typeface="Hiragino Kaku Gothic Pro W6" charset="-128"/>
                <a:ea typeface="Hiragino Kaku Gothic Pro W6" charset="-128"/>
                <a:cs typeface="Hiragino Kaku Gothic Pro W6" charset="-128"/>
              </a:rPr>
              <a:t>細胞計測と数学（統計学）を少々</a:t>
            </a:r>
          </a:p>
        </p:txBody>
      </p:sp>
      <p:sp>
        <p:nvSpPr>
          <p:cNvPr id="7" name="三角形 6"/>
          <p:cNvSpPr/>
          <p:nvPr/>
        </p:nvSpPr>
        <p:spPr>
          <a:xfrm rot="5400000">
            <a:off x="7637224" y="4289172"/>
            <a:ext cx="772760" cy="28900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三角形 7"/>
          <p:cNvSpPr/>
          <p:nvPr/>
        </p:nvSpPr>
        <p:spPr>
          <a:xfrm rot="5400000">
            <a:off x="3306561" y="4289172"/>
            <a:ext cx="772760" cy="28900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522021" y="3039111"/>
          <a:ext cx="2882685" cy="278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83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ERK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CREB</a:t>
                      </a:r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Cell1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1.1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0.2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Cell2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5.0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1.6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Cell3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3.2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1.3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テキスト ボックス 8"/>
          <p:cNvSpPr txBox="1"/>
          <p:nvPr/>
        </p:nvSpPr>
        <p:spPr>
          <a:xfrm rot="5400000">
            <a:off x="1644571" y="585774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s-IS" altLang="ja-JP" sz="2400" dirty="0"/>
              <a:t>…</a:t>
            </a:r>
            <a:endParaRPr kumimoji="1" lang="ja-JP" altLang="en-US" sz="24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031935" y="253968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度数分布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30065" y="253968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１細胞ごとの蛍光強度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8742150" y="2539680"/>
            <a:ext cx="2444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Bit</a:t>
            </a:r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を求める数式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8375397" y="3001345"/>
            <a:ext cx="294824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; ERK ) </a:t>
            </a:r>
          </a:p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= </a:t>
            </a:r>
            <a:r>
              <a:rPr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</a:p>
          <a:p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8404579" y="4415973"/>
            <a:ext cx="37112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I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(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 ;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)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Y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の間の</a:t>
            </a:r>
            <a:endParaRPr lang="en-US" altLang="ja-JP" dirty="0">
              <a:latin typeface="Hiragino Kaku Gothic Pro W3" charset="-128"/>
              <a:ea typeface="Hiragino Kaku Gothic Pro W3" charset="-128"/>
              <a:cs typeface="Hiragino Kaku Gothic Pro W3" charset="-128"/>
            </a:endParaRPr>
          </a:p>
          <a:p>
            <a:r>
              <a:rPr lang="ja-JP" altLang="en-US" dirty="0">
                <a:latin typeface="Helvetica Neue" charset="0"/>
                <a:ea typeface="Helvetica Neue" charset="0"/>
                <a:cs typeface="Helvetica Neue" charset="0"/>
              </a:rPr>
              <a:t>　　　　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  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(bit)</a:t>
            </a:r>
          </a:p>
          <a:p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(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)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    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のシャノン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 </a:t>
            </a:r>
          </a:p>
          <a:p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            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エントロピー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(bit)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en-US" altLang="ja-JP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29" name="図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516" y="3060622"/>
            <a:ext cx="3849339" cy="2877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30" name="テキスト ボックス 29"/>
          <p:cNvSpPr txBox="1"/>
          <p:nvPr/>
        </p:nvSpPr>
        <p:spPr>
          <a:xfrm>
            <a:off x="6456025" y="3104164"/>
            <a:ext cx="1197764" cy="369332"/>
          </a:xfrm>
          <a:prstGeom prst="rect">
            <a:avLst/>
          </a:prstGeom>
          <a:noFill/>
          <a:ln w="31750"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CREB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3952931" y="3089650"/>
            <a:ext cx="1056700" cy="36933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4706293" y="5517016"/>
            <a:ext cx="1954381" cy="400110"/>
          </a:xfrm>
          <a:prstGeom prst="rect">
            <a:avLst/>
          </a:prstGeom>
          <a:noFill/>
          <a:ln w="317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 rot="19938624">
            <a:off x="6825467" y="4899480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 rot="1673947">
            <a:off x="4212179" y="4931184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3644900" y="2539680"/>
            <a:ext cx="4523209" cy="3595066"/>
          </a:xfrm>
          <a:prstGeom prst="roundRect">
            <a:avLst>
              <a:gd name="adj" fmla="val 9602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kumimoji="1" lang="en-US" altLang="ja-JP" dirty="0"/>
              <a:t>1 </a:t>
            </a:r>
            <a:r>
              <a:rPr kumimoji="1" lang="ja-JP" altLang="en-US" dirty="0"/>
              <a:t>度数分布表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535338"/>
            <a:ext cx="10515600" cy="1899224"/>
          </a:xfrm>
        </p:spPr>
        <p:txBody>
          <a:bodyPr>
            <a:normAutofit/>
          </a:bodyPr>
          <a:lstStyle/>
          <a:p>
            <a:r>
              <a:rPr lang="ja-JP" altLang="en-US" dirty="0"/>
              <a:t>ある濃度の</a:t>
            </a:r>
            <a:r>
              <a:rPr lang="en-US" altLang="ja-JP" dirty="0"/>
              <a:t>NGF</a:t>
            </a:r>
            <a:r>
              <a:rPr lang="ja-JP" altLang="en-US" dirty="0"/>
              <a:t>で刺激を与えたとき、各細胞における</a:t>
            </a:r>
            <a:r>
              <a:rPr lang="en-US" altLang="ja-JP" dirty="0"/>
              <a:t>ERK, CREB</a:t>
            </a:r>
            <a:r>
              <a:rPr lang="ja-JP" altLang="en-US" dirty="0"/>
              <a:t>の蛍光強度は左の表の通りである。</a:t>
            </a:r>
            <a:endParaRPr lang="en-US" altLang="ja-JP" dirty="0"/>
          </a:p>
          <a:p>
            <a:r>
              <a:rPr lang="ja-JP" altLang="en-US" dirty="0"/>
              <a:t>問題：右の表を埋めて度数分布表を完成させなさい</a:t>
            </a: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374138"/>
              </p:ext>
            </p:extLst>
          </p:nvPr>
        </p:nvGraphicFramePr>
        <p:xfrm>
          <a:off x="7899406" y="3381832"/>
          <a:ext cx="2826657" cy="258354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42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1181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181"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1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2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1</a:t>
                      </a:r>
                      <a:endParaRPr kumimoji="1" lang="ja-JP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/>
                        <a:t>0</a:t>
                      </a:r>
                      <a:endParaRPr kumimoji="1" lang="ja-JP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8834878" y="6222520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 rot="5400000">
            <a:off x="6375894" y="4473548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116819" y="5328121"/>
            <a:ext cx="78258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0 - 10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988579" y="4457823"/>
            <a:ext cx="91082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10 - 20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988579" y="3584622"/>
            <a:ext cx="91082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0 - 30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8116412" y="5865952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0 - 1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8987764" y="5865952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1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 - 2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9910489" y="5886636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 - 3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6466120" y="3277325"/>
            <a:ext cx="4506679" cy="3332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9" name="表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035874"/>
              </p:ext>
            </p:extLst>
          </p:nvPr>
        </p:nvGraphicFramePr>
        <p:xfrm>
          <a:off x="1127276" y="3277325"/>
          <a:ext cx="3537856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ERK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CREB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 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0.3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5.8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 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17.9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 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9.3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 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0.8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11.2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 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2.6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27.5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</a:t>
                      </a:r>
                      <a:r>
                        <a:rPr kumimoji="1" lang="en-US" altLang="ja-JP" baseline="0" dirty="0"/>
                        <a:t> 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0.2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6.7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 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19.2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 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23.2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41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lang="en-US" altLang="ja-JP" dirty="0"/>
              <a:t>2 </a:t>
            </a:r>
            <a:r>
              <a:rPr lang="ja-JP" altLang="en-US" dirty="0"/>
              <a:t>同時分布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535338"/>
            <a:ext cx="10515600" cy="1899224"/>
          </a:xfrm>
        </p:spPr>
        <p:txBody>
          <a:bodyPr>
            <a:normAutofit/>
          </a:bodyPr>
          <a:lstStyle/>
          <a:p>
            <a:r>
              <a:rPr lang="ja-JP" altLang="en-US" dirty="0"/>
              <a:t>演習１で作成した度数分布表を元に、相対度数分布表を作りなさい。下の表の空欄を埋めること。</a:t>
            </a:r>
            <a:endParaRPr lang="en-US" altLang="ja-JP" dirty="0"/>
          </a:p>
          <a:p>
            <a:r>
              <a:rPr kumimoji="1" lang="ja-JP" altLang="en-US" dirty="0"/>
              <a:t>ヒント：相対度数分布表の各マス目の数字の総和は</a:t>
            </a:r>
            <a:r>
              <a:rPr kumimoji="1" lang="en-US" altLang="ja-JP" dirty="0"/>
              <a:t>1</a:t>
            </a:r>
          </a:p>
          <a:p>
            <a:pPr marL="914400" lvl="1" indent="-514350">
              <a:buFont typeface="+mj-lt"/>
              <a:buAutoNum type="arabicPeriod"/>
            </a:pP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表 2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46290"/>
                  </p:ext>
                </p:extLst>
              </p:nvPr>
            </p:nvGraphicFramePr>
            <p:xfrm>
              <a:off x="4723004" y="3236689"/>
              <a:ext cx="3450765" cy="2583543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1502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502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502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6118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sz="24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800" dirty="0"/>
                            <a:t>0</a:t>
                          </a:r>
                          <a:endParaRPr kumimoji="1" lang="ja-JP" alt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表 2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46290"/>
                  </p:ext>
                </p:extLst>
              </p:nvPr>
            </p:nvGraphicFramePr>
            <p:xfrm>
              <a:off x="4723004" y="3236689"/>
              <a:ext cx="3450765" cy="2583543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150255"/>
                    <a:gridCol w="1150255"/>
                    <a:gridCol w="1150255"/>
                  </a:tblGrid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</a:tr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800" dirty="0"/>
                        </a:p>
                      </a:txBody>
                      <a:tcPr anchor="ctr"/>
                    </a:tc>
                  </a:tr>
                  <a:tr h="861181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29" t="-200000" r="-201058" b="-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529" t="-200000" r="-101058" b="-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800" dirty="0" smtClean="0"/>
                            <a:t>0</a:t>
                          </a:r>
                          <a:endParaRPr kumimoji="1" lang="ja-JP" altLang="en-US" sz="2800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30" name="テキスト ボックス 29"/>
          <p:cNvSpPr txBox="1"/>
          <p:nvPr/>
        </p:nvSpPr>
        <p:spPr>
          <a:xfrm>
            <a:off x="5948763" y="6077377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 rot="5400000">
            <a:off x="3199492" y="4328405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3940417" y="5182978"/>
            <a:ext cx="78258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0 - 10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3812177" y="4312680"/>
            <a:ext cx="91082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10 - 20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3812177" y="3439479"/>
            <a:ext cx="91082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0 - 30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998066" y="5720809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0 - 1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6130675" y="5720809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1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 - 2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7227571" y="5741493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 - 3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4044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演習</a:t>
            </a:r>
            <a:r>
              <a:rPr lang="en-US" altLang="ja-JP" dirty="0"/>
              <a:t>3 </a:t>
            </a:r>
            <a:r>
              <a:rPr lang="ja-JP" altLang="en-US" dirty="0"/>
              <a:t>周辺分布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204260"/>
            <a:ext cx="10642600" cy="998386"/>
          </a:xfrm>
        </p:spPr>
        <p:txBody>
          <a:bodyPr>
            <a:normAutofit/>
          </a:bodyPr>
          <a:lstStyle/>
          <a:p>
            <a:r>
              <a:rPr lang="ja-JP" altLang="en-US" dirty="0"/>
              <a:t>演習</a:t>
            </a:r>
            <a:r>
              <a:rPr lang="en-US" altLang="ja-JP" dirty="0"/>
              <a:t>2</a:t>
            </a:r>
            <a:r>
              <a:rPr lang="ja-JP" altLang="en-US" dirty="0"/>
              <a:t>で作成した相対度数分布を元に、</a:t>
            </a:r>
            <a:r>
              <a:rPr lang="en-US" altLang="ja-JP" dirty="0"/>
              <a:t>ERK </a:t>
            </a:r>
            <a:r>
              <a:rPr lang="ja-JP" altLang="en-US" dirty="0"/>
              <a:t>と</a:t>
            </a:r>
            <a:r>
              <a:rPr lang="en-US" altLang="ja-JP" dirty="0"/>
              <a:t> CREB</a:t>
            </a:r>
            <a:r>
              <a:rPr lang="ja-JP" altLang="en-US" dirty="0"/>
              <a:t>の周辺分布</a:t>
            </a:r>
            <a:r>
              <a:rPr lang="en-US" altLang="ja-JP" dirty="0"/>
              <a:t> P( ERK ) </a:t>
            </a:r>
            <a:r>
              <a:rPr lang="ja-JP" altLang="en-US" dirty="0"/>
              <a:t>および</a:t>
            </a:r>
            <a:r>
              <a:rPr lang="en-US" altLang="ja-JP" dirty="0"/>
              <a:t> P( CREB )</a:t>
            </a:r>
            <a:r>
              <a:rPr lang="ja-JP" altLang="en-US" dirty="0"/>
              <a:t>を求めなさい。</a:t>
            </a: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287510"/>
                  </p:ext>
                </p:extLst>
              </p:nvPr>
            </p:nvGraphicFramePr>
            <p:xfrm>
              <a:off x="3808600" y="3552007"/>
              <a:ext cx="3450765" cy="2583543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1502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502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502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6118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sz="24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ja-JP" sz="2400" b="0" i="1" smtClean="0">
                                        <a:latin typeface="Cambria Math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800" dirty="0"/>
                            <a:t>0</a:t>
                          </a:r>
                          <a:endParaRPr kumimoji="1" lang="ja-JP" alt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287510"/>
                  </p:ext>
                </p:extLst>
              </p:nvPr>
            </p:nvGraphicFramePr>
            <p:xfrm>
              <a:off x="3808600" y="3552007"/>
              <a:ext cx="3450765" cy="2583543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150255"/>
                    <a:gridCol w="1150255"/>
                    <a:gridCol w="1150255"/>
                  </a:tblGrid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</a:tr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800" dirty="0"/>
                        </a:p>
                      </a:txBody>
                      <a:tcPr anchor="ctr"/>
                    </a:tc>
                  </a:tr>
                  <a:tr h="861181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29" t="-200000" r="-201058" b="-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529" t="-200000" r="-101058" b="-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2800" dirty="0" smtClean="0"/>
                            <a:t>0</a:t>
                          </a:r>
                          <a:endParaRPr kumimoji="1" lang="ja-JP" altLang="en-US" sz="2800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16" name="テキスト ボックス 15"/>
          <p:cNvSpPr txBox="1"/>
          <p:nvPr/>
        </p:nvSpPr>
        <p:spPr>
          <a:xfrm>
            <a:off x="5034359" y="6392695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 rot="5400000">
            <a:off x="2285088" y="4643723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026013" y="5498296"/>
            <a:ext cx="78258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0 - 10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897773" y="4627998"/>
            <a:ext cx="91082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10 - 20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2897773" y="3754797"/>
            <a:ext cx="91082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0 - 30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083662" y="6036127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0 - 1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216271" y="6036127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1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 - 2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6313167" y="6056811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 - 3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196084"/>
                  </p:ext>
                </p:extLst>
              </p:nvPr>
            </p:nvGraphicFramePr>
            <p:xfrm>
              <a:off x="7718694" y="3552006"/>
              <a:ext cx="1683210" cy="2583543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6832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6118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1" lang="en-US" altLang="ja-JP" sz="2800" b="0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8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ja-JP" sz="2800" b="0" i="1" smtClean="0">
                                      <a:latin typeface="Cambria Math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kumimoji="1" lang="en-US" altLang="ja-JP" sz="2800" dirty="0"/>
                            <a:t>+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1" lang="en-US" altLang="ja-JP" sz="2800" b="0" i="1" smtClean="0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28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ja-JP" sz="2800" b="0" i="1" smtClean="0">
                                      <a:latin typeface="Cambria Math" charset="0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kumimoji="1" lang="en-US" altLang="ja-JP" sz="2800" dirty="0"/>
                            <a:t>+0</a:t>
                          </a:r>
                          <a:endParaRPr kumimoji="1" lang="ja-JP" alt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196084"/>
                  </p:ext>
                </p:extLst>
              </p:nvPr>
            </p:nvGraphicFramePr>
            <p:xfrm>
              <a:off x="7718694" y="3552006"/>
              <a:ext cx="1683210" cy="2583543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683210"/>
                  </a:tblGrid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 dirty="0"/>
                        </a:p>
                      </a:txBody>
                      <a:tcPr anchor="ctr"/>
                    </a:tc>
                  </a:tr>
                  <a:tr h="861181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2400"/>
                        </a:p>
                      </a:txBody>
                      <a:tcPr anchor="ctr"/>
                    </a:tc>
                  </a:tr>
                  <a:tr h="861181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61" t="-200000" r="-722" b="-140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17544"/>
              </p:ext>
            </p:extLst>
          </p:nvPr>
        </p:nvGraphicFramePr>
        <p:xfrm>
          <a:off x="3808599" y="2399234"/>
          <a:ext cx="3450765" cy="8933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0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339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テキスト ボックス 40"/>
          <p:cNvSpPr txBox="1"/>
          <p:nvPr/>
        </p:nvSpPr>
        <p:spPr>
          <a:xfrm>
            <a:off x="1419804" y="6392695"/>
            <a:ext cx="200407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P( ERK , CREB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7899563" y="6359920"/>
            <a:ext cx="129715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P( CREB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2314764" y="2701492"/>
            <a:ext cx="114005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P(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444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63880" y="387985"/>
            <a:ext cx="10515600" cy="1325563"/>
          </a:xfrm>
        </p:spPr>
        <p:txBody>
          <a:bodyPr/>
          <a:lstStyle/>
          <a:p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Q. ‘Bit’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を計るにはどうしたらいいの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?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563880" y="1713548"/>
            <a:ext cx="8969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latin typeface="Hiragino Kaku Gothic Pro W6" charset="-128"/>
                <a:ea typeface="Hiragino Kaku Gothic Pro W6" charset="-128"/>
                <a:cs typeface="Hiragino Kaku Gothic Pro W6" charset="-128"/>
              </a:rPr>
              <a:t>A. 1</a:t>
            </a:r>
            <a:r>
              <a:rPr kumimoji="1" lang="ja-JP" altLang="en-US" sz="4000" b="1" dirty="0">
                <a:latin typeface="Hiragino Kaku Gothic Pro W6" charset="-128"/>
                <a:ea typeface="Hiragino Kaku Gothic Pro W6" charset="-128"/>
                <a:cs typeface="Hiragino Kaku Gothic Pro W6" charset="-128"/>
              </a:rPr>
              <a:t>細胞計測と数学（統計学）を少々</a:t>
            </a:r>
          </a:p>
        </p:txBody>
      </p:sp>
      <p:sp>
        <p:nvSpPr>
          <p:cNvPr id="7" name="三角形 6"/>
          <p:cNvSpPr/>
          <p:nvPr/>
        </p:nvSpPr>
        <p:spPr>
          <a:xfrm rot="5400000">
            <a:off x="7637224" y="4289172"/>
            <a:ext cx="772760" cy="28900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三角形 7"/>
          <p:cNvSpPr/>
          <p:nvPr/>
        </p:nvSpPr>
        <p:spPr>
          <a:xfrm rot="5400000">
            <a:off x="3306561" y="4289172"/>
            <a:ext cx="772760" cy="28900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522021" y="3039111"/>
          <a:ext cx="2882685" cy="278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83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ERK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CREB</a:t>
                      </a:r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Cell1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1.1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0.2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Cell2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5.0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1.6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Cell3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3.2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1.3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テキスト ボックス 8"/>
          <p:cNvSpPr txBox="1"/>
          <p:nvPr/>
        </p:nvSpPr>
        <p:spPr>
          <a:xfrm rot="5400000">
            <a:off x="1644571" y="585774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s-IS" altLang="ja-JP" sz="2400" dirty="0"/>
              <a:t>…</a:t>
            </a:r>
            <a:endParaRPr kumimoji="1" lang="ja-JP" altLang="en-US" sz="24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031935" y="253968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度数分布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30065" y="253968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１細胞ごとの蛍光強度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8742150" y="2539680"/>
            <a:ext cx="2444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Bit</a:t>
            </a:r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を求める数式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8375397" y="3001345"/>
            <a:ext cx="294824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; ERK ) </a:t>
            </a:r>
          </a:p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= </a:t>
            </a:r>
            <a:r>
              <a:rPr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</a:p>
          <a:p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8404579" y="4415973"/>
            <a:ext cx="37112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I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(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 ;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)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Y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の間の</a:t>
            </a:r>
            <a:endParaRPr lang="en-US" altLang="ja-JP" dirty="0">
              <a:latin typeface="Hiragino Kaku Gothic Pro W3" charset="-128"/>
              <a:ea typeface="Hiragino Kaku Gothic Pro W3" charset="-128"/>
              <a:cs typeface="Hiragino Kaku Gothic Pro W3" charset="-128"/>
            </a:endParaRPr>
          </a:p>
          <a:p>
            <a:r>
              <a:rPr lang="ja-JP" altLang="en-US" dirty="0">
                <a:latin typeface="Helvetica Neue" charset="0"/>
                <a:ea typeface="Helvetica Neue" charset="0"/>
                <a:cs typeface="Helvetica Neue" charset="0"/>
              </a:rPr>
              <a:t>　　　　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  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(bit)</a:t>
            </a:r>
          </a:p>
          <a:p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(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)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    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 </a:t>
            </a:r>
            <a:r>
              <a:rPr lang="ja-JP" altLang="en-US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のシャノン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</a:p>
          <a:p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            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エントロピー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(bit)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en-US" altLang="ja-JP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29" name="図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516" y="3060622"/>
            <a:ext cx="3849339" cy="2877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30" name="テキスト ボックス 29"/>
          <p:cNvSpPr txBox="1"/>
          <p:nvPr/>
        </p:nvSpPr>
        <p:spPr>
          <a:xfrm>
            <a:off x="6456025" y="3104164"/>
            <a:ext cx="1197764" cy="369332"/>
          </a:xfrm>
          <a:prstGeom prst="rect">
            <a:avLst/>
          </a:prstGeom>
          <a:noFill/>
          <a:ln w="31750"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CREB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3952931" y="3089650"/>
            <a:ext cx="1056700" cy="36933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4706293" y="5517016"/>
            <a:ext cx="1954381" cy="400110"/>
          </a:xfrm>
          <a:prstGeom prst="rect">
            <a:avLst/>
          </a:prstGeom>
          <a:noFill/>
          <a:ln w="317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 rot="19938624">
            <a:off x="6825467" y="4899480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 rot="1673947">
            <a:off x="4212179" y="4931184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3644900" y="2539680"/>
            <a:ext cx="4523209" cy="3595066"/>
          </a:xfrm>
          <a:prstGeom prst="roundRect">
            <a:avLst>
              <a:gd name="adj" fmla="val 9602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273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63880" y="387985"/>
            <a:ext cx="10515600" cy="1325563"/>
          </a:xfrm>
        </p:spPr>
        <p:txBody>
          <a:bodyPr/>
          <a:lstStyle/>
          <a:p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Q. ‘Bit’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を計るにはどうしたらいいの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?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563880" y="1713548"/>
            <a:ext cx="8969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latin typeface="Hiragino Kaku Gothic Pro W6" charset="-128"/>
                <a:ea typeface="Hiragino Kaku Gothic Pro W6" charset="-128"/>
                <a:cs typeface="Hiragino Kaku Gothic Pro W6" charset="-128"/>
              </a:rPr>
              <a:t>A. 1</a:t>
            </a:r>
            <a:r>
              <a:rPr kumimoji="1" lang="ja-JP" altLang="en-US" sz="4000" b="1" dirty="0">
                <a:latin typeface="Hiragino Kaku Gothic Pro W6" charset="-128"/>
                <a:ea typeface="Hiragino Kaku Gothic Pro W6" charset="-128"/>
                <a:cs typeface="Hiragino Kaku Gothic Pro W6" charset="-128"/>
              </a:rPr>
              <a:t>細胞計測と数学（統計学）を少々</a:t>
            </a:r>
          </a:p>
        </p:txBody>
      </p:sp>
      <p:sp>
        <p:nvSpPr>
          <p:cNvPr id="7" name="三角形 6"/>
          <p:cNvSpPr/>
          <p:nvPr/>
        </p:nvSpPr>
        <p:spPr>
          <a:xfrm rot="5400000">
            <a:off x="7637224" y="4289172"/>
            <a:ext cx="772760" cy="28900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三角形 7"/>
          <p:cNvSpPr/>
          <p:nvPr/>
        </p:nvSpPr>
        <p:spPr>
          <a:xfrm rot="5400000">
            <a:off x="3306561" y="4289172"/>
            <a:ext cx="772760" cy="28900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522021" y="3039111"/>
          <a:ext cx="2882685" cy="278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83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ERK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CREB</a:t>
                      </a:r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Cell1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1.1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0.2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Cell2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5.0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1.6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Cell3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3.2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1.3</a:t>
                      </a:r>
                      <a:endParaRPr kumimoji="1" lang="ja-JP" altLang="en-US" dirty="0"/>
                    </a:p>
                  </a:txBody>
                  <a:tcPr marR="9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テキスト ボックス 8"/>
          <p:cNvSpPr txBox="1"/>
          <p:nvPr/>
        </p:nvSpPr>
        <p:spPr>
          <a:xfrm rot="5400000">
            <a:off x="1644571" y="585774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s-IS" altLang="ja-JP" sz="2400" dirty="0"/>
              <a:t>…</a:t>
            </a:r>
            <a:endParaRPr kumimoji="1" lang="ja-JP" altLang="en-US" sz="24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031935" y="253968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度数分布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30065" y="253968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１細胞ごとの蛍光強度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8742150" y="2539680"/>
            <a:ext cx="2444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Bit</a:t>
            </a:r>
            <a:r>
              <a:rPr kumimoji="1"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を求める数式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8375397" y="3001345"/>
            <a:ext cx="294824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; ERK ) </a:t>
            </a:r>
          </a:p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= </a:t>
            </a:r>
            <a:r>
              <a:rPr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</a:p>
          <a:p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8404579" y="4415973"/>
            <a:ext cx="37112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I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(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 ;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)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Y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の間の</a:t>
            </a:r>
            <a:endParaRPr lang="en-US" altLang="ja-JP" dirty="0">
              <a:latin typeface="Hiragino Kaku Gothic Pro W3" charset="-128"/>
              <a:ea typeface="Hiragino Kaku Gothic Pro W3" charset="-128"/>
              <a:cs typeface="Hiragino Kaku Gothic Pro W3" charset="-128"/>
            </a:endParaRPr>
          </a:p>
          <a:p>
            <a:r>
              <a:rPr lang="ja-JP" altLang="en-US" dirty="0">
                <a:latin typeface="Helvetica Neue" charset="0"/>
                <a:ea typeface="Helvetica Neue" charset="0"/>
                <a:cs typeface="Helvetica Neue" charset="0"/>
              </a:rPr>
              <a:t>　　　　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  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(bit)</a:t>
            </a:r>
          </a:p>
          <a:p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(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)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     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X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のシャノン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 </a:t>
            </a:r>
          </a:p>
          <a:p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            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エントロピー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dirty="0">
                <a:latin typeface="Helvetica Neue" charset="0"/>
                <a:ea typeface="Helvetica Neue" charset="0"/>
                <a:cs typeface="Helvetica Neue" charset="0"/>
              </a:rPr>
              <a:t>(bit)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en-US" altLang="ja-JP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29" name="図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516" y="3060622"/>
            <a:ext cx="3849339" cy="2877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30" name="テキスト ボックス 29"/>
          <p:cNvSpPr txBox="1"/>
          <p:nvPr/>
        </p:nvSpPr>
        <p:spPr>
          <a:xfrm>
            <a:off x="6456025" y="3104164"/>
            <a:ext cx="1197764" cy="369332"/>
          </a:xfrm>
          <a:prstGeom prst="rect">
            <a:avLst/>
          </a:prstGeom>
          <a:noFill/>
          <a:ln w="31750"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CREB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3952931" y="3089650"/>
            <a:ext cx="1056700" cy="36933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4706293" y="5517016"/>
            <a:ext cx="1954381" cy="400110"/>
          </a:xfrm>
          <a:prstGeom prst="rect">
            <a:avLst/>
          </a:prstGeom>
          <a:noFill/>
          <a:ln w="317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 rot="19938624">
            <a:off x="6825467" y="4899480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 rot="1673947">
            <a:off x="4212179" y="4931184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2" name="角丸四角形 21"/>
          <p:cNvSpPr/>
          <p:nvPr/>
        </p:nvSpPr>
        <p:spPr>
          <a:xfrm>
            <a:off x="8168109" y="2539680"/>
            <a:ext cx="3873500" cy="3595066"/>
          </a:xfrm>
          <a:prstGeom prst="roundRect">
            <a:avLst>
              <a:gd name="adj" fmla="val 9602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1184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47075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最小限の数学で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Shannon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の理論を学ぶ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84787" y="1655836"/>
            <a:ext cx="100730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1341041" y="1129832"/>
            <a:ext cx="947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‘CREB’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‘ERK’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単位は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44CF50-2F7F-68FA-EB1F-47BFD905D998}"/>
              </a:ext>
            </a:extLst>
          </p:cNvPr>
          <p:cNvSpPr txBox="1"/>
          <p:nvPr/>
        </p:nvSpPr>
        <p:spPr>
          <a:xfrm>
            <a:off x="2940093" y="4866957"/>
            <a:ext cx="861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CREB</a:t>
            </a:r>
            <a:endParaRPr kumimoji="1" lang="ja-JP" altLang="en-US" sz="20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48C281-4184-2AE4-EBAB-4F9AA123F3DA}"/>
              </a:ext>
            </a:extLst>
          </p:cNvPr>
          <p:cNvSpPr txBox="1"/>
          <p:nvPr/>
        </p:nvSpPr>
        <p:spPr>
          <a:xfrm>
            <a:off x="1418205" y="4866957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Helvetica Neue Light" charset="0"/>
                <a:ea typeface="Helvetica Neue Light" charset="0"/>
                <a:cs typeface="Helvetica Neue Light" charset="0"/>
              </a:rPr>
              <a:t>NGF</a:t>
            </a:r>
            <a:endParaRPr kumimoji="1" lang="ja-JP" altLang="en-US" sz="20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9562ADC9-EB1E-E011-7046-777DB867B1C3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2112626" y="5067012"/>
            <a:ext cx="82746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EC40C6F-0C8C-9A6D-8333-A322D8D84934}"/>
              </a:ext>
            </a:extLst>
          </p:cNvPr>
          <p:cNvSpPr txBox="1"/>
          <p:nvPr/>
        </p:nvSpPr>
        <p:spPr>
          <a:xfrm>
            <a:off x="2131860" y="4553685"/>
            <a:ext cx="788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kumimoji="1" lang="en-US" altLang="ja-JP" sz="2400" dirty="0">
                <a:latin typeface="Helvetica Neue" charset="0"/>
                <a:ea typeface="Helvetica Neue" charset="0"/>
                <a:cs typeface="Helvetica Neue" charset="0"/>
              </a:rPr>
              <a:t> bit</a:t>
            </a:r>
            <a:endParaRPr kumimoji="1" lang="ja-JP" altLang="en-US" sz="2400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D17D4D8-5C13-43B8-3AD0-906726C54161}"/>
              </a:ext>
            </a:extLst>
          </p:cNvPr>
          <p:cNvSpPr/>
          <p:nvPr/>
        </p:nvSpPr>
        <p:spPr>
          <a:xfrm rot="16200000">
            <a:off x="5306379" y="5179858"/>
            <a:ext cx="20874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CREB (output)</a:t>
            </a:r>
            <a:endParaRPr lang="ja-JP" altLang="en-US" sz="24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F793C5D-82B8-22B7-79A7-D06E55156334}"/>
              </a:ext>
            </a:extLst>
          </p:cNvPr>
          <p:cNvSpPr/>
          <p:nvPr/>
        </p:nvSpPr>
        <p:spPr>
          <a:xfrm>
            <a:off x="6873044" y="6138909"/>
            <a:ext cx="16818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NGF (input)</a:t>
            </a:r>
            <a:endParaRPr lang="ja-JP" altLang="en-US" sz="24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74BD30E-45A7-1C03-13B5-4137AF413FA8}"/>
              </a:ext>
            </a:extLst>
          </p:cNvPr>
          <p:cNvCxnSpPr/>
          <p:nvPr/>
        </p:nvCxnSpPr>
        <p:spPr>
          <a:xfrm flipH="1" flipV="1">
            <a:off x="6654847" y="4406825"/>
            <a:ext cx="89" cy="16331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E5DEA15-1D08-4F01-9433-3AA47338D21B}"/>
              </a:ext>
            </a:extLst>
          </p:cNvPr>
          <p:cNvCxnSpPr/>
          <p:nvPr/>
        </p:nvCxnSpPr>
        <p:spPr>
          <a:xfrm>
            <a:off x="6645971" y="6048220"/>
            <a:ext cx="2015825" cy="10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374BC5D6-2F58-DDEF-68D9-E8256903F1D9}"/>
              </a:ext>
            </a:extLst>
          </p:cNvPr>
          <p:cNvCxnSpPr/>
          <p:nvPr/>
        </p:nvCxnSpPr>
        <p:spPr>
          <a:xfrm flipV="1">
            <a:off x="6645971" y="4664328"/>
            <a:ext cx="2015825" cy="1068248"/>
          </a:xfrm>
          <a:prstGeom prst="bentConnector3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7952800E-9D4E-B1FD-2469-F7370AD8F858}"/>
              </a:ext>
            </a:extLst>
          </p:cNvPr>
          <p:cNvSpPr/>
          <p:nvPr/>
        </p:nvSpPr>
        <p:spPr>
          <a:xfrm>
            <a:off x="1154981" y="4250711"/>
            <a:ext cx="2947292" cy="2434527"/>
          </a:xfrm>
          <a:prstGeom prst="roundRect">
            <a:avLst>
              <a:gd name="adj" fmla="val 12294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4F02CDC-D3CC-DDBC-881A-E8A96EAD0BCE}"/>
              </a:ext>
            </a:extLst>
          </p:cNvPr>
          <p:cNvSpPr/>
          <p:nvPr/>
        </p:nvSpPr>
        <p:spPr>
          <a:xfrm>
            <a:off x="8781655" y="5410690"/>
            <a:ext cx="1103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Helvetica Neue" panose="02000503000000020004" pitchFamily="2" charset="0"/>
              </a:rPr>
              <a:t>状態</a:t>
            </a:r>
            <a:r>
              <a:rPr lang="en-US" altLang="ja-JP" sz="2800" dirty="0">
                <a:latin typeface="Helvetica Neue Light" charset="0"/>
                <a:ea typeface="Helvetica Neue Light" charset="0"/>
                <a:cs typeface="Helvetica Neue Light" charset="0"/>
              </a:rPr>
              <a:t>1</a:t>
            </a:r>
            <a:endParaRPr lang="ja-JP" altLang="en-US" sz="28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3EC94C2-CE66-279A-BAE0-67D628181CA1}"/>
              </a:ext>
            </a:extLst>
          </p:cNvPr>
          <p:cNvSpPr/>
          <p:nvPr/>
        </p:nvSpPr>
        <p:spPr>
          <a:xfrm>
            <a:off x="8781655" y="4350041"/>
            <a:ext cx="12025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Helvetica Neue" panose="02000503000000020004" pitchFamily="2" charset="0"/>
              </a:rPr>
              <a:t>状態</a:t>
            </a:r>
            <a:r>
              <a:rPr lang="en-US" altLang="ja-JP" sz="2800" dirty="0">
                <a:latin typeface="Helvetica Neue Light" charset="0"/>
                <a:ea typeface="Helvetica Neue Light" charset="0"/>
                <a:cs typeface="Helvetica Neue Light" charset="0"/>
              </a:rPr>
              <a:t> 2</a:t>
            </a:r>
            <a:endParaRPr lang="ja-JP" altLang="en-US" sz="28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BD7E1EB-2582-223B-B811-E4B522AF46D5}"/>
              </a:ext>
            </a:extLst>
          </p:cNvPr>
          <p:cNvSpPr txBox="1"/>
          <p:nvPr/>
        </p:nvSpPr>
        <p:spPr>
          <a:xfrm>
            <a:off x="1384417" y="5794736"/>
            <a:ext cx="2255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>
                <a:latin typeface="Helvetica Neue" charset="0"/>
                <a:ea typeface="Helvetica Neue" charset="0"/>
                <a:cs typeface="Helvetica Neue" charset="0"/>
              </a:rPr>
              <a:t>2</a:t>
            </a:r>
            <a:r>
              <a:rPr lang="en-US" altLang="ja-JP" sz="2800" baseline="30000" dirty="0"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kumimoji="1" lang="en-US" altLang="ja-JP" sz="2800" baseline="30000" dirty="0">
                <a:latin typeface="Helvetica Neue" charset="0"/>
                <a:ea typeface="Helvetica Neue" charset="0"/>
                <a:cs typeface="Helvetica Neue" charset="0"/>
              </a:rPr>
              <a:t> bit </a:t>
            </a:r>
            <a:r>
              <a:rPr kumimoji="1" lang="en-US" altLang="ja-JP" sz="2800" dirty="0">
                <a:latin typeface="Helvetica Neue" charset="0"/>
                <a:ea typeface="Helvetica Neue" charset="0"/>
                <a:cs typeface="Helvetica Neue" charset="0"/>
              </a:rPr>
              <a:t>= 2 </a:t>
            </a:r>
            <a:r>
              <a:rPr lang="ja-JP" altLang="en-US" sz="28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状態</a:t>
            </a:r>
            <a:endParaRPr kumimoji="1" lang="ja-JP" altLang="en-US" sz="2800" baseline="30000" dirty="0">
              <a:latin typeface="Hiragino Kaku Gothic Pro W3" charset="-128"/>
              <a:ea typeface="Hiragino Kaku Gothic Pro W3" charset="-128"/>
              <a:cs typeface="Hiragino Kaku Gothic Pro W3" charset="-128"/>
            </a:endParaRP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FE21A6A0-912F-DF88-1201-3553E7EBE23C}"/>
              </a:ext>
            </a:extLst>
          </p:cNvPr>
          <p:cNvSpPr/>
          <p:nvPr/>
        </p:nvSpPr>
        <p:spPr>
          <a:xfrm>
            <a:off x="5882196" y="4250711"/>
            <a:ext cx="5471604" cy="2434527"/>
          </a:xfrm>
          <a:prstGeom prst="roundRect">
            <a:avLst>
              <a:gd name="adj" fmla="val 12294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BCE5E151-F8AC-C620-46FB-72EBE5D1D62D}"/>
              </a:ext>
            </a:extLst>
          </p:cNvPr>
          <p:cNvCxnSpPr/>
          <p:nvPr/>
        </p:nvCxnSpPr>
        <p:spPr>
          <a:xfrm>
            <a:off x="7653883" y="5711077"/>
            <a:ext cx="1007913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6F1DB6E5-8B22-DAD2-DF8B-E1C30CAF4944}"/>
              </a:ext>
            </a:extLst>
          </p:cNvPr>
          <p:cNvSpPr/>
          <p:nvPr/>
        </p:nvSpPr>
        <p:spPr>
          <a:xfrm>
            <a:off x="4610547" y="4778285"/>
            <a:ext cx="73930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7200" b="1">
                <a:latin typeface="Helvetica Neue" charset="0"/>
                <a:ea typeface="Helvetica Neue" charset="0"/>
                <a:cs typeface="Helvetica Neue" charset="0"/>
              </a:rPr>
              <a:t>=</a:t>
            </a:r>
            <a:endParaRPr lang="ja-JP" altLang="en-US" sz="7200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6595AD4-6484-049D-387B-31FC44FB7379}"/>
              </a:ext>
            </a:extLst>
          </p:cNvPr>
          <p:cNvSpPr/>
          <p:nvPr/>
        </p:nvSpPr>
        <p:spPr>
          <a:xfrm>
            <a:off x="6488277" y="3811555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>
                <a:latin typeface="Helvetica Neue Light" charset="0"/>
                <a:ea typeface="Helvetica Neue Light" charset="0"/>
                <a:cs typeface="Helvetica Neue Light" charset="0"/>
              </a:rPr>
              <a:t>NGF</a:t>
            </a:r>
            <a:r>
              <a:rPr lang="ja-JP" altLang="en-US" sz="28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Helvetica Neue" panose="02000503000000020004" pitchFamily="2" charset="0"/>
              </a:rPr>
              <a:t>の用量に対する応答</a:t>
            </a:r>
            <a:endParaRPr lang="ja-JP" altLang="en-US" sz="2800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837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47075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最小限の数学で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Shannon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の理論を学ぶ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84787" y="1655836"/>
            <a:ext cx="100730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" name="右中かっこ 7"/>
          <p:cNvSpPr/>
          <p:nvPr/>
        </p:nvSpPr>
        <p:spPr>
          <a:xfrm rot="5400000">
            <a:off x="4485404" y="1677347"/>
            <a:ext cx="399121" cy="13742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1341041" y="1129832"/>
            <a:ext cx="947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‘CREB’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‘ERK’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単位は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59424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47075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最小限の数学で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Shannon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の理論を学ぶ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84787" y="1655836"/>
            <a:ext cx="100730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28625" y="2588349"/>
            <a:ext cx="7718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シャノンエントロピー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8" name="右中かっこ 7"/>
          <p:cNvSpPr/>
          <p:nvPr/>
        </p:nvSpPr>
        <p:spPr>
          <a:xfrm rot="5400000">
            <a:off x="4485404" y="1677347"/>
            <a:ext cx="399121" cy="13742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121089" y="3091679"/>
            <a:ext cx="45294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[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(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CREB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] 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1341041" y="1129832"/>
            <a:ext cx="947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‘CREB’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‘ERK’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単位は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604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47075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最小限の数学で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Shannon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の理論を学ぶ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84787" y="1655836"/>
            <a:ext cx="100730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28625" y="2588349"/>
            <a:ext cx="7718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シャノンエントロピー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8" name="右中かっこ 7"/>
          <p:cNvSpPr/>
          <p:nvPr/>
        </p:nvSpPr>
        <p:spPr>
          <a:xfrm rot="5400000">
            <a:off x="4485404" y="1677347"/>
            <a:ext cx="399121" cy="13742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121089" y="3091679"/>
            <a:ext cx="45294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[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(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CREB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] 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右中かっこ 12"/>
          <p:cNvSpPr/>
          <p:nvPr/>
        </p:nvSpPr>
        <p:spPr>
          <a:xfrm rot="5400000">
            <a:off x="7097369" y="3180074"/>
            <a:ext cx="449619" cy="13093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1341041" y="1129832"/>
            <a:ext cx="947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‘CREB’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‘ERK’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単位は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1825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47075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最小限の数学で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Shannon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の理論を学ぶ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84787" y="1655836"/>
            <a:ext cx="100730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28625" y="2588349"/>
            <a:ext cx="7718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シャノンエントロピー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8" name="右中かっこ 7"/>
          <p:cNvSpPr/>
          <p:nvPr/>
        </p:nvSpPr>
        <p:spPr>
          <a:xfrm rot="5400000">
            <a:off x="4485404" y="1677347"/>
            <a:ext cx="399121" cy="13742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121089" y="3091679"/>
            <a:ext cx="45294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[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(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CREB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] 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右中かっこ 12"/>
          <p:cNvSpPr/>
          <p:nvPr/>
        </p:nvSpPr>
        <p:spPr>
          <a:xfrm rot="5400000">
            <a:off x="7097369" y="3180074"/>
            <a:ext cx="449619" cy="13093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458031" y="4080983"/>
            <a:ext cx="48002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情報量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/>
              <p:cNvSpPr txBox="1"/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charset="0"/>
                      </a:rPr>
                      <m:t>      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𝐼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ja-JP" sz="2400" b="0" i="0" smtClean="0">
                        <a:latin typeface="Cambria Math" charset="0"/>
                      </a:rPr>
                      <m:t> CREB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)</m:t>
                    </m:r>
                    <m:r>
                      <a:rPr kumimoji="1" lang="el-GR" altLang="ja-JP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ja-JP" sz="2400" i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i="0" smtClean="0">
                                <a:latin typeface="Cambria Math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kumimoji="1" lang="en-US" altLang="ja-JP" sz="2400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𝑃</m:t>
                            </m:r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( </m:t>
                            </m:r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charset="0"/>
                              </a:rPr>
                              <m:t>CREB</m:t>
                            </m:r>
                            <m:r>
                              <a:rPr kumimoji="1" lang="en-US" altLang="ja-JP" sz="2400" b="0" i="0" smtClean="0">
                                <a:latin typeface="Cambria Math" charset="0"/>
                              </a:rPr>
                              <m:t> )</m:t>
                            </m:r>
                          </m:den>
                        </m:f>
                      </m:e>
                    </m:func>
                  </m:oMath>
                </a14:m>
                <a:r>
                  <a:rPr kumimoji="1" lang="en-US" altLang="ja-JP" sz="2400" dirty="0"/>
                  <a:t> 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2" name="テキスト ボックス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正方形/長方形 32"/>
          <p:cNvSpPr/>
          <p:nvPr/>
        </p:nvSpPr>
        <p:spPr>
          <a:xfrm>
            <a:off x="1341041" y="1129832"/>
            <a:ext cx="947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‘CREB’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‘ERK’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単位は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8223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47075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最小限の数学で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Shannon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の理論を学ぶ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84787" y="1655836"/>
            <a:ext cx="100730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28625" y="2588349"/>
            <a:ext cx="7718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シャノンエントロピー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8" name="右中かっこ 7"/>
          <p:cNvSpPr/>
          <p:nvPr/>
        </p:nvSpPr>
        <p:spPr>
          <a:xfrm rot="5400000">
            <a:off x="4485404" y="1677347"/>
            <a:ext cx="399121" cy="13742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121089" y="3091679"/>
            <a:ext cx="45294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[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(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CREB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] 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右中かっこ 12"/>
          <p:cNvSpPr/>
          <p:nvPr/>
        </p:nvSpPr>
        <p:spPr>
          <a:xfrm rot="5400000">
            <a:off x="7097369" y="3180074"/>
            <a:ext cx="449619" cy="13093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458031" y="4080983"/>
            <a:ext cx="48002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情報量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/>
              <p:cNvSpPr txBox="1"/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charset="0"/>
                      </a:rPr>
                      <m:t>      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𝐼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ja-JP" sz="2400" b="0" i="0" smtClean="0">
                        <a:latin typeface="Cambria Math" charset="0"/>
                      </a:rPr>
                      <m:t> CREB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)</m:t>
                    </m:r>
                    <m:r>
                      <a:rPr kumimoji="1" lang="el-GR" altLang="ja-JP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ja-JP" sz="2400" i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i="0" smtClean="0">
                                <a:latin typeface="Cambria Math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kumimoji="1" lang="en-US" altLang="ja-JP" sz="2400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𝑃</m:t>
                            </m:r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( </m:t>
                            </m:r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charset="0"/>
                              </a:rPr>
                              <m:t>CREB</m:t>
                            </m:r>
                            <m:r>
                              <a:rPr kumimoji="1" lang="en-US" altLang="ja-JP" sz="2400" b="0" i="0" smtClean="0">
                                <a:latin typeface="Cambria Math" charset="0"/>
                              </a:rPr>
                              <m:t> )</m:t>
                            </m:r>
                          </m:den>
                        </m:f>
                      </m:e>
                    </m:func>
                  </m:oMath>
                </a14:m>
                <a:r>
                  <a:rPr kumimoji="1" lang="en-US" altLang="ja-JP" sz="2400" dirty="0"/>
                  <a:t> 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2" name="テキスト ボックス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右中かっこ 31"/>
          <p:cNvSpPr/>
          <p:nvPr/>
        </p:nvSpPr>
        <p:spPr>
          <a:xfrm rot="5400000">
            <a:off x="9232178" y="4879557"/>
            <a:ext cx="433542" cy="11592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1341041" y="1129832"/>
            <a:ext cx="947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‘CREB’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‘ERK’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単位は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0684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47075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最小限の数学で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Shannon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の理論を学ぶ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84787" y="1655836"/>
            <a:ext cx="100730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28625" y="2588349"/>
            <a:ext cx="7718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シャノンエントロピー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8" name="右中かっこ 7"/>
          <p:cNvSpPr/>
          <p:nvPr/>
        </p:nvSpPr>
        <p:spPr>
          <a:xfrm rot="5400000">
            <a:off x="4485404" y="1677347"/>
            <a:ext cx="399121" cy="13742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121089" y="3091679"/>
            <a:ext cx="45294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[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(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CREB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] 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右中かっこ 12"/>
          <p:cNvSpPr/>
          <p:nvPr/>
        </p:nvSpPr>
        <p:spPr>
          <a:xfrm rot="5400000">
            <a:off x="7097369" y="3180074"/>
            <a:ext cx="449619" cy="13093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458031" y="4080983"/>
            <a:ext cx="48002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情報量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50" y="3798142"/>
            <a:ext cx="3849339" cy="2877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7" name="テキスト ボックス 16"/>
          <p:cNvSpPr txBox="1"/>
          <p:nvPr/>
        </p:nvSpPr>
        <p:spPr>
          <a:xfrm>
            <a:off x="2652690" y="3665539"/>
            <a:ext cx="1534394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19165" y="3827170"/>
            <a:ext cx="1056700" cy="36933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072527" y="6254536"/>
            <a:ext cx="1954381" cy="400110"/>
          </a:xfrm>
          <a:prstGeom prst="rect">
            <a:avLst/>
          </a:prstGeom>
          <a:noFill/>
          <a:ln w="317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 rot="19938624">
            <a:off x="3191701" y="5637000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 rot="1673947">
            <a:off x="578413" y="5668704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/>
              <p:cNvSpPr txBox="1"/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charset="0"/>
                      </a:rPr>
                      <m:t>      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𝐼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ja-JP" sz="2400" b="0" i="0" smtClean="0">
                        <a:latin typeface="Cambria Math" charset="0"/>
                      </a:rPr>
                      <m:t> CREB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)</m:t>
                    </m:r>
                    <m:r>
                      <a:rPr kumimoji="1" lang="el-GR" altLang="ja-JP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ja-JP" sz="2400" i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i="0" smtClean="0">
                                <a:latin typeface="Cambria Math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kumimoji="1" lang="en-US" altLang="ja-JP" sz="2400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𝑃</m:t>
                            </m:r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( </m:t>
                            </m:r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charset="0"/>
                              </a:rPr>
                              <m:t>CREB</m:t>
                            </m:r>
                            <m:r>
                              <a:rPr kumimoji="1" lang="en-US" altLang="ja-JP" sz="2400" b="0" i="0" smtClean="0">
                                <a:latin typeface="Cambria Math" charset="0"/>
                              </a:rPr>
                              <m:t> )</m:t>
                            </m:r>
                          </m:den>
                        </m:f>
                      </m:e>
                    </m:func>
                  </m:oMath>
                </a14:m>
                <a:r>
                  <a:rPr kumimoji="1" lang="en-US" altLang="ja-JP" sz="2400" dirty="0"/>
                  <a:t> 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2" name="テキスト ボックス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フリーフォーム 30"/>
          <p:cNvSpPr/>
          <p:nvPr/>
        </p:nvSpPr>
        <p:spPr>
          <a:xfrm>
            <a:off x="4169457" y="4253948"/>
            <a:ext cx="5253944" cy="2400698"/>
          </a:xfrm>
          <a:custGeom>
            <a:avLst/>
            <a:gdLst>
              <a:gd name="connsiteX0" fmla="*/ 5784574 w 5784574"/>
              <a:gd name="connsiteY0" fmla="*/ 1272209 h 1969407"/>
              <a:gd name="connsiteX1" fmla="*/ 4015409 w 5784574"/>
              <a:gd name="connsiteY1" fmla="*/ 1948069 h 1969407"/>
              <a:gd name="connsiteX2" fmla="*/ 2107096 w 5784574"/>
              <a:gd name="connsiteY2" fmla="*/ 1630017 h 1969407"/>
              <a:gd name="connsiteX3" fmla="*/ 0 w 5784574"/>
              <a:gd name="connsiteY3" fmla="*/ 0 h 1969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4574" h="1969407">
                <a:moveTo>
                  <a:pt x="5784574" y="1272209"/>
                </a:moveTo>
                <a:cubicBezTo>
                  <a:pt x="5206448" y="1580321"/>
                  <a:pt x="4628322" y="1888434"/>
                  <a:pt x="4015409" y="1948069"/>
                </a:cubicBezTo>
                <a:cubicBezTo>
                  <a:pt x="3402496" y="2007704"/>
                  <a:pt x="2776331" y="1954695"/>
                  <a:pt x="2107096" y="1630017"/>
                </a:cubicBezTo>
                <a:cubicBezTo>
                  <a:pt x="1437861" y="1305339"/>
                  <a:pt x="0" y="0"/>
                  <a:pt x="0" y="0"/>
                </a:cubicBezTo>
              </a:path>
            </a:pathLst>
          </a:custGeom>
          <a:noFill/>
          <a:ln w="44450">
            <a:solidFill>
              <a:srgbClr val="0432FF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右中かっこ 31"/>
          <p:cNvSpPr/>
          <p:nvPr/>
        </p:nvSpPr>
        <p:spPr>
          <a:xfrm rot="5400000">
            <a:off x="9232178" y="4879557"/>
            <a:ext cx="433542" cy="11592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1341041" y="1129832"/>
            <a:ext cx="947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‘CREB’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‘ERK’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単位は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203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809BDB8B-4389-044E-C461-2167E58393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85"/>
          <a:stretch>
            <a:fillRect/>
          </a:stretch>
        </p:blipFill>
        <p:spPr>
          <a:xfrm>
            <a:off x="5021777" y="224449"/>
            <a:ext cx="7075059" cy="6239348"/>
          </a:xfrm>
          <a:prstGeom prst="rect">
            <a:avLst/>
          </a:prstGeo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0665C404-7D5C-A4E8-29AC-B88499143B41}"/>
              </a:ext>
            </a:extLst>
          </p:cNvPr>
          <p:cNvGrpSpPr/>
          <p:nvPr/>
        </p:nvGrpSpPr>
        <p:grpSpPr>
          <a:xfrm>
            <a:off x="4922576" y="125563"/>
            <a:ext cx="5237054" cy="5385667"/>
            <a:chOff x="4841894" y="125563"/>
            <a:chExt cx="5237054" cy="5385667"/>
          </a:xfrm>
        </p:grpSpPr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B9D8D68B-7D58-680C-5A51-E41CFB093623}"/>
                </a:ext>
              </a:extLst>
            </p:cNvPr>
            <p:cNvCxnSpPr>
              <a:cxnSpLocks/>
            </p:cNvCxnSpPr>
            <p:nvPr/>
          </p:nvCxnSpPr>
          <p:spPr>
            <a:xfrm>
              <a:off x="6384730" y="140677"/>
              <a:ext cx="2907323" cy="0"/>
            </a:xfrm>
            <a:prstGeom prst="line">
              <a:avLst/>
            </a:prstGeom>
            <a:ln w="31750">
              <a:solidFill>
                <a:srgbClr val="0B8B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933733B5-36DC-7547-CB80-2B885C0704A7}"/>
                </a:ext>
              </a:extLst>
            </p:cNvPr>
            <p:cNvCxnSpPr>
              <a:cxnSpLocks/>
            </p:cNvCxnSpPr>
            <p:nvPr/>
          </p:nvCxnSpPr>
          <p:spPr>
            <a:xfrm>
              <a:off x="6384730" y="125563"/>
              <a:ext cx="0" cy="951262"/>
            </a:xfrm>
            <a:prstGeom prst="line">
              <a:avLst/>
            </a:prstGeom>
            <a:ln w="31750">
              <a:solidFill>
                <a:srgbClr val="0B8B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DC415487-03C6-76D6-D625-97AF8BE30550}"/>
                </a:ext>
              </a:extLst>
            </p:cNvPr>
            <p:cNvCxnSpPr>
              <a:cxnSpLocks/>
            </p:cNvCxnSpPr>
            <p:nvPr/>
          </p:nvCxnSpPr>
          <p:spPr>
            <a:xfrm>
              <a:off x="9292053" y="140677"/>
              <a:ext cx="0" cy="2613994"/>
            </a:xfrm>
            <a:prstGeom prst="line">
              <a:avLst/>
            </a:prstGeom>
            <a:ln w="31750">
              <a:solidFill>
                <a:srgbClr val="0B8B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FD022FAA-D551-4507-6C2F-385C54C35FAE}"/>
                </a:ext>
              </a:extLst>
            </p:cNvPr>
            <p:cNvCxnSpPr>
              <a:cxnSpLocks/>
            </p:cNvCxnSpPr>
            <p:nvPr/>
          </p:nvCxnSpPr>
          <p:spPr>
            <a:xfrm>
              <a:off x="9292053" y="2754671"/>
              <a:ext cx="786895" cy="0"/>
            </a:xfrm>
            <a:prstGeom prst="line">
              <a:avLst/>
            </a:prstGeom>
            <a:ln w="31750">
              <a:solidFill>
                <a:srgbClr val="0B8B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662DE84D-003C-EB86-EA95-C924BB1FB80F}"/>
                </a:ext>
              </a:extLst>
            </p:cNvPr>
            <p:cNvCxnSpPr>
              <a:cxnSpLocks/>
            </p:cNvCxnSpPr>
            <p:nvPr/>
          </p:nvCxnSpPr>
          <p:spPr>
            <a:xfrm>
              <a:off x="10078948" y="2744397"/>
              <a:ext cx="0" cy="2766833"/>
            </a:xfrm>
            <a:prstGeom prst="line">
              <a:avLst/>
            </a:prstGeom>
            <a:ln w="31750">
              <a:solidFill>
                <a:srgbClr val="0B8B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349CC184-1A6C-32AB-28AC-B18C9C99F007}"/>
                </a:ext>
              </a:extLst>
            </p:cNvPr>
            <p:cNvCxnSpPr>
              <a:cxnSpLocks/>
            </p:cNvCxnSpPr>
            <p:nvPr/>
          </p:nvCxnSpPr>
          <p:spPr>
            <a:xfrm>
              <a:off x="8085763" y="5511230"/>
              <a:ext cx="1993185" cy="0"/>
            </a:xfrm>
            <a:prstGeom prst="line">
              <a:avLst/>
            </a:prstGeom>
            <a:ln w="31750">
              <a:solidFill>
                <a:srgbClr val="0B8B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DA76869C-5BDB-3786-ED16-C4AAB66D23E8}"/>
                </a:ext>
              </a:extLst>
            </p:cNvPr>
            <p:cNvCxnSpPr>
              <a:cxnSpLocks/>
            </p:cNvCxnSpPr>
            <p:nvPr/>
          </p:nvCxnSpPr>
          <p:spPr>
            <a:xfrm>
              <a:off x="4841894" y="1066517"/>
              <a:ext cx="1542836" cy="0"/>
            </a:xfrm>
            <a:prstGeom prst="line">
              <a:avLst/>
            </a:prstGeom>
            <a:ln w="31750">
              <a:solidFill>
                <a:srgbClr val="0B8B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9710FD8F-4515-7E83-A4F9-4C3E65589F6B}"/>
                </a:ext>
              </a:extLst>
            </p:cNvPr>
            <p:cNvCxnSpPr>
              <a:cxnSpLocks/>
            </p:cNvCxnSpPr>
            <p:nvPr/>
          </p:nvCxnSpPr>
          <p:spPr>
            <a:xfrm>
              <a:off x="4854671" y="1066517"/>
              <a:ext cx="0" cy="1841070"/>
            </a:xfrm>
            <a:prstGeom prst="line">
              <a:avLst/>
            </a:prstGeom>
            <a:ln w="31750">
              <a:solidFill>
                <a:srgbClr val="0B8B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836BE58C-1382-CE5E-9F03-AB1787BBD492}"/>
                </a:ext>
              </a:extLst>
            </p:cNvPr>
            <p:cNvCxnSpPr>
              <a:cxnSpLocks/>
            </p:cNvCxnSpPr>
            <p:nvPr/>
          </p:nvCxnSpPr>
          <p:spPr>
            <a:xfrm>
              <a:off x="8085763" y="2907587"/>
              <a:ext cx="0" cy="2603643"/>
            </a:xfrm>
            <a:prstGeom prst="line">
              <a:avLst/>
            </a:prstGeom>
            <a:ln w="31750">
              <a:solidFill>
                <a:srgbClr val="0B8B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71DEC94B-C185-EDD2-A7D5-770FF8FE5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1894" y="2907587"/>
              <a:ext cx="3243869" cy="5401"/>
            </a:xfrm>
            <a:prstGeom prst="line">
              <a:avLst/>
            </a:prstGeom>
            <a:ln w="31750">
              <a:solidFill>
                <a:srgbClr val="0B8BE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37F5D333-35EF-C86C-0CA0-2B25124CA5A6}"/>
              </a:ext>
            </a:extLst>
          </p:cNvPr>
          <p:cNvGrpSpPr/>
          <p:nvPr/>
        </p:nvGrpSpPr>
        <p:grpSpPr>
          <a:xfrm>
            <a:off x="4796924" y="0"/>
            <a:ext cx="6833248" cy="6517247"/>
            <a:chOff x="4716242" y="0"/>
            <a:chExt cx="6833248" cy="6517247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99E83A20-8FDB-778B-1DF3-19AF07025FBA}"/>
                </a:ext>
              </a:extLst>
            </p:cNvPr>
            <p:cNvSpPr/>
            <p:nvPr/>
          </p:nvSpPr>
          <p:spPr>
            <a:xfrm>
              <a:off x="4716242" y="0"/>
              <a:ext cx="5561738" cy="5661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7A6E1AA3-AA34-FED6-D372-04D8AEB331D5}"/>
                </a:ext>
              </a:extLst>
            </p:cNvPr>
            <p:cNvSpPr/>
            <p:nvPr/>
          </p:nvSpPr>
          <p:spPr>
            <a:xfrm>
              <a:off x="9204872" y="5295326"/>
              <a:ext cx="2344618" cy="12219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3E0CC98D-D2AA-A3DB-0F45-C82896E76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19" y="224449"/>
            <a:ext cx="4236218" cy="1734980"/>
          </a:xfrm>
        </p:spPr>
        <p:txBody>
          <a:bodyPr/>
          <a:lstStyle/>
          <a:p>
            <a:r>
              <a:rPr kumimoji="1" lang="ja-JP" altLang="en-US"/>
              <a:t>珍しい出来事の情報量は大きい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21356D75-5C10-7906-A0D9-0C6DB4BFB36A}"/>
              </a:ext>
            </a:extLst>
          </p:cNvPr>
          <p:cNvGrpSpPr/>
          <p:nvPr/>
        </p:nvGrpSpPr>
        <p:grpSpPr>
          <a:xfrm>
            <a:off x="331793" y="2240462"/>
            <a:ext cx="4800269" cy="1054569"/>
            <a:chOff x="4307305" y="4080983"/>
            <a:chExt cx="4800269" cy="1054569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6CBE4530-4BD7-3598-E468-556BE724D00F}"/>
                </a:ext>
              </a:extLst>
            </p:cNvPr>
            <p:cNvSpPr/>
            <p:nvPr/>
          </p:nvSpPr>
          <p:spPr>
            <a:xfrm>
              <a:off x="4307305" y="4080983"/>
              <a:ext cx="480026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ja-JP" altLang="en-US" sz="2400" b="1">
                  <a:latin typeface="Hiragino Kaku Gothic ProN W6" panose="020B0300000000000000" pitchFamily="34" charset="-128"/>
                  <a:ea typeface="Hiragino Kaku Gothic ProN W6" panose="020B0300000000000000" pitchFamily="34" charset="-128"/>
                  <a:cs typeface="Hiragino Kaku Gothic Pro W3" charset="-128"/>
                </a:rPr>
                <a:t>情報量は確率の逆数</a:t>
              </a:r>
              <a:r>
                <a:rPr lang="ja-JP" altLang="en-US" sz="2400">
                  <a:latin typeface="Hiragino Kaku Gothic Pro W3" charset="-128"/>
                  <a:ea typeface="Hiragino Kaku Gothic Pro W3" charset="-128"/>
                  <a:cs typeface="Hiragino Kaku Gothic Pro W3" charset="-128"/>
                </a:rPr>
                <a:t>（の対数）</a:t>
              </a:r>
              <a:endParaRPr lang="en-US" altLang="ja-JP" sz="2400" dirty="0">
                <a:latin typeface="Helvetica Neue Light" charset="0"/>
                <a:ea typeface="Helvetica Neue Light" charset="0"/>
                <a:cs typeface="Helvetica Neue 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9EF71192-A60F-3206-4F60-5ABD2BCEB607}"/>
                    </a:ext>
                  </a:extLst>
                </p:cNvPr>
                <p:cNvSpPr txBox="1"/>
                <p:nvPr/>
              </p:nvSpPr>
              <p:spPr>
                <a:xfrm>
                  <a:off x="4407410" y="4564370"/>
                  <a:ext cx="3999425" cy="57118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charset="0"/>
                        </a:rPr>
                        <m:t>       </m:t>
                      </m:r>
                      <m:r>
                        <a:rPr kumimoji="1" lang="en-US" altLang="ja-JP" sz="2400" b="0" i="1" smtClean="0">
                          <a:latin typeface="Cambria Math" charset="0"/>
                        </a:rPr>
                        <m:t>𝐼</m:t>
                      </m:r>
                      <m:r>
                        <a:rPr kumimoji="1" lang="en-US" altLang="ja-JP" sz="2400" b="0" i="1" smtClean="0">
                          <a:latin typeface="Cambria Math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ja-JP" sz="2400" b="0" i="0" smtClean="0">
                          <a:latin typeface="Cambria Math" charset="0"/>
                        </a:rPr>
                        <m:t> CREB </m:t>
                      </m:r>
                      <m:r>
                        <a:rPr kumimoji="1" lang="en-US" altLang="ja-JP" sz="2400" b="0" i="1" smtClean="0">
                          <a:latin typeface="Cambria Math" charset="0"/>
                        </a:rPr>
                        <m:t>)</m:t>
                      </m:r>
                      <m:r>
                        <a:rPr kumimoji="1" lang="el-GR" altLang="ja-JP" sz="2400" i="1" smtClean="0">
                          <a:latin typeface="Cambria Math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1" lang="en-US" altLang="ja-JP" sz="2400" i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2400" i="0" smtClean="0">
                                  <a:latin typeface="Cambria Math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kumimoji="1" lang="en-US" altLang="ja-JP" sz="2400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2400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2400" b="0" i="1" smtClean="0">
                                  <a:latin typeface="Cambria Math" charset="0"/>
                                </a:rPr>
                                <m:t>𝑃</m:t>
                              </m:r>
                              <m:r>
                                <a:rPr kumimoji="1" lang="en-US" altLang="ja-JP" sz="2400" b="0" i="1" smtClean="0">
                                  <a:latin typeface="Cambria Math" charset="0"/>
                                </a:rPr>
                                <m:t>(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latin typeface="Cambria Math" charset="0"/>
                                </a:rPr>
                                <m:t>CREB</m:t>
                              </m:r>
                              <m:r>
                                <a:rPr kumimoji="1" lang="en-US" altLang="ja-JP" sz="2400" b="0" i="0" smtClean="0">
                                  <a:latin typeface="Cambria Math" charset="0"/>
                                </a:rPr>
                                <m:t> )</m:t>
                              </m:r>
                            </m:den>
                          </m:f>
                        </m:e>
                      </m:func>
                    </m:oMath>
                  </a14:m>
                  <a:r>
                    <a:rPr kumimoji="1" lang="en-US" altLang="ja-JP" sz="2400" dirty="0"/>
                    <a:t> </a:t>
                  </a:r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9EF71192-A60F-3206-4F60-5ABD2BCEB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7410" y="4564370"/>
                  <a:ext cx="3999425" cy="571182"/>
                </a:xfrm>
                <a:prstGeom prst="rect">
                  <a:avLst/>
                </a:prstGeom>
                <a:blipFill>
                  <a:blip r:embed="rId3"/>
                  <a:stretch>
                    <a:fillRect l="-3785" b="-1702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455BE67-5D16-A479-CE8E-6CC2BEB15A27}"/>
              </a:ext>
            </a:extLst>
          </p:cNvPr>
          <p:cNvSpPr/>
          <p:nvPr/>
        </p:nvSpPr>
        <p:spPr>
          <a:xfrm>
            <a:off x="331793" y="5379098"/>
            <a:ext cx="94473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b="1">
                <a:latin typeface="Hiragino Kaku Gothic ProN W6" panose="020B0300000000000000" pitchFamily="34" charset="-128"/>
                <a:ea typeface="Hiragino Kaku Gothic ProN W6" panose="020B0300000000000000" pitchFamily="34" charset="-128"/>
                <a:cs typeface="Helvetica Neue Light" charset="0"/>
              </a:rPr>
              <a:t>情報量だけなら</a:t>
            </a:r>
            <a:endParaRPr lang="en-US" altLang="ja-JP" sz="24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  <a:cs typeface="Helvetica Neue Light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rgbClr val="0B8BEE"/>
                </a:solidFill>
                <a:latin typeface="+mn-ea"/>
                <a:cs typeface="Helvetica Neue Light" charset="0"/>
              </a:rPr>
              <a:t>東大野球部の</a:t>
            </a:r>
            <a:r>
              <a:rPr lang="en-US" altLang="ja-JP" sz="2400" dirty="0">
                <a:solidFill>
                  <a:srgbClr val="0B8BEE"/>
                </a:solidFill>
                <a:latin typeface="+mn-ea"/>
                <a:cs typeface="Helvetica Neue Light" charset="0"/>
              </a:rPr>
              <a:t>1</a:t>
            </a:r>
            <a:r>
              <a:rPr lang="ja-JP" altLang="en-US" sz="2400">
                <a:solidFill>
                  <a:srgbClr val="0B8BEE"/>
                </a:solidFill>
                <a:latin typeface="+mn-ea"/>
                <a:cs typeface="Helvetica Neue Light" charset="0"/>
              </a:rPr>
              <a:t>勝</a:t>
            </a:r>
            <a:r>
              <a:rPr lang="en-US" altLang="ja-JP" sz="2400" dirty="0">
                <a:solidFill>
                  <a:srgbClr val="0B8BEE"/>
                </a:solidFill>
                <a:latin typeface="+mn-ea"/>
                <a:cs typeface="Helvetica Neue Light" charset="0"/>
              </a:rPr>
              <a:t> </a:t>
            </a:r>
            <a:r>
              <a:rPr lang="en-US" altLang="ja-JP" sz="2400" dirty="0">
                <a:latin typeface="+mn-ea"/>
                <a:cs typeface="Helvetica Neue Light" charset="0"/>
              </a:rPr>
              <a:t>&gt; </a:t>
            </a:r>
            <a:r>
              <a:rPr lang="ja-JP" altLang="en-US" sz="2400">
                <a:solidFill>
                  <a:srgbClr val="C00000"/>
                </a:solidFill>
                <a:latin typeface="+mn-ea"/>
                <a:cs typeface="Helvetica Neue Light" charset="0"/>
              </a:rPr>
              <a:t>早稲田の優勝</a:t>
            </a:r>
            <a:endParaRPr lang="en-US" altLang="ja-JP" sz="2400" dirty="0">
              <a:solidFill>
                <a:srgbClr val="C00000"/>
              </a:solidFill>
              <a:latin typeface="+mn-ea"/>
              <a:cs typeface="Helvetica Neue Light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rgbClr val="0B8BEE"/>
                </a:solidFill>
                <a:latin typeface="+mn-ea"/>
                <a:cs typeface="Helvetica Neue Light" charset="0"/>
              </a:rPr>
              <a:t>東大野球部の</a:t>
            </a:r>
            <a:r>
              <a:rPr lang="en-US" altLang="ja-JP" sz="2400" dirty="0">
                <a:solidFill>
                  <a:srgbClr val="0B8BEE"/>
                </a:solidFill>
                <a:latin typeface="+mn-ea"/>
                <a:cs typeface="Helvetica Neue Light" charset="0"/>
              </a:rPr>
              <a:t>1</a:t>
            </a:r>
            <a:r>
              <a:rPr lang="ja-JP" altLang="en-US" sz="2400">
                <a:solidFill>
                  <a:srgbClr val="0B8BEE"/>
                </a:solidFill>
                <a:latin typeface="+mn-ea"/>
                <a:cs typeface="Helvetica Neue Light" charset="0"/>
              </a:rPr>
              <a:t>勝</a:t>
            </a:r>
            <a:r>
              <a:rPr lang="en-US" altLang="ja-JP" sz="2400" dirty="0">
                <a:solidFill>
                  <a:srgbClr val="0B8BEE"/>
                </a:solidFill>
                <a:latin typeface="+mn-ea"/>
                <a:cs typeface="Helvetica Neue Light" charset="0"/>
              </a:rPr>
              <a:t> </a:t>
            </a:r>
            <a:r>
              <a:rPr lang="en-US" altLang="ja-JP" sz="2400" dirty="0">
                <a:latin typeface="+mn-ea"/>
                <a:cs typeface="Helvetica Neue Light" charset="0"/>
              </a:rPr>
              <a:t>&gt; </a:t>
            </a:r>
            <a:r>
              <a:rPr lang="ja-JP" altLang="en-US" sz="2400">
                <a:solidFill>
                  <a:srgbClr val="1C6D5E"/>
                </a:solidFill>
                <a:latin typeface="+mn-ea"/>
                <a:cs typeface="Helvetica Neue Light" charset="0"/>
              </a:rPr>
              <a:t>イチローの安打記録</a:t>
            </a:r>
            <a:r>
              <a:rPr lang="ja-JP" altLang="en-US" sz="2400">
                <a:latin typeface="+mn-ea"/>
                <a:cs typeface="Helvetica Neue Light" charset="0"/>
              </a:rPr>
              <a:t>（ベーブ・ルース越え）</a:t>
            </a:r>
            <a:endParaRPr lang="en-US" altLang="ja-JP" sz="2400" dirty="0">
              <a:latin typeface="+mn-ea"/>
              <a:cs typeface="Helvetica Neue Light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E33197F-D9D3-F5CE-7E13-DE61430E6BDB}"/>
              </a:ext>
            </a:extLst>
          </p:cNvPr>
          <p:cNvSpPr/>
          <p:nvPr/>
        </p:nvSpPr>
        <p:spPr>
          <a:xfrm>
            <a:off x="331793" y="3736900"/>
            <a:ext cx="43844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b="1">
                <a:latin typeface="Hiragino Kaku Gothic ProN W6" panose="020B0300000000000000" pitchFamily="34" charset="-128"/>
                <a:ea typeface="Hiragino Kaku Gothic ProN W6" panose="020B0300000000000000" pitchFamily="34" charset="-128"/>
                <a:cs typeface="Helvetica Neue Light" charset="0"/>
              </a:rPr>
              <a:t>新聞記事の面積</a:t>
            </a:r>
            <a:r>
              <a:rPr lang="en-US" altLang="ja-JP" sz="24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  <a:cs typeface="Helvetica Neue Light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>
                <a:latin typeface="+mn-ea"/>
                <a:cs typeface="Helvetica Neue Light" charset="0"/>
              </a:rPr>
              <a:t>ニュースバリューの大きさ</a:t>
            </a:r>
            <a:endParaRPr lang="en-US" altLang="ja-JP" sz="2400" dirty="0">
              <a:latin typeface="+mn-ea"/>
              <a:cs typeface="Helvetica Neue Light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>
                <a:latin typeface="+mn-ea"/>
                <a:cs typeface="Helvetica Neue Light" charset="0"/>
              </a:rPr>
              <a:t>すなわち情報量</a:t>
            </a:r>
            <a:endParaRPr lang="en-US" altLang="ja-JP" sz="2400" dirty="0">
              <a:latin typeface="+mn-ea"/>
              <a:cs typeface="Helvetica Neue Light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BBD3CD6-DF16-695B-5226-4D69823C1E36}"/>
              </a:ext>
            </a:extLst>
          </p:cNvPr>
          <p:cNvSpPr txBox="1"/>
          <p:nvPr/>
        </p:nvSpPr>
        <p:spPr>
          <a:xfrm>
            <a:off x="8978384" y="6506198"/>
            <a:ext cx="322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2015</a:t>
            </a:r>
            <a:r>
              <a:rPr kumimoji="1" lang="ja-JP" altLang="en-US"/>
              <a:t>年</a:t>
            </a:r>
            <a:r>
              <a:rPr kumimoji="1" lang="en-US" altLang="ja-JP" dirty="0"/>
              <a:t>5</a:t>
            </a:r>
            <a:r>
              <a:rPr kumimoji="1" lang="ja-JP" altLang="en-US"/>
              <a:t>月</a:t>
            </a:r>
            <a:r>
              <a:rPr kumimoji="1" lang="en-US" altLang="ja-JP" dirty="0"/>
              <a:t>24</a:t>
            </a:r>
            <a:r>
              <a:rPr kumimoji="1" lang="ja-JP" altLang="en-US"/>
              <a:t>日</a:t>
            </a:r>
            <a:r>
              <a:rPr kumimoji="1" lang="en-US" altLang="ja-JP" dirty="0"/>
              <a:t> </a:t>
            </a:r>
            <a:r>
              <a:rPr kumimoji="1" lang="ja-JP" altLang="en-US"/>
              <a:t>日本経済新聞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214368F-89B8-F607-0C6F-77B75C70E499}"/>
              </a:ext>
            </a:extLst>
          </p:cNvPr>
          <p:cNvSpPr txBox="1"/>
          <p:nvPr/>
        </p:nvSpPr>
        <p:spPr>
          <a:xfrm>
            <a:off x="10358662" y="4182070"/>
            <a:ext cx="1838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2015</a:t>
            </a:r>
            <a:r>
              <a:rPr kumimoji="1" lang="ja-JP" altLang="en-US"/>
              <a:t>年</a:t>
            </a:r>
            <a:r>
              <a:rPr kumimoji="1" lang="en-US" altLang="ja-JP" dirty="0"/>
              <a:t>5</a:t>
            </a:r>
            <a:r>
              <a:rPr kumimoji="1" lang="ja-JP" altLang="en-US"/>
              <a:t>月</a:t>
            </a:r>
            <a:r>
              <a:rPr lang="en-US" altLang="ja-JP" dirty="0"/>
              <a:t>31</a:t>
            </a:r>
            <a:r>
              <a:rPr kumimoji="1" lang="ja-JP" altLang="en-US"/>
              <a:t>日</a:t>
            </a:r>
            <a:r>
              <a:rPr kumimoji="1" lang="en-US" altLang="ja-JP" dirty="0"/>
              <a:t> </a:t>
            </a:r>
          </a:p>
          <a:p>
            <a:pPr algn="ctr"/>
            <a:r>
              <a:rPr kumimoji="1" lang="ja-JP" altLang="en-US"/>
              <a:t>日本経済新聞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617EA1E-0858-D508-87BE-27B4AF6A6C31}"/>
              </a:ext>
            </a:extLst>
          </p:cNvPr>
          <p:cNvSpPr txBox="1"/>
          <p:nvPr/>
        </p:nvSpPr>
        <p:spPr>
          <a:xfrm>
            <a:off x="10540139" y="140677"/>
            <a:ext cx="1487011" cy="373165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1A4484F2-551D-409A-4617-12EDEBED15D6}"/>
              </a:ext>
            </a:extLst>
          </p:cNvPr>
          <p:cNvSpPr txBox="1"/>
          <p:nvPr/>
        </p:nvSpPr>
        <p:spPr>
          <a:xfrm>
            <a:off x="9412564" y="5468830"/>
            <a:ext cx="1993185" cy="969118"/>
          </a:xfrm>
          <a:prstGeom prst="rect">
            <a:avLst/>
          </a:prstGeom>
          <a:noFill/>
          <a:ln w="31750">
            <a:solidFill>
              <a:srgbClr val="1C6D5E"/>
            </a:solidFill>
          </a:ln>
        </p:spPr>
        <p:txBody>
          <a:bodyPr wrap="square" rtlCol="0">
            <a:spAutoFit/>
          </a:bodyPr>
          <a:lstStyle/>
          <a:p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533EBA2-0F3A-339D-D0B8-4583E509C35D}"/>
              </a:ext>
            </a:extLst>
          </p:cNvPr>
          <p:cNvSpPr txBox="1"/>
          <p:nvPr/>
        </p:nvSpPr>
        <p:spPr>
          <a:xfrm>
            <a:off x="6671758" y="2872360"/>
            <a:ext cx="1441199" cy="2659667"/>
          </a:xfrm>
          <a:prstGeom prst="rect">
            <a:avLst/>
          </a:prstGeom>
          <a:noFill/>
          <a:ln w="31750">
            <a:solidFill>
              <a:srgbClr val="1C6D5E"/>
            </a:solidFill>
          </a:ln>
        </p:spPr>
        <p:txBody>
          <a:bodyPr wrap="square" rtlCol="0">
            <a:spAutoFit/>
          </a:bodyPr>
          <a:lstStyle/>
          <a:p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13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9" grpId="0"/>
      <p:bldP spid="54" grpId="0" animBg="1"/>
      <p:bldP spid="5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3833" y="125701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演習</a:t>
            </a:r>
            <a:r>
              <a:rPr lang="en-US" altLang="ja-JP" dirty="0"/>
              <a:t>4 </a:t>
            </a:r>
            <a:r>
              <a:rPr lang="ja-JP" altLang="en-US" dirty="0"/>
              <a:t>情報量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92963" y="1312831"/>
            <a:ext cx="10515600" cy="1784678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ERK, CREB</a:t>
            </a:r>
            <a:r>
              <a:rPr lang="en-US" altLang="ja-JP" dirty="0"/>
              <a:t> </a:t>
            </a:r>
            <a:r>
              <a:rPr lang="ja-JP" altLang="en-US" dirty="0"/>
              <a:t>の周辺分布を用いて、それぞれの情報量を求めなさい。</a:t>
            </a:r>
            <a:r>
              <a:rPr kumimoji="1" lang="ja-JP" altLang="en-US" dirty="0"/>
              <a:t>下の表の空欄を埋める</a:t>
            </a:r>
            <a:r>
              <a:rPr kumimoji="1" lang="ja-JP" altLang="en-US"/>
              <a:t>こと。</a:t>
            </a:r>
            <a:endParaRPr kumimoji="1" lang="en-US" altLang="ja-JP" dirty="0"/>
          </a:p>
          <a:p>
            <a:r>
              <a:rPr lang="ja-JP" altLang="en-US"/>
              <a:t>ヒント</a:t>
            </a:r>
            <a:r>
              <a:rPr lang="ja-JP" altLang="en-US" dirty="0"/>
              <a:t>：</a:t>
            </a: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/>
              <p:cNvSpPr txBox="1"/>
              <p:nvPr/>
            </p:nvSpPr>
            <p:spPr>
              <a:xfrm>
                <a:off x="2604952" y="2340230"/>
                <a:ext cx="7075075" cy="5711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charset="0"/>
                      </a:rPr>
                      <m:t>      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𝐼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ja-JP" sz="2400" b="0" i="0" smtClean="0">
                        <a:latin typeface="Cambria Math" charset="0"/>
                      </a:rPr>
                      <m:t> CREB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)</m:t>
                    </m:r>
                    <m:r>
                      <a:rPr kumimoji="1" lang="el-GR" altLang="ja-JP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ja-JP" sz="2400" i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i="0" smtClean="0">
                                <a:latin typeface="Cambria Math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kumimoji="1" lang="en-US" altLang="ja-JP" sz="2400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𝑃</m:t>
                            </m:r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( </m:t>
                            </m:r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charset="0"/>
                              </a:rPr>
                              <m:t>CREB</m:t>
                            </m:r>
                            <m:r>
                              <a:rPr kumimoji="1" lang="en-US" altLang="ja-JP" sz="2400" b="0" i="0" smtClean="0">
                                <a:latin typeface="Cambria Math" charset="0"/>
                              </a:rPr>
                              <m:t> )</m:t>
                            </m:r>
                          </m:den>
                        </m:f>
                      </m:e>
                    </m:func>
                  </m:oMath>
                </a14:m>
                <a:r>
                  <a:rPr lang="el-GR" altLang="ja-JP" sz="2400" dirty="0"/>
                  <a:t> </a:t>
                </a:r>
                <a14:m>
                  <m:oMath xmlns:m="http://schemas.openxmlformats.org/officeDocument/2006/math">
                    <m:r>
                      <a:rPr lang="el-GR" altLang="ja-JP" sz="2400" i="1">
                        <a:latin typeface="Cambria Math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charset="0"/>
                      </a:rPr>
                      <m:t>−</m:t>
                    </m:r>
                    <m:func>
                      <m:func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ja-JP" sz="240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ja-JP" sz="2400">
                                <a:latin typeface="Cambria Math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ja-JP" sz="2400" b="0" i="1" smtClean="0">
                            <a:latin typeface="Cambria Math" charset="0"/>
                          </a:rPr>
                          <m:t>𝑃</m:t>
                        </m:r>
                        <m:r>
                          <a:rPr lang="en-US" altLang="ja-JP" sz="2400" i="1">
                            <a:latin typeface="Cambria Math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ja-JP" sz="2400" i="0">
                            <a:latin typeface="Cambria Math" charset="0"/>
                          </a:rPr>
                          <m:t> CREB </m:t>
                        </m:r>
                        <m:r>
                          <a:rPr lang="en-US" altLang="ja-JP" sz="2400" i="1">
                            <a:latin typeface="Cambria Math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kumimoji="1" lang="en-US" altLang="ja-JP" sz="2400" dirty="0"/>
                  <a:t> 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4" name="テキスト ボックス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952" y="2340230"/>
                <a:ext cx="7075075" cy="57118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/>
          <p:cNvSpPr txBox="1"/>
          <p:nvPr/>
        </p:nvSpPr>
        <p:spPr>
          <a:xfrm>
            <a:off x="9396350" y="3157933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 rot="5400000">
            <a:off x="429157" y="4991453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8424712" y="3690936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0 - 1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9557321" y="3690936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1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 - 2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0654217" y="3690936"/>
            <a:ext cx="65434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 - 3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2977047"/>
                  </p:ext>
                </p:extLst>
              </p:nvPr>
            </p:nvGraphicFramePr>
            <p:xfrm>
              <a:off x="1864000" y="3864992"/>
              <a:ext cx="1683210" cy="2583543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6832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8611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611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6118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kumimoji="1" lang="en-US" altLang="ja-JP" sz="2400" b="0" i="0" smtClean="0">
                                        <a:latin typeface="Cambria Math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0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1" lang="en-US" altLang="ja-JP" sz="2400" b="0" i="0" smtClean="0">
                                        <a:latin typeface="Cambria Math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2977047"/>
                  </p:ext>
                </p:extLst>
              </p:nvPr>
            </p:nvGraphicFramePr>
            <p:xfrm>
              <a:off x="1864000" y="3864992"/>
              <a:ext cx="1683210" cy="2583543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683210"/>
                  </a:tblGrid>
                  <a:tr h="8611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sz="2400" i="0" dirty="0"/>
                        </a:p>
                      </a:txBody>
                      <a:tcPr anchor="ctr"/>
                    </a:tc>
                  </a:tr>
                  <a:tr h="8611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sz="2400" i="0" dirty="0"/>
                        </a:p>
                      </a:txBody>
                      <a:tcPr anchor="ctr"/>
                    </a:tc>
                  </a:tr>
                  <a:tr h="861181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61" t="-202128" r="-722" b="-141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5" name="テキスト ボックス 14"/>
          <p:cNvSpPr txBox="1"/>
          <p:nvPr/>
        </p:nvSpPr>
        <p:spPr>
          <a:xfrm>
            <a:off x="6612317" y="4357763"/>
            <a:ext cx="1140056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P(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graphicFrame>
        <p:nvGraphicFramePr>
          <p:cNvPr id="16" name="表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924114"/>
              </p:ext>
            </p:extLst>
          </p:nvPr>
        </p:nvGraphicFramePr>
        <p:xfrm>
          <a:off x="8165415" y="4092170"/>
          <a:ext cx="3450765" cy="8933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0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3397">
                <a:tc>
                  <a:txBody>
                    <a:bodyPr/>
                    <a:lstStyle/>
                    <a:p>
                      <a:endParaRPr kumimoji="1" lang="ja-JP" alt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4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テキスト ボックス 16"/>
          <p:cNvSpPr txBox="1"/>
          <p:nvPr/>
        </p:nvSpPr>
        <p:spPr>
          <a:xfrm>
            <a:off x="1958596" y="3378860"/>
            <a:ext cx="129715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P( CREB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6600816" y="5784346"/>
            <a:ext cx="1146468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I (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graphicFrame>
        <p:nvGraphicFramePr>
          <p:cNvPr id="19" name="表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661378"/>
              </p:ext>
            </p:extLst>
          </p:nvPr>
        </p:nvGraphicFramePr>
        <p:xfrm>
          <a:off x="8148824" y="5509746"/>
          <a:ext cx="3450765" cy="8933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0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3397">
                <a:tc>
                  <a:txBody>
                    <a:bodyPr/>
                    <a:lstStyle/>
                    <a:p>
                      <a:endParaRPr kumimoji="1" lang="ja-JP" alt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4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テキスト ボックス 19"/>
          <p:cNvSpPr txBox="1"/>
          <p:nvPr/>
        </p:nvSpPr>
        <p:spPr>
          <a:xfrm>
            <a:off x="4100665" y="3378860"/>
            <a:ext cx="1303562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I ( CREB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1108196" y="5843515"/>
            <a:ext cx="78258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0 - 10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979956" y="4973217"/>
            <a:ext cx="91082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10 - 20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979956" y="4100016"/>
            <a:ext cx="910827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0 - 30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表 2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919254"/>
                  </p:ext>
                </p:extLst>
              </p:nvPr>
            </p:nvGraphicFramePr>
            <p:xfrm>
              <a:off x="4044240" y="3864992"/>
              <a:ext cx="1683210" cy="2583543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6832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8611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611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6118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func>
                                  <m:funcPr>
                                    <m:ctrlPr>
                                      <a:rPr kumimoji="1" lang="en-US" altLang="ja-JP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kumimoji="1" lang="en-US" altLang="ja-JP" sz="2400" b="0" i="0" smtClean="0">
                                            <a:latin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0" smtClean="0">
                                            <a:latin typeface="Cambria Math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ja-JP" sz="2400" i="0" smtClean="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f>
                                      <m:fPr>
                                        <m:ctrlPr>
                                          <a:rPr kumimoji="1" lang="en-US" altLang="ja-JP" sz="2400" b="0" i="1" smtClean="0">
                                            <a:latin typeface="Cambria Math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ja-JP" sz="2400" b="0" i="1" smtClean="0">
                                            <a:latin typeface="Cambria Math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kumimoji="1" lang="en-US" altLang="ja-JP" sz="2400" b="0" i="1" smtClean="0">
                                            <a:latin typeface="Cambria Math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kumimoji="1" lang="ja-JP" altLang="en-US" sz="24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表 2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919254"/>
                  </p:ext>
                </p:extLst>
              </p:nvPr>
            </p:nvGraphicFramePr>
            <p:xfrm>
              <a:off x="4044240" y="3864992"/>
              <a:ext cx="1683210" cy="2583543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683210"/>
                  </a:tblGrid>
                  <a:tr h="8611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sz="2400" i="0" dirty="0"/>
                        </a:p>
                      </a:txBody>
                      <a:tcPr anchor="ctr"/>
                    </a:tc>
                  </a:tr>
                  <a:tr h="86118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ja-JP" altLang="en-US" sz="2400" i="0" dirty="0"/>
                        </a:p>
                      </a:txBody>
                      <a:tcPr anchor="ctr"/>
                    </a:tc>
                  </a:tr>
                  <a:tr h="861181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61" t="-202128" r="-722" b="-141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5" name="正方形/長方形 24"/>
          <p:cNvSpPr/>
          <p:nvPr/>
        </p:nvSpPr>
        <p:spPr>
          <a:xfrm>
            <a:off x="6486890" y="3166526"/>
            <a:ext cx="5239771" cy="3525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493833" y="3166526"/>
            <a:ext cx="5449652" cy="3525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420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47075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最小限の数学で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Shannon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の理論を学ぶ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84787" y="1655836"/>
            <a:ext cx="100730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28625" y="2588349"/>
            <a:ext cx="7718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シャノンエントロピー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8" name="右中かっこ 7"/>
          <p:cNvSpPr/>
          <p:nvPr/>
        </p:nvSpPr>
        <p:spPr>
          <a:xfrm rot="5400000">
            <a:off x="4485404" y="1677347"/>
            <a:ext cx="399121" cy="13742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121089" y="3091679"/>
            <a:ext cx="45294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[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(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CREB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] 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右中かっこ 12"/>
          <p:cNvSpPr/>
          <p:nvPr/>
        </p:nvSpPr>
        <p:spPr>
          <a:xfrm rot="5400000">
            <a:off x="7097369" y="3180074"/>
            <a:ext cx="449619" cy="13093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458031" y="4080983"/>
            <a:ext cx="48002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情報量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50" y="3798142"/>
            <a:ext cx="3849339" cy="2877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7" name="テキスト ボックス 16"/>
          <p:cNvSpPr txBox="1"/>
          <p:nvPr/>
        </p:nvSpPr>
        <p:spPr>
          <a:xfrm>
            <a:off x="2652690" y="3665539"/>
            <a:ext cx="1534394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19165" y="3827170"/>
            <a:ext cx="1056700" cy="36933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072527" y="6254536"/>
            <a:ext cx="1954381" cy="400110"/>
          </a:xfrm>
          <a:prstGeom prst="rect">
            <a:avLst/>
          </a:prstGeom>
          <a:noFill/>
          <a:ln w="317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 rot="19938624">
            <a:off x="3191701" y="5637000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 rot="1673947">
            <a:off x="578413" y="5668704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/>
              <p:cNvSpPr txBox="1"/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charset="0"/>
                      </a:rPr>
                      <m:t>      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𝐼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ja-JP" sz="2400" b="0" i="0" smtClean="0">
                        <a:latin typeface="Cambria Math" charset="0"/>
                      </a:rPr>
                      <m:t> CREB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)</m:t>
                    </m:r>
                    <m:r>
                      <a:rPr kumimoji="1" lang="el-GR" altLang="ja-JP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ja-JP" sz="2400" i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i="0" smtClean="0">
                                <a:latin typeface="Cambria Math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kumimoji="1" lang="en-US" altLang="ja-JP" sz="2400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𝑃</m:t>
                            </m:r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( </m:t>
                            </m:r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charset="0"/>
                              </a:rPr>
                              <m:t>CREB</m:t>
                            </m:r>
                            <m:r>
                              <a:rPr kumimoji="1" lang="en-US" altLang="ja-JP" sz="2400" b="0" i="0" smtClean="0">
                                <a:latin typeface="Cambria Math" charset="0"/>
                              </a:rPr>
                              <m:t> )</m:t>
                            </m:r>
                          </m:den>
                        </m:f>
                      </m:e>
                    </m:func>
                  </m:oMath>
                </a14:m>
                <a:r>
                  <a:rPr kumimoji="1" lang="en-US" altLang="ja-JP" sz="2400" dirty="0"/>
                  <a:t> 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2" name="テキスト ボックス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フリーフォーム 30"/>
          <p:cNvSpPr/>
          <p:nvPr/>
        </p:nvSpPr>
        <p:spPr>
          <a:xfrm>
            <a:off x="4169457" y="4253948"/>
            <a:ext cx="5253944" cy="2400698"/>
          </a:xfrm>
          <a:custGeom>
            <a:avLst/>
            <a:gdLst>
              <a:gd name="connsiteX0" fmla="*/ 5784574 w 5784574"/>
              <a:gd name="connsiteY0" fmla="*/ 1272209 h 1969407"/>
              <a:gd name="connsiteX1" fmla="*/ 4015409 w 5784574"/>
              <a:gd name="connsiteY1" fmla="*/ 1948069 h 1969407"/>
              <a:gd name="connsiteX2" fmla="*/ 2107096 w 5784574"/>
              <a:gd name="connsiteY2" fmla="*/ 1630017 h 1969407"/>
              <a:gd name="connsiteX3" fmla="*/ 0 w 5784574"/>
              <a:gd name="connsiteY3" fmla="*/ 0 h 1969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4574" h="1969407">
                <a:moveTo>
                  <a:pt x="5784574" y="1272209"/>
                </a:moveTo>
                <a:cubicBezTo>
                  <a:pt x="5206448" y="1580321"/>
                  <a:pt x="4628322" y="1888434"/>
                  <a:pt x="4015409" y="1948069"/>
                </a:cubicBezTo>
                <a:cubicBezTo>
                  <a:pt x="3402496" y="2007704"/>
                  <a:pt x="2776331" y="1954695"/>
                  <a:pt x="2107096" y="1630017"/>
                </a:cubicBezTo>
                <a:cubicBezTo>
                  <a:pt x="1437861" y="1305339"/>
                  <a:pt x="0" y="0"/>
                  <a:pt x="0" y="0"/>
                </a:cubicBezTo>
              </a:path>
            </a:pathLst>
          </a:custGeom>
          <a:noFill/>
          <a:ln w="44450">
            <a:solidFill>
              <a:srgbClr val="0432FF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右中かっこ 31"/>
          <p:cNvSpPr/>
          <p:nvPr/>
        </p:nvSpPr>
        <p:spPr>
          <a:xfrm rot="5400000">
            <a:off x="9232178" y="4879557"/>
            <a:ext cx="433542" cy="11592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1341041" y="1129832"/>
            <a:ext cx="947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‘CREB’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‘ERK’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単位は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23" name="角丸四角形 22"/>
          <p:cNvSpPr/>
          <p:nvPr/>
        </p:nvSpPr>
        <p:spPr>
          <a:xfrm>
            <a:off x="4459271" y="4059561"/>
            <a:ext cx="6698587" cy="1616401"/>
          </a:xfrm>
          <a:prstGeom prst="roundRect">
            <a:avLst>
              <a:gd name="adj" fmla="val 9602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948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47075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最小限の数学で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Shannon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の理論を学ぶ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84787" y="1655836"/>
            <a:ext cx="100730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28625" y="2588349"/>
            <a:ext cx="7718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シャノンエントロピー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8" name="右中かっこ 7"/>
          <p:cNvSpPr/>
          <p:nvPr/>
        </p:nvSpPr>
        <p:spPr>
          <a:xfrm rot="5400000">
            <a:off x="4485404" y="1677347"/>
            <a:ext cx="399121" cy="13742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121089" y="3091679"/>
            <a:ext cx="45294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[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(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CREB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] 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右中かっこ 12"/>
          <p:cNvSpPr/>
          <p:nvPr/>
        </p:nvSpPr>
        <p:spPr>
          <a:xfrm rot="5400000">
            <a:off x="7097369" y="3180074"/>
            <a:ext cx="449619" cy="13093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458031" y="4080983"/>
            <a:ext cx="48002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情報量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50" y="3798142"/>
            <a:ext cx="3849339" cy="2877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7" name="テキスト ボックス 16"/>
          <p:cNvSpPr txBox="1"/>
          <p:nvPr/>
        </p:nvSpPr>
        <p:spPr>
          <a:xfrm>
            <a:off x="2652690" y="3665539"/>
            <a:ext cx="1534394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19165" y="3827170"/>
            <a:ext cx="1056700" cy="36933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072527" y="6254536"/>
            <a:ext cx="1954381" cy="400110"/>
          </a:xfrm>
          <a:prstGeom prst="rect">
            <a:avLst/>
          </a:prstGeom>
          <a:noFill/>
          <a:ln w="317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 rot="19938624">
            <a:off x="3191701" y="5637000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 rot="1673947">
            <a:off x="578413" y="5668704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/>
              <p:cNvSpPr txBox="1"/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charset="0"/>
                      </a:rPr>
                      <m:t>      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𝐼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ja-JP" sz="2400" b="0" i="0" smtClean="0">
                        <a:latin typeface="Cambria Math" charset="0"/>
                      </a:rPr>
                      <m:t> CREB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)</m:t>
                    </m:r>
                    <m:r>
                      <a:rPr kumimoji="1" lang="el-GR" altLang="ja-JP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ja-JP" sz="2400" i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i="0" smtClean="0">
                                <a:latin typeface="Cambria Math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kumimoji="1" lang="en-US" altLang="ja-JP" sz="2400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𝑃</m:t>
                            </m:r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( </m:t>
                            </m:r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charset="0"/>
                              </a:rPr>
                              <m:t>CREB</m:t>
                            </m:r>
                            <m:r>
                              <a:rPr kumimoji="1" lang="en-US" altLang="ja-JP" sz="2400" b="0" i="0" smtClean="0">
                                <a:latin typeface="Cambria Math" charset="0"/>
                              </a:rPr>
                              <m:t> )</m:t>
                            </m:r>
                          </m:den>
                        </m:f>
                      </m:e>
                    </m:func>
                  </m:oMath>
                </a14:m>
                <a:r>
                  <a:rPr kumimoji="1" lang="en-US" altLang="ja-JP" sz="2400" dirty="0"/>
                  <a:t> 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2" name="テキスト ボックス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フリーフォーム 30"/>
          <p:cNvSpPr/>
          <p:nvPr/>
        </p:nvSpPr>
        <p:spPr>
          <a:xfrm>
            <a:off x="4169457" y="4253948"/>
            <a:ext cx="5253944" cy="2400698"/>
          </a:xfrm>
          <a:custGeom>
            <a:avLst/>
            <a:gdLst>
              <a:gd name="connsiteX0" fmla="*/ 5784574 w 5784574"/>
              <a:gd name="connsiteY0" fmla="*/ 1272209 h 1969407"/>
              <a:gd name="connsiteX1" fmla="*/ 4015409 w 5784574"/>
              <a:gd name="connsiteY1" fmla="*/ 1948069 h 1969407"/>
              <a:gd name="connsiteX2" fmla="*/ 2107096 w 5784574"/>
              <a:gd name="connsiteY2" fmla="*/ 1630017 h 1969407"/>
              <a:gd name="connsiteX3" fmla="*/ 0 w 5784574"/>
              <a:gd name="connsiteY3" fmla="*/ 0 h 1969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4574" h="1969407">
                <a:moveTo>
                  <a:pt x="5784574" y="1272209"/>
                </a:moveTo>
                <a:cubicBezTo>
                  <a:pt x="5206448" y="1580321"/>
                  <a:pt x="4628322" y="1888434"/>
                  <a:pt x="4015409" y="1948069"/>
                </a:cubicBezTo>
                <a:cubicBezTo>
                  <a:pt x="3402496" y="2007704"/>
                  <a:pt x="2776331" y="1954695"/>
                  <a:pt x="2107096" y="1630017"/>
                </a:cubicBezTo>
                <a:cubicBezTo>
                  <a:pt x="1437861" y="1305339"/>
                  <a:pt x="0" y="0"/>
                  <a:pt x="0" y="0"/>
                </a:cubicBezTo>
              </a:path>
            </a:pathLst>
          </a:custGeom>
          <a:noFill/>
          <a:ln w="44450">
            <a:solidFill>
              <a:srgbClr val="0432FF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右中かっこ 31"/>
          <p:cNvSpPr/>
          <p:nvPr/>
        </p:nvSpPr>
        <p:spPr>
          <a:xfrm rot="5400000">
            <a:off x="9232178" y="4879557"/>
            <a:ext cx="433542" cy="11592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1341041" y="1129832"/>
            <a:ext cx="947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‘CREB’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‘ERK’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単位は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24" name="角丸四角形 23"/>
          <p:cNvSpPr/>
          <p:nvPr/>
        </p:nvSpPr>
        <p:spPr>
          <a:xfrm>
            <a:off x="1341041" y="2506244"/>
            <a:ext cx="7610810" cy="1185031"/>
          </a:xfrm>
          <a:prstGeom prst="roundRect">
            <a:avLst>
              <a:gd name="adj" fmla="val 9602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9300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lang="en-US" altLang="ja-JP" dirty="0"/>
              <a:t>5-1 </a:t>
            </a:r>
            <a:r>
              <a:rPr lang="ja-JP" altLang="en-US" dirty="0"/>
              <a:t>シャノンエントロピー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13303"/>
          </a:xfrm>
        </p:spPr>
        <p:txBody>
          <a:bodyPr>
            <a:normAutofit/>
          </a:bodyPr>
          <a:lstStyle/>
          <a:p>
            <a:r>
              <a:rPr lang="en-US" altLang="ja-JP" dirty="0"/>
              <a:t>ERK, CREB </a:t>
            </a:r>
            <a:r>
              <a:rPr lang="ja-JP" altLang="en-US" dirty="0"/>
              <a:t>の周辺分布と情報量を用いて、シャノンエントロピー（情報量の期待値）を求めなさい。</a:t>
            </a:r>
            <a:r>
              <a:rPr lang="en-US" altLang="ja-JP" dirty="0"/>
              <a:t>log </a:t>
            </a:r>
            <a:r>
              <a:rPr lang="en-US" altLang="ja-JP" baseline="-25000" dirty="0"/>
              <a:t>2</a:t>
            </a:r>
            <a:r>
              <a:rPr lang="en-US" altLang="ja-JP" dirty="0"/>
              <a:t> 3 = 1.6 </a:t>
            </a:r>
            <a:r>
              <a:rPr lang="ja-JP" altLang="en-US" dirty="0"/>
              <a:t>とする。</a:t>
            </a:r>
            <a:endParaRPr lang="en-US" altLang="ja-JP" dirty="0"/>
          </a:p>
          <a:p>
            <a:r>
              <a:rPr lang="ja-JP" altLang="en-US" dirty="0"/>
              <a:t>ヒント：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endParaRPr kumimoji="1" lang="en-US" altLang="ja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/>
              <p:cNvSpPr txBox="1"/>
              <p:nvPr/>
            </p:nvSpPr>
            <p:spPr>
              <a:xfrm>
                <a:off x="984504" y="3196542"/>
                <a:ext cx="9403080" cy="546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i="1" dirty="0">
                    <a:latin typeface="Times New Roman" charset="0"/>
                    <a:ea typeface="Times New Roman" charset="0"/>
                    <a:cs typeface="Times New Roman" charset="0"/>
                  </a:rPr>
                  <a:t>   </a:t>
                </a:r>
                <a:r>
                  <a:rPr lang="en-US" altLang="ja-JP" sz="2800" i="1" dirty="0">
                    <a:latin typeface="Times New Roman" charset="0"/>
                    <a:ea typeface="Times New Roman" charset="0"/>
                    <a:cs typeface="Times New Roman" charset="0"/>
                  </a:rPr>
                  <a:t>H </a:t>
                </a:r>
                <a:r>
                  <a:rPr lang="en-US" altLang="ja-JP" sz="2800" dirty="0">
                    <a:latin typeface="Times New Roman" charset="0"/>
                    <a:ea typeface="Times New Roman" charset="0"/>
                    <a:cs typeface="Times New Roman" charset="0"/>
                  </a:rPr>
                  <a:t>( CREB ) = </a:t>
                </a:r>
                <a:r>
                  <a:rPr lang="en-US" altLang="ja-JP" sz="2800" i="1" dirty="0">
                    <a:latin typeface="Times New Roman" charset="0"/>
                    <a:ea typeface="Times New Roman" charset="0"/>
                    <a:cs typeface="Times New Roman" charset="0"/>
                  </a:rPr>
                  <a:t>E</a:t>
                </a:r>
                <a:r>
                  <a:rPr kumimoji="1" lang="en-US" altLang="ja-JP" sz="2800" i="1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kumimoji="1" lang="en-US" altLang="ja-JP" sz="2800" dirty="0">
                    <a:latin typeface="Times New Roman" charset="0"/>
                    <a:ea typeface="Times New Roman" charset="0"/>
                    <a:cs typeface="Times New Roman" charset="0"/>
                  </a:rPr>
                  <a:t>[ </a:t>
                </a:r>
                <a:r>
                  <a:rPr lang="en-US" altLang="ja-JP" sz="2800" i="1" dirty="0">
                    <a:latin typeface="Times New Roman" charset="0"/>
                    <a:ea typeface="Times New Roman" charset="0"/>
                    <a:cs typeface="Times New Roman" charset="0"/>
                  </a:rPr>
                  <a:t>I</a:t>
                </a:r>
                <a:r>
                  <a:rPr lang="en-US" altLang="ja-JP" sz="2800" dirty="0">
                    <a:latin typeface="Times New Roman" charset="0"/>
                    <a:ea typeface="Times New Roman" charset="0"/>
                    <a:cs typeface="Times New Roman" charset="0"/>
                  </a:rPr>
                  <a:t> (</a:t>
                </a:r>
                <a:r>
                  <a:rPr lang="en-US" altLang="ja-JP" sz="2800" i="1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r>
                  <a:rPr kumimoji="1" lang="en-US" altLang="ja-JP" sz="2800" dirty="0">
                    <a:latin typeface="Times New Roman" charset="0"/>
                    <a:ea typeface="Times New Roman" charset="0"/>
                    <a:cs typeface="Times New Roman" charset="0"/>
                  </a:rPr>
                  <a:t>CREB </a:t>
                </a:r>
                <a:r>
                  <a:rPr lang="en-US" altLang="ja-JP" sz="2800" dirty="0">
                    <a:latin typeface="Times New Roman" charset="0"/>
                    <a:ea typeface="Times New Roman" charset="0"/>
                    <a:cs typeface="Times New Roman" charset="0"/>
                  </a:rPr>
                  <a:t>) </a:t>
                </a:r>
                <a:r>
                  <a:rPr kumimoji="1" lang="en-US" altLang="ja-JP" sz="2800" dirty="0">
                    <a:latin typeface="Times New Roman" charset="0"/>
                    <a:ea typeface="Times New Roman" charset="0"/>
                    <a:cs typeface="Times New Roman" charset="0"/>
                  </a:rPr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US" altLang="ja-JP" sz="2800" b="0" i="1" smtClean="0">
                            <a:latin typeface="Cambria Math" charset="0"/>
                            <a:ea typeface="Times New Roman" charset="0"/>
                            <a:cs typeface="Times New Roman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800" b="0" i="1" smtClean="0">
                            <a:latin typeface="Cambria Math" charset="0"/>
                            <a:ea typeface="Times New Roman" charset="0"/>
                            <a:cs typeface="Times New Roman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ja-JP" sz="2800" b="0" i="1" smtClean="0">
                            <a:latin typeface="Cambria Math" charset="0"/>
                            <a:ea typeface="Times New Roman" charset="0"/>
                            <a:cs typeface="Times New Roman" charset="0"/>
                          </a:rPr>
                          <m:t>𝑁</m:t>
                        </m:r>
                      </m:sup>
                      <m:e>
                        <m:r>
                          <a:rPr kumimoji="1" lang="en-US" altLang="ja-JP" sz="2800" b="0" i="1" smtClean="0">
                            <a:latin typeface="Cambria Math" charset="0"/>
                            <a:ea typeface="Times New Roman" charset="0"/>
                            <a:cs typeface="Times New Roman" charset="0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ja-JP" sz="2800" b="0" i="1" smtClean="0">
                                <a:latin typeface="Cambria Math" panose="02040503050406030204" pitchFamily="18" charset="0"/>
                                <a:ea typeface="Times New Roman" charset="0"/>
                                <a:cs typeface="Times New Roman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2800" b="0" i="0" smtClean="0"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ja-JP" sz="2800" b="0" i="0" smtClean="0"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CREB</m:t>
                                </m:r>
                              </m:e>
                              <m:sub>
                                <m:r>
                                  <a:rPr kumimoji="1" lang="en-US" altLang="ja-JP" sz="2800" b="0" i="1" smtClean="0"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ja-JP" sz="2800" b="0" i="1" smtClean="0">
                            <a:latin typeface="Cambria Math" charset="0"/>
                            <a:ea typeface="Times New Roman" charset="0"/>
                            <a:cs typeface="Times New Roman" charset="0"/>
                          </a:rPr>
                          <m:t>𝐼</m:t>
                        </m:r>
                        <m:r>
                          <a:rPr kumimoji="1" lang="en-US" altLang="ja-JP" sz="2800" b="0" i="1" smtClean="0">
                            <a:latin typeface="Cambria Math" charset="0"/>
                            <a:ea typeface="Times New Roman" charset="0"/>
                            <a:cs typeface="Times New Roman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ja-JP" sz="2800" b="0" i="0" smtClean="0">
                                <a:latin typeface="Cambria Math" charset="0"/>
                                <a:ea typeface="Times New Roman" charset="0"/>
                                <a:cs typeface="Times New Roman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ja-JP" sz="2800" b="0" i="0" smtClean="0">
                                <a:latin typeface="Cambria Math" charset="0"/>
                                <a:ea typeface="Times New Roman" charset="0"/>
                                <a:cs typeface="Times New Roman" charset="0"/>
                              </a:rPr>
                              <m:t>CREB</m:t>
                            </m:r>
                          </m:e>
                          <m:sub>
                            <m:r>
                              <a:rPr kumimoji="1" lang="en-US" altLang="ja-JP" sz="2800" b="0" i="1" smtClean="0">
                                <a:latin typeface="Cambria Math" charset="0"/>
                                <a:ea typeface="Times New Roman" charset="0"/>
                                <a:cs typeface="Times New Roman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ja-JP" sz="2800" b="0" i="1" smtClean="0">
                            <a:latin typeface="Cambria Math" charset="0"/>
                            <a:ea typeface="Times New Roman" charset="0"/>
                            <a:cs typeface="Times New Roman" charset="0"/>
                          </a:rPr>
                          <m:t>) </m:t>
                        </m:r>
                      </m:e>
                    </m:nary>
                  </m:oMath>
                </a14:m>
                <a:r>
                  <a:rPr kumimoji="1" lang="en-US" altLang="ja-JP" sz="2800" dirty="0">
                    <a:latin typeface="Times New Roman" charset="0"/>
                    <a:ea typeface="Times New Roman" charset="0"/>
                    <a:cs typeface="Times New Roman" charset="0"/>
                  </a:rPr>
                  <a:t> </a:t>
                </a:r>
                <a:endParaRPr kumimoji="1" lang="ja-JP" altLang="en-US" sz="2800" dirty="0"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04" y="3196542"/>
                <a:ext cx="9403080" cy="546753"/>
              </a:xfrm>
              <a:prstGeom prst="rect">
                <a:avLst/>
              </a:prstGeom>
              <a:blipFill rotWithShape="0">
                <a:blip r:embed="rId2"/>
                <a:stretch>
                  <a:fillRect t="-6522" b="-2717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正方形/長方形 7"/>
              <p:cNvSpPr/>
              <p:nvPr/>
            </p:nvSpPr>
            <p:spPr>
              <a:xfrm>
                <a:off x="1456032" y="3980558"/>
                <a:ext cx="8492640" cy="1575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3600" b="0" i="1" smtClean="0">
                          <a:latin typeface="Cambria Math" charset="0"/>
                        </a:rPr>
                        <m:t>𝐻</m:t>
                      </m:r>
                      <m:d>
                        <m:dPr>
                          <m:ctrlPr>
                            <a:rPr lang="en-US" altLang="ja-JP" sz="3600" b="0" i="0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ja-JP" sz="3600" b="0" i="0" smtClean="0">
                              <a:latin typeface="Cambria Math" charset="0"/>
                            </a:rPr>
                            <m:t>CREB</m:t>
                          </m:r>
                        </m:e>
                      </m:d>
                      <m:r>
                        <a:rPr lang="en-US" altLang="ja-JP" sz="36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altLang="ja-JP" sz="36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ja-JP" sz="3600" b="0" i="1" smtClean="0">
                              <a:latin typeface="Cambria Math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ja-JP" sz="3600" b="0" i="1" smtClean="0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3600" b="0" i="1" smtClean="0">
                                  <a:latin typeface="Cambria Math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ja-JP" sz="3600" b="0" i="1" smtClean="0">
                                  <a:latin typeface="Cambria Math" charset="0"/>
                                </a:rPr>
                                <m:t>8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ja-JP" sz="3600" b="0" i="0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 sz="3600" b="0" i="0" smtClean="0">
                                      <a:latin typeface="Cambria Math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ja-JP" sz="36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altLang="ja-JP" sz="3600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sz="3600" i="1">
                                      <a:latin typeface="Cambria Math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ja-JP" sz="3600" i="1">
                                      <a:latin typeface="Cambria Math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ja-JP" sz="3600" b="0" i="1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is-I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r>
                        <a:rPr lang="en-US" altLang="ja-JP" sz="3600" b="0" i="1" smtClean="0">
                          <a:latin typeface="Cambria Math" charset="0"/>
                        </a:rPr>
                        <m:t>+</m:t>
                      </m:r>
                      <m:d>
                        <m:dPr>
                          <m:ctrlPr>
                            <a:rPr lang="is-I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ja-JP" altLang="en-US" sz="3600" dirty="0"/>
              </a:p>
              <a:p>
                <a:endParaRPr lang="ja-JP" altLang="en-US" sz="2800" dirty="0"/>
              </a:p>
            </p:txBody>
          </p:sp>
        </mc:Choice>
        <mc:Fallback xmlns="">
          <p:sp>
            <p:nvSpPr>
              <p:cNvPr id="8" name="正方形/長方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032" y="3980558"/>
                <a:ext cx="8492640" cy="157568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右中かっこ 8"/>
          <p:cNvSpPr/>
          <p:nvPr/>
        </p:nvSpPr>
        <p:spPr>
          <a:xfrm rot="5400000">
            <a:off x="7498735" y="5099703"/>
            <a:ext cx="556109" cy="8690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右中かっこ 9"/>
          <p:cNvSpPr/>
          <p:nvPr/>
        </p:nvSpPr>
        <p:spPr>
          <a:xfrm rot="5400000">
            <a:off x="5405484" y="4346927"/>
            <a:ext cx="522838" cy="23456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右中かっこ 10"/>
          <p:cNvSpPr/>
          <p:nvPr/>
        </p:nvSpPr>
        <p:spPr>
          <a:xfrm rot="5400000">
            <a:off x="8870334" y="5117398"/>
            <a:ext cx="556109" cy="8690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217639" y="5940649"/>
            <a:ext cx="5811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CREB = 0 - 10 </a:t>
            </a:r>
            <a:r>
              <a:rPr lang="ja-JP" altLang="en-US" sz="240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Times New Roman" charset="0"/>
              </a:rPr>
              <a:t>のときの</a:t>
            </a:r>
            <a:r>
              <a:rPr lang="en-US" altLang="ja-JP" sz="2400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Times New Roman" charset="0"/>
              </a:rPr>
              <a:t>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(CREB)I(CREB)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218112" y="5940649"/>
            <a:ext cx="1056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>
                <a:latin typeface="Times New Roman" charset="0"/>
                <a:ea typeface="Times New Roman" charset="0"/>
                <a:cs typeface="Times New Roman" charset="0"/>
              </a:rPr>
              <a:t>10 - 20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8683538" y="5940649"/>
            <a:ext cx="1056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0 - 30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569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73100" y="365125"/>
            <a:ext cx="10960100" cy="1325563"/>
          </a:xfrm>
        </p:spPr>
        <p:txBody>
          <a:bodyPr/>
          <a:lstStyle/>
          <a:p>
            <a:r>
              <a:rPr kumimoji="1" lang="ja-JP" altLang="en-US" dirty="0"/>
              <a:t>演習</a:t>
            </a:r>
            <a:r>
              <a:rPr lang="en-US" altLang="ja-JP" dirty="0"/>
              <a:t>5-2 </a:t>
            </a:r>
            <a:r>
              <a:rPr lang="ja-JP" altLang="en-US" dirty="0"/>
              <a:t>同時分布のシャノンエントロピー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13303"/>
          </a:xfrm>
        </p:spPr>
        <p:txBody>
          <a:bodyPr>
            <a:normAutofit/>
          </a:bodyPr>
          <a:lstStyle/>
          <a:p>
            <a:r>
              <a:rPr lang="en-US" altLang="ja-JP" dirty="0"/>
              <a:t>ERK, CREB </a:t>
            </a:r>
            <a:r>
              <a:rPr lang="ja-JP" altLang="en-US" dirty="0"/>
              <a:t>の同時エントロピー（</a:t>
            </a:r>
            <a:r>
              <a:rPr lang="en-US" altLang="ja-JP" dirty="0"/>
              <a:t>joint entropy</a:t>
            </a:r>
            <a:r>
              <a:rPr lang="ja-JP" altLang="en-US" dirty="0"/>
              <a:t>）を以下の式で求めることができる。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「演習</a:t>
            </a:r>
            <a:r>
              <a:rPr lang="en-US" altLang="ja-JP" dirty="0"/>
              <a:t>3</a:t>
            </a:r>
            <a:r>
              <a:rPr lang="ja-JP" altLang="en-US" dirty="0"/>
              <a:t>」で求めた同時分布</a:t>
            </a:r>
            <a:r>
              <a:rPr lang="en-US" altLang="ja-JP" dirty="0"/>
              <a:t> P( ERK , CREB ) </a:t>
            </a:r>
            <a:r>
              <a:rPr lang="ja-JP" altLang="en-US" dirty="0"/>
              <a:t>を上の式にあてはめて、</a:t>
            </a:r>
            <a:r>
              <a:rPr lang="en-US" altLang="ja-JP" dirty="0"/>
              <a:t>H( ERK , CREB ) </a:t>
            </a:r>
            <a:r>
              <a:rPr lang="ja-JP" altLang="en-US" dirty="0"/>
              <a:t>を</a:t>
            </a:r>
            <a:r>
              <a:rPr lang="ja-JP" altLang="en-US"/>
              <a:t>求めなさい。</a:t>
            </a:r>
            <a:endParaRPr lang="en-US" altLang="ja-JP" dirty="0">
              <a:solidFill>
                <a:srgbClr val="C00000"/>
              </a:solidFill>
            </a:endParaRPr>
          </a:p>
          <a:p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endParaRPr kumimoji="1" lang="en-US" altLang="ja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/>
              <p:cNvSpPr txBox="1"/>
              <p:nvPr/>
            </p:nvSpPr>
            <p:spPr>
              <a:xfrm>
                <a:off x="840740" y="3007731"/>
                <a:ext cx="10398760" cy="8259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i="1" dirty="0">
                    <a:latin typeface="Times New Roman" charset="0"/>
                    <a:ea typeface="Times New Roman" charset="0"/>
                    <a:cs typeface="Times New Roman" charset="0"/>
                  </a:rPr>
                  <a:t>   </a:t>
                </a:r>
                <a:r>
                  <a:rPr lang="en-US" altLang="ja-JP" sz="2800" i="1" dirty="0">
                    <a:latin typeface="Times New Roman" charset="0"/>
                    <a:ea typeface="Times New Roman" charset="0"/>
                    <a:cs typeface="Times New Roman" charset="0"/>
                  </a:rPr>
                  <a:t>H </a:t>
                </a:r>
                <a:r>
                  <a:rPr lang="en-US" altLang="ja-JP" sz="2800" dirty="0">
                    <a:latin typeface="Times New Roman" charset="0"/>
                    <a:ea typeface="Times New Roman" charset="0"/>
                    <a:cs typeface="Times New Roman" charset="0"/>
                  </a:rPr>
                  <a:t>( ERK , CREB 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US" altLang="ja-JP" sz="2800" b="0" i="1" smtClean="0">
                            <a:latin typeface="Cambria Math" charset="0"/>
                            <a:ea typeface="Times New Roman" charset="0"/>
                            <a:cs typeface="Times New Roman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800" b="0" i="1" smtClean="0">
                            <a:latin typeface="Cambria Math" charset="0"/>
                            <a:ea typeface="Times New Roman" charset="0"/>
                            <a:cs typeface="Times New Roman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ja-JP" sz="2800" b="0" i="1" smtClean="0">
                            <a:latin typeface="Cambria Math" charset="0"/>
                            <a:ea typeface="Times New Roman" charset="0"/>
                            <a:cs typeface="Times New Roman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kumimoji="1" lang="en-US" altLang="ja-JP" sz="2800" b="0" i="1" smtClean="0">
                                <a:latin typeface="Cambria Math" charset="0"/>
                                <a:ea typeface="Times New Roman" charset="0"/>
                                <a:cs typeface="Times New Roman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sz="2800" b="0" i="1" smtClean="0">
                                <a:latin typeface="Cambria Math" charset="0"/>
                                <a:ea typeface="Times New Roman" charset="0"/>
                                <a:cs typeface="Times New Roman" charset="0"/>
                              </a:rPr>
                              <m:t>𝑗</m:t>
                            </m:r>
                          </m:sub>
                          <m:sup>
                            <m:r>
                              <a:rPr kumimoji="1" lang="en-US" altLang="ja-JP" sz="2800" b="0" i="1" smtClean="0">
                                <a:latin typeface="Cambria Math" charset="0"/>
                                <a:ea typeface="Times New Roman" charset="0"/>
                                <a:cs typeface="Times New Roman" charset="0"/>
                              </a:rPr>
                              <m:t>𝑀</m:t>
                            </m:r>
                          </m:sup>
                          <m:e>
                            <m:r>
                              <a:rPr lang="en-US" altLang="ja-JP" sz="2800" i="1">
                                <a:latin typeface="Cambria Math" charset="0"/>
                                <a:ea typeface="Times New Roman" charset="0"/>
                                <a:cs typeface="Times New Roman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  <a:ea typeface="Times New Roman" charset="0"/>
                                    <a:cs typeface="Times New Roman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800" i="0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ja-JP" sz="2800" i="0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ERK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800" i="1"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 ,</m:t>
                                </m:r>
                                <m:sSub>
                                  <m:sSubPr>
                                    <m:ctrlPr>
                                      <a:rPr lang="en-US" altLang="ja-JP" sz="2800" i="0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ja-JP" sz="2800" i="0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CREB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func>
                              <m:func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  <a:ea typeface="Times New Roman" charset="0"/>
                                    <a:cs typeface="Times New Roman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ja-JP" sz="2800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ja-JP" sz="2800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ja-JP" sz="2800" i="1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f>
                                  <m:fPr>
                                    <m:ctrlPr>
                                      <a:rPr lang="en-US" altLang="ja-JP" sz="2800" i="1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800" i="1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800" i="1"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altLang="ja-JP" sz="2800" i="1">
                                            <a:latin typeface="Cambria Math" panose="02040503050406030204" pitchFamily="18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sz="2800" i="0">
                                                <a:latin typeface="Cambria Math" charset="0"/>
                                                <a:ea typeface="Times New Roman" charset="0"/>
                                                <a:cs typeface="Times New Roman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ja-JP" sz="2800" i="0">
                                                <a:latin typeface="Cambria Math" charset="0"/>
                                                <a:ea typeface="Times New Roman" charset="0"/>
                                                <a:cs typeface="Times New Roman" charset="0"/>
                                              </a:rPr>
                                              <m:t>ERK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sz="2800" i="1">
                                                <a:latin typeface="Cambria Math" charset="0"/>
                                                <a:ea typeface="Times New Roman" charset="0"/>
                                                <a:cs typeface="Times New Roman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sz="2800" i="1">
                                            <a:latin typeface="Cambria Math" charset="0"/>
                                            <a:ea typeface="Times New Roman" charset="0"/>
                                            <a:cs typeface="Times New Roman" charset="0"/>
                                          </a:rPr>
                                          <m:t> ,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ja-JP" sz="2800" i="0">
                                                <a:latin typeface="Cambria Math" charset="0"/>
                                                <a:ea typeface="Times New Roman" charset="0"/>
                                                <a:cs typeface="Times New Roman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ja-JP" sz="2800" i="0">
                                                <a:latin typeface="Cambria Math" charset="0"/>
                                                <a:ea typeface="Times New Roman" charset="0"/>
                                                <a:cs typeface="Times New Roman" charset="0"/>
                                              </a:rPr>
                                              <m:t>CREB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sz="2800" i="1">
                                                <a:latin typeface="Cambria Math" charset="0"/>
                                                <a:ea typeface="Times New Roman" charset="0"/>
                                                <a:cs typeface="Times New Roman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func>
                          </m:e>
                        </m:nary>
                      </m:e>
                    </m:nary>
                  </m:oMath>
                </a14:m>
                <a:endParaRPr kumimoji="1" lang="ja-JP" altLang="en-US" sz="2800" dirty="0"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40" y="3007731"/>
                <a:ext cx="10398760" cy="82599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89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47075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最小限の数学で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Shannon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の理論を学ぶ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84787" y="1655836"/>
            <a:ext cx="100730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28625" y="2588349"/>
            <a:ext cx="7718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シャノンエントロピー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8" name="右中かっこ 7"/>
          <p:cNvSpPr/>
          <p:nvPr/>
        </p:nvSpPr>
        <p:spPr>
          <a:xfrm rot="5400000">
            <a:off x="4485404" y="1677347"/>
            <a:ext cx="399121" cy="13742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121089" y="3091679"/>
            <a:ext cx="45294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[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(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CREB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] 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右中かっこ 12"/>
          <p:cNvSpPr/>
          <p:nvPr/>
        </p:nvSpPr>
        <p:spPr>
          <a:xfrm rot="5400000">
            <a:off x="7097369" y="3180074"/>
            <a:ext cx="449619" cy="13093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458031" y="4080983"/>
            <a:ext cx="48002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情報量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50" y="3798142"/>
            <a:ext cx="3849339" cy="2877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7" name="テキスト ボックス 16"/>
          <p:cNvSpPr txBox="1"/>
          <p:nvPr/>
        </p:nvSpPr>
        <p:spPr>
          <a:xfrm>
            <a:off x="2652690" y="3665539"/>
            <a:ext cx="1534394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19165" y="3827170"/>
            <a:ext cx="1056700" cy="36933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072527" y="6254536"/>
            <a:ext cx="1954381" cy="400110"/>
          </a:xfrm>
          <a:prstGeom prst="rect">
            <a:avLst/>
          </a:prstGeom>
          <a:noFill/>
          <a:ln w="317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 rot="19938624">
            <a:off x="3191701" y="5637000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 rot="1673947">
            <a:off x="578413" y="5668704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/>
              <p:cNvSpPr txBox="1"/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charset="0"/>
                      </a:rPr>
                      <m:t>      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𝐼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ja-JP" sz="2400" b="0" i="0" smtClean="0">
                        <a:latin typeface="Cambria Math" charset="0"/>
                      </a:rPr>
                      <m:t> CREB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)</m:t>
                    </m:r>
                    <m:r>
                      <a:rPr kumimoji="1" lang="el-GR" altLang="ja-JP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ja-JP" sz="2400" i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i="0" smtClean="0">
                                <a:latin typeface="Cambria Math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kumimoji="1" lang="en-US" altLang="ja-JP" sz="2400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𝑃</m:t>
                            </m:r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( </m:t>
                            </m:r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charset="0"/>
                              </a:rPr>
                              <m:t>CREB</m:t>
                            </m:r>
                            <m:r>
                              <a:rPr kumimoji="1" lang="en-US" altLang="ja-JP" sz="2400" b="0" i="0" smtClean="0">
                                <a:latin typeface="Cambria Math" charset="0"/>
                              </a:rPr>
                              <m:t> )</m:t>
                            </m:r>
                          </m:den>
                        </m:f>
                      </m:e>
                    </m:func>
                  </m:oMath>
                </a14:m>
                <a:r>
                  <a:rPr kumimoji="1" lang="en-US" altLang="ja-JP" sz="2400" dirty="0"/>
                  <a:t> 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2" name="テキスト ボックス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フリーフォーム 30"/>
          <p:cNvSpPr/>
          <p:nvPr/>
        </p:nvSpPr>
        <p:spPr>
          <a:xfrm>
            <a:off x="4169457" y="4253948"/>
            <a:ext cx="5253944" cy="2400698"/>
          </a:xfrm>
          <a:custGeom>
            <a:avLst/>
            <a:gdLst>
              <a:gd name="connsiteX0" fmla="*/ 5784574 w 5784574"/>
              <a:gd name="connsiteY0" fmla="*/ 1272209 h 1969407"/>
              <a:gd name="connsiteX1" fmla="*/ 4015409 w 5784574"/>
              <a:gd name="connsiteY1" fmla="*/ 1948069 h 1969407"/>
              <a:gd name="connsiteX2" fmla="*/ 2107096 w 5784574"/>
              <a:gd name="connsiteY2" fmla="*/ 1630017 h 1969407"/>
              <a:gd name="connsiteX3" fmla="*/ 0 w 5784574"/>
              <a:gd name="connsiteY3" fmla="*/ 0 h 1969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4574" h="1969407">
                <a:moveTo>
                  <a:pt x="5784574" y="1272209"/>
                </a:moveTo>
                <a:cubicBezTo>
                  <a:pt x="5206448" y="1580321"/>
                  <a:pt x="4628322" y="1888434"/>
                  <a:pt x="4015409" y="1948069"/>
                </a:cubicBezTo>
                <a:cubicBezTo>
                  <a:pt x="3402496" y="2007704"/>
                  <a:pt x="2776331" y="1954695"/>
                  <a:pt x="2107096" y="1630017"/>
                </a:cubicBezTo>
                <a:cubicBezTo>
                  <a:pt x="1437861" y="1305339"/>
                  <a:pt x="0" y="0"/>
                  <a:pt x="0" y="0"/>
                </a:cubicBezTo>
              </a:path>
            </a:pathLst>
          </a:custGeom>
          <a:noFill/>
          <a:ln w="44450">
            <a:solidFill>
              <a:srgbClr val="0432FF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右中かっこ 31"/>
          <p:cNvSpPr/>
          <p:nvPr/>
        </p:nvSpPr>
        <p:spPr>
          <a:xfrm rot="5400000">
            <a:off x="9232178" y="4879557"/>
            <a:ext cx="433542" cy="11592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1341041" y="1129832"/>
            <a:ext cx="947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‘CREB’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‘ERK’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単位は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24" name="角丸四角形 23"/>
          <p:cNvSpPr/>
          <p:nvPr/>
        </p:nvSpPr>
        <p:spPr>
          <a:xfrm>
            <a:off x="1341041" y="2506244"/>
            <a:ext cx="7610810" cy="1185031"/>
          </a:xfrm>
          <a:prstGeom prst="roundRect">
            <a:avLst>
              <a:gd name="adj" fmla="val 9602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341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47075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最小限の数学で</a:t>
            </a:r>
            <a:r>
              <a:rPr lang="en-US" altLang="ja-JP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dirty="0">
                <a:latin typeface="Helvetica Neue Light" charset="0"/>
                <a:ea typeface="Helvetica Neue Light" charset="0"/>
                <a:cs typeface="Helvetica Neue Light" charset="0"/>
              </a:rPr>
              <a:t>Shannon </a:t>
            </a:r>
            <a:r>
              <a:rPr lang="ja-JP" altLang="en-US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の理論を学ぶ</a:t>
            </a:r>
            <a:endParaRPr kumimoji="1" lang="ja-JP" altLang="en-US" dirty="0">
              <a:latin typeface="Helvetica Neue Light" charset="0"/>
              <a:ea typeface="Helvetica Neue Light" charset="0"/>
              <a:cs typeface="Helvetica Neue Light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84787" y="1655836"/>
            <a:ext cx="1007307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28625" y="2588349"/>
            <a:ext cx="7718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シャノンエントロピー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8" name="右中かっこ 7"/>
          <p:cNvSpPr/>
          <p:nvPr/>
        </p:nvSpPr>
        <p:spPr>
          <a:xfrm rot="5400000">
            <a:off x="4485404" y="1677347"/>
            <a:ext cx="399121" cy="13742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121089" y="3091679"/>
            <a:ext cx="45294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E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[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I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(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CREB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 ] 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右中かっこ 12"/>
          <p:cNvSpPr/>
          <p:nvPr/>
        </p:nvSpPr>
        <p:spPr>
          <a:xfrm rot="5400000">
            <a:off x="7097369" y="3180074"/>
            <a:ext cx="449619" cy="13093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458031" y="4080983"/>
            <a:ext cx="48002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‘CREB’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情報量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(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50" y="3798142"/>
            <a:ext cx="3849339" cy="2877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7" name="テキスト ボックス 16"/>
          <p:cNvSpPr txBox="1"/>
          <p:nvPr/>
        </p:nvSpPr>
        <p:spPr>
          <a:xfrm>
            <a:off x="2652690" y="3665539"/>
            <a:ext cx="1534394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19165" y="3827170"/>
            <a:ext cx="1056700" cy="36933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dirty="0">
                <a:latin typeface="Times New Roman" charset="0"/>
                <a:ea typeface="Times New Roman" charset="0"/>
                <a:cs typeface="Times New Roman" charset="0"/>
              </a:rPr>
              <a:t>( ERK )</a:t>
            </a:r>
            <a:endParaRPr kumimoji="1" lang="ja-JP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072527" y="6254536"/>
            <a:ext cx="1954381" cy="400110"/>
          </a:xfrm>
          <a:prstGeom prst="rect">
            <a:avLst/>
          </a:prstGeom>
          <a:noFill/>
          <a:ln w="317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( CREB, ERK )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 rot="19938624">
            <a:off x="3191701" y="5637000"/>
            <a:ext cx="699230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ERK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 rot="1673947">
            <a:off x="578413" y="5668704"/>
            <a:ext cx="856325" cy="400110"/>
          </a:xfrm>
          <a:prstGeom prst="rect">
            <a:avLst/>
          </a:prstGeom>
          <a:noFill/>
          <a:ln w="317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charset="0"/>
                <a:ea typeface="Times New Roman" charset="0"/>
                <a:cs typeface="Times New Roman" charset="0"/>
              </a:rPr>
              <a:t>CREB</a:t>
            </a:r>
            <a:endParaRPr kumimoji="1" lang="ja-JP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/>
              <p:cNvSpPr txBox="1"/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charset="0"/>
                      </a:rPr>
                      <m:t>      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𝐼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ja-JP" sz="2400" b="0" i="0" smtClean="0">
                        <a:latin typeface="Cambria Math" charset="0"/>
                      </a:rPr>
                      <m:t> CREB </m:t>
                    </m:r>
                    <m:r>
                      <a:rPr kumimoji="1" lang="en-US" altLang="ja-JP" sz="2400" b="0" i="1" smtClean="0">
                        <a:latin typeface="Cambria Math" charset="0"/>
                      </a:rPr>
                      <m:t>)</m:t>
                    </m:r>
                    <m:r>
                      <a:rPr kumimoji="1" lang="el-GR" altLang="ja-JP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ja-JP" sz="2400" i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2400" i="0" smtClean="0">
                                <a:latin typeface="Cambria Math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kumimoji="1" lang="en-US" altLang="ja-JP" sz="2400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𝑃</m:t>
                            </m:r>
                            <m:r>
                              <a:rPr kumimoji="1" lang="en-US" altLang="ja-JP" sz="2400" b="0" i="1" smtClean="0">
                                <a:latin typeface="Cambria Math" charset="0"/>
                              </a:rPr>
                              <m:t>( </m:t>
                            </m:r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latin typeface="Cambria Math" charset="0"/>
                              </a:rPr>
                              <m:t>CREB</m:t>
                            </m:r>
                            <m:r>
                              <a:rPr kumimoji="1" lang="en-US" altLang="ja-JP" sz="2400" b="0" i="0" smtClean="0">
                                <a:latin typeface="Cambria Math" charset="0"/>
                              </a:rPr>
                              <m:t> )</m:t>
                            </m:r>
                          </m:den>
                        </m:f>
                      </m:e>
                    </m:func>
                  </m:oMath>
                </a14:m>
                <a:r>
                  <a:rPr kumimoji="1" lang="en-US" altLang="ja-JP" sz="2400" dirty="0"/>
                  <a:t> 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22" name="テキスト ボックス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303" y="4564370"/>
                <a:ext cx="4577350" cy="5711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フリーフォーム 30"/>
          <p:cNvSpPr/>
          <p:nvPr/>
        </p:nvSpPr>
        <p:spPr>
          <a:xfrm>
            <a:off x="4169457" y="4253948"/>
            <a:ext cx="5253944" cy="2400698"/>
          </a:xfrm>
          <a:custGeom>
            <a:avLst/>
            <a:gdLst>
              <a:gd name="connsiteX0" fmla="*/ 5784574 w 5784574"/>
              <a:gd name="connsiteY0" fmla="*/ 1272209 h 1969407"/>
              <a:gd name="connsiteX1" fmla="*/ 4015409 w 5784574"/>
              <a:gd name="connsiteY1" fmla="*/ 1948069 h 1969407"/>
              <a:gd name="connsiteX2" fmla="*/ 2107096 w 5784574"/>
              <a:gd name="connsiteY2" fmla="*/ 1630017 h 1969407"/>
              <a:gd name="connsiteX3" fmla="*/ 0 w 5784574"/>
              <a:gd name="connsiteY3" fmla="*/ 0 h 1969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4574" h="1969407">
                <a:moveTo>
                  <a:pt x="5784574" y="1272209"/>
                </a:moveTo>
                <a:cubicBezTo>
                  <a:pt x="5206448" y="1580321"/>
                  <a:pt x="4628322" y="1888434"/>
                  <a:pt x="4015409" y="1948069"/>
                </a:cubicBezTo>
                <a:cubicBezTo>
                  <a:pt x="3402496" y="2007704"/>
                  <a:pt x="2776331" y="1954695"/>
                  <a:pt x="2107096" y="1630017"/>
                </a:cubicBezTo>
                <a:cubicBezTo>
                  <a:pt x="1437861" y="1305339"/>
                  <a:pt x="0" y="0"/>
                  <a:pt x="0" y="0"/>
                </a:cubicBezTo>
              </a:path>
            </a:pathLst>
          </a:custGeom>
          <a:noFill/>
          <a:ln w="44450">
            <a:solidFill>
              <a:srgbClr val="0432FF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右中かっこ 31"/>
          <p:cNvSpPr/>
          <p:nvPr/>
        </p:nvSpPr>
        <p:spPr>
          <a:xfrm rot="5400000">
            <a:off x="9232178" y="4879557"/>
            <a:ext cx="433542" cy="115926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1341041" y="1129832"/>
            <a:ext cx="947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確率変数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‘CREB’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と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 ‘ERK’ 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の</a:t>
            </a:r>
            <a:r>
              <a:rPr lang="ja-JP" altLang="en-US" sz="2400" u="sng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相互情報量</a:t>
            </a:r>
            <a:r>
              <a:rPr lang="en-US" altLang="ja-JP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 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(</a:t>
            </a:r>
            <a:r>
              <a:rPr lang="ja-JP" altLang="en-US" sz="2400" dirty="0">
                <a:latin typeface="Hiragino Kaku Gothic Pro W3" charset="-128"/>
                <a:ea typeface="Hiragino Kaku Gothic Pro W3" charset="-128"/>
                <a:cs typeface="Hiragino Kaku Gothic Pro W3" charset="-128"/>
              </a:rPr>
              <a:t>単位は</a:t>
            </a:r>
            <a:r>
              <a:rPr lang="en-US" altLang="ja-JP" sz="2400" dirty="0">
                <a:solidFill>
                  <a:srgbClr val="FF0000"/>
                </a:solidFill>
                <a:latin typeface="Helvetica Neue Light" charset="0"/>
                <a:ea typeface="Helvetica Neue Light" charset="0"/>
                <a:cs typeface="Helvetica Neue Light" charset="0"/>
              </a:rPr>
              <a:t>bit</a:t>
            </a:r>
            <a:r>
              <a:rPr lang="en-US" altLang="ja-JP" sz="2400" dirty="0">
                <a:latin typeface="Helvetica Neue Light" charset="0"/>
                <a:ea typeface="Helvetica Neue Light" charset="0"/>
                <a:cs typeface="Helvetica Neue Light" charset="0"/>
              </a:rPr>
              <a:t>)</a:t>
            </a:r>
          </a:p>
        </p:txBody>
      </p:sp>
      <p:sp>
        <p:nvSpPr>
          <p:cNvPr id="23" name="角丸四角形 22"/>
          <p:cNvSpPr/>
          <p:nvPr/>
        </p:nvSpPr>
        <p:spPr>
          <a:xfrm>
            <a:off x="736600" y="1117444"/>
            <a:ext cx="10766552" cy="1286164"/>
          </a:xfrm>
          <a:prstGeom prst="roundRect">
            <a:avLst>
              <a:gd name="adj" fmla="val 9602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4306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</a:t>
            </a:r>
            <a:r>
              <a:rPr lang="en-US" altLang="ja-JP" dirty="0"/>
              <a:t>6-1 </a:t>
            </a:r>
            <a:r>
              <a:rPr lang="ja-JP" altLang="en-US" dirty="0"/>
              <a:t>相互情報量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「演習</a:t>
            </a:r>
            <a:r>
              <a:rPr lang="en-US" altLang="ja-JP" dirty="0"/>
              <a:t>5-1, 5-2</a:t>
            </a:r>
            <a:r>
              <a:rPr lang="ja-JP" altLang="en-US" dirty="0"/>
              <a:t>」で求めたエントロピーを下の式に当てはめて、</a:t>
            </a:r>
            <a:r>
              <a:rPr lang="en-US" altLang="ja-JP" dirty="0"/>
              <a:t>ERK </a:t>
            </a:r>
            <a:r>
              <a:rPr lang="ja-JP" altLang="en-US" dirty="0"/>
              <a:t>と</a:t>
            </a:r>
            <a:r>
              <a:rPr lang="en-US" altLang="ja-JP" dirty="0"/>
              <a:t> CREB </a:t>
            </a:r>
            <a:r>
              <a:rPr lang="ja-JP" altLang="en-US" dirty="0"/>
              <a:t>の相互情報量を計算しなさい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en-US" altLang="ja-JP" dirty="0"/>
          </a:p>
          <a:p>
            <a:pPr marL="914400" lvl="1" indent="-514350">
              <a:buFont typeface="+mj-lt"/>
              <a:buAutoNum type="arabicPeriod"/>
            </a:pP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618265" y="3408382"/>
            <a:ext cx="90116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    I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; ERK ) =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) + </a:t>
            </a:r>
            <a:r>
              <a:rPr kumimoji="1"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kumimoji="1"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ERK )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– </a:t>
            </a:r>
            <a:r>
              <a:rPr lang="en-US" altLang="ja-JP" sz="2400" i="1" dirty="0">
                <a:latin typeface="Times New Roman" charset="0"/>
                <a:ea typeface="Times New Roman" charset="0"/>
                <a:cs typeface="Times New Roman" charset="0"/>
              </a:rPr>
              <a:t>H </a:t>
            </a:r>
            <a:r>
              <a:rPr lang="en-US" altLang="ja-JP" sz="2400" dirty="0">
                <a:latin typeface="Times New Roman" charset="0"/>
                <a:ea typeface="Times New Roman" charset="0"/>
                <a:cs typeface="Times New Roman" charset="0"/>
              </a:rPr>
              <a:t>( CREB , ERK )</a:t>
            </a:r>
            <a:endParaRPr kumimoji="1" lang="ja-JP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そもそもなぜ情報量は</a:t>
            </a:r>
            <a:r>
              <a:rPr kumimoji="1" lang="en-US" altLang="ja-JP" dirty="0"/>
              <a:t> log</a:t>
            </a:r>
            <a:r>
              <a:rPr kumimoji="1" lang="en-US" altLang="ja-JP" baseline="-25000" dirty="0"/>
              <a:t>2</a:t>
            </a:r>
            <a:r>
              <a:rPr kumimoji="1" lang="en-US" altLang="ja-JP" dirty="0"/>
              <a:t> </a:t>
            </a:r>
            <a:r>
              <a:rPr kumimoji="1" lang="ja-JP" altLang="en-US" dirty="0"/>
              <a:t>の形なのか？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ja-JP" altLang="en-US" dirty="0"/>
              <a:t>理由：「情報量の加法性」を満たす関数が対数関数以外にないから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情報量の加法性</a:t>
            </a:r>
            <a:endParaRPr lang="en-US" altLang="ja-JP" dirty="0"/>
          </a:p>
          <a:p>
            <a:pPr lvl="1"/>
            <a:r>
              <a:rPr lang="en-US" altLang="ja-JP" dirty="0"/>
              <a:t>n</a:t>
            </a:r>
            <a:r>
              <a:rPr lang="ja-JP" altLang="en-US" dirty="0"/>
              <a:t>個の事象</a:t>
            </a:r>
            <a:r>
              <a:rPr lang="en-US" altLang="ja-JP" dirty="0"/>
              <a:t>A</a:t>
            </a:r>
            <a:r>
              <a:rPr lang="en-US" altLang="ja-JP" baseline="-25000" dirty="0"/>
              <a:t>1</a:t>
            </a:r>
            <a:r>
              <a:rPr lang="en-US" altLang="ja-JP" dirty="0"/>
              <a:t>-A</a:t>
            </a:r>
            <a:r>
              <a:rPr lang="en-US" altLang="ja-JP" baseline="-25000" dirty="0"/>
              <a:t>n</a:t>
            </a:r>
            <a:r>
              <a:rPr lang="ja-JP" altLang="en-US" dirty="0"/>
              <a:t>が等確率で起きるとする。サイコロは</a:t>
            </a:r>
            <a:r>
              <a:rPr lang="en-US" altLang="ja-JP" dirty="0"/>
              <a:t>n=6</a:t>
            </a:r>
            <a:r>
              <a:rPr lang="ja-JP" altLang="en-US" dirty="0"/>
              <a:t>。</a:t>
            </a:r>
            <a:endParaRPr lang="en-US" altLang="ja-JP" dirty="0"/>
          </a:p>
          <a:p>
            <a:pPr lvl="1"/>
            <a:r>
              <a:rPr lang="ja-JP" altLang="en-US" dirty="0"/>
              <a:t>どの事象が起きたかについての情報は、</a:t>
            </a:r>
            <a:r>
              <a:rPr lang="en-US" altLang="ja-JP" dirty="0"/>
              <a:t>n</a:t>
            </a:r>
            <a:r>
              <a:rPr lang="ja-JP" altLang="en-US" dirty="0"/>
              <a:t>が大きいほど価値が高い</a:t>
            </a:r>
            <a:endParaRPr lang="en-US" altLang="ja-JP" dirty="0"/>
          </a:p>
          <a:p>
            <a:pPr lvl="2"/>
            <a:r>
              <a:rPr lang="ja-JP" altLang="en-US"/>
              <a:t>例：馬２頭</a:t>
            </a:r>
            <a:r>
              <a:rPr lang="ja-JP" altLang="en-US" dirty="0"/>
              <a:t>で競走するレースよりも</a:t>
            </a:r>
            <a:r>
              <a:rPr lang="en-US" altLang="ja-JP" dirty="0"/>
              <a:t>10</a:t>
            </a:r>
            <a:r>
              <a:rPr lang="ja-JP" altLang="en-US" dirty="0"/>
              <a:t>頭のレースを当てるほうが価値が高い</a:t>
            </a:r>
            <a:endParaRPr lang="en-US" altLang="ja-JP" dirty="0"/>
          </a:p>
          <a:p>
            <a:pPr lvl="1"/>
            <a:r>
              <a:rPr lang="ja-JP" altLang="en-US" dirty="0"/>
              <a:t>情報の量を</a:t>
            </a:r>
            <a:r>
              <a:rPr lang="en-US" altLang="ja-JP" dirty="0"/>
              <a:t> </a:t>
            </a:r>
            <a:r>
              <a:rPr lang="en-US" altLang="ja-JP" dirty="0">
                <a:solidFill>
                  <a:srgbClr val="C00000"/>
                </a:solidFill>
              </a:rPr>
              <a:t>f(</a:t>
            </a:r>
            <a:r>
              <a:rPr lang="ja-JP" altLang="en-US" dirty="0">
                <a:solidFill>
                  <a:srgbClr val="C00000"/>
                </a:solidFill>
              </a:rPr>
              <a:t>事象の数</a:t>
            </a:r>
            <a:r>
              <a:rPr lang="en-US" altLang="ja-JP" dirty="0">
                <a:solidFill>
                  <a:srgbClr val="C00000"/>
                </a:solidFill>
              </a:rPr>
              <a:t>) </a:t>
            </a:r>
            <a:r>
              <a:rPr lang="ja-JP" altLang="en-US" dirty="0"/>
              <a:t>と書くことにする。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n</a:t>
            </a:r>
            <a:r>
              <a:rPr lang="ja-JP" altLang="en-US" dirty="0"/>
              <a:t>個の事象を</a:t>
            </a:r>
            <a:r>
              <a:rPr lang="en-US" altLang="ja-JP" dirty="0"/>
              <a:t>k</a:t>
            </a:r>
            <a:r>
              <a:rPr lang="ja-JP" altLang="en-US" dirty="0"/>
              <a:t>個ずつ</a:t>
            </a:r>
            <a:r>
              <a:rPr lang="en-US" altLang="ja-JP" dirty="0"/>
              <a:t>m</a:t>
            </a:r>
            <a:r>
              <a:rPr lang="ja-JP" altLang="en-US" dirty="0"/>
              <a:t>組に分ける。</a:t>
            </a:r>
            <a:r>
              <a:rPr lang="en-US" altLang="ja-JP" dirty="0"/>
              <a:t>n = </a:t>
            </a:r>
            <a:r>
              <a:rPr lang="en-US" altLang="ja-JP" dirty="0" err="1"/>
              <a:t>mk</a:t>
            </a:r>
            <a:r>
              <a:rPr lang="en-US" altLang="ja-JP" dirty="0"/>
              <a:t> </a:t>
            </a:r>
            <a:r>
              <a:rPr lang="ja-JP" altLang="en-US" dirty="0"/>
              <a:t>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奇数</a:t>
            </a:r>
            <a:r>
              <a:rPr lang="ja-JP" altLang="en-US" dirty="0"/>
              <a:t>と偶数の目に分ける</a:t>
            </a:r>
            <a:r>
              <a:rPr lang="en-US" altLang="ja-JP" dirty="0"/>
              <a:t> </a:t>
            </a:r>
            <a:r>
              <a:rPr lang="ja-JP" altLang="en-US" dirty="0"/>
              <a:t>→</a:t>
            </a:r>
            <a:r>
              <a:rPr lang="en-US" altLang="ja-JP" dirty="0"/>
              <a:t> 6</a:t>
            </a:r>
            <a:r>
              <a:rPr lang="ja-JP" altLang="en-US" dirty="0"/>
              <a:t>個の事象を</a:t>
            </a:r>
            <a:r>
              <a:rPr lang="en-US" altLang="ja-JP" dirty="0"/>
              <a:t>3</a:t>
            </a:r>
            <a:r>
              <a:rPr lang="ja-JP" altLang="en-US" dirty="0"/>
              <a:t>個ずつ</a:t>
            </a:r>
            <a:r>
              <a:rPr lang="en-US" altLang="ja-JP" dirty="0"/>
              <a:t>2</a:t>
            </a:r>
            <a:r>
              <a:rPr lang="ja-JP" altLang="en-US" dirty="0"/>
              <a:t>組に分ける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「</a:t>
            </a:r>
            <a:r>
              <a:rPr lang="en-US" altLang="ja-JP" dirty="0"/>
              <a:t>Q. 1~6 </a:t>
            </a:r>
            <a:r>
              <a:rPr lang="ja-JP" altLang="en-US"/>
              <a:t>のうちどれ？」＝「</a:t>
            </a:r>
            <a:r>
              <a:rPr lang="en-US" altLang="ja-JP" dirty="0"/>
              <a:t>Q1. </a:t>
            </a:r>
            <a:r>
              <a:rPr lang="ja-JP" altLang="en-US"/>
              <a:t>奇数</a:t>
            </a:r>
            <a:r>
              <a:rPr lang="en-US" altLang="ja-JP" dirty="0"/>
              <a:t> or </a:t>
            </a:r>
            <a:r>
              <a:rPr lang="ja-JP" altLang="en-US"/>
              <a:t>偶数？」</a:t>
            </a:r>
            <a:r>
              <a:rPr lang="en-US" altLang="ja-JP" dirty="0"/>
              <a:t> </a:t>
            </a:r>
            <a:r>
              <a:rPr lang="ja-JP" altLang="en-US"/>
              <a:t>＋「</a:t>
            </a:r>
            <a:r>
              <a:rPr lang="en-US" altLang="ja-JP" dirty="0"/>
              <a:t>Q2. 1,3,5 </a:t>
            </a:r>
            <a:r>
              <a:rPr lang="ja-JP" altLang="en-US"/>
              <a:t>のどれ？」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f(6) = f(2) + f(3) </a:t>
            </a:r>
            <a:r>
              <a:rPr lang="ja-JP" altLang="en-US" dirty="0"/>
              <a:t>→</a:t>
            </a:r>
            <a:r>
              <a:rPr lang="en-US" altLang="ja-JP" dirty="0"/>
              <a:t> </a:t>
            </a:r>
            <a:r>
              <a:rPr lang="ja-JP" altLang="en-US" dirty="0"/>
              <a:t>どうやら</a:t>
            </a:r>
            <a:r>
              <a:rPr lang="en-US" altLang="ja-JP" dirty="0"/>
              <a:t> f(</a:t>
            </a:r>
            <a:r>
              <a:rPr lang="en-US" altLang="ja-JP" dirty="0" err="1"/>
              <a:t>mk</a:t>
            </a:r>
            <a:r>
              <a:rPr lang="en-US" altLang="ja-JP" dirty="0"/>
              <a:t>) = f(m) + f(k) </a:t>
            </a:r>
            <a:r>
              <a:rPr lang="ja-JP" altLang="en-US"/>
              <a:t>になる。この性質は対数。</a:t>
            </a:r>
            <a:endParaRPr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54558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まとめ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825625"/>
            <a:ext cx="10259728" cy="4351338"/>
          </a:xfrm>
        </p:spPr>
        <p:txBody>
          <a:bodyPr/>
          <a:lstStyle/>
          <a:p>
            <a:r>
              <a:rPr lang="ja-JP" altLang="en-US"/>
              <a:t>生化学反応系を伝達される情報量は</a:t>
            </a:r>
            <a:r>
              <a:rPr lang="en-US" altLang="ja-JP" dirty="0"/>
              <a:t> bit </a:t>
            </a:r>
            <a:r>
              <a:rPr lang="ja-JP" altLang="en-US"/>
              <a:t>で測れる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情報量</a:t>
            </a:r>
            <a:r>
              <a:rPr lang="en-US" altLang="ja-JP" dirty="0"/>
              <a:t> = </a:t>
            </a:r>
            <a:r>
              <a:rPr lang="ja-JP" altLang="en-US"/>
              <a:t>下流側で区別可能な状態数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「情報量の加法性」を満たす関数が対数関数以外にないので情報量は</a:t>
            </a:r>
            <a:r>
              <a:rPr lang="en-US" altLang="ja-JP" dirty="0"/>
              <a:t> log </a:t>
            </a:r>
            <a:r>
              <a:rPr lang="ja-JP" altLang="en-US"/>
              <a:t>の形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0298345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Helvetica Neue Light and ヒラギノ角ゴ ProN W3">
      <a:majorFont>
        <a:latin typeface="Helvetica Neue Light"/>
        <a:ea typeface="Hiragino Kaku Gothic ProN W3"/>
        <a:cs typeface=""/>
      </a:majorFont>
      <a:minorFont>
        <a:latin typeface="Helvetica Neue Light"/>
        <a:ea typeface="Hiragino Kaku Gothic ProN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3793</TotalTime>
  <Words>2473</Words>
  <Application>Microsoft Macintosh PowerPoint</Application>
  <PresentationFormat>ワイド画面</PresentationFormat>
  <Paragraphs>398</Paragraphs>
  <Slides>28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40" baseType="lpstr">
      <vt:lpstr>Hiragino Kaku Gothic Pro W3</vt:lpstr>
      <vt:lpstr>Hiragino Kaku Gothic Pro W6</vt:lpstr>
      <vt:lpstr>Hiragino Kaku Gothic ProN W3</vt:lpstr>
      <vt:lpstr>Hiragino Kaku Gothic ProN W6</vt:lpstr>
      <vt:lpstr>Yu Gothic</vt:lpstr>
      <vt:lpstr>Arial</vt:lpstr>
      <vt:lpstr>Cambria Math</vt:lpstr>
      <vt:lpstr>Helvetica Neue</vt:lpstr>
      <vt:lpstr>Helvetica Neue Light</vt:lpstr>
      <vt:lpstr>Symbol</vt:lpstr>
      <vt:lpstr>Times New Roman</vt:lpstr>
      <vt:lpstr>ホワイト</vt:lpstr>
      <vt:lpstr>情報理論： bit単位で測る生化学反応系の情報伝達</vt:lpstr>
      <vt:lpstr>スクープ：生化学反応系を ‘bit’ で測る</vt:lpstr>
      <vt:lpstr>Q. ’bit’は何やらカッコいい。その意味は？</vt:lpstr>
      <vt:lpstr>Q. ‘bit’ を計るにはどうしたらいいの?</vt:lpstr>
      <vt:lpstr>Q. ‘bit’ を計るにはどうしたらいいの?</vt:lpstr>
      <vt:lpstr>演習1 度数分布表</vt:lpstr>
      <vt:lpstr>演習2 同時分布</vt:lpstr>
      <vt:lpstr>演習3 周辺分布</vt:lpstr>
      <vt:lpstr>Q. ‘Bit’ を計るにはどうしたらいいの?</vt:lpstr>
      <vt:lpstr>Q. ‘Bit’ を計るにはどうしたらいいの?</vt:lpstr>
      <vt:lpstr>最小限の数学で Shannon の理論を学ぶ</vt:lpstr>
      <vt:lpstr>最小限の数学で Shannon の理論を学ぶ</vt:lpstr>
      <vt:lpstr>最小限の数学で Shannon の理論を学ぶ</vt:lpstr>
      <vt:lpstr>最小限の数学で Shannon の理論を学ぶ</vt:lpstr>
      <vt:lpstr>最小限の数学で Shannon の理論を学ぶ</vt:lpstr>
      <vt:lpstr>最小限の数学で Shannon の理論を学ぶ</vt:lpstr>
      <vt:lpstr>最小限の数学で Shannon の理論を学ぶ</vt:lpstr>
      <vt:lpstr>珍しい出来事の情報量は大きい</vt:lpstr>
      <vt:lpstr>演習4 情報量</vt:lpstr>
      <vt:lpstr>最小限の数学で Shannon の理論を学ぶ</vt:lpstr>
      <vt:lpstr>最小限の数学で Shannon の理論を学ぶ</vt:lpstr>
      <vt:lpstr>演習5-1 シャノンエントロピー</vt:lpstr>
      <vt:lpstr>演習5-2 同時分布のシャノンエントロピー</vt:lpstr>
      <vt:lpstr>最小限の数学で Shannon の理論を学ぶ</vt:lpstr>
      <vt:lpstr>最小限の数学で Shannon の理論を学ぶ</vt:lpstr>
      <vt:lpstr>演習6-1 相互情報量</vt:lpstr>
      <vt:lpstr>そもそもなぜ情報量は log2 の形なのか？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生化学反応系を流れる シグナルの情報量</dc:title>
  <dc:creator>yugi@bs.s.u-tokyo.ac.jp</dc:creator>
  <cp:lastModifiedBy>Katsuyuki Yugi</cp:lastModifiedBy>
  <cp:revision>97</cp:revision>
  <dcterms:created xsi:type="dcterms:W3CDTF">2017-02-02T16:26:52Z</dcterms:created>
  <dcterms:modified xsi:type="dcterms:W3CDTF">2026-10-14T07:43:56Z</dcterms:modified>
</cp:coreProperties>
</file>